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2.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58.xml" ContentType="application/vnd.openxmlformats-officedocument.presentationml.slideLayout+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47" r:id="rId5"/>
    <p:sldMasterId id="2147483748" r:id="rId6"/>
  </p:sldMasterIdLst>
  <p:notesMasterIdLst>
    <p:notesMasterId r:id="rId11"/>
  </p:notesMasterIdLst>
  <p:sldIdLst>
    <p:sldId id="256" r:id="rId12"/>
    <p:sldId id="257" r:id="rId24"/>
    <p:sldId id="258" r:id="rId25"/>
    <p:sldId id="259" r:id="rId26"/>
    <p:sldId id="260" r:id="rId27"/>
    <p:sldId id="261" r:id="rId28"/>
    <p:sldId id="262" r:id="rId29"/>
    <p:sldId id="263" r:id="rId30"/>
    <p:sldId id="264" r:id="rId31"/>
    <p:sldId id="265" r:id="rId32"/>
    <p:sldId id="266" r:id="rId33"/>
    <p:sldId id="267"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280" r:id="rId47"/>
    <p:sldId id="281" r:id="rId48"/>
    <p:sldId id="282" r:id="rId49"/>
    <p:sldId id="283" r:id="rId50"/>
    <p:sldId id="284" r:id="rId51"/>
    <p:sldId id="285" r:id="rId52"/>
    <p:sldId id="286" r:id="rId53"/>
    <p:sldId id="287" r:id="rId54"/>
    <p:sldId id="288" r:id="rId55"/>
    <p:sldId id="289" r:id="rId56"/>
    <p:sldId id="290" r:id="rId57"/>
    <p:sldId id="291" r:id="rId58"/>
    <p:sldId id="292" r:id="rId59"/>
    <p:sldId id="293" r:id="rId60"/>
    <p:sldId id="294" r:id="rId61"/>
    <p:sldId id="295" r:id="rId62"/>
    <p:sldId id="296" r:id="rId63"/>
    <p:sldId id="297" r:id="rId64"/>
    <p:sldId id="298" r:id="rId65"/>
    <p:sldId id="299" r:id="rId66"/>
    <p:sldId id="300" r:id="rId67"/>
    <p:sldId id="301" r:id="rId68"/>
    <p:sldId id="302" r:id="rId69"/>
    <p:sldId id="303" r:id="rId70"/>
    <p:sldId id="304" r:id="rId71"/>
    <p:sldId id="305" r:id="rId72"/>
    <p:sldId id="306" r:id="rId73"/>
    <p:sldId id="307" r:id="rId74"/>
    <p:sldId id="308" r:id="rId75"/>
    <p:sldId id="309" r:id="rId76"/>
    <p:sldId id="310" r:id="rId77"/>
    <p:sldId id="311" r:id="rId78"/>
    <p:sldId id="312" r:id="rId79"/>
    <p:sldId id="313" r:id="rId80"/>
    <p:sldId id="314" r:id="rId81"/>
    <p:sldId id="315" r:id="rId82"/>
    <p:sldId id="316" r:id="rId83"/>
    <p:sldId id="317" r:id="rId84"/>
    <p:sldId id="318" r:id="rId85"/>
    <p:sldId id="319" r:id="rId86"/>
    <p:sldId id="320" r:id="rId87"/>
    <p:sldId id="321" r:id="rId88"/>
    <p:sldId id="322" r:id="rId89"/>
    <p:sldId id="323" r:id="rId90"/>
    <p:sldId id="324" r:id="rId91"/>
    <p:sldId id="325" r:id="rId92"/>
    <p:sldId id="326" r:id="rId93"/>
    <p:sldId id="327" r:id="rId94"/>
    <p:sldId id="328" r:id="rId95"/>
    <p:sldId id="329" r:id="rId96"/>
  </p:sldIdLst>
  <p:sldSz cy="5143500" cx="9144000"/>
  <p:notesSz cx="6858000" cy="9144000"/>
  <p:embeddedFontLst>
    <p:embeddedFont>
      <p:font typeface="Inter"/>
      <p:regular r:id="rId142"/>
      <p:bold r:id="rId143"/>
      <p:italic r:id="rId144"/>
      <p:boldItalic r:id="rId145"/>
    </p:embeddedFont>
    <p:embeddedFont>
      <p:font typeface="Bitter"/>
      <p:regular r:id="rId148"/>
      <p:bold r:id="rId149"/>
      <p:italic r:id="rId150"/>
      <p:boldItalic r:id="rId151"/>
    </p:embeddedFont>
    <p:embeddedFont>
      <p:font typeface="Prompt"/>
      <p:regular r:id="rId152"/>
      <p:bold r:id="rId153"/>
      <p:italic r:id="rId154"/>
      <p:boldItalic r:id="rId155"/>
    </p:embeddedFont>
    <p:embeddedFont>
      <p:font typeface="Asap"/>
      <p:regular r:id="rId160"/>
      <p:bold r:id="rId161"/>
      <p:italic r:id="rId162"/>
      <p:boldItalic r:id="rId16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521415D9-36F7-43E2-AB2F-B90AF26B5E84}">
      <p14:sectionLst>
        <p14:section name="Apertura" id="{C44A3A0F-A0F2-5D86-975C-D7593144B6CD}">
          <p14:sldIdLst>
            <p14:sldId id="256"/>
            <p14:sldId id="257"/>
            <p14:sldId id="258"/>
            <p14:sldId id="259"/>
          </p14:sldIdLst>
        </p14:section>
        <p14:section name="1. Por qué ahora" id="{7D986DB4-6AC5-5603-BC22-7671D71CCA37}">
          <p14:sldIdLst>
            <p14:sldId id="260"/>
            <p14:sldId id="261"/>
            <p14:sldId id="262"/>
            <p14:sldId id="263"/>
            <p14:sldId id="264"/>
            <p14:sldId id="265"/>
            <p14:sldId id="266"/>
            <p14:sldId id="267"/>
            <p14:sldId id="268"/>
          </p14:sldIdLst>
        </p14:section>
        <p14:section name="2. Spec Driven Development" id="{EF335164-9292-5087-A78F-BA296771D3FD}">
          <p14:sldIdLst>
            <p14:sldId id="269"/>
            <p14:sldId id="270"/>
            <p14:sldId id="271"/>
            <p14:sldId id="272"/>
            <p14:sldId id="273"/>
            <p14:sldId id="274"/>
            <p14:sldId id="275"/>
            <p14:sldId id="276"/>
            <p14:sldId id="277"/>
            <p14:sldId id="278"/>
            <p14:sldId id="279"/>
          </p14:sldIdLst>
        </p14:section>
        <p14:section name="3. El proyecto" id="{E750502F-06BA-5460-BD2A-39BF519DC7FA}">
          <p14:sldIdLst>
            <p14:sldId id="280"/>
            <p14:sldId id="281"/>
            <p14:sldId id="282"/>
            <p14:sldId id="283"/>
            <p14:sldId id="284"/>
          </p14:sldIdLst>
        </p14:section>
        <p14:section name="4. Tipos de prueba" id="{784DADD0-245B-51F2-8DD0-FC70FAEE9192}">
          <p14:sldIdLst>
            <p14:sldId id="285"/>
            <p14:sldId id="286"/>
            <p14:sldId id="287"/>
            <p14:sldId id="288"/>
            <p14:sldId id="289"/>
            <p14:sldId id="290"/>
            <p14:sldId id="291"/>
            <p14:sldId id="292"/>
            <p14:sldId id="293"/>
            <p14:sldId id="294"/>
            <p14:sldId id="295"/>
            <p14:sldId id="296"/>
            <p14:sldId id="297"/>
            <p14:sldId id="298"/>
            <p14:sldId id="299"/>
            <p14:sldId id="300"/>
            <p14:sldId id="301"/>
            <p14:sldId id="302"/>
            <p14:sldId id="303"/>
            <p14:sldId id="304"/>
          </p14:sldIdLst>
        </p14:section>
        <p14:section name="5. DevSecOps y CI" id="{4302BFCA-3044-53F4-848B-338433E558D2}">
          <p14:sldIdLst>
            <p14:sldId id="305"/>
            <p14:sldId id="306"/>
            <p14:sldId id="307"/>
            <p14:sldId id="308"/>
            <p14:sldId id="309"/>
            <p14:sldId id="310"/>
            <p14:sldId id="311"/>
            <p14:sldId id="312"/>
            <p14:sldId id="313"/>
            <p14:sldId id="314"/>
            <p14:sldId id="315"/>
            <p14:sldId id="316"/>
            <p14:sldId id="317"/>
          </p14:sldIdLst>
        </p14:section>
        <p14:section name="6. Evidencia en el PR" id="{50101091-C382-5082-B3FA-46E7EEE30F01}">
          <p14:sldIdLst>
            <p14:sldId id="318"/>
            <p14:sldId id="319"/>
            <p14:sldId id="320"/>
            <p14:sldId id="321"/>
          </p14:sldIdLst>
        </p14:section>
        <p14:section name="7. Actividad práctica" id="{9E65D432-4D12-5800-8024-E6D86A2E99D3}">
          <p14:sldIdLst>
            <p14:sldId id="322"/>
            <p14:sldId id="323"/>
            <p14:sldId id="324"/>
            <p14:sldId id="325"/>
            <p14:sldId id="326"/>
          </p14:sldIdLst>
        </p14:section>
        <p14:section name="Cierre" id="{F132BEB3-F123-555F-84D2-0EDEFEF9BA6E}">
          <p14:sldIdLst>
            <p14:sldId id="327"/>
            <p14:sldId id="328"/>
            <p14:sldId id="329"/>
          </p14:sldIdLst>
        </p14:section>
      </p14:section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5" Type="http://schemas.openxmlformats.org/officeDocument/2006/relationships/slideMaster" Target="slideMasters/slideMaster2.xml"/><Relationship Id="rId6" Type="http://schemas.openxmlformats.org/officeDocument/2006/relationships/slideMaster" Target="slideMasters/slideMaster3.xml"/><Relationship Id="rId11" Type="http://schemas.openxmlformats.org/officeDocument/2006/relationships/notesMaster" Target="notesMasters/notesMaster1.xml"/><Relationship Id="rId12" Type="http://schemas.openxmlformats.org/officeDocument/2006/relationships/slide" Target="slides/slide1.xml"/><Relationship Id="rId24" Type="http://schemas.openxmlformats.org/officeDocument/2006/relationships/slide" Target="slides/slide2.xml"/><Relationship Id="rId25" Type="http://schemas.openxmlformats.org/officeDocument/2006/relationships/slide" Target="slides/slide3.xml"/><Relationship Id="rId26" Type="http://schemas.openxmlformats.org/officeDocument/2006/relationships/slide" Target="slides/slide4.xml"/><Relationship Id="rId27" Type="http://schemas.openxmlformats.org/officeDocument/2006/relationships/slide" Target="slides/slide5.xml"/><Relationship Id="rId28" Type="http://schemas.openxmlformats.org/officeDocument/2006/relationships/slide" Target="slides/slide6.xml"/><Relationship Id="rId29" Type="http://schemas.openxmlformats.org/officeDocument/2006/relationships/slide" Target="slides/slide7.xml"/><Relationship Id="rId30" Type="http://schemas.openxmlformats.org/officeDocument/2006/relationships/slide" Target="slides/slide8.xml"/><Relationship Id="rId31" Type="http://schemas.openxmlformats.org/officeDocument/2006/relationships/slide" Target="slides/slide9.xml"/><Relationship Id="rId32" Type="http://schemas.openxmlformats.org/officeDocument/2006/relationships/slide" Target="slides/slide10.xml"/><Relationship Id="rId33" Type="http://schemas.openxmlformats.org/officeDocument/2006/relationships/slide" Target="slides/slide11.xml"/><Relationship Id="rId34" Type="http://schemas.openxmlformats.org/officeDocument/2006/relationships/slide" Target="slides/slide12.xml"/><Relationship Id="rId35" Type="http://schemas.openxmlformats.org/officeDocument/2006/relationships/slide" Target="slides/slide13.xml"/><Relationship Id="rId36" Type="http://schemas.openxmlformats.org/officeDocument/2006/relationships/slide" Target="slides/slide14.xml"/><Relationship Id="rId37" Type="http://schemas.openxmlformats.org/officeDocument/2006/relationships/slide" Target="slides/slide15.xml"/><Relationship Id="rId38" Type="http://schemas.openxmlformats.org/officeDocument/2006/relationships/slide" Target="slides/slide16.xml"/><Relationship Id="rId39" Type="http://schemas.openxmlformats.org/officeDocument/2006/relationships/slide" Target="slides/slide17.xml"/><Relationship Id="rId40" Type="http://schemas.openxmlformats.org/officeDocument/2006/relationships/slide" Target="slides/slide18.xml"/><Relationship Id="rId41" Type="http://schemas.openxmlformats.org/officeDocument/2006/relationships/slide" Target="slides/slide19.xml"/><Relationship Id="rId42" Type="http://schemas.openxmlformats.org/officeDocument/2006/relationships/slide" Target="slides/slide20.xml"/><Relationship Id="rId43" Type="http://schemas.openxmlformats.org/officeDocument/2006/relationships/slide" Target="slides/slide21.xml"/><Relationship Id="rId44" Type="http://schemas.openxmlformats.org/officeDocument/2006/relationships/slide" Target="slides/slide22.xml"/><Relationship Id="rId45" Type="http://schemas.openxmlformats.org/officeDocument/2006/relationships/slide" Target="slides/slide23.xml"/><Relationship Id="rId46" Type="http://schemas.openxmlformats.org/officeDocument/2006/relationships/slide" Target="slides/slide24.xml"/><Relationship Id="rId47" Type="http://schemas.openxmlformats.org/officeDocument/2006/relationships/slide" Target="slides/slide25.xml"/><Relationship Id="rId48" Type="http://schemas.openxmlformats.org/officeDocument/2006/relationships/slide" Target="slides/slide26.xml"/><Relationship Id="rId49" Type="http://schemas.openxmlformats.org/officeDocument/2006/relationships/slide" Target="slides/slide27.xml"/><Relationship Id="rId50" Type="http://schemas.openxmlformats.org/officeDocument/2006/relationships/slide" Target="slides/slide28.xml"/><Relationship Id="rId51" Type="http://schemas.openxmlformats.org/officeDocument/2006/relationships/slide" Target="slides/slide29.xml"/><Relationship Id="rId52" Type="http://schemas.openxmlformats.org/officeDocument/2006/relationships/slide" Target="slides/slide30.xml"/><Relationship Id="rId53" Type="http://schemas.openxmlformats.org/officeDocument/2006/relationships/slide" Target="slides/slide31.xml"/><Relationship Id="rId54" Type="http://schemas.openxmlformats.org/officeDocument/2006/relationships/slide" Target="slides/slide32.xml"/><Relationship Id="rId55" Type="http://schemas.openxmlformats.org/officeDocument/2006/relationships/slide" Target="slides/slide33.xml"/><Relationship Id="rId56" Type="http://schemas.openxmlformats.org/officeDocument/2006/relationships/slide" Target="slides/slide34.xml"/><Relationship Id="rId57" Type="http://schemas.openxmlformats.org/officeDocument/2006/relationships/slide" Target="slides/slide35.xml"/><Relationship Id="rId58" Type="http://schemas.openxmlformats.org/officeDocument/2006/relationships/slide" Target="slides/slide36.xml"/><Relationship Id="rId59" Type="http://schemas.openxmlformats.org/officeDocument/2006/relationships/slide" Target="slides/slide37.xml"/><Relationship Id="rId60" Type="http://schemas.openxmlformats.org/officeDocument/2006/relationships/slide" Target="slides/slide38.xml"/><Relationship Id="rId61" Type="http://schemas.openxmlformats.org/officeDocument/2006/relationships/slide" Target="slides/slide39.xml"/><Relationship Id="rId62" Type="http://schemas.openxmlformats.org/officeDocument/2006/relationships/slide" Target="slides/slide40.xml"/><Relationship Id="rId63" Type="http://schemas.openxmlformats.org/officeDocument/2006/relationships/slide" Target="slides/slide41.xml"/><Relationship Id="rId64" Type="http://schemas.openxmlformats.org/officeDocument/2006/relationships/slide" Target="slides/slide42.xml"/><Relationship Id="rId65" Type="http://schemas.openxmlformats.org/officeDocument/2006/relationships/slide" Target="slides/slide43.xml"/><Relationship Id="rId66" Type="http://schemas.openxmlformats.org/officeDocument/2006/relationships/slide" Target="slides/slide44.xml"/><Relationship Id="rId67" Type="http://schemas.openxmlformats.org/officeDocument/2006/relationships/slide" Target="slides/slide45.xml"/><Relationship Id="rId68" Type="http://schemas.openxmlformats.org/officeDocument/2006/relationships/slide" Target="slides/slide46.xml"/><Relationship Id="rId69" Type="http://schemas.openxmlformats.org/officeDocument/2006/relationships/slide" Target="slides/slide47.xml"/><Relationship Id="rId70" Type="http://schemas.openxmlformats.org/officeDocument/2006/relationships/slide" Target="slides/slide48.xml"/><Relationship Id="rId71" Type="http://schemas.openxmlformats.org/officeDocument/2006/relationships/slide" Target="slides/slide49.xml"/><Relationship Id="rId72" Type="http://schemas.openxmlformats.org/officeDocument/2006/relationships/slide" Target="slides/slide50.xml"/><Relationship Id="rId73" Type="http://schemas.openxmlformats.org/officeDocument/2006/relationships/slide" Target="slides/slide51.xml"/><Relationship Id="rId74" Type="http://schemas.openxmlformats.org/officeDocument/2006/relationships/slide" Target="slides/slide52.xml"/><Relationship Id="rId75" Type="http://schemas.openxmlformats.org/officeDocument/2006/relationships/slide" Target="slides/slide53.xml"/><Relationship Id="rId76" Type="http://schemas.openxmlformats.org/officeDocument/2006/relationships/slide" Target="slides/slide54.xml"/><Relationship Id="rId77" Type="http://schemas.openxmlformats.org/officeDocument/2006/relationships/slide" Target="slides/slide55.xml"/><Relationship Id="rId78" Type="http://schemas.openxmlformats.org/officeDocument/2006/relationships/slide" Target="slides/slide56.xml"/><Relationship Id="rId79" Type="http://schemas.openxmlformats.org/officeDocument/2006/relationships/slide" Target="slides/slide57.xml"/><Relationship Id="rId80" Type="http://schemas.openxmlformats.org/officeDocument/2006/relationships/slide" Target="slides/slide58.xml"/><Relationship Id="rId81" Type="http://schemas.openxmlformats.org/officeDocument/2006/relationships/slide" Target="slides/slide59.xml"/><Relationship Id="rId82" Type="http://schemas.openxmlformats.org/officeDocument/2006/relationships/slide" Target="slides/slide60.xml"/><Relationship Id="rId83" Type="http://schemas.openxmlformats.org/officeDocument/2006/relationships/slide" Target="slides/slide61.xml"/><Relationship Id="rId84" Type="http://schemas.openxmlformats.org/officeDocument/2006/relationships/slide" Target="slides/slide62.xml"/><Relationship Id="rId85" Type="http://schemas.openxmlformats.org/officeDocument/2006/relationships/slide" Target="slides/slide63.xml"/><Relationship Id="rId86" Type="http://schemas.openxmlformats.org/officeDocument/2006/relationships/slide" Target="slides/slide64.xml"/><Relationship Id="rId87" Type="http://schemas.openxmlformats.org/officeDocument/2006/relationships/slide" Target="slides/slide65.xml"/><Relationship Id="rId88" Type="http://schemas.openxmlformats.org/officeDocument/2006/relationships/slide" Target="slides/slide66.xml"/><Relationship Id="rId89" Type="http://schemas.openxmlformats.org/officeDocument/2006/relationships/slide" Target="slides/slide67.xml"/><Relationship Id="rId90" Type="http://schemas.openxmlformats.org/officeDocument/2006/relationships/slide" Target="slides/slide68.xml"/><Relationship Id="rId91" Type="http://schemas.openxmlformats.org/officeDocument/2006/relationships/slide" Target="slides/slide69.xml"/><Relationship Id="rId92" Type="http://schemas.openxmlformats.org/officeDocument/2006/relationships/slide" Target="slides/slide70.xml"/><Relationship Id="rId93" Type="http://schemas.openxmlformats.org/officeDocument/2006/relationships/slide" Target="slides/slide71.xml"/><Relationship Id="rId94" Type="http://schemas.openxmlformats.org/officeDocument/2006/relationships/slide" Target="slides/slide72.xml"/><Relationship Id="rId95" Type="http://schemas.openxmlformats.org/officeDocument/2006/relationships/slide" Target="slides/slide73.xml"/><Relationship Id="rId96" Type="http://schemas.openxmlformats.org/officeDocument/2006/relationships/slide" Target="slides/slide74.xml"/><Relationship Id="rId142" Type="http://schemas.openxmlformats.org/officeDocument/2006/relationships/font" Target="fonts/Inter-regular.fntdata"/><Relationship Id="rId143" Type="http://schemas.openxmlformats.org/officeDocument/2006/relationships/font" Target="fonts/Inter-bold.fntdata"/><Relationship Id="rId144" Type="http://schemas.openxmlformats.org/officeDocument/2006/relationships/font" Target="fonts/Inter-italic.fntdata"/><Relationship Id="rId145" Type="http://schemas.openxmlformats.org/officeDocument/2006/relationships/font" Target="fonts/Inter-boldItalic.fntdata"/><Relationship Id="rId148" Type="http://schemas.openxmlformats.org/officeDocument/2006/relationships/font" Target="fonts/Bitter-regular.fntdata"/><Relationship Id="rId149" Type="http://schemas.openxmlformats.org/officeDocument/2006/relationships/font" Target="fonts/Bitter-bold.fntdata"/><Relationship Id="rId150" Type="http://schemas.openxmlformats.org/officeDocument/2006/relationships/font" Target="fonts/Bitter-italic.fntdata"/><Relationship Id="rId151" Type="http://schemas.openxmlformats.org/officeDocument/2006/relationships/font" Target="fonts/Bitter-boldItalic.fntdata"/><Relationship Id="rId152" Type="http://schemas.openxmlformats.org/officeDocument/2006/relationships/font" Target="fonts/Prompt-regular.fntdata"/><Relationship Id="rId153" Type="http://schemas.openxmlformats.org/officeDocument/2006/relationships/font" Target="fonts/Prompt-bold.fntdata"/><Relationship Id="rId154" Type="http://schemas.openxmlformats.org/officeDocument/2006/relationships/font" Target="fonts/Prompt-italic.fntdata"/><Relationship Id="rId155" Type="http://schemas.openxmlformats.org/officeDocument/2006/relationships/font" Target="fonts/Prompt-boldItalic.fntdata"/><Relationship Id="rId160" Type="http://schemas.openxmlformats.org/officeDocument/2006/relationships/font" Target="fonts/Asap-regular.fntdata"/><Relationship Id="rId161" Type="http://schemas.openxmlformats.org/officeDocument/2006/relationships/font" Target="fonts/Asap-bold.fntdata"/><Relationship Id="rId162" Type="http://schemas.openxmlformats.org/officeDocument/2006/relationships/font" Target="fonts/Asap-italic.fntdata"/><Relationship Id="rId163" Type="http://schemas.openxmlformats.org/officeDocument/2006/relationships/font" Target="fonts/Asap-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Bienvenida. Esta es una clase práctica: vamos a recorrer un proyecto real (Biblioteca UC, NestJS más Next.js) y su pipeline de CI. La pregunta que guía toda la clase es cómo aprovechar la IA para escribir software y tests sin terminar con miles de tests que no aportan. La base es el libro Full Stack Testing de Gayathri Mohan, segunda edición (O'Reilly 2026). El repo está en GitHub: UC-IIC-3143-Software-Development/full_stack_testing.</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Siete partes y un cierre. Las partes 1 y 2 son el marco: por qué la IA cambia la forma de testear y cómo Spec Driven Development pone orden. Las partes 3 y 4 son el proyecto y cada tipo de prueba con su código. La parte 5 es DevSecOps y el pipeline, la 6 es la evidencia que queda en cada PR y la 7 es la actividad práctica, donde implementan una feature nueva con un agente de IA y la comparan con el PR de ejemplo del repo.</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Cuatro verbos. Al final de la clase cada estudiante debería poder explicar, especificar, elegir y leer. Fíjate que ninguno dice escribir tests: escribir tests ya lo hace la IA en segundos. Lo que no hace bien es decidir cuáles valen la pena, en qué capa van y cómo se verifican en CI.</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Frase para abrir la discusión. Pregunta al curso: si un agente te entrega 80 tests en un PR y todos pasan, ¿lo aceptas? La respuesta de esta clase es: depende de en qué capa están, qué regla verifica cada uno y si detectan defectos reales. Eso es lo que vamos a aprender a medir.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Primera parte: la evidencia del libro y de la industria sobre la IA generando tests.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Tres datos del libro. Uno: con un prompt amplio, Claude entregó entre 70 y 80 casos para el home de Amazon, muchos duplicados o superficiales, y a veces inventó lógica de negocio. Con un alcance pequeño (solo la búsqueda) los casos fueron buenos: el alcance acotado es la mejor forma de usar estas herramientas. Dos: Claude Code generó 30 tests de API desde un OpenAPI, pero las validaciones de campos que incluyó van en unit. Tres: la conclusión del capítulo 3, la IA genera en lote y sin respetar capas. La cita de DORA resume la idea: el problema es del sistema de trabajo, no de la herramienta.</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tabla 3-1 del libro ordena los tipos de test por alcance. Micro: unit, integración y contrato. Macro: servicio, UI y end to end. A medida que sube el alcance sube el esfuerzo y el tiempo. El recuadro de la derecha es la pregunta que el libro recomienda hacerse cada vez que alguien, persona o agente, quiere agregar un test de UI.</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pirámide de Mike Cohn: por cada x tests de UI, unos 5x de servicio y 10x de unit e integración. No es una regla matemática, es una guía de costo: más arriba, más lento y más caro de mantener. El caso del libro es muy concreto: un equipo pasó de más de 200 tests de UI que tardaban 8 horas a 470 tests en total con feedback en 35 minutos. Tener más tests no fue el problema, el problema era dónde estaban.</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dos antipatrones del libro. Cono de helado: la pirámide invertida, muchos tests de UI y pocos micro. Síntomas: esperas largas, defectos en la etapa de release y pruebas manuales aunque haya automatización. Cupcake: el mismo caso se prueba en todas las capas, por ejemplo los logins inválidos en unit y otra vez en UI. El libro dice explícitamente que usar IA para subir la cobertura rápido aumenta la probabilidad del cupcake, porque genera en lote. La solución que propone: acordar en el kickoff de cada historia qué tests van en cada capa y dejarlo escrito. En este proyecto eso queda escrito en la spec.</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Cobertura de código y mutation testing no miden lo mismo. La cobertura solo dice qué líneas nunca se ejecutaron. El libro advierte que incluso con 100 por ciento de cobertura de automatización aparecen bugs, y que el porcentaje puede ser alto aunque un módulo entero no tenga tests. Mutation testing responde otra pregunta: si meto un bug, ¿algún test lo detecta? El ejemplo es real del proyecto: si Stryker cambia mayor o igual por mayor en el límite de préstamos y nadie prueba el caso de 3 préstamos exactos, el mutante sobrevive. En el repo lo mata el test del valor límite de loan-policy.spec.ts. Es la forma más honesta de evaluar una suite generada por IA.</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Estas son las 7 reglas de la constitución del proyecto, el archivo specs/constitution.md, principio P4. Salen del libro: la capa más baja posible (p. 71 y 102), una conducta por test y tests independientes (p. 107), no duplicar tests (instrucciones de Copilot, p. 90), generar un test a la vez (p. 94) y el flujo de dos pasos donde la persona elige qué casos automatizar en cada capa (p. 96). La última columna es lo importante: una regla que nadie verifica es una sugerencia. Por eso cada regla tiene un mecanismo: spec-trace cuenta los tests por regla y capa, ESLint prohíbe jest.fn, vi.fn, toBeTruthy y waitForTimeout, y el revisor de IA mira lo que una herramienta no puede medir.</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reglas se hacen cumplir en tres niveles. Primero las instrucciones: CLAUDE.md, AGENTS.md y la constitución, que el agente lee antes de escribir. Ayudan, pero un agente puede ignorarlas. Segundo el linter: el ESLint del frontend prohíbe vi.fn, vi.mock, toBeTruthy y waitForTimeout, y exige que cada título de test empiece con un ID de regla (en el backend lo mismo con jest.fn). Falla en segundos, en el editor o en la etapa 2 del pipeline. Semgrep agrega reglas propias, por ejemplo nada de new Date() en el dominio. Tercero el CI: spec-trace y el revisor de IA comentan o fallan el PR, y la mutación revisa la suite cada noche. Mientras más abajo en esta lista, más difícil es saltarse la regla.</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Cuatro referencias de la industria, para que vean que esto no es teoría. Meta con TestGen-LLM (paper de FSE 2024): los tests que genera el LLM pasan por filtros automáticos antes de que un ingeniero los vea, y solo una fracción sobrevive. Meta con ACH (2025): usa mutantes para guiar la generación, el test existe para matar un bug concreto. Google lleva años corriendo mutation testing en code review (Petrović y otros, ICSE SEIP 2018), pero solo sobre las líneas cambiadas, porque correrlo completo es caro. Y Google Research mostró en 2023 un modelo que propone cómo resolver comentarios de revisión, siempre con una persona que decide. No hay que memorizar cifras: el patrón es filtrar, medir con mutación y dejar la decisión a una persona.</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Segunda parte: cómo una spec con reglas identificadas ordena el trabajo de personas y agentes.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libro define Spec Driven Development como un término nuevo de 2026: escribes una spec con el requisito, el diseño técnico y la arquitectura, y los agentes desarrollan la feature completa, incluidos los tests. Menciona Kiro de AWS, Spec Kit de GitHub y Tessl. También menciona la crítica: que se vuelve mantener documentos largos. En este proyecto la respuesta es mantener specs cortas y ejecutables, con IDs que los tests citan. El ciclo de la derecha es el principio P1 de la constitución: spec, contrato, tests que fallan, código y tests verdes. Siempre en ese orden.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la estructura que usamos, basada en el ejemplo de spec del curso (SPECS_EJEMPLO1): un encabezado con ID y versión, contexto, supuestos, reglas numeradas con ID, comportamiento en la interfaz, criterios de aceptación como tabla regla a test y fuera de alcance. Los supuestos son clave para la IA: le dicen qué puede dar por hecho, por ejemplo que el reloj es un puerto inyectable. Fuera de alcance evita que el agente invente funcionalidades. Y la regla de oro, que está en CLAUDE.md: si algo no está en la spec, el agente se detiene y propone la spec primero.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un extracto literal de la spec de préstamos del repo. Fíjate en cinco cosas. Cada regla tiene un ID que los tests citan en su título. El código de error, por ejemplo LOAN_LIMIT_REACHED, es el mismo en el contrato OpenAPI, en el backend y en los mensajes de la interfaz. El límite de 3 es un valor límite explícito, que pide un test justo en el borde. La concurrencia por la última copia se dice en la spec, así que exige un test de integración con base de datos real. Y la tabla final dice en qué capa va cada test, que es exactamente la conversación que el libro recomienda tener en el kickoff de la historia.</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Además de la spec de feature, cada capa tiene su propio SPEC.md, hecho con la plantilla de specs/templates. Es la spec que se le da al agente cuando construye esa capa. Lo más valioso es decir cómo se prueba: la capa de dominio usa tests unitarios sin dobles y recibe el ahora como parámetro, así que nunca prueba HTTP ni base de datos. Esa línea, escrita, es lo que evita que el agente duplique el mismo caso en tres capas. Y las dependencias permitidas no son solo texto: dependency-cruiser las verifica en CI.</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trazabilidad convierte la spec en algo verificable. El script tools/spec-trace.mjs lee las reglas en negrita de las specs, los flujos de los archivos feature y los títulos de los tests. Arriba, el conteo real de LOAN-R2: 5 tests unitarios, 1 de integración, 1 de contrato y 1 de contrato de mocks. Abajo, la salida real contra el repo de prueba del propio script, que tiene un caso de cada falla: una regla sin tests, un test huérfano sin ID, un ID que no existe, una regla que supera el presupuesto de 6 tests por capa y un paso de Gherkin sin implementar. Ese presupuesto es la defensa más directa contra la IA que genera 30 variantes del mismo caso. Mientras agentes de IA construían este repo, BOOK-R1 llegó a 11 tests unitarios y el script lo detectó. Hoy main da 29 de 29 reglas cubiertas, 0 huérfanos y 0 sobre presupuesto.</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contrato de la API vive en specs/api/openapi.yaml, en OpenAPI 3.1, y es la única fuente de verdad (principio P2). Todo cambio de API parte por este archivo. Fíjate que la descripción del 409 nombra las reglas LOAN-R1, LOAN-R2 y LOAN-R4: el contrato también está trazado a la spec. Un mismo archivo alimenta al backend, a los tipos del frontend, a los mocks del frontend, a Spectral y oasdiff, y a las herramientas que atacan la API: Schemathesis y OWASP ZAP.</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Antes de una sola línea de código, el contrato pasa tres controles en la etapa 2. Spectral es un linter de contratos: parte del ruleset oficial de OpenAPI y agrega reglas del curso, por ejemplo que todo 4xx use application/problem+json, porque la interfaz muestra mensajes según el campo code, o que todos los paths empiecen con /api. oasdiff compara el contrato del PR con el de main y falla si el cambio rompe a los clientes, por ejemplo si se borra un endpoint o se agrega un campo obligatorio. Y api:check regenera los tipos del frontend y falla si no coinciden con lo que está commiteado: eso es drift entre contrato y código.</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flujos de usuario también son spec. Están en specs/flows en Gherkin y en español. playwright-bdd lee estos archivos (comando bddgen) y genera los tests de Playwright: son los 7 flujos que corren en cada PR. Los pasos se implementan una sola vez en frontend/tests/e2e/steps, así que agregar un escenario nuevo es escribir texto. El tag smoke marca los flujos que también corren contra el stack real. Fíjate en la fecha de devolución: 16-03-2026 es exactamente el reloj fijo más 14 días (LOAN-R3), por eso el reloj fijo es parte de la spec.</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usamos la IA dentro de SDD. Paso uno: el agente lee la spec y propone una tabla de casos con regla, capa y partición, sin escribir código. Tú apruebas o podas, por ejemplo eliminas el caso de UI porque ya lo cubre el flujo FLOW-PRE-03. Paso dos: el agente escribe un test a la vez, verifica que falla por la razón correcta y recién ahí implementa. Al final, un revisor con otro modelo actúa como juez. Todo esto viene del libro: generar un test a la vez (p. 94), el flujo de dos pasos (p. 96) y el patrón LLM as the judge (p. 103). Y está escrito en CLAUDE.md del repo.</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workflow es la versión con barandas del ejemplo del libro, donde Claude Code en GitHub Actions genera tests REST Assured desde un OpenAPI y abre un PR (p. 139 a 143). Aquí se dispara a mano para una sola operación del contrato, nunca para todo el OpenAPI. El agente primero escribe un plan con partición, código esperado, capa e ID de regla, y los casos que pertenecen a unit los deja fuera. Después escribe solo los casos nuevos en un archivo proposed, verifica que compilan y que spec-trace sigue en verde, y abre un PR en borrador con un checklist que una persona tiene que marcar. Es la regla P4.7 hecha automatización: la IA propone, una persona aprueba.</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Tercera parte: el proyecto de ejemplo que usaremos para mostrar cada tipo de prueba.</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monorepo tiene cuatro carpetas importantes. specs es la fuente de verdad. backend es una API REST en NestJS con PostgreSQL y TypeORM. frontend es Next.js con MSW como mock server. tools tiene los scripts de CI: trazabilidad de specs, smoke de la API y la evidencia del PR. clase-practica tiene el laboratorio para podar suites infladas por IA. Los colores del stack se repiten en toda la clase: verde para pruebas, rojo para seguridad, naranjo para frontend y build.</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Así se ve la app. A la izquierda el catálogo: cada libro muestra una insignia verde con las copias disponibles o roja si está agotado, y el botón Pedir prestado se deshabilita si no hay copias. A la derecha, el detalle de un libro cuando una persona que ya tiene 3 préstamos intenta pedir un cuarto: aparece el mensaje exacto que pide la spec. Estas imágenes no son mockups: son capturas que Playwright toma en cada ejecución de los flujos y que el pipeline publica en el PR.</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dependencias apuntan hacia adentro. En el backend, el dominio no conoce frameworks ni base de datos, la aplicación orquesta el dominio a través de puertos (interfaces de repositorio y reloj) y la infraestructura implementa esos puertos con TypeORM. Los controllers mapean los errores a application/problem+json. En el frontend las rutas componen componentes, los componentes usan hooks y los hooks usan el cliente generado desde OpenAPI. MSW se activa solo por variable de entorno, por eso app no lo importa. Las funciones puras, como el color de cada estado de préstamo, viven en shared/domain y se prueban con unit sin mocks. Cada regla ARCH tiene un ID, igual que las reglas de negocio.</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arquitectura también se prueba. El libro, en el capítulo de requisitos transversales, muestra ArchUnit para Java. En TypeScript usamos dependency-cruiser: cada regla ARCH de la spec se traduce en una regla forbidden con el mismo ID. La salida de abajo es real: agregamos un import de @nestjs/common en la entidad de préstamo y el script falla con el ID de la regla. En el pipeline esto corre en la etapa 2 (npm run test:arch). Es especialmente útil con IA porque los agentes tienden a importar lo que tienen más cerca.</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Cuarta parte. Cada tipo de prueba tiene la misma estructura para que sea fácil compararlos.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mapa completo con los conteos reales del repo. Backend: 56 unitarios de dominio y aplicación, 19 de integración con PostgreSQL y 12 de contrato del proveedor. Frontend con Vitest: 31 unitarios y de componentes, y 23 que validan los mocks de MSW contra el OpenAPI. En el navegador, Playwright corre 7 flujos generados desde Gherkin, 6 pruebas de estilo, 4 de layout, 4 de accesibilidad y 4 de regresión visual. Fíjate en la forma: muchos tests abajo y pocos arriba, es la pirámide. La última franja son las pruebas de sistema contra el stack real (smoke de la API, Schemathesis, Playwright @smoke, k6 y Lighthouse), el análisis de seguridad y la mutación nocturna.</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Repaso rápido de dobles de prueba, que ya vieron en la clase de testing: dummy, stub, fake y mock. La política del proyecto es usar fakes por defecto: repositorios en memoria y un reloj fijo. Un mock verifica interacciones, el cómo, y por eso se rompe al refactorizar. El riesgo de los fakes es que se alejen del comportamiento real. La solución del repo es una suite de contrato del puerto, en backend/test/repository-contract, que corre dos veces: contra el fake en memoria y contra el repositorio TypeORM con PostgreSQL. Si el fake miente, falla.</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unitarias de dominio son la base de la pirámide. Prueban reglas puras, sin Nest y sin base de datos, así que corren en milisegundos y no necesitan dobles. Fíjate en las particiones: un ISBN con guiones que se normaliza y un dígito verificador incorrecto (en el archivo también está el prefijo 979 y el largo distinto de 13). Una partición, un test, no treinta variantes del mismo caso. El valor esperado está escrito literal, nunca recalculado con la misma lógica de producción.</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la capa de aplicación probamos casos de uso. No hay mocks: el repositorio en memoria es una implementación real y simple del puerto, y el reloj fijo hace que las fechas sean deterministas. El arnés de test/support/application-harness.ts arma los casos de uso con esos fakes. El test verifica el resultado y el estado final: el error es LoanLimitReachedError y las copias del libro siguen siendo 3. No verifica qué métodos se llamaron. Si la IA te propone un jest.fn para el repositorio, ESLint lo rechaza y la constitución pide justificarlo por escrito.</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pruebas de integración usan Testcontainers: cada corrida levanta un PostgreSQL limpio en Docker, con la misma imagen de producción y del pipeline, en un puerto al azar. Se corren las migraciones reales y cada test vacía las tablas antes de empezar. El libro lo recomienda porque una base compartida está contaminada por el desarrollo activo (p. 179). Fíjate en el segundo bloque: la misma suite de contrato del repositorio que corre contra el fake en memoria corre aquí contra PostgreSQL. Así el fake no puede mentir.</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capítulo 5 del libro trata data testing. En este proyecto hay tres cosas que solo la base de datos garantiza: que las migraciones funcionen, que las restricciones existan y que la concurrencia se resuelva bien. El caso estrella es LOAN-R1: cinco personas piden la última copia al mismo tiempo. La spec exige que exactamente una gane, y el repositorio lo garantiza con un UPDATE condicional: si dos transacciones compiten, PostgreSQL bloquea la fila y la segunda vuelve a evaluar el WHERE y afecta 0 filas. El test real usa una barrera: otra transacción bloquea la fila, las cinco solicitudes quedan esperando y al liberarla compiten de verdad. Resultado: un 201 y cuatro 409. Un fake en memoria nunca va a reproducir esa carrera, así que este test vive en integración y en ninguna otra capa.</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contrato se prueba por los dos lados. Del lado del proveedor, los 12 tests de contrato del backend usan supertest contra la app Nest real, con PostgreSQL en Testcontainers, y validan cada respuesta contra el schema del OpenAPI. Del lado del consumidor, los 23 tests de contrato de mocks validan que los handlers de MSW que usa el frontend también cumplen el OpenAPI. Así ninguno de los dos lados puede divergir en silencio. El libro presenta Pact, que es consumer-driven: tiene sentido con muchos consumidores y equipos. Con un solo frontend, validar ambos lados contra el OpenAPI es más simple y suficiente.</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test de contrato del proveedor: supertest entra por el controller y recorre todo el flujo hasta PostgreSQL real en Testcontainers. Pero ojo con el cupcake: aquí no se prueban todas las validaciones de campos, eso ya está en unit. Aquí se prueba un caso por código de respuesta del contrato y se valida que la forma de la respuesta coincida con el OpenAPI. Fíjate en el correo: entra como Ana@UC.cl y sale normalizado, y la fecha de devolución es el reloj fijo más 14 días. El reporte contract-coverage.json alimenta la tabla de endpoints que aparece en el PR.</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la forma sana de generar muchos casos: no con un LLM que escribe 500 tests que hay que mantener, sino con una herramienta determinista que explora el espacio de entradas del contrato cada vez que corre. Schemathesis lee el OpenAPI y genera requests en tres fases: los ejemplos del contrato, casos de cobertura y fuzzing, hasta 50 por operación. Revisa que no haya errores 500 y que status, content type, schema y headers de la respuesta calcen con el contrato. No queda código que mantener: si cambia el contrato, cambian los casos. El resultado queda en un reporte junit y en el comentario del PR.</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Idea clave de esta diapositiva: para probar el frontend no hace falta levantar el backend. MSW, Mock Service Worker, intercepta las requests a nivel de red: en el navegador con un Service Worker y en Node con un interceptor. La app hace fetch normal y no sabe que está mockeada: MSW se activa con la variable NEXT_PUBLIC_API_MOCKING y app no importa los mocks (ARCH-R8). Los mismos handlers sirven para los tests de componentes, para los E2E de Playwright en CI y para desarrollar sin backend. El handler respeta el mismo orden de validación que el backend, que está escrito en la spec. Y como los handlers se validan contra el OpenAPI, no pueden inventar respuestas que el backend nunca daría.</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En el frontend la mayoría de los casos se prueban a nivel de componente: rápido y sin navegador real. respondWithConflict usa server.use de MSW para que, solo en este test, el mock responda 409 con el código LOAN_LIMIT_REACHED. Verificamos que la persona ve el mensaje exacto de la spec, UI-LOAN-4. Las consultas son por rol y por etiqueta, como las usaría una persona o un lector de pantalla, no por clases CSS. Esto es behaviour testing, como vimos en la clase de frontend.</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Los E2E son pocos y recorren flujos, no validan campos. Cada escenario de los archivos feature es un test: hoy son 7. missingSteps fail-on-gen hace que falle la generación si un paso del Gherkin no está implementado. En la etapa 7 corren contra Next con MSW, sin backend, así que son rápidos y estables. Los marcados smoke corren otra vez en la etapa 9 contra el stack real con PostgreSQL. El proyecto flows graba video siempre y el fixture de evidencia toma una captura después de cada paso: eso es lo que después se publica en el PR.</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capítulo 6 del libro trata visual testing. Playwright trae toHaveScreenshot, que compara contra una referencia y falla si cambia más del 1 por ciento de los píxeles (maxDiffPixelRatio 0.01), con animaciones y cursor desactivados. Hay 4 pruebas visuales: el catálogo completo, una tarjeta disponible, una agotada y Mis préstamos. Tres consejos prácticos: las referencias se generan en el mismo sistema operativo que el CI, los datos y el reloj tienen que ser fijos, y actualizar una referencia es un cambio que alguien revisa en el PR. La siguiente diapositiva explica cómo se generan.</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Las capturas de referencia de los tests visuales dependen del sistema operativo, de las fuentes instaladas y del navegador. Si cada persona las genera en su computador, una referencia hecha en macOS falla en el CI de Linux aunque la interfaz no haya cambiado. Por eso se generan en la misma imagen Docker de Playwright que usa la etapa 7, fijada por digest para que no cambie, con el workflow visual-baselines.yml. En main se generan solas la primera vez, cuando todavía no existen. Cuando cambias la interfaz a propósito, la etapa 7 falla, y eso es correcto. Entonces corres el workflow a mano (workflow_dispatch) sobre tu rama: corre npm run test:e2e con el proyecto visual y update-snapshots, y commitea frontend/tests/visual/__screenshots__ como github-actions. El revisor ve en el PR el antes y el después de cada imagen. Ojo: un commit hecho con GITHUB_TOKEN no dispara otros workflows, así que después hay que volver a correr el CI o hacer un push. Si tienes Docker, npm run test:visual:docker hace lo mismo en tu computador con la misma imagen.</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¿Cómo verificar que algo cambió de color o de posición? Una captura completa detecta todo, pero falla por cualquier píxel y no dice qué se rompió. Estas pruebas son más precisas: toHaveCSS verifica que la insignia Agotado tenga exactamente el rojo del token de diseño #B42318, y boundingBox verifica que la insignia quede a 32 píxeles o menos del borde derecho y superior de su tarjeta. Otras pruebas de layout revisan que la grilla tenga 3 columnas en escritorio y 1 en móvil. Son 6 pruebas de estilo y 4 de layout. Cuando fallan, el mensaje dice exactamente qué regla de la spec se rompió.</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Accesibilidad, capítulo 9 del libro. axe-core es el motor que usan muchas herramientas, y con @axe-core/playwright se integra en los mismos E2E: son 4 páginas auditadas contra WCAG 2.0 y 2.1 nivel A y AA. Detecta problemas objetivos como inputs sin etiqueta o contraste insuficiente, que en este proyecto importa porque los estados usan colores. Fíjate en el oráculo: la lista de violaciones tiene que ser exactamente vacía, y si no, el mensaje dice cuáles son. Pero el libro es claro: la auditoría automática no reemplaza probar con teclado y lector de pantalla.</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Performance, capítulo 8. El libro muestra JMeter y Gatling para APIs y Lighthouse para frontend, con un dato muy bueno: Zalando bajó su feedback de performance de un día a 15 minutos con Lighthouse CI (p. 270). Aquí usamos k6 porque los scripts son JavaScript. En el PR corre una prueba de humo: 5 usuarios virtuales durante 20 segundos, con umbrales de percentil 95 bajo 500 milisegundos y menos de 1 por ciento de errores. Si no se cumplen, k6 termina con error y la etapa falla. Las pruebas de carga y estrés de verdad necesitan un ambiente dedicado.</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¿Tiene sentido la mutación en el pipeline? Sí, pero no completa en cada PR, porque es lenta: el libro dice que es muy efectiva pero consume tiempo y hay que usarla con criterio. La respuesta de la industria es la de Google: mutar solo las líneas cambiadas durante el code review. Aquí corre completa en el pipeline nocturno. En el backend se muta solo dominio y aplicación, que es donde están las reglas, y el job falla si el puntaje baja de 60. El segundo bloque es un caso real: Stryker mostró que nadie notaba si se borraba el inicio o el fin de la expresión regular del ISBN, y por eso se agregaron dos casos. Así se mejora una suite: con evidencia, no sumando tests al azar.</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revisor de IA es un chatbot de code review, pero con una diferencia importante: no revisa con criterio genérico, revisa contra las reglas escritas en las specs y cita el ID de la regla que se incumple, por ejemplo P4.3 o ARCH-R3. El libro describe este patrón como reviewer agent y LLM as the judge: un modelo evalúa con criterios explícitos. Solo comenta, la decisión de merge es humana. Si no existe el secreto ANTHROPIC_API_KEY, o el PR viene de un fork, el job termina en verde con un aviso. La acción está fijada por SHA completo, igual que todas las acciones del repo.</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Quinta parte: DevSecOps, estrategias de ramas y el pipeline del repo etapa por etapa.</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DevOps es el lazo infinito: planificar, programar, construir, probar, liberar, desplegar, operar y monitorear, y volver a empezar. DevSecOps agrega seguridad en el centro: cada etapa tiene un control automático, en vez de una auditoría al final antes de salir a producción. El principio P5 de la constitución lo dice: seguridad desde el inicio. En la siguiente diapositiva vemos qué control va en cada etapa.</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tabla baja DevSecOps a tierra. En Plan, modelado de amenazas con STRIDE, que el libro explica en el capítulo 7, y reglas con códigos de error en la spec. En Code, evitar que un secreto llegue al repo: el libro usa Talisman y aquí el hook pre-commit corre gitleaks. En Build, análisis estático y de dependencias. En Test, ataques reales contra la app corriendo. En Release, escanear la imagen y generar el SBOM. Deploy y Operate: el repo no tiene CD, pero los Dockerfile y los workflows se revisan como código, los contenedores corren sin root y cada job pide solo los permisos que necesita. Monitor: una dependencia que hoy está limpia mañana puede tener una CVE nueva, por eso Dependabot propone actualizaciones cada semana.</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Shift left es la idea central del libro: hacer las pruebas al principio y durante todo el desarrollo en vez de al final, porque un defecto cuesta más mientras más tarde se encuentra. El libro lo baja a prácticas: un kickoff de cada historia con negocio, desarrollo y testing, los tres amigos, y propone sumar a la IA como cuarto amigo, para proponer casos y amenazas que el equipo discute. Fíjate en la palabra discute: la IA aporta ideas, el equipo decide.</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Git Flow, de Vincent Driessen, 2010. Hay dos ramas permanentes, las líneas gruesas: main con lo liberado y develop con lo integrado. Sigan los números. Uno: una feature sale de develop y vuelve a develop cuando termina, que puede ser semanas después. Dos: para liberar se crea una rama release desde develop, se estabiliza y se fusiona a main, donde se etiqueta la versión v1.1, y también de vuelta a develop. Tres: un hotfix sale de main, corrige el error en producción y entra a main como v1.0.1 y también a develop, para no perder el arreglo. Funciona cuando hay versiones numeradas que conviven, por ejemplo una app móvil o una librería. El costo: integración tardía y merges grandes.</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Trunk based development: todos integran a main, el tronco. Sigan los números. Uno: las ramas duran horas o a lo más un par de días, la constitución del proyecto lo fija en menos de 2 días. Dos: cada rama entra por un PR que corre el pipeline completo, el check verde que ven arriba. Tres: main tiene que estar siempre verde, y si se rompe, arreglarlo es la prioridad del equipo. Lo que no está terminado se integra igual, pero apagado detrás de un feature flag, en vez de vivir semanas en una rama aparte. El libro lo dice al hablar de control de versiones: una rama de feature de larga vida es un antipatrón.</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Comparación directa. Git Flow tiene sentido con varias versiones vivas, por ejemplo apps instaladas que no se actualizan solas. Para un servicio web con CI confiable, trunk based gana. Las métricas DORA del libro (p. 144) lo explican: lead time corto y despliegues frecuentes requieren lotes pequeños, y los equipos de alto desempeño despliegan varias veces al día. Con IA esto se vuelve más importante: si cada persona produce el triple de código, las ramas largas generan conflictos enormes y PRs que nadie revisa de verdad. Pregunta para el curso: ¿qué usan hoy en el proyecto del curso?</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Esta es la diapositiva de qué es esto. SAST, Static Application Security Testing, analiza el código sin ejecutarlo, como revisar los planos de un edificio: encuentra inyección SQL o XSS mirando el código. DAST, Dynamic Application Security Testing, ataca la aplicación ya corriendo, desde afuera y por HTTP, como probar las puertas y ventanas del edificio terminado: encuentra headers faltantes o errores que filtran datos. Semgrep es una herramienta de SAST: busca patrones con reglas que se leen casi como código, y el repo tiene reglas propias que salen de las specs. Trivy es un escáner todo terreno: vulnerabilidades conocidas (CVE) en las dependencias del repo y en las imágenes Docker, secretos y configuración insegura. Y el análisis de dependencias, SCA, revisa el código que no escribimos nosotros: las librerías de npm. En el PR lo hacen dependency review y npm audit, y Dependabot propone actualizaciones cada semana.</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Tres siglas más. El escaneo de secretos busca llaves y tokens, también en el historial de git, porque borrar un archivo no borra el commit. Por eso corre primero, en la etapa 1, y también en el hook pre-commit, antes de que el secreto llegue al historial. IaC, infraestructura como código: el Dockerfile, el compose y los workflows también tienen errores de seguridad, como un contenedor que corre como root o una acción de GitHub sin fijar. hadolint revisa los Dockerfile, actionlint la sintaxis de los workflows y zizmor su seguridad. Y el SBOM es la lista de ingredientes de la imagen: cuando sale una CVE nueva, responde en minutos si te afecta.</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 estas son las herramientas concretas, en el orden en que aparecen en el pipeline. gitleaks para secretos. hadolint, actionlint y zizmor para Dockerfile y workflows. Semgrep y CodeQL para SAST: Semgrep con reglas legibles, incluso reglas propias, y CodeQL con análisis de flujo de datos. Dependency review y npm audit para dependencias, y Trivy, la navaja suiza, que escanea el repo en la etapa 4 y las imágenes en la etapa 8, donde también genera el SBOM en formato CycloneDX. OWASP ZAP es el DAST, el libro lo trabaja en la p. 229, y Schemathesis hace fuzzing desde el contrato. Los resultados en formato SARIF aparecen en la pestaña Security de GitHub.</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Semgrep es el SAST principal del pipeline. Además de las reglas del registro (p/default, typescript, nodejs y owasp-top-ten), el repo tiene reglas propias que salen de las specs. Esta prohíbe leer la hora del sistema en el dominio y en la aplicación, porque LOAN-R6 calcula el estado vencido con el reloj y los tests necesitan un reloj fijo. Si un agente escribe new Date() en un caso de uso, el PR falla con un mensaje que cita la regla de la spec. Otras reglas prohíben SQL concatenado (inyección SQL), fetch directo en componentes (ARCH-R7) y dangerouslySetInnerHTML. Las reglas propias también tienen tests: el job corre semgrep --test antes de escanear.</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OWASP ZAP es el DAST: ataca la aplicación ya corriendo, por HTTP, sin mirar el código. Corre en la etapa 9, cuando el stack completo está levantado con Docker. Hace un baseline pasivo sobre el frontend y un API scan activo que usa el OpenAPI para saber qué endpoints atacar. Lo importante didácticamente es este archivo: cada alerta que se ignora tiene su justificación escrita y versionada, igual que el código. Algunas se dejan como WARN a propósito, como la falta de Content Security Policy, para conversarlas en clase. Y las inyecciones son FAIL: si aparecen, el build falla.</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pipeline real de .github/workflows/ci.yml, y el dibujo muestra algo importante: no es una fila de etapas una tras otra. La etapa 0 mira qué carpetas cambió el PR, para no probar el backend si solo cambió el frontend. Después viene el primer ciclo de feedback: las etapas 1 a 7 corren en paralelo y ninguna necesita desplegar nada. Secretos, calidad y spec (lint, tipos, arquitectura, Spectral, oasdiff, spec-trace, hadolint, actionlint y zizmor), SAST, dependencias, unitarios, integración con contrato y E2E con el mock server. El segundo ciclo necesita la app construida: la etapa 8 construye las imágenes una sola vez, cuando calidad y unitarios están en verde, las escanea con Trivy y genera el SBOM. La etapa 9 levanta ese mismo artefacto con PostgreSQL y corre en paralelo las pruebas de sistema (smoke de la API, Schemathesis, Playwright @smoke, k6 y Lighthouse) y el DAST con ZAP. La etapa 10 espera a todas y publica la evidencia en el PR, y el job Resultado es el único check que exige la protección de la rama. Lo lento va de noche. El libro cita a Humble y Farley: la etapa de build and test debería durar lo que tomarse una taza de té (p. 127).</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Sexta parte: qué publica el pipeline en cada Pull Request y por qué.</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principio P6 dice que todo cambio entra por PR con evidencia. Concretamente se publican cuatro cosas: capturas de cada paso de los flujos, los videos convertidos a GIF para verlos directamente en GitHub, la tabla de endpoints que probaron el contrato y el smoke, y un resumen de seguridad y calidad. Todo sale de archivos con formato acordado en specs/architecture.md: el manifest.json del frontend y el contract-coverage.json del backend. La etapa 10 descarga los artefactos, convierte los videos a GIF con ffmpeg, publica las imágenes en la rama evidence y arma un solo comentario que se actualiza en cada push.</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comentario que deja el pipeline, resumido del ejemplo real que está en docs/ejemplo-comentario-pr.md, generado con datos de prueba. Arriba dice si hay etapas con fallas. A la izquierda, los flujos de usuario con sus capturas y el GIF del recorrido, cada uno con su ID: aquí FLOW-PRE-03 falló y el revisor ve la captura del error sin clonar nada. A la derecha, la tabla de endpoints con los status que efectivamente probó el contrato, que sale de contract-coverage.json. Abajo, el resumen de seguridad y calidad: en este ejemplo el API scan de ZAP encontró una alerta High, así que la etapa 9 falla y el PR no se puede integrar hasta resolverla. Pregunta para el curso: ¿qué miran primero si les toca revisar este PR?</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La inspiración viene del libro: en el capítulo 3, con Selenium, toma una captura en el teardown cada vez que un test falla en CI, porque es lo más útil para depurar. Nosotros vamos un paso más allá: una captura después de cada paso de Gherkin y video siempre, no solo al fallar, porque además sirven como evidencia para el revisor. El nombre de cada captura lleva el ID del flujo, que sale del tag del escenario. Todo corre en Chromium headless, que es Chrome sin ventana. Lighthouse usa el mismo motor para medir rendimiento y accesibilidad, y DevTools queda para la exploración manual.</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Séptima parte: la actividad práctica. Se trabaja en parejas, con el repo clonado.</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Siete pasos, más o menos 90 minutos. Primero escriben la spec con la plantilla de specs/templates, después cambian el contrato, regeneran los tipos del frontend y lo verifican con Spectral y oasdiff. Recién ahí le piden al agente un plan de tests, lo revisan y lo podan. Después rojo y verde, un test a la vez. Al final abren el PR y leen la evidencia. La regla más importante: si el agente se adelanta y escribe código sin plan aprobado, se descarta. El objetivo no es terminar rápido, es practicar el proceso.</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un borrador para partir: RENEW-R1 y R2 vienen escritas, R3 y R4 las completan ustedes. Lo interesante son las preguntas de la derecha. ¿Qué pasa justo en el instante del vencimiento? Esa es una partición de valor límite que conecta con LOAN-R6. ¿Qué responde un préstamo vencido o uno ya devuelto? Los nuevos códigos de error obligan a cambiar el enum ErrorCode del contrato, y oasdiff les va a decir si ese cambio rompe a los clientes. Y el flujo de UI se escribe en Gherkin, así el test E2E sale solo. La versión final de esta spec está en el PR de ejemplo, que vemos al cerrar.</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 prompt es corto a propósito: el libro advierte que las instrucciones muy largas se ignoran (p. 96). Lo importante ya está en la constitución y en CLAUDE.md, el prompt solo apunta a los archivos y fija el orden de trabajo. A la derecha está el checklist que revisa la pareja antes de pedir revisión, que es un resumen de la plantilla de PR del repo (.github/pull_request_template.md). Si todo está bien, el comentario de evidencia debería mostrar el nuevo flujo de renovación con su GIF y la tabla de endpoints con renewLoan.</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Este es el PR de ejemplo del repo, en la rama feat/renovar-prestamo, y resuelve la misma actividad que acaban de hacer. Léanlo commit por commit, porque el orden es el mensaje. Primero la spec y el contrato: SPEC-LIB-03 con las reglas RENEW-R1 a R4, la operación renewLoan y el campo renewalCount en el OpenAPI, y el flujo FLOW-PRE-04 en Gherkin, sin una línea de código. Después los tests en rojo, en el frontend y en el backend: citan los IDs de la spec y fallan porque todavía no hay implementación. Recién después la implementación, el verde. Fíjense que en cada commit el pipeline cuenta una historia distinta: en el commit de spec oasdiff revisa que el contrato siga siendo compatible, en el rojo los tests fallan por la razón correcta y en el verde todo pasa. Al final el comentario del PR muestra el GIF de FLOW-PRE-04, la fila nueva de renewLoan en la tabla de endpoints, las reglas RENEW en spec-trace y el resumen de seguridad. El PR está en la pestaña Pull requests del repositorio.</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Cinco ideas para llevarse. Uno: si la IA escribe el código, la spec es lo que de verdad programas. Dos: cada test en la capa más baja que detecta el defecto. Tres: la IA propone y tú decides, con un plan aprobado y un test a la vez. Cuatro: mide con trazabilidad y mutación, no con cantidad de tests ni porcentaje de cobertura. Cinco: la seguridad y la evidencia son parte de cada PR.</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Preguntas para cerrar en plenario. La primera obliga a pensar en el valor de cada test. La segunda es la situación real que van a vivir con agentes. La tercera obliga a priorizar etapas del pipeline. La cuarta conecta con su proyecto del curso. No hay una respuesta correcta, lo importante es que argumenten con lo visto en clase.</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Referencias de la clase. El libro base es la segunda edición de Full Stack Testing. Los papers de Meta y Google son lectura recomendada para quien quiera profundizar en generación de tests con LLM y mutation testing a escala. Todas las herramientas del proyecto son open source y están configuradas en el repo.</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713225" y="701700"/>
            <a:ext cx="4459800" cy="2528700"/>
          </a:xfrm>
          <a:prstGeom prst="rect">
            <a:avLst/>
          </a:prstGeom>
        </p:spPr>
        <p:txBody>
          <a:bodyPr anchorCtr="0" anchor="b" bIns="91425" lIns="91425" spcFirstLastPara="1" rIns="91425" wrap="square" tIns="91425">
            <a:noAutofit/>
          </a:bodyPr>
          <a:lstStyle>
            <a:lvl1pPr lvl="0" algn="l">
              <a:spcBef>
                <a:spcPts val="0"/>
              </a:spcBef>
              <a:spcAft>
                <a:spcPts val="0"/>
              </a:spcAft>
              <a:buSzPts val="5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5" name="Google Shape;55;p14"/>
          <p:cNvSpPr txBox="1"/>
          <p:nvPr>
            <p:ph idx="1" type="subTitle"/>
          </p:nvPr>
        </p:nvSpPr>
        <p:spPr>
          <a:xfrm>
            <a:off x="713225" y="3191175"/>
            <a:ext cx="4459800" cy="415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grpSp>
        <p:nvGrpSpPr>
          <p:cNvPr id="56" name="Google Shape;56;p14"/>
          <p:cNvGrpSpPr/>
          <p:nvPr/>
        </p:nvGrpSpPr>
        <p:grpSpPr>
          <a:xfrm>
            <a:off x="6844224" y="991907"/>
            <a:ext cx="2528583" cy="3403880"/>
            <a:chOff x="3074425" y="836100"/>
            <a:chExt cx="1472075" cy="1981650"/>
          </a:xfrm>
        </p:grpSpPr>
        <p:sp>
          <p:nvSpPr>
            <p:cNvPr id="57" name="Google Shape;57;p14"/>
            <p:cNvSpPr/>
            <p:nvPr/>
          </p:nvSpPr>
          <p:spPr>
            <a:xfrm>
              <a:off x="4381300" y="1216050"/>
              <a:ext cx="165200" cy="1601700"/>
            </a:xfrm>
            <a:custGeom>
              <a:rect b="b" l="l" r="r" t="t"/>
              <a:pathLst>
                <a:path extrusionOk="0" h="64068" w="6608">
                  <a:moveTo>
                    <a:pt x="1" y="0"/>
                  </a:moveTo>
                  <a:lnTo>
                    <a:pt x="1" y="64067"/>
                  </a:lnTo>
                  <a:lnTo>
                    <a:pt x="6608" y="64067"/>
                  </a:lnTo>
                  <a:lnTo>
                    <a:pt x="660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a:off x="4063600" y="930150"/>
              <a:ext cx="317725" cy="1887600"/>
            </a:xfrm>
            <a:custGeom>
              <a:rect b="b" l="l" r="r" t="t"/>
              <a:pathLst>
                <a:path extrusionOk="0" h="75504" w="12709">
                  <a:moveTo>
                    <a:pt x="0" y="1"/>
                  </a:moveTo>
                  <a:lnTo>
                    <a:pt x="0" y="75503"/>
                  </a:lnTo>
                  <a:lnTo>
                    <a:pt x="12709" y="75503"/>
                  </a:lnTo>
                  <a:lnTo>
                    <a:pt x="1270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a:off x="3656050" y="1110775"/>
              <a:ext cx="407575" cy="1706975"/>
            </a:xfrm>
            <a:custGeom>
              <a:rect b="b" l="l" r="r" t="t"/>
              <a:pathLst>
                <a:path extrusionOk="0" h="68279" w="16303">
                  <a:moveTo>
                    <a:pt x="0" y="0"/>
                  </a:moveTo>
                  <a:lnTo>
                    <a:pt x="0" y="68278"/>
                  </a:lnTo>
                  <a:lnTo>
                    <a:pt x="16302" y="68278"/>
                  </a:lnTo>
                  <a:lnTo>
                    <a:pt x="16302"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a:off x="3074425" y="1576350"/>
              <a:ext cx="581650" cy="1241400"/>
            </a:xfrm>
            <a:custGeom>
              <a:rect b="b" l="l" r="r" t="t"/>
              <a:pathLst>
                <a:path extrusionOk="0" h="49656" w="23266">
                  <a:moveTo>
                    <a:pt x="1" y="0"/>
                  </a:moveTo>
                  <a:lnTo>
                    <a:pt x="1" y="49655"/>
                  </a:lnTo>
                  <a:lnTo>
                    <a:pt x="23265" y="49655"/>
                  </a:lnTo>
                  <a:lnTo>
                    <a:pt x="2326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4"/>
            <p:cNvSpPr/>
            <p:nvPr/>
          </p:nvSpPr>
          <p:spPr>
            <a:xfrm>
              <a:off x="3137600" y="1514100"/>
              <a:ext cx="451100" cy="62275"/>
            </a:xfrm>
            <a:custGeom>
              <a:rect b="b" l="l" r="r" t="t"/>
              <a:pathLst>
                <a:path extrusionOk="0" h="2491" w="18044">
                  <a:moveTo>
                    <a:pt x="0" y="1"/>
                  </a:moveTo>
                  <a:lnTo>
                    <a:pt x="0" y="2490"/>
                  </a:lnTo>
                  <a:lnTo>
                    <a:pt x="18043" y="2490"/>
                  </a:lnTo>
                  <a:lnTo>
                    <a:pt x="1804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3247550" y="1321325"/>
              <a:ext cx="226025" cy="192800"/>
            </a:xfrm>
            <a:custGeom>
              <a:rect b="b" l="l" r="r" t="t"/>
              <a:pathLst>
                <a:path extrusionOk="0" h="7712" w="9041">
                  <a:moveTo>
                    <a:pt x="1" y="1"/>
                  </a:moveTo>
                  <a:lnTo>
                    <a:pt x="1" y="7712"/>
                  </a:lnTo>
                  <a:lnTo>
                    <a:pt x="9041" y="7712"/>
                  </a:lnTo>
                  <a:lnTo>
                    <a:pt x="904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3685050" y="1038250"/>
              <a:ext cx="130100" cy="72550"/>
            </a:xfrm>
            <a:custGeom>
              <a:rect b="b" l="l" r="r" t="t"/>
              <a:pathLst>
                <a:path extrusionOk="0" h="2902" w="5204">
                  <a:moveTo>
                    <a:pt x="1" y="0"/>
                  </a:moveTo>
                  <a:lnTo>
                    <a:pt x="1" y="2901"/>
                  </a:lnTo>
                  <a:lnTo>
                    <a:pt x="5204" y="2901"/>
                  </a:lnTo>
                  <a:lnTo>
                    <a:pt x="520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4291475" y="836100"/>
              <a:ext cx="39800" cy="93600"/>
            </a:xfrm>
            <a:custGeom>
              <a:rect b="b" l="l" r="r" t="t"/>
              <a:pathLst>
                <a:path extrusionOk="0" h="3744" w="1592">
                  <a:moveTo>
                    <a:pt x="0" y="1"/>
                  </a:moveTo>
                  <a:lnTo>
                    <a:pt x="0" y="3744"/>
                  </a:lnTo>
                  <a:lnTo>
                    <a:pt x="1591" y="3744"/>
                  </a:lnTo>
                  <a:lnTo>
                    <a:pt x="1591"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 name="Google Shape;65;p14"/>
          <p:cNvGrpSpPr/>
          <p:nvPr/>
        </p:nvGrpSpPr>
        <p:grpSpPr>
          <a:xfrm>
            <a:off x="5353357" y="1166011"/>
            <a:ext cx="1511499" cy="3290861"/>
            <a:chOff x="1622025" y="238125"/>
            <a:chExt cx="746825" cy="1626000"/>
          </a:xfrm>
        </p:grpSpPr>
        <p:sp>
          <p:nvSpPr>
            <p:cNvPr id="66" name="Google Shape;66;p14"/>
            <p:cNvSpPr/>
            <p:nvPr/>
          </p:nvSpPr>
          <p:spPr>
            <a:xfrm>
              <a:off x="1622025" y="304550"/>
              <a:ext cx="214800" cy="1559575"/>
            </a:xfrm>
            <a:custGeom>
              <a:rect b="b" l="l" r="r" t="t"/>
              <a:pathLst>
                <a:path extrusionOk="0" h="62383" w="8592">
                  <a:moveTo>
                    <a:pt x="1" y="1"/>
                  </a:moveTo>
                  <a:lnTo>
                    <a:pt x="1" y="62383"/>
                  </a:lnTo>
                  <a:lnTo>
                    <a:pt x="8592" y="62383"/>
                  </a:lnTo>
                  <a:lnTo>
                    <a:pt x="859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4"/>
            <p:cNvSpPr/>
            <p:nvPr/>
          </p:nvSpPr>
          <p:spPr>
            <a:xfrm>
              <a:off x="1836800" y="729900"/>
              <a:ext cx="532050" cy="1134225"/>
            </a:xfrm>
            <a:custGeom>
              <a:rect b="b" l="l" r="r" t="t"/>
              <a:pathLst>
                <a:path extrusionOk="0" h="45369" w="21282">
                  <a:moveTo>
                    <a:pt x="1" y="0"/>
                  </a:moveTo>
                  <a:lnTo>
                    <a:pt x="1" y="45369"/>
                  </a:lnTo>
                  <a:lnTo>
                    <a:pt x="21281" y="45369"/>
                  </a:lnTo>
                  <a:lnTo>
                    <a:pt x="2128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4"/>
            <p:cNvSpPr/>
            <p:nvPr/>
          </p:nvSpPr>
          <p:spPr>
            <a:xfrm>
              <a:off x="1898575" y="672800"/>
              <a:ext cx="412250" cy="57125"/>
            </a:xfrm>
            <a:custGeom>
              <a:rect b="b" l="l" r="r" t="t"/>
              <a:pathLst>
                <a:path extrusionOk="0" h="2285" w="16490">
                  <a:moveTo>
                    <a:pt x="0" y="1"/>
                  </a:moveTo>
                  <a:lnTo>
                    <a:pt x="0" y="2284"/>
                  </a:lnTo>
                  <a:lnTo>
                    <a:pt x="16490" y="2284"/>
                  </a:lnTo>
                  <a:lnTo>
                    <a:pt x="1649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p:nvPr/>
          </p:nvSpPr>
          <p:spPr>
            <a:xfrm>
              <a:off x="2004325" y="496875"/>
              <a:ext cx="205900" cy="175950"/>
            </a:xfrm>
            <a:custGeom>
              <a:rect b="b" l="l" r="r" t="t"/>
              <a:pathLst>
                <a:path extrusionOk="0" h="7038" w="8236">
                  <a:moveTo>
                    <a:pt x="0" y="0"/>
                  </a:moveTo>
                  <a:lnTo>
                    <a:pt x="0" y="7038"/>
                  </a:lnTo>
                  <a:lnTo>
                    <a:pt x="8236" y="7038"/>
                  </a:lnTo>
                  <a:lnTo>
                    <a:pt x="823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4"/>
            <p:cNvSpPr/>
            <p:nvPr/>
          </p:nvSpPr>
          <p:spPr>
            <a:xfrm>
              <a:off x="1691750" y="238125"/>
              <a:ext cx="118875" cy="66450"/>
            </a:xfrm>
            <a:custGeom>
              <a:rect b="b" l="l" r="r" t="t"/>
              <a:pathLst>
                <a:path extrusionOk="0" h="2658" w="4755">
                  <a:moveTo>
                    <a:pt x="1" y="0"/>
                  </a:moveTo>
                  <a:lnTo>
                    <a:pt x="1" y="2658"/>
                  </a:lnTo>
                  <a:lnTo>
                    <a:pt x="4755" y="2658"/>
                  </a:lnTo>
                  <a:lnTo>
                    <a:pt x="475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14"/>
          <p:cNvGrpSpPr/>
          <p:nvPr/>
        </p:nvGrpSpPr>
        <p:grpSpPr>
          <a:xfrm>
            <a:off x="7189504" y="2296000"/>
            <a:ext cx="954842" cy="1856849"/>
            <a:chOff x="4087800" y="723675"/>
            <a:chExt cx="700750" cy="1362725"/>
          </a:xfrm>
        </p:grpSpPr>
        <p:sp>
          <p:nvSpPr>
            <p:cNvPr id="72" name="Google Shape;72;p14"/>
            <p:cNvSpPr/>
            <p:nvPr/>
          </p:nvSpPr>
          <p:spPr>
            <a:xfrm>
              <a:off x="4255125" y="723675"/>
              <a:ext cx="342125" cy="111600"/>
            </a:xfrm>
            <a:custGeom>
              <a:rect b="b" l="l" r="r" t="t"/>
              <a:pathLst>
                <a:path extrusionOk="0" h="4464" w="13685">
                  <a:moveTo>
                    <a:pt x="1" y="1"/>
                  </a:moveTo>
                  <a:lnTo>
                    <a:pt x="1" y="4463"/>
                  </a:lnTo>
                  <a:lnTo>
                    <a:pt x="13685" y="4463"/>
                  </a:lnTo>
                  <a:lnTo>
                    <a:pt x="1368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4"/>
            <p:cNvSpPr/>
            <p:nvPr/>
          </p:nvSpPr>
          <p:spPr>
            <a:xfrm>
              <a:off x="4512250" y="723675"/>
              <a:ext cx="85000" cy="111600"/>
            </a:xfrm>
            <a:custGeom>
              <a:rect b="b" l="l" r="r" t="t"/>
              <a:pathLst>
                <a:path extrusionOk="0" h="4464" w="3400">
                  <a:moveTo>
                    <a:pt x="0" y="1"/>
                  </a:moveTo>
                  <a:lnTo>
                    <a:pt x="0" y="4463"/>
                  </a:lnTo>
                  <a:lnTo>
                    <a:pt x="3400" y="4463"/>
                  </a:lnTo>
                  <a:lnTo>
                    <a:pt x="340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a:off x="4087800" y="816075"/>
              <a:ext cx="700750" cy="1270325"/>
            </a:xfrm>
            <a:custGeom>
              <a:rect b="b" l="l" r="r" t="t"/>
              <a:pathLst>
                <a:path extrusionOk="0" h="50813" w="28030">
                  <a:moveTo>
                    <a:pt x="0" y="0"/>
                  </a:moveTo>
                  <a:lnTo>
                    <a:pt x="0" y="50812"/>
                  </a:lnTo>
                  <a:lnTo>
                    <a:pt x="28030" y="50812"/>
                  </a:lnTo>
                  <a:lnTo>
                    <a:pt x="28030"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a:off x="4582400" y="816075"/>
              <a:ext cx="206150" cy="1270325"/>
            </a:xfrm>
            <a:custGeom>
              <a:rect b="b" l="l" r="r" t="t"/>
              <a:pathLst>
                <a:path extrusionOk="0" h="50813" w="8246">
                  <a:moveTo>
                    <a:pt x="1" y="0"/>
                  </a:moveTo>
                  <a:lnTo>
                    <a:pt x="1" y="50812"/>
                  </a:lnTo>
                  <a:lnTo>
                    <a:pt x="8246" y="50812"/>
                  </a:lnTo>
                  <a:lnTo>
                    <a:pt x="824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4138350" y="94287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4"/>
            <p:cNvSpPr/>
            <p:nvPr/>
          </p:nvSpPr>
          <p:spPr>
            <a:xfrm>
              <a:off x="4297850" y="94287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a:off x="4456475" y="94287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4138350" y="1088425"/>
              <a:ext cx="68450" cy="68875"/>
            </a:xfrm>
            <a:custGeom>
              <a:rect b="b" l="l" r="r" t="t"/>
              <a:pathLst>
                <a:path extrusionOk="0" h="2755"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4297850" y="1088425"/>
              <a:ext cx="68875" cy="68875"/>
            </a:xfrm>
            <a:custGeom>
              <a:rect b="b" l="l" r="r" t="t"/>
              <a:pathLst>
                <a:path extrusionOk="0" h="2755"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4"/>
            <p:cNvSpPr/>
            <p:nvPr/>
          </p:nvSpPr>
          <p:spPr>
            <a:xfrm>
              <a:off x="4456475" y="1088425"/>
              <a:ext cx="68425" cy="68875"/>
            </a:xfrm>
            <a:custGeom>
              <a:rect b="b" l="l" r="r" t="t"/>
              <a:pathLst>
                <a:path extrusionOk="0" h="2755"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p:nvPr/>
          </p:nvSpPr>
          <p:spPr>
            <a:xfrm>
              <a:off x="4138350" y="1233975"/>
              <a:ext cx="68450" cy="68450"/>
            </a:xfrm>
            <a:custGeom>
              <a:rect b="b" l="l" r="r" t="t"/>
              <a:pathLst>
                <a:path extrusionOk="0" h="2738" w="2738">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4297850" y="1233975"/>
              <a:ext cx="68875" cy="68450"/>
            </a:xfrm>
            <a:custGeom>
              <a:rect b="b" l="l" r="r" t="t"/>
              <a:pathLst>
                <a:path extrusionOk="0" h="2738" w="2755">
                  <a:moveTo>
                    <a:pt x="0" y="1"/>
                  </a:moveTo>
                  <a:lnTo>
                    <a:pt x="0" y="2737"/>
                  </a:lnTo>
                  <a:lnTo>
                    <a:pt x="2754" y="2737"/>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4456475" y="1233975"/>
              <a:ext cx="68425" cy="68450"/>
            </a:xfrm>
            <a:custGeom>
              <a:rect b="b" l="l" r="r" t="t"/>
              <a:pathLst>
                <a:path extrusionOk="0" h="2738" w="2737">
                  <a:moveTo>
                    <a:pt x="0" y="1"/>
                  </a:moveTo>
                  <a:lnTo>
                    <a:pt x="0" y="2737"/>
                  </a:lnTo>
                  <a:lnTo>
                    <a:pt x="2737" y="2737"/>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4"/>
            <p:cNvSpPr/>
            <p:nvPr/>
          </p:nvSpPr>
          <p:spPr>
            <a:xfrm>
              <a:off x="4138350" y="137910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4"/>
            <p:cNvSpPr/>
            <p:nvPr/>
          </p:nvSpPr>
          <p:spPr>
            <a:xfrm>
              <a:off x="4297850" y="137910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4456475" y="137910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4138350" y="1524650"/>
              <a:ext cx="68450" cy="68875"/>
            </a:xfrm>
            <a:custGeom>
              <a:rect b="b" l="l" r="r" t="t"/>
              <a:pathLst>
                <a:path extrusionOk="0" h="2755" w="2738">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4"/>
            <p:cNvSpPr/>
            <p:nvPr/>
          </p:nvSpPr>
          <p:spPr>
            <a:xfrm>
              <a:off x="4297850" y="1524650"/>
              <a:ext cx="68875" cy="68875"/>
            </a:xfrm>
            <a:custGeom>
              <a:rect b="b" l="l" r="r" t="t"/>
              <a:pathLst>
                <a:path extrusionOk="0" h="2755" w="2755">
                  <a:moveTo>
                    <a:pt x="0" y="0"/>
                  </a:moveTo>
                  <a:lnTo>
                    <a:pt x="0" y="2754"/>
                  </a:lnTo>
                  <a:lnTo>
                    <a:pt x="2754" y="2754"/>
                  </a:lnTo>
                  <a:lnTo>
                    <a:pt x="275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4"/>
            <p:cNvSpPr/>
            <p:nvPr/>
          </p:nvSpPr>
          <p:spPr>
            <a:xfrm>
              <a:off x="4456475" y="1524650"/>
              <a:ext cx="68425" cy="68875"/>
            </a:xfrm>
            <a:custGeom>
              <a:rect b="b" l="l" r="r" t="t"/>
              <a:pathLst>
                <a:path extrusionOk="0" h="2755" w="2737">
                  <a:moveTo>
                    <a:pt x="0" y="0"/>
                  </a:moveTo>
                  <a:lnTo>
                    <a:pt x="0" y="2754"/>
                  </a:lnTo>
                  <a:lnTo>
                    <a:pt x="2737" y="2754"/>
                  </a:lnTo>
                  <a:lnTo>
                    <a:pt x="273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4138350" y="1668875"/>
              <a:ext cx="68450" cy="68900"/>
            </a:xfrm>
            <a:custGeom>
              <a:rect b="b" l="l" r="r" t="t"/>
              <a:pathLst>
                <a:path extrusionOk="0" h="2756" w="2738">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4297850" y="1668875"/>
              <a:ext cx="68875" cy="68900"/>
            </a:xfrm>
            <a:custGeom>
              <a:rect b="b" l="l" r="r" t="t"/>
              <a:pathLst>
                <a:path extrusionOk="0" h="2756" w="2755">
                  <a:moveTo>
                    <a:pt x="0" y="1"/>
                  </a:moveTo>
                  <a:lnTo>
                    <a:pt x="0" y="2755"/>
                  </a:lnTo>
                  <a:lnTo>
                    <a:pt x="2754" y="2755"/>
                  </a:lnTo>
                  <a:lnTo>
                    <a:pt x="2754"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4"/>
            <p:cNvSpPr/>
            <p:nvPr/>
          </p:nvSpPr>
          <p:spPr>
            <a:xfrm>
              <a:off x="4456475" y="1668875"/>
              <a:ext cx="68425" cy="68900"/>
            </a:xfrm>
            <a:custGeom>
              <a:rect b="b" l="l" r="r" t="t"/>
              <a:pathLst>
                <a:path extrusionOk="0" h="2756" w="2737">
                  <a:moveTo>
                    <a:pt x="0" y="1"/>
                  </a:moveTo>
                  <a:lnTo>
                    <a:pt x="0" y="2755"/>
                  </a:lnTo>
                  <a:lnTo>
                    <a:pt x="2737" y="2755"/>
                  </a:lnTo>
                  <a:lnTo>
                    <a:pt x="273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 name="Google Shape;94;p14"/>
          <p:cNvGrpSpPr/>
          <p:nvPr/>
        </p:nvGrpSpPr>
        <p:grpSpPr>
          <a:xfrm>
            <a:off x="6125063" y="2365317"/>
            <a:ext cx="1004134" cy="1939934"/>
            <a:chOff x="3308625" y="459175"/>
            <a:chExt cx="736925" cy="1423700"/>
          </a:xfrm>
        </p:grpSpPr>
        <p:sp>
          <p:nvSpPr>
            <p:cNvPr id="95" name="Google Shape;95;p14"/>
            <p:cNvSpPr/>
            <p:nvPr/>
          </p:nvSpPr>
          <p:spPr>
            <a:xfrm>
              <a:off x="3308625" y="459175"/>
              <a:ext cx="736925" cy="1423700"/>
            </a:xfrm>
            <a:custGeom>
              <a:rect b="b" l="l" r="r" t="t"/>
              <a:pathLst>
                <a:path extrusionOk="0" h="56948" w="29477">
                  <a:moveTo>
                    <a:pt x="0" y="0"/>
                  </a:moveTo>
                  <a:lnTo>
                    <a:pt x="0" y="56948"/>
                  </a:lnTo>
                  <a:lnTo>
                    <a:pt x="29477" y="56948"/>
                  </a:lnTo>
                  <a:lnTo>
                    <a:pt x="29477" y="0"/>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3352625" y="748525"/>
              <a:ext cx="109850" cy="148175"/>
            </a:xfrm>
            <a:custGeom>
              <a:rect b="b" l="l" r="r" t="t"/>
              <a:pathLst>
                <a:path extrusionOk="0" h="5927" w="4394">
                  <a:moveTo>
                    <a:pt x="2197" y="0"/>
                  </a:moveTo>
                  <a:cubicBezTo>
                    <a:pt x="977" y="0"/>
                    <a:pt x="1" y="994"/>
                    <a:pt x="1" y="2214"/>
                  </a:cubicBezTo>
                  <a:lnTo>
                    <a:pt x="1" y="5927"/>
                  </a:lnTo>
                  <a:lnTo>
                    <a:pt x="4394" y="5927"/>
                  </a:lnTo>
                  <a:lnTo>
                    <a:pt x="4394" y="2197"/>
                  </a:lnTo>
                  <a:cubicBezTo>
                    <a:pt x="4394"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4"/>
            <p:cNvSpPr/>
            <p:nvPr/>
          </p:nvSpPr>
          <p:spPr>
            <a:xfrm>
              <a:off x="3499500" y="748525"/>
              <a:ext cx="109825" cy="148175"/>
            </a:xfrm>
            <a:custGeom>
              <a:rect b="b" l="l" r="r" t="t"/>
              <a:pathLst>
                <a:path extrusionOk="0" h="5927" w="4393">
                  <a:moveTo>
                    <a:pt x="2197" y="0"/>
                  </a:moveTo>
                  <a:cubicBezTo>
                    <a:pt x="994" y="0"/>
                    <a:pt x="0" y="994"/>
                    <a:pt x="0" y="2214"/>
                  </a:cubicBezTo>
                  <a:lnTo>
                    <a:pt x="0" y="5927"/>
                  </a:lnTo>
                  <a:lnTo>
                    <a:pt x="4393" y="5927"/>
                  </a:lnTo>
                  <a:lnTo>
                    <a:pt x="4393" y="2214"/>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4"/>
            <p:cNvSpPr/>
            <p:nvPr/>
          </p:nvSpPr>
          <p:spPr>
            <a:xfrm>
              <a:off x="3646350" y="748525"/>
              <a:ext cx="110275" cy="148175"/>
            </a:xfrm>
            <a:custGeom>
              <a:rect b="b" l="l" r="r" t="t"/>
              <a:pathLst>
                <a:path extrusionOk="0" h="5927" w="4411">
                  <a:moveTo>
                    <a:pt x="2214" y="0"/>
                  </a:moveTo>
                  <a:cubicBezTo>
                    <a:pt x="994" y="0"/>
                    <a:pt x="1" y="994"/>
                    <a:pt x="1" y="2214"/>
                  </a:cubicBezTo>
                  <a:lnTo>
                    <a:pt x="1" y="5927"/>
                  </a:lnTo>
                  <a:lnTo>
                    <a:pt x="4411" y="5927"/>
                  </a:lnTo>
                  <a:lnTo>
                    <a:pt x="4411" y="2214"/>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4"/>
            <p:cNvSpPr/>
            <p:nvPr/>
          </p:nvSpPr>
          <p:spPr>
            <a:xfrm>
              <a:off x="3352625" y="554600"/>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4"/>
            <p:cNvSpPr/>
            <p:nvPr/>
          </p:nvSpPr>
          <p:spPr>
            <a:xfrm>
              <a:off x="3499500" y="554600"/>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4"/>
            <p:cNvSpPr/>
            <p:nvPr/>
          </p:nvSpPr>
          <p:spPr>
            <a:xfrm>
              <a:off x="3646350" y="554600"/>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p:nvPr/>
          </p:nvSpPr>
          <p:spPr>
            <a:xfrm>
              <a:off x="3352625" y="956825"/>
              <a:ext cx="109850" cy="148200"/>
            </a:xfrm>
            <a:custGeom>
              <a:rect b="b" l="l" r="r" t="t"/>
              <a:pathLst>
                <a:path extrusionOk="0" h="5928" w="4394">
                  <a:moveTo>
                    <a:pt x="2197" y="0"/>
                  </a:moveTo>
                  <a:cubicBezTo>
                    <a:pt x="977" y="0"/>
                    <a:pt x="1" y="994"/>
                    <a:pt x="1" y="2197"/>
                  </a:cubicBezTo>
                  <a:lnTo>
                    <a:pt x="1" y="5927"/>
                  </a:lnTo>
                  <a:lnTo>
                    <a:pt x="4394" y="5927"/>
                  </a:lnTo>
                  <a:lnTo>
                    <a:pt x="4394" y="2197"/>
                  </a:lnTo>
                  <a:cubicBezTo>
                    <a:pt x="4394" y="977"/>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4"/>
            <p:cNvSpPr/>
            <p:nvPr/>
          </p:nvSpPr>
          <p:spPr>
            <a:xfrm>
              <a:off x="3499500" y="956825"/>
              <a:ext cx="109825" cy="148200"/>
            </a:xfrm>
            <a:custGeom>
              <a:rect b="b" l="l" r="r" t="t"/>
              <a:pathLst>
                <a:path extrusionOk="0" h="5928" w="4393">
                  <a:moveTo>
                    <a:pt x="2197" y="0"/>
                  </a:moveTo>
                  <a:cubicBezTo>
                    <a:pt x="994"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4"/>
            <p:cNvSpPr/>
            <p:nvPr/>
          </p:nvSpPr>
          <p:spPr>
            <a:xfrm>
              <a:off x="3646350" y="956825"/>
              <a:ext cx="110275" cy="148200"/>
            </a:xfrm>
            <a:custGeom>
              <a:rect b="b" l="l" r="r" t="t"/>
              <a:pathLst>
                <a:path extrusionOk="0" h="5928" w="4411">
                  <a:moveTo>
                    <a:pt x="2214" y="0"/>
                  </a:moveTo>
                  <a:cubicBezTo>
                    <a:pt x="994" y="0"/>
                    <a:pt x="1" y="994"/>
                    <a:pt x="1" y="2197"/>
                  </a:cubicBezTo>
                  <a:lnTo>
                    <a:pt x="1"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4"/>
            <p:cNvSpPr/>
            <p:nvPr/>
          </p:nvSpPr>
          <p:spPr>
            <a:xfrm>
              <a:off x="3354825" y="1356000"/>
              <a:ext cx="110275" cy="148175"/>
            </a:xfrm>
            <a:custGeom>
              <a:rect b="b" l="l" r="r" t="t"/>
              <a:pathLst>
                <a:path extrusionOk="0" h="5927" w="4411">
                  <a:moveTo>
                    <a:pt x="2196" y="0"/>
                  </a:moveTo>
                  <a:cubicBezTo>
                    <a:pt x="994" y="0"/>
                    <a:pt x="0" y="994"/>
                    <a:pt x="0" y="2197"/>
                  </a:cubicBezTo>
                  <a:lnTo>
                    <a:pt x="0" y="5927"/>
                  </a:lnTo>
                  <a:lnTo>
                    <a:pt x="4410" y="5927"/>
                  </a:lnTo>
                  <a:lnTo>
                    <a:pt x="4410" y="2197"/>
                  </a:lnTo>
                  <a:cubicBezTo>
                    <a:pt x="4410" y="994"/>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4"/>
            <p:cNvSpPr/>
            <p:nvPr/>
          </p:nvSpPr>
          <p:spPr>
            <a:xfrm>
              <a:off x="3501675" y="1356000"/>
              <a:ext cx="110275" cy="148175"/>
            </a:xfrm>
            <a:custGeom>
              <a:rect b="b" l="l" r="r" t="t"/>
              <a:pathLst>
                <a:path extrusionOk="0" h="5927" w="4411">
                  <a:moveTo>
                    <a:pt x="2214" y="0"/>
                  </a:moveTo>
                  <a:cubicBezTo>
                    <a:pt x="994" y="0"/>
                    <a:pt x="0" y="994"/>
                    <a:pt x="18" y="2197"/>
                  </a:cubicBezTo>
                  <a:lnTo>
                    <a:pt x="18" y="5927"/>
                  </a:lnTo>
                  <a:lnTo>
                    <a:pt x="4411" y="5927"/>
                  </a:lnTo>
                  <a:lnTo>
                    <a:pt x="4411" y="2197"/>
                  </a:lnTo>
                  <a:cubicBezTo>
                    <a:pt x="4411" y="994"/>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4"/>
            <p:cNvSpPr/>
            <p:nvPr/>
          </p:nvSpPr>
          <p:spPr>
            <a:xfrm>
              <a:off x="3648975" y="1356000"/>
              <a:ext cx="109825" cy="148175"/>
            </a:xfrm>
            <a:custGeom>
              <a:rect b="b" l="l" r="r" t="t"/>
              <a:pathLst>
                <a:path extrusionOk="0" h="5927" w="4393">
                  <a:moveTo>
                    <a:pt x="2197" y="0"/>
                  </a:moveTo>
                  <a:cubicBezTo>
                    <a:pt x="976" y="0"/>
                    <a:pt x="0" y="994"/>
                    <a:pt x="0" y="2197"/>
                  </a:cubicBezTo>
                  <a:lnTo>
                    <a:pt x="0" y="5927"/>
                  </a:lnTo>
                  <a:lnTo>
                    <a:pt x="4393" y="5927"/>
                  </a:lnTo>
                  <a:lnTo>
                    <a:pt x="4393" y="2197"/>
                  </a:lnTo>
                  <a:cubicBezTo>
                    <a:pt x="4393" y="994"/>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p:nvPr/>
          </p:nvSpPr>
          <p:spPr>
            <a:xfrm>
              <a:off x="3354825" y="1562125"/>
              <a:ext cx="110275" cy="148175"/>
            </a:xfrm>
            <a:custGeom>
              <a:rect b="b" l="l" r="r" t="t"/>
              <a:pathLst>
                <a:path extrusionOk="0" h="5927" w="4411">
                  <a:moveTo>
                    <a:pt x="2196" y="0"/>
                  </a:moveTo>
                  <a:cubicBezTo>
                    <a:pt x="994" y="0"/>
                    <a:pt x="0" y="976"/>
                    <a:pt x="0" y="2197"/>
                  </a:cubicBezTo>
                  <a:lnTo>
                    <a:pt x="0" y="5927"/>
                  </a:lnTo>
                  <a:lnTo>
                    <a:pt x="4410" y="5927"/>
                  </a:lnTo>
                  <a:lnTo>
                    <a:pt x="4410" y="2197"/>
                  </a:lnTo>
                  <a:cubicBezTo>
                    <a:pt x="4410" y="976"/>
                    <a:pt x="3417" y="0"/>
                    <a:pt x="2196"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4"/>
            <p:cNvSpPr/>
            <p:nvPr/>
          </p:nvSpPr>
          <p:spPr>
            <a:xfrm>
              <a:off x="3501675" y="1562125"/>
              <a:ext cx="110275" cy="148175"/>
            </a:xfrm>
            <a:custGeom>
              <a:rect b="b" l="l" r="r" t="t"/>
              <a:pathLst>
                <a:path extrusionOk="0" h="5927" w="4411">
                  <a:moveTo>
                    <a:pt x="2214" y="0"/>
                  </a:moveTo>
                  <a:cubicBezTo>
                    <a:pt x="994" y="0"/>
                    <a:pt x="0" y="976"/>
                    <a:pt x="18" y="2197"/>
                  </a:cubicBezTo>
                  <a:lnTo>
                    <a:pt x="18" y="5927"/>
                  </a:lnTo>
                  <a:lnTo>
                    <a:pt x="4411" y="5927"/>
                  </a:lnTo>
                  <a:lnTo>
                    <a:pt x="4411" y="2197"/>
                  </a:lnTo>
                  <a:cubicBezTo>
                    <a:pt x="4411" y="976"/>
                    <a:pt x="3417" y="0"/>
                    <a:pt x="2214"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4"/>
            <p:cNvSpPr/>
            <p:nvPr/>
          </p:nvSpPr>
          <p:spPr>
            <a:xfrm>
              <a:off x="3648975" y="1562125"/>
              <a:ext cx="109825" cy="148175"/>
            </a:xfrm>
            <a:custGeom>
              <a:rect b="b" l="l" r="r" t="t"/>
              <a:pathLst>
                <a:path extrusionOk="0" h="5927" w="4393">
                  <a:moveTo>
                    <a:pt x="2197" y="0"/>
                  </a:moveTo>
                  <a:cubicBezTo>
                    <a:pt x="976" y="0"/>
                    <a:pt x="0" y="976"/>
                    <a:pt x="0" y="2197"/>
                  </a:cubicBezTo>
                  <a:lnTo>
                    <a:pt x="0" y="5927"/>
                  </a:lnTo>
                  <a:lnTo>
                    <a:pt x="4393" y="5927"/>
                  </a:lnTo>
                  <a:lnTo>
                    <a:pt x="4393" y="2197"/>
                  </a:lnTo>
                  <a:cubicBezTo>
                    <a:pt x="4393" y="976"/>
                    <a:pt x="3417" y="0"/>
                    <a:pt x="2197" y="0"/>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p:nvPr/>
          </p:nvSpPr>
          <p:spPr>
            <a:xfrm>
              <a:off x="3352625" y="1156400"/>
              <a:ext cx="109850" cy="148200"/>
            </a:xfrm>
            <a:custGeom>
              <a:rect b="b" l="l" r="r" t="t"/>
              <a:pathLst>
                <a:path extrusionOk="0" h="5928" w="4394">
                  <a:moveTo>
                    <a:pt x="2197" y="1"/>
                  </a:moveTo>
                  <a:cubicBezTo>
                    <a:pt x="977" y="1"/>
                    <a:pt x="1" y="994"/>
                    <a:pt x="1" y="2197"/>
                  </a:cubicBezTo>
                  <a:lnTo>
                    <a:pt x="1" y="5927"/>
                  </a:lnTo>
                  <a:lnTo>
                    <a:pt x="4394" y="5927"/>
                  </a:lnTo>
                  <a:lnTo>
                    <a:pt x="4394" y="2197"/>
                  </a:lnTo>
                  <a:cubicBezTo>
                    <a:pt x="4394" y="977"/>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4"/>
            <p:cNvSpPr/>
            <p:nvPr/>
          </p:nvSpPr>
          <p:spPr>
            <a:xfrm>
              <a:off x="3499500" y="1156400"/>
              <a:ext cx="109825" cy="148200"/>
            </a:xfrm>
            <a:custGeom>
              <a:rect b="b" l="l" r="r" t="t"/>
              <a:pathLst>
                <a:path extrusionOk="0" h="5928" w="4393">
                  <a:moveTo>
                    <a:pt x="2197" y="1"/>
                  </a:moveTo>
                  <a:cubicBezTo>
                    <a:pt x="994" y="1"/>
                    <a:pt x="0" y="994"/>
                    <a:pt x="0" y="2197"/>
                  </a:cubicBezTo>
                  <a:lnTo>
                    <a:pt x="0" y="5927"/>
                  </a:lnTo>
                  <a:lnTo>
                    <a:pt x="4393" y="5927"/>
                  </a:lnTo>
                  <a:lnTo>
                    <a:pt x="4393" y="2197"/>
                  </a:lnTo>
                  <a:cubicBezTo>
                    <a:pt x="4393" y="994"/>
                    <a:pt x="3417" y="1"/>
                    <a:pt x="2197"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4"/>
            <p:cNvSpPr/>
            <p:nvPr/>
          </p:nvSpPr>
          <p:spPr>
            <a:xfrm>
              <a:off x="3646350" y="1156400"/>
              <a:ext cx="110275" cy="148200"/>
            </a:xfrm>
            <a:custGeom>
              <a:rect b="b" l="l" r="r" t="t"/>
              <a:pathLst>
                <a:path extrusionOk="0" h="5928" w="4411">
                  <a:moveTo>
                    <a:pt x="2214" y="1"/>
                  </a:moveTo>
                  <a:cubicBezTo>
                    <a:pt x="994" y="1"/>
                    <a:pt x="1" y="994"/>
                    <a:pt x="1" y="2197"/>
                  </a:cubicBezTo>
                  <a:lnTo>
                    <a:pt x="1" y="5927"/>
                  </a:lnTo>
                  <a:lnTo>
                    <a:pt x="4411" y="5927"/>
                  </a:lnTo>
                  <a:lnTo>
                    <a:pt x="4411" y="2197"/>
                  </a:lnTo>
                  <a:cubicBezTo>
                    <a:pt x="4411" y="994"/>
                    <a:pt x="3417" y="1"/>
                    <a:pt x="2214"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p:nvPr/>
          </p:nvSpPr>
          <p:spPr>
            <a:xfrm>
              <a:off x="3813700" y="459175"/>
              <a:ext cx="231850" cy="1423700"/>
            </a:xfrm>
            <a:custGeom>
              <a:rect b="b" l="l" r="r" t="t"/>
              <a:pathLst>
                <a:path extrusionOk="0" h="56948" w="9274">
                  <a:moveTo>
                    <a:pt x="0" y="0"/>
                  </a:moveTo>
                  <a:lnTo>
                    <a:pt x="0" y="56948"/>
                  </a:lnTo>
                  <a:lnTo>
                    <a:pt x="9274" y="56948"/>
                  </a:lnTo>
                  <a:lnTo>
                    <a:pt x="927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4"/>
          <p:cNvGrpSpPr/>
          <p:nvPr/>
        </p:nvGrpSpPr>
        <p:grpSpPr>
          <a:xfrm>
            <a:off x="5172958" y="2730008"/>
            <a:ext cx="891924" cy="1726789"/>
            <a:chOff x="2607875" y="643925"/>
            <a:chExt cx="654575" cy="1267275"/>
          </a:xfrm>
        </p:grpSpPr>
        <p:sp>
          <p:nvSpPr>
            <p:cNvPr id="116" name="Google Shape;116;p14"/>
            <p:cNvSpPr/>
            <p:nvPr/>
          </p:nvSpPr>
          <p:spPr>
            <a:xfrm>
              <a:off x="2607875" y="643925"/>
              <a:ext cx="654575" cy="1267275"/>
            </a:xfrm>
            <a:custGeom>
              <a:rect b="b" l="l" r="r" t="t"/>
              <a:pathLst>
                <a:path extrusionOk="0" h="50691" w="26183">
                  <a:moveTo>
                    <a:pt x="1" y="1"/>
                  </a:moveTo>
                  <a:lnTo>
                    <a:pt x="1" y="50691"/>
                  </a:lnTo>
                  <a:lnTo>
                    <a:pt x="26183" y="50691"/>
                  </a:lnTo>
                  <a:lnTo>
                    <a:pt x="26183"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4"/>
            <p:cNvSpPr/>
            <p:nvPr/>
          </p:nvSpPr>
          <p:spPr>
            <a:xfrm>
              <a:off x="2667150" y="718450"/>
              <a:ext cx="51875" cy="210500"/>
            </a:xfrm>
            <a:custGeom>
              <a:rect b="b" l="l" r="r" t="t"/>
              <a:pathLst>
                <a:path extrusionOk="0" h="8420"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4"/>
            <p:cNvSpPr/>
            <p:nvPr/>
          </p:nvSpPr>
          <p:spPr>
            <a:xfrm>
              <a:off x="276520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4"/>
            <p:cNvSpPr/>
            <p:nvPr/>
          </p:nvSpPr>
          <p:spPr>
            <a:xfrm>
              <a:off x="2863250" y="718450"/>
              <a:ext cx="51450" cy="210500"/>
            </a:xfrm>
            <a:custGeom>
              <a:rect b="b" l="l" r="r" t="t"/>
              <a:pathLst>
                <a:path extrusionOk="0" h="8420"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4"/>
            <p:cNvSpPr/>
            <p:nvPr/>
          </p:nvSpPr>
          <p:spPr>
            <a:xfrm>
              <a:off x="2960875" y="7184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4"/>
            <p:cNvSpPr/>
            <p:nvPr/>
          </p:nvSpPr>
          <p:spPr>
            <a:xfrm>
              <a:off x="2667150" y="1012175"/>
              <a:ext cx="51875" cy="210500"/>
            </a:xfrm>
            <a:custGeom>
              <a:rect b="b" l="l" r="r" t="t"/>
              <a:pathLst>
                <a:path extrusionOk="0" h="8420" w="2075">
                  <a:moveTo>
                    <a:pt x="1" y="0"/>
                  </a:moveTo>
                  <a:lnTo>
                    <a:pt x="1" y="8419"/>
                  </a:lnTo>
                  <a:lnTo>
                    <a:pt x="2075" y="8419"/>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4"/>
            <p:cNvSpPr/>
            <p:nvPr/>
          </p:nvSpPr>
          <p:spPr>
            <a:xfrm>
              <a:off x="276520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4"/>
            <p:cNvSpPr/>
            <p:nvPr/>
          </p:nvSpPr>
          <p:spPr>
            <a:xfrm>
              <a:off x="2863250" y="1012175"/>
              <a:ext cx="51450" cy="210500"/>
            </a:xfrm>
            <a:custGeom>
              <a:rect b="b" l="l" r="r" t="t"/>
              <a:pathLst>
                <a:path extrusionOk="0" h="8420" w="2058">
                  <a:moveTo>
                    <a:pt x="1" y="0"/>
                  </a:moveTo>
                  <a:lnTo>
                    <a:pt x="1" y="8419"/>
                  </a:lnTo>
                  <a:lnTo>
                    <a:pt x="2058" y="8419"/>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4"/>
            <p:cNvSpPr/>
            <p:nvPr/>
          </p:nvSpPr>
          <p:spPr>
            <a:xfrm>
              <a:off x="2960875" y="1012175"/>
              <a:ext cx="51450" cy="210500"/>
            </a:xfrm>
            <a:custGeom>
              <a:rect b="b" l="l" r="r" t="t"/>
              <a:pathLst>
                <a:path extrusionOk="0" h="8420" w="2058">
                  <a:moveTo>
                    <a:pt x="0" y="0"/>
                  </a:moveTo>
                  <a:lnTo>
                    <a:pt x="0" y="8419"/>
                  </a:lnTo>
                  <a:lnTo>
                    <a:pt x="2057" y="8419"/>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4"/>
            <p:cNvSpPr/>
            <p:nvPr/>
          </p:nvSpPr>
          <p:spPr>
            <a:xfrm>
              <a:off x="2667150" y="1294125"/>
              <a:ext cx="51875" cy="210050"/>
            </a:xfrm>
            <a:custGeom>
              <a:rect b="b" l="l" r="r" t="t"/>
              <a:pathLst>
                <a:path extrusionOk="0" h="8402" w="2075">
                  <a:moveTo>
                    <a:pt x="1" y="0"/>
                  </a:moveTo>
                  <a:lnTo>
                    <a:pt x="1" y="8402"/>
                  </a:lnTo>
                  <a:lnTo>
                    <a:pt x="2075" y="8402"/>
                  </a:lnTo>
                  <a:lnTo>
                    <a:pt x="2075"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4"/>
            <p:cNvSpPr/>
            <p:nvPr/>
          </p:nvSpPr>
          <p:spPr>
            <a:xfrm>
              <a:off x="276520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4"/>
            <p:cNvSpPr/>
            <p:nvPr/>
          </p:nvSpPr>
          <p:spPr>
            <a:xfrm>
              <a:off x="2863250" y="1294125"/>
              <a:ext cx="51450" cy="210050"/>
            </a:xfrm>
            <a:custGeom>
              <a:rect b="b" l="l" r="r" t="t"/>
              <a:pathLst>
                <a:path extrusionOk="0" h="8402" w="2058">
                  <a:moveTo>
                    <a:pt x="1" y="0"/>
                  </a:moveTo>
                  <a:lnTo>
                    <a:pt x="1" y="8402"/>
                  </a:lnTo>
                  <a:lnTo>
                    <a:pt x="2058" y="8402"/>
                  </a:lnTo>
                  <a:lnTo>
                    <a:pt x="2058"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4"/>
            <p:cNvSpPr/>
            <p:nvPr/>
          </p:nvSpPr>
          <p:spPr>
            <a:xfrm>
              <a:off x="2960875" y="1294125"/>
              <a:ext cx="51450" cy="210050"/>
            </a:xfrm>
            <a:custGeom>
              <a:rect b="b" l="l" r="r" t="t"/>
              <a:pathLst>
                <a:path extrusionOk="0" h="8402" w="2058">
                  <a:moveTo>
                    <a:pt x="0" y="0"/>
                  </a:moveTo>
                  <a:lnTo>
                    <a:pt x="0" y="8402"/>
                  </a:lnTo>
                  <a:lnTo>
                    <a:pt x="2057" y="8402"/>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4"/>
            <p:cNvSpPr/>
            <p:nvPr/>
          </p:nvSpPr>
          <p:spPr>
            <a:xfrm>
              <a:off x="2667150" y="1568650"/>
              <a:ext cx="51875" cy="210525"/>
            </a:xfrm>
            <a:custGeom>
              <a:rect b="b" l="l" r="r" t="t"/>
              <a:pathLst>
                <a:path extrusionOk="0" h="8421" w="2075">
                  <a:moveTo>
                    <a:pt x="1" y="1"/>
                  </a:moveTo>
                  <a:lnTo>
                    <a:pt x="1" y="8420"/>
                  </a:lnTo>
                  <a:lnTo>
                    <a:pt x="2075" y="8420"/>
                  </a:lnTo>
                  <a:lnTo>
                    <a:pt x="2075"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4"/>
            <p:cNvSpPr/>
            <p:nvPr/>
          </p:nvSpPr>
          <p:spPr>
            <a:xfrm>
              <a:off x="276520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4"/>
            <p:cNvSpPr/>
            <p:nvPr/>
          </p:nvSpPr>
          <p:spPr>
            <a:xfrm>
              <a:off x="2863250" y="1568650"/>
              <a:ext cx="51450" cy="210525"/>
            </a:xfrm>
            <a:custGeom>
              <a:rect b="b" l="l" r="r" t="t"/>
              <a:pathLst>
                <a:path extrusionOk="0" h="8421" w="2058">
                  <a:moveTo>
                    <a:pt x="1" y="1"/>
                  </a:moveTo>
                  <a:lnTo>
                    <a:pt x="1" y="8420"/>
                  </a:lnTo>
                  <a:lnTo>
                    <a:pt x="2058" y="8420"/>
                  </a:lnTo>
                  <a:lnTo>
                    <a:pt x="2058"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4"/>
            <p:cNvSpPr/>
            <p:nvPr/>
          </p:nvSpPr>
          <p:spPr>
            <a:xfrm>
              <a:off x="2960875" y="1568650"/>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4"/>
            <p:cNvSpPr/>
            <p:nvPr/>
          </p:nvSpPr>
          <p:spPr>
            <a:xfrm>
              <a:off x="3099450" y="643925"/>
              <a:ext cx="163000" cy="1267275"/>
            </a:xfrm>
            <a:custGeom>
              <a:rect b="b" l="l" r="r" t="t"/>
              <a:pathLst>
                <a:path extrusionOk="0" h="50691" w="6520">
                  <a:moveTo>
                    <a:pt x="0" y="1"/>
                  </a:moveTo>
                  <a:lnTo>
                    <a:pt x="0" y="50691"/>
                  </a:lnTo>
                  <a:lnTo>
                    <a:pt x="6520" y="50691"/>
                  </a:lnTo>
                  <a:lnTo>
                    <a:pt x="6520"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 name="Google Shape;134;p14"/>
          <p:cNvGrpSpPr/>
          <p:nvPr/>
        </p:nvGrpSpPr>
        <p:grpSpPr>
          <a:xfrm>
            <a:off x="8195375" y="1969419"/>
            <a:ext cx="891345" cy="1727368"/>
            <a:chOff x="4826000" y="484000"/>
            <a:chExt cx="654150" cy="1267700"/>
          </a:xfrm>
        </p:grpSpPr>
        <p:sp>
          <p:nvSpPr>
            <p:cNvPr id="135" name="Google Shape;135;p14"/>
            <p:cNvSpPr/>
            <p:nvPr/>
          </p:nvSpPr>
          <p:spPr>
            <a:xfrm>
              <a:off x="4826000" y="484000"/>
              <a:ext cx="654150" cy="1267700"/>
            </a:xfrm>
            <a:custGeom>
              <a:rect b="b" l="l" r="r" t="t"/>
              <a:pathLst>
                <a:path extrusionOk="0" h="50708" w="26166">
                  <a:moveTo>
                    <a:pt x="1" y="1"/>
                  </a:moveTo>
                  <a:lnTo>
                    <a:pt x="1" y="50708"/>
                  </a:lnTo>
                  <a:lnTo>
                    <a:pt x="26165" y="50708"/>
                  </a:lnTo>
                  <a:lnTo>
                    <a:pt x="26165" y="1"/>
                  </a:lnTo>
                  <a:close/>
                </a:path>
              </a:pathLst>
            </a:custGeom>
            <a:solidFill>
              <a:srgbClr val="87C9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a:off x="4885275" y="558950"/>
              <a:ext cx="51450" cy="210500"/>
            </a:xfrm>
            <a:custGeom>
              <a:rect b="b" l="l" r="r" t="t"/>
              <a:pathLst>
                <a:path extrusionOk="0" h="8420"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4"/>
            <p:cNvSpPr/>
            <p:nvPr/>
          </p:nvSpPr>
          <p:spPr>
            <a:xfrm>
              <a:off x="49829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4"/>
            <p:cNvSpPr/>
            <p:nvPr/>
          </p:nvSpPr>
          <p:spPr>
            <a:xfrm>
              <a:off x="508095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4"/>
            <p:cNvSpPr/>
            <p:nvPr/>
          </p:nvSpPr>
          <p:spPr>
            <a:xfrm>
              <a:off x="5179000" y="558950"/>
              <a:ext cx="51450" cy="210500"/>
            </a:xfrm>
            <a:custGeom>
              <a:rect b="b" l="l" r="r" t="t"/>
              <a:pathLst>
                <a:path extrusionOk="0" h="8420"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4"/>
            <p:cNvSpPr/>
            <p:nvPr/>
          </p:nvSpPr>
          <p:spPr>
            <a:xfrm>
              <a:off x="4885275" y="852675"/>
              <a:ext cx="51450" cy="210500"/>
            </a:xfrm>
            <a:custGeom>
              <a:rect b="b" l="l" r="r" t="t"/>
              <a:pathLst>
                <a:path extrusionOk="0" h="8420" w="2058">
                  <a:moveTo>
                    <a:pt x="1" y="0"/>
                  </a:moveTo>
                  <a:lnTo>
                    <a:pt x="1"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4"/>
            <p:cNvSpPr/>
            <p:nvPr/>
          </p:nvSpPr>
          <p:spPr>
            <a:xfrm>
              <a:off x="49829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4"/>
            <p:cNvSpPr/>
            <p:nvPr/>
          </p:nvSpPr>
          <p:spPr>
            <a:xfrm>
              <a:off x="508095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4"/>
            <p:cNvSpPr/>
            <p:nvPr/>
          </p:nvSpPr>
          <p:spPr>
            <a:xfrm>
              <a:off x="5179000" y="852675"/>
              <a:ext cx="51450" cy="210500"/>
            </a:xfrm>
            <a:custGeom>
              <a:rect b="b" l="l" r="r" t="t"/>
              <a:pathLst>
                <a:path extrusionOk="0" h="8420" w="2058">
                  <a:moveTo>
                    <a:pt x="0" y="0"/>
                  </a:moveTo>
                  <a:lnTo>
                    <a:pt x="0" y="8420"/>
                  </a:lnTo>
                  <a:lnTo>
                    <a:pt x="2057" y="8420"/>
                  </a:lnTo>
                  <a:lnTo>
                    <a:pt x="2057"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4"/>
            <p:cNvSpPr/>
            <p:nvPr/>
          </p:nvSpPr>
          <p:spPr>
            <a:xfrm>
              <a:off x="4885275" y="1134175"/>
              <a:ext cx="51450" cy="210525"/>
            </a:xfrm>
            <a:custGeom>
              <a:rect b="b" l="l" r="r" t="t"/>
              <a:pathLst>
                <a:path extrusionOk="0" h="8421" w="2058">
                  <a:moveTo>
                    <a:pt x="1" y="1"/>
                  </a:moveTo>
                  <a:lnTo>
                    <a:pt x="1"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4"/>
            <p:cNvSpPr/>
            <p:nvPr/>
          </p:nvSpPr>
          <p:spPr>
            <a:xfrm>
              <a:off x="49829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4"/>
            <p:cNvSpPr/>
            <p:nvPr/>
          </p:nvSpPr>
          <p:spPr>
            <a:xfrm>
              <a:off x="508095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4"/>
            <p:cNvSpPr/>
            <p:nvPr/>
          </p:nvSpPr>
          <p:spPr>
            <a:xfrm>
              <a:off x="5179000" y="1134175"/>
              <a:ext cx="51450" cy="210525"/>
            </a:xfrm>
            <a:custGeom>
              <a:rect b="b" l="l" r="r" t="t"/>
              <a:pathLst>
                <a:path extrusionOk="0" h="8421" w="2058">
                  <a:moveTo>
                    <a:pt x="0" y="1"/>
                  </a:moveTo>
                  <a:lnTo>
                    <a:pt x="0" y="8420"/>
                  </a:lnTo>
                  <a:lnTo>
                    <a:pt x="2057" y="8420"/>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4"/>
            <p:cNvSpPr/>
            <p:nvPr/>
          </p:nvSpPr>
          <p:spPr>
            <a:xfrm>
              <a:off x="4885275" y="1409150"/>
              <a:ext cx="51450" cy="210075"/>
            </a:xfrm>
            <a:custGeom>
              <a:rect b="b" l="l" r="r" t="t"/>
              <a:pathLst>
                <a:path extrusionOk="0" h="8403" w="2058">
                  <a:moveTo>
                    <a:pt x="1" y="1"/>
                  </a:moveTo>
                  <a:lnTo>
                    <a:pt x="1"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4"/>
            <p:cNvSpPr/>
            <p:nvPr/>
          </p:nvSpPr>
          <p:spPr>
            <a:xfrm>
              <a:off x="49829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4"/>
            <p:cNvSpPr/>
            <p:nvPr/>
          </p:nvSpPr>
          <p:spPr>
            <a:xfrm>
              <a:off x="508095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4"/>
            <p:cNvSpPr/>
            <p:nvPr/>
          </p:nvSpPr>
          <p:spPr>
            <a:xfrm>
              <a:off x="5179000" y="1409150"/>
              <a:ext cx="51450" cy="210075"/>
            </a:xfrm>
            <a:custGeom>
              <a:rect b="b" l="l" r="r" t="t"/>
              <a:pathLst>
                <a:path extrusionOk="0" h="8403" w="2058">
                  <a:moveTo>
                    <a:pt x="0" y="1"/>
                  </a:moveTo>
                  <a:lnTo>
                    <a:pt x="0" y="8403"/>
                  </a:lnTo>
                  <a:lnTo>
                    <a:pt x="2057" y="8403"/>
                  </a:lnTo>
                  <a:lnTo>
                    <a:pt x="2057"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4"/>
            <p:cNvSpPr/>
            <p:nvPr/>
          </p:nvSpPr>
          <p:spPr>
            <a:xfrm>
              <a:off x="5317575" y="484000"/>
              <a:ext cx="162575" cy="1267700"/>
            </a:xfrm>
            <a:custGeom>
              <a:rect b="b" l="l" r="r" t="t"/>
              <a:pathLst>
                <a:path extrusionOk="0" h="50708" w="6503">
                  <a:moveTo>
                    <a:pt x="0" y="1"/>
                  </a:moveTo>
                  <a:lnTo>
                    <a:pt x="0" y="50708"/>
                  </a:lnTo>
                  <a:lnTo>
                    <a:pt x="6502" y="50708"/>
                  </a:lnTo>
                  <a:lnTo>
                    <a:pt x="6502"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14"/>
          <p:cNvGrpSpPr/>
          <p:nvPr/>
        </p:nvGrpSpPr>
        <p:grpSpPr>
          <a:xfrm>
            <a:off x="6157382" y="2265586"/>
            <a:ext cx="1184079" cy="2130184"/>
            <a:chOff x="5195125" y="2889950"/>
            <a:chExt cx="787025" cy="1415875"/>
          </a:xfrm>
        </p:grpSpPr>
        <p:sp>
          <p:nvSpPr>
            <p:cNvPr id="154" name="Google Shape;154;p14"/>
            <p:cNvSpPr/>
            <p:nvPr/>
          </p:nvSpPr>
          <p:spPr>
            <a:xfrm>
              <a:off x="5291425" y="3540550"/>
              <a:ext cx="25" cy="692925"/>
            </a:xfrm>
            <a:custGeom>
              <a:rect b="b" l="l" r="r" t="t"/>
              <a:pathLst>
                <a:path extrusionOk="0" fill="none" h="27717" w="1">
                  <a:moveTo>
                    <a:pt x="0" y="1"/>
                  </a:moveTo>
                  <a:lnTo>
                    <a:pt x="0" y="2771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4"/>
            <p:cNvSpPr/>
            <p:nvPr/>
          </p:nvSpPr>
          <p:spPr>
            <a:xfrm>
              <a:off x="5345900" y="3298700"/>
              <a:ext cx="25" cy="934775"/>
            </a:xfrm>
            <a:custGeom>
              <a:rect b="b" l="l" r="r" t="t"/>
              <a:pathLst>
                <a:path extrusionOk="0" fill="none" h="37391" w="1">
                  <a:moveTo>
                    <a:pt x="0" y="1"/>
                  </a:moveTo>
                  <a:lnTo>
                    <a:pt x="0" y="3739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4"/>
            <p:cNvSpPr/>
            <p:nvPr/>
          </p:nvSpPr>
          <p:spPr>
            <a:xfrm>
              <a:off x="5238250" y="3536200"/>
              <a:ext cx="25" cy="755675"/>
            </a:xfrm>
            <a:custGeom>
              <a:rect b="b" l="l" r="r" t="t"/>
              <a:pathLst>
                <a:path extrusionOk="0" fill="none" h="30227" w="1">
                  <a:moveTo>
                    <a:pt x="1" y="1"/>
                  </a:moveTo>
                  <a:lnTo>
                    <a:pt x="1" y="30226"/>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4"/>
            <p:cNvSpPr/>
            <p:nvPr/>
          </p:nvSpPr>
          <p:spPr>
            <a:xfrm>
              <a:off x="5433925"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4"/>
            <p:cNvSpPr/>
            <p:nvPr/>
          </p:nvSpPr>
          <p:spPr>
            <a:xfrm>
              <a:off x="5504075" y="2970550"/>
              <a:ext cx="25" cy="1335275"/>
            </a:xfrm>
            <a:custGeom>
              <a:rect b="b" l="l" r="r" t="t"/>
              <a:pathLst>
                <a:path extrusionOk="0" fill="none" h="53411" w="1">
                  <a:moveTo>
                    <a:pt x="1" y="1"/>
                  </a:moveTo>
                  <a:lnTo>
                    <a:pt x="1"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4"/>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4"/>
            <p:cNvSpPr/>
            <p:nvPr/>
          </p:nvSpPr>
          <p:spPr>
            <a:xfrm>
              <a:off x="557425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4"/>
            <p:cNvSpPr/>
            <p:nvPr/>
          </p:nvSpPr>
          <p:spPr>
            <a:xfrm>
              <a:off x="5643975" y="2937000"/>
              <a:ext cx="25" cy="1335250"/>
            </a:xfrm>
            <a:custGeom>
              <a:rect b="b" l="l" r="r" t="t"/>
              <a:pathLst>
                <a:path extrusionOk="0" fill="none" h="53410" w="1">
                  <a:moveTo>
                    <a:pt x="0" y="1"/>
                  </a:moveTo>
                  <a:lnTo>
                    <a:pt x="0" y="5341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
            <p:cNvSpPr/>
            <p:nvPr/>
          </p:nvSpPr>
          <p:spPr>
            <a:xfrm>
              <a:off x="5714125" y="2889950"/>
              <a:ext cx="25" cy="1335250"/>
            </a:xfrm>
            <a:custGeom>
              <a:rect b="b" l="l" r="r" t="t"/>
              <a:pathLst>
                <a:path extrusionOk="0" fill="none" h="53410" w="1">
                  <a:moveTo>
                    <a:pt x="1" y="0"/>
                  </a:moveTo>
                  <a:lnTo>
                    <a:pt x="1"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4"/>
            <p:cNvSpPr/>
            <p:nvPr/>
          </p:nvSpPr>
          <p:spPr>
            <a:xfrm>
              <a:off x="5784300" y="2889950"/>
              <a:ext cx="25" cy="1335250"/>
            </a:xfrm>
            <a:custGeom>
              <a:rect b="b" l="l" r="r" t="t"/>
              <a:pathLst>
                <a:path extrusionOk="0" fill="none" h="53410" w="1">
                  <a:moveTo>
                    <a:pt x="0" y="0"/>
                  </a:moveTo>
                  <a:lnTo>
                    <a:pt x="0" y="53409"/>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4"/>
            <p:cNvSpPr/>
            <p:nvPr/>
          </p:nvSpPr>
          <p:spPr>
            <a:xfrm>
              <a:off x="5827425" y="3031575"/>
              <a:ext cx="25" cy="1210175"/>
            </a:xfrm>
            <a:custGeom>
              <a:rect b="b" l="l" r="r" t="t"/>
              <a:pathLst>
                <a:path extrusionOk="0" fill="none" h="48407" w="1">
                  <a:moveTo>
                    <a:pt x="1" y="0"/>
                  </a:moveTo>
                  <a:lnTo>
                    <a:pt x="1" y="4840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4"/>
            <p:cNvSpPr/>
            <p:nvPr/>
          </p:nvSpPr>
          <p:spPr>
            <a:xfrm>
              <a:off x="5897600" y="3273425"/>
              <a:ext cx="25" cy="970950"/>
            </a:xfrm>
            <a:custGeom>
              <a:rect b="b" l="l" r="r" t="t"/>
              <a:pathLst>
                <a:path extrusionOk="0" fill="none" h="38838" w="1">
                  <a:moveTo>
                    <a:pt x="0" y="1"/>
                  </a:moveTo>
                  <a:lnTo>
                    <a:pt x="0" y="38837"/>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4"/>
            <p:cNvSpPr/>
            <p:nvPr/>
          </p:nvSpPr>
          <p:spPr>
            <a:xfrm>
              <a:off x="5407350" y="3131800"/>
              <a:ext cx="466300" cy="25"/>
            </a:xfrm>
            <a:custGeom>
              <a:rect b="b" l="l" r="r" t="t"/>
              <a:pathLst>
                <a:path extrusionOk="0" fill="none" h="1" w="18652">
                  <a:moveTo>
                    <a:pt x="0" y="0"/>
                  </a:moveTo>
                  <a:lnTo>
                    <a:pt x="18652"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4"/>
            <p:cNvSpPr/>
            <p:nvPr/>
          </p:nvSpPr>
          <p:spPr>
            <a:xfrm>
              <a:off x="5332825" y="3201075"/>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4"/>
            <p:cNvSpPr/>
            <p:nvPr/>
          </p:nvSpPr>
          <p:spPr>
            <a:xfrm>
              <a:off x="5332825" y="325120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4"/>
            <p:cNvSpPr/>
            <p:nvPr/>
          </p:nvSpPr>
          <p:spPr>
            <a:xfrm>
              <a:off x="5332825" y="330437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
            <p:cNvSpPr/>
            <p:nvPr/>
          </p:nvSpPr>
          <p:spPr>
            <a:xfrm>
              <a:off x="5332825" y="3404150"/>
              <a:ext cx="649325" cy="25"/>
            </a:xfrm>
            <a:custGeom>
              <a:rect b="b" l="l" r="r" t="t"/>
              <a:pathLst>
                <a:path extrusionOk="0" fill="none" h="1" w="25973">
                  <a:moveTo>
                    <a:pt x="0" y="1"/>
                  </a:moveTo>
                  <a:lnTo>
                    <a:pt x="25973" y="1"/>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4"/>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4"/>
            <p:cNvSpPr/>
            <p:nvPr/>
          </p:nvSpPr>
          <p:spPr>
            <a:xfrm>
              <a:off x="5332825" y="3504400"/>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5332825" y="3604625"/>
              <a:ext cx="649325" cy="25"/>
            </a:xfrm>
            <a:custGeom>
              <a:rect b="b" l="l" r="r" t="t"/>
              <a:pathLst>
                <a:path extrusionOk="0" fill="none" h="1" w="25973">
                  <a:moveTo>
                    <a:pt x="0" y="0"/>
                  </a:moveTo>
                  <a:lnTo>
                    <a:pt x="25973" y="0"/>
                  </a:lnTo>
                </a:path>
              </a:pathLst>
            </a:custGeom>
            <a:noFill/>
            <a:ln cap="flat" cmpd="sng" w="522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
            <p:cNvSpPr/>
            <p:nvPr/>
          </p:nvSpPr>
          <p:spPr>
            <a:xfrm>
              <a:off x="5195125" y="36046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p:nvPr/>
          </p:nvSpPr>
          <p:spPr>
            <a:xfrm>
              <a:off x="5195125" y="3704850"/>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4"/>
            <p:cNvSpPr/>
            <p:nvPr/>
          </p:nvSpPr>
          <p:spPr>
            <a:xfrm>
              <a:off x="5195125" y="37911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4"/>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4"/>
            <p:cNvSpPr/>
            <p:nvPr/>
          </p:nvSpPr>
          <p:spPr>
            <a:xfrm>
              <a:off x="5195125" y="3877425"/>
              <a:ext cx="787025" cy="25"/>
            </a:xfrm>
            <a:custGeom>
              <a:rect b="b" l="l" r="r" t="t"/>
              <a:pathLst>
                <a:path extrusionOk="0" fill="none" h="1" w="31481">
                  <a:moveTo>
                    <a:pt x="0" y="0"/>
                  </a:moveTo>
                  <a:lnTo>
                    <a:pt x="31481" y="0"/>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4"/>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4"/>
            <p:cNvSpPr/>
            <p:nvPr/>
          </p:nvSpPr>
          <p:spPr>
            <a:xfrm>
              <a:off x="5195125" y="396370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4"/>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4"/>
            <p:cNvSpPr/>
            <p:nvPr/>
          </p:nvSpPr>
          <p:spPr>
            <a:xfrm>
              <a:off x="5195125" y="4049550"/>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4"/>
            <p:cNvSpPr/>
            <p:nvPr/>
          </p:nvSpPr>
          <p:spPr>
            <a:xfrm>
              <a:off x="5195125" y="4135825"/>
              <a:ext cx="787025" cy="25"/>
            </a:xfrm>
            <a:custGeom>
              <a:rect b="b" l="l" r="r" t="t"/>
              <a:pathLst>
                <a:path extrusionOk="0" fill="none" h="1" w="31481">
                  <a:moveTo>
                    <a:pt x="0" y="1"/>
                  </a:moveTo>
                  <a:lnTo>
                    <a:pt x="31481" y="1"/>
                  </a:lnTo>
                </a:path>
              </a:pathLst>
            </a:custGeom>
            <a:noFill/>
            <a:ln cap="flat" cmpd="sng" w="5675">
              <a:solidFill>
                <a:schemeClr val="accent3"/>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6" name="Google Shape;186;p14"/>
          <p:cNvGrpSpPr/>
          <p:nvPr/>
        </p:nvGrpSpPr>
        <p:grpSpPr>
          <a:xfrm>
            <a:off x="7341438" y="1489938"/>
            <a:ext cx="1782332" cy="2212156"/>
            <a:chOff x="5932450" y="2691225"/>
            <a:chExt cx="1445525" cy="1794125"/>
          </a:xfrm>
        </p:grpSpPr>
        <p:sp>
          <p:nvSpPr>
            <p:cNvPr id="187" name="Google Shape;187;p14"/>
            <p:cNvSpPr/>
            <p:nvPr/>
          </p:nvSpPr>
          <p:spPr>
            <a:xfrm>
              <a:off x="6817975" y="3120900"/>
              <a:ext cx="0" cy="1364450"/>
            </a:xfrm>
            <a:custGeom>
              <a:rect b="b" l="l" r="r" t="t"/>
              <a:pathLst>
                <a:path extrusionOk="0" fill="none" h="54578" w="0">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a:off x="6775700" y="3120900"/>
              <a:ext cx="25" cy="1364450"/>
            </a:xfrm>
            <a:custGeom>
              <a:rect b="b" l="l" r="r" t="t"/>
              <a:pathLst>
                <a:path extrusionOk="0" fill="none" h="54578" w="1">
                  <a:moveTo>
                    <a:pt x="0" y="1"/>
                  </a:moveTo>
                  <a:lnTo>
                    <a:pt x="0" y="54578"/>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a:off x="6776125" y="3153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a:off x="6776125" y="3209375"/>
              <a:ext cx="41850" cy="54500"/>
            </a:xfrm>
            <a:custGeom>
              <a:rect b="b" l="l" r="r" t="t"/>
              <a:pathLst>
                <a:path extrusionOk="0" fill="none" h="2180" w="1674">
                  <a:moveTo>
                    <a:pt x="1569" y="70"/>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a:off x="6776125" y="326557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a:off x="6776125" y="3321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a:off x="6776125" y="337715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a:off x="6776125" y="3433350"/>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a:off x="6776125" y="34891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4"/>
            <p:cNvSpPr/>
            <p:nvPr/>
          </p:nvSpPr>
          <p:spPr>
            <a:xfrm>
              <a:off x="6776125" y="354492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4"/>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4"/>
            <p:cNvSpPr/>
            <p:nvPr/>
          </p:nvSpPr>
          <p:spPr>
            <a:xfrm>
              <a:off x="6776125" y="3601125"/>
              <a:ext cx="41850" cy="54500"/>
            </a:xfrm>
            <a:custGeom>
              <a:rect b="b" l="l" r="r" t="t"/>
              <a:pathLst>
                <a:path extrusionOk="0" fill="none" h="2180" w="1674">
                  <a:moveTo>
                    <a:pt x="1569" y="53"/>
                  </a:moveTo>
                  <a:lnTo>
                    <a:pt x="1" y="2180"/>
                  </a:lnTo>
                  <a:lnTo>
                    <a:pt x="1674" y="2180"/>
                  </a:lnTo>
                  <a:lnTo>
                    <a:pt x="1" y="1"/>
                  </a:lnTo>
                  <a:lnTo>
                    <a:pt x="1674" y="1"/>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4"/>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p:cNvSpPr/>
            <p:nvPr/>
          </p:nvSpPr>
          <p:spPr>
            <a:xfrm>
              <a:off x="6776125" y="36569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p:cNvSpPr/>
            <p:nvPr/>
          </p:nvSpPr>
          <p:spPr>
            <a:xfrm>
              <a:off x="6776125" y="3712700"/>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4"/>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4"/>
            <p:cNvSpPr/>
            <p:nvPr/>
          </p:nvSpPr>
          <p:spPr>
            <a:xfrm>
              <a:off x="6776125" y="376847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4"/>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
            <p:cNvSpPr/>
            <p:nvPr/>
          </p:nvSpPr>
          <p:spPr>
            <a:xfrm>
              <a:off x="6776125" y="382470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4"/>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4"/>
            <p:cNvSpPr/>
            <p:nvPr/>
          </p:nvSpPr>
          <p:spPr>
            <a:xfrm>
              <a:off x="6776125" y="3880475"/>
              <a:ext cx="41850" cy="54500"/>
            </a:xfrm>
            <a:custGeom>
              <a:rect b="b" l="l" r="r" t="t"/>
              <a:pathLst>
                <a:path extrusionOk="0" fill="none" h="2180"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4"/>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4"/>
            <p:cNvSpPr/>
            <p:nvPr/>
          </p:nvSpPr>
          <p:spPr>
            <a:xfrm>
              <a:off x="6776125" y="3936250"/>
              <a:ext cx="41850" cy="54925"/>
            </a:xfrm>
            <a:custGeom>
              <a:rect b="b" l="l" r="r" t="t"/>
              <a:pathLst>
                <a:path extrusionOk="0" fill="none" h="2197" w="1674">
                  <a:moveTo>
                    <a:pt x="1569" y="70"/>
                  </a:moveTo>
                  <a:lnTo>
                    <a:pt x="1" y="2197"/>
                  </a:lnTo>
                  <a:lnTo>
                    <a:pt x="1674" y="2197"/>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4"/>
            <p:cNvSpPr/>
            <p:nvPr/>
          </p:nvSpPr>
          <p:spPr>
            <a:xfrm>
              <a:off x="6776125" y="399247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
            <p:cNvSpPr/>
            <p:nvPr/>
          </p:nvSpPr>
          <p:spPr>
            <a:xfrm>
              <a:off x="6776125" y="404825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4"/>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4"/>
            <p:cNvSpPr/>
            <p:nvPr/>
          </p:nvSpPr>
          <p:spPr>
            <a:xfrm>
              <a:off x="6776125" y="4104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4"/>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4"/>
            <p:cNvSpPr/>
            <p:nvPr/>
          </p:nvSpPr>
          <p:spPr>
            <a:xfrm>
              <a:off x="6776125" y="4160250"/>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4"/>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4"/>
            <p:cNvSpPr/>
            <p:nvPr/>
          </p:nvSpPr>
          <p:spPr>
            <a:xfrm>
              <a:off x="6776125" y="4216025"/>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4"/>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4"/>
            <p:cNvSpPr/>
            <p:nvPr/>
          </p:nvSpPr>
          <p:spPr>
            <a:xfrm>
              <a:off x="6776125" y="4271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4"/>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4"/>
            <p:cNvSpPr/>
            <p:nvPr/>
          </p:nvSpPr>
          <p:spPr>
            <a:xfrm>
              <a:off x="6776125" y="4328025"/>
              <a:ext cx="41850" cy="54475"/>
            </a:xfrm>
            <a:custGeom>
              <a:rect b="b" l="l" r="r" t="t"/>
              <a:pathLst>
                <a:path extrusionOk="0" fill="none" h="2179" w="1674">
                  <a:moveTo>
                    <a:pt x="1569" y="52"/>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4"/>
            <p:cNvSpPr/>
            <p:nvPr/>
          </p:nvSpPr>
          <p:spPr>
            <a:xfrm>
              <a:off x="6776125" y="4383800"/>
              <a:ext cx="41850" cy="54500"/>
            </a:xfrm>
            <a:custGeom>
              <a:rect b="b" l="l" r="r" t="t"/>
              <a:pathLst>
                <a:path extrusionOk="0" fill="none" h="2180" w="1674">
                  <a:moveTo>
                    <a:pt x="1569" y="53"/>
                  </a:moveTo>
                  <a:lnTo>
                    <a:pt x="1" y="2179"/>
                  </a:lnTo>
                  <a:lnTo>
                    <a:pt x="1674" y="2179"/>
                  </a:lnTo>
                  <a:lnTo>
                    <a:pt x="1" y="0"/>
                  </a:lnTo>
                  <a:lnTo>
                    <a:pt x="1674" y="0"/>
                  </a:lnTo>
                </a:path>
              </a:pathLst>
            </a:custGeom>
            <a:noFill/>
            <a:ln cap="rnd" cmpd="sng" w="21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4"/>
            <p:cNvSpPr/>
            <p:nvPr/>
          </p:nvSpPr>
          <p:spPr>
            <a:xfrm>
              <a:off x="6722100" y="2980150"/>
              <a:ext cx="118550" cy="144700"/>
            </a:xfrm>
            <a:custGeom>
              <a:rect b="b" l="l" r="r" t="t"/>
              <a:pathLst>
                <a:path extrusionOk="0" h="5788" w="4742">
                  <a:moveTo>
                    <a:pt x="0" y="0"/>
                  </a:moveTo>
                  <a:lnTo>
                    <a:pt x="0" y="5788"/>
                  </a:lnTo>
                  <a:lnTo>
                    <a:pt x="4741" y="5788"/>
                  </a:lnTo>
                  <a:lnTo>
                    <a:pt x="4741"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4"/>
            <p:cNvSpPr/>
            <p:nvPr/>
          </p:nvSpPr>
          <p:spPr>
            <a:xfrm>
              <a:off x="6227050" y="2692975"/>
              <a:ext cx="686375" cy="264100"/>
            </a:xfrm>
            <a:custGeom>
              <a:rect b="b" l="l" r="r" t="t"/>
              <a:pathLst>
                <a:path extrusionOk="0" fill="none" h="10564" w="27455">
                  <a:moveTo>
                    <a:pt x="27454" y="0"/>
                  </a:moveTo>
                  <a:lnTo>
                    <a:pt x="0" y="10564"/>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4"/>
            <p:cNvSpPr/>
            <p:nvPr/>
          </p:nvSpPr>
          <p:spPr>
            <a:xfrm>
              <a:off x="6454525" y="2692975"/>
              <a:ext cx="460200" cy="237525"/>
            </a:xfrm>
            <a:custGeom>
              <a:rect b="b" l="l" r="r" t="t"/>
              <a:pathLst>
                <a:path extrusionOk="0" fill="none" h="9501" w="18408">
                  <a:moveTo>
                    <a:pt x="18408" y="0"/>
                  </a:moveTo>
                  <a:lnTo>
                    <a:pt x="1691" y="9500"/>
                  </a:lnTo>
                  <a:lnTo>
                    <a:pt x="0" y="7060"/>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4"/>
            <p:cNvSpPr/>
            <p:nvPr/>
          </p:nvSpPr>
          <p:spPr>
            <a:xfrm>
              <a:off x="6912525" y="2691225"/>
              <a:ext cx="160400" cy="232300"/>
            </a:xfrm>
            <a:custGeom>
              <a:rect b="b" l="l" r="r" t="t"/>
              <a:pathLst>
                <a:path extrusionOk="0" fill="none" h="9292" w="6416">
                  <a:moveTo>
                    <a:pt x="1" y="1"/>
                  </a:moveTo>
                  <a:lnTo>
                    <a:pt x="6415" y="9291"/>
                  </a:lnTo>
                </a:path>
              </a:pathLst>
            </a:custGeom>
            <a:noFill/>
            <a:ln cap="flat" cmpd="sng" w="2625">
              <a:solidFill>
                <a:schemeClr val="lt1"/>
              </a:solidFill>
              <a:prstDash val="solid"/>
              <a:miter lim="1743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4"/>
            <p:cNvSpPr/>
            <p:nvPr/>
          </p:nvSpPr>
          <p:spPr>
            <a:xfrm>
              <a:off x="5932450" y="2897775"/>
              <a:ext cx="1445525" cy="86325"/>
            </a:xfrm>
            <a:custGeom>
              <a:rect b="b" l="l" r="r" t="t"/>
              <a:pathLst>
                <a:path extrusionOk="0" h="3453" w="57821">
                  <a:moveTo>
                    <a:pt x="39796" y="175"/>
                  </a:moveTo>
                  <a:lnTo>
                    <a:pt x="44119" y="977"/>
                  </a:lnTo>
                  <a:lnTo>
                    <a:pt x="44241" y="994"/>
                  </a:lnTo>
                  <a:lnTo>
                    <a:pt x="48059" y="1709"/>
                  </a:lnTo>
                  <a:lnTo>
                    <a:pt x="48163" y="1727"/>
                  </a:lnTo>
                  <a:lnTo>
                    <a:pt x="51998" y="2441"/>
                  </a:lnTo>
                  <a:lnTo>
                    <a:pt x="52103" y="2459"/>
                  </a:lnTo>
                  <a:lnTo>
                    <a:pt x="57193" y="3348"/>
                  </a:lnTo>
                  <a:lnTo>
                    <a:pt x="1343" y="3348"/>
                  </a:lnTo>
                  <a:lnTo>
                    <a:pt x="7374" y="2825"/>
                  </a:lnTo>
                  <a:lnTo>
                    <a:pt x="7496" y="2825"/>
                  </a:lnTo>
                  <a:lnTo>
                    <a:pt x="11767" y="2476"/>
                  </a:lnTo>
                  <a:lnTo>
                    <a:pt x="11871" y="2476"/>
                  </a:lnTo>
                  <a:lnTo>
                    <a:pt x="15619" y="2162"/>
                  </a:lnTo>
                  <a:lnTo>
                    <a:pt x="15724" y="2162"/>
                  </a:lnTo>
                  <a:lnTo>
                    <a:pt x="19576" y="1831"/>
                  </a:lnTo>
                  <a:lnTo>
                    <a:pt x="19698" y="1831"/>
                  </a:lnTo>
                  <a:lnTo>
                    <a:pt x="23620" y="1500"/>
                  </a:lnTo>
                  <a:lnTo>
                    <a:pt x="23725" y="1500"/>
                  </a:lnTo>
                  <a:lnTo>
                    <a:pt x="27368" y="1186"/>
                  </a:lnTo>
                  <a:lnTo>
                    <a:pt x="27472" y="1186"/>
                  </a:lnTo>
                  <a:lnTo>
                    <a:pt x="31377" y="855"/>
                  </a:lnTo>
                  <a:lnTo>
                    <a:pt x="31482" y="855"/>
                  </a:lnTo>
                  <a:lnTo>
                    <a:pt x="35386" y="524"/>
                  </a:lnTo>
                  <a:lnTo>
                    <a:pt x="35491" y="524"/>
                  </a:lnTo>
                  <a:lnTo>
                    <a:pt x="39692" y="175"/>
                  </a:lnTo>
                  <a:close/>
                  <a:moveTo>
                    <a:pt x="39692" y="1"/>
                  </a:moveTo>
                  <a:lnTo>
                    <a:pt x="35491" y="350"/>
                  </a:lnTo>
                  <a:lnTo>
                    <a:pt x="35386" y="350"/>
                  </a:lnTo>
                  <a:lnTo>
                    <a:pt x="31499" y="681"/>
                  </a:lnTo>
                  <a:lnTo>
                    <a:pt x="31377" y="698"/>
                  </a:lnTo>
                  <a:lnTo>
                    <a:pt x="27490" y="1012"/>
                  </a:lnTo>
                  <a:lnTo>
                    <a:pt x="27385" y="1012"/>
                  </a:lnTo>
                  <a:lnTo>
                    <a:pt x="11837" y="2319"/>
                  </a:lnTo>
                  <a:lnTo>
                    <a:pt x="11767" y="2319"/>
                  </a:lnTo>
                  <a:lnTo>
                    <a:pt x="7461" y="2685"/>
                  </a:lnTo>
                  <a:lnTo>
                    <a:pt x="7392" y="2685"/>
                  </a:lnTo>
                  <a:lnTo>
                    <a:pt x="53" y="3348"/>
                  </a:lnTo>
                  <a:cubicBezTo>
                    <a:pt x="36" y="3348"/>
                    <a:pt x="1" y="3365"/>
                    <a:pt x="1" y="3400"/>
                  </a:cubicBezTo>
                  <a:cubicBezTo>
                    <a:pt x="1" y="3417"/>
                    <a:pt x="36" y="3452"/>
                    <a:pt x="53" y="3452"/>
                  </a:cubicBezTo>
                  <a:lnTo>
                    <a:pt x="57768" y="3452"/>
                  </a:lnTo>
                  <a:cubicBezTo>
                    <a:pt x="57803" y="3452"/>
                    <a:pt x="57820" y="3417"/>
                    <a:pt x="57820" y="3400"/>
                  </a:cubicBezTo>
                  <a:cubicBezTo>
                    <a:pt x="57820" y="3365"/>
                    <a:pt x="57803" y="3348"/>
                    <a:pt x="57785" y="3348"/>
                  </a:cubicBezTo>
                  <a:lnTo>
                    <a:pt x="52120" y="2284"/>
                  </a:lnTo>
                  <a:lnTo>
                    <a:pt x="51998" y="2267"/>
                  </a:lnTo>
                  <a:lnTo>
                    <a:pt x="48181" y="1552"/>
                  </a:lnTo>
                  <a:lnTo>
                    <a:pt x="48076" y="1535"/>
                  </a:lnTo>
                  <a:lnTo>
                    <a:pt x="44259" y="820"/>
                  </a:lnTo>
                  <a:lnTo>
                    <a:pt x="44137" y="803"/>
                  </a:lnTo>
                  <a:lnTo>
                    <a:pt x="3981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4"/>
            <p:cNvSpPr/>
            <p:nvPr/>
          </p:nvSpPr>
          <p:spPr>
            <a:xfrm>
              <a:off x="6117225" y="2965325"/>
              <a:ext cx="2650" cy="18325"/>
            </a:xfrm>
            <a:custGeom>
              <a:rect b="b" l="l" r="r" t="t"/>
              <a:pathLst>
                <a:path extrusionOk="0" h="733" w="106">
                  <a:moveTo>
                    <a:pt x="53" y="1"/>
                  </a:moveTo>
                  <a:cubicBezTo>
                    <a:pt x="27" y="1"/>
                    <a:pt x="1" y="18"/>
                    <a:pt x="1" y="53"/>
                  </a:cubicBezTo>
                  <a:lnTo>
                    <a:pt x="1" y="663"/>
                  </a:lnTo>
                  <a:cubicBezTo>
                    <a:pt x="1" y="698"/>
                    <a:pt x="18" y="733"/>
                    <a:pt x="53" y="733"/>
                  </a:cubicBezTo>
                  <a:cubicBezTo>
                    <a:pt x="88" y="733"/>
                    <a:pt x="105" y="698"/>
                    <a:pt x="105" y="663"/>
                  </a:cubicBezTo>
                  <a:lnTo>
                    <a:pt x="105" y="53"/>
                  </a:lnTo>
                  <a:cubicBezTo>
                    <a:pt x="105" y="18"/>
                    <a:pt x="79" y="1"/>
                    <a:pt x="53"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4"/>
            <p:cNvSpPr/>
            <p:nvPr/>
          </p:nvSpPr>
          <p:spPr>
            <a:xfrm>
              <a:off x="6226400" y="2956175"/>
              <a:ext cx="3075" cy="26600"/>
            </a:xfrm>
            <a:custGeom>
              <a:rect b="b" l="l" r="r" t="t"/>
              <a:pathLst>
                <a:path extrusionOk="0" h="1064" w="123">
                  <a:moveTo>
                    <a:pt x="61" y="1"/>
                  </a:moveTo>
                  <a:cubicBezTo>
                    <a:pt x="31" y="1"/>
                    <a:pt x="0" y="18"/>
                    <a:pt x="9" y="53"/>
                  </a:cubicBezTo>
                  <a:lnTo>
                    <a:pt x="9" y="1012"/>
                  </a:lnTo>
                  <a:cubicBezTo>
                    <a:pt x="9" y="1047"/>
                    <a:pt x="26" y="1064"/>
                    <a:pt x="61" y="1064"/>
                  </a:cubicBezTo>
                  <a:cubicBezTo>
                    <a:pt x="96" y="1064"/>
                    <a:pt x="113" y="1047"/>
                    <a:pt x="113" y="1012"/>
                  </a:cubicBezTo>
                  <a:lnTo>
                    <a:pt x="113" y="53"/>
                  </a:lnTo>
                  <a:cubicBezTo>
                    <a:pt x="122" y="18"/>
                    <a:pt x="92" y="1"/>
                    <a:pt x="61"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4"/>
            <p:cNvSpPr/>
            <p:nvPr/>
          </p:nvSpPr>
          <p:spPr>
            <a:xfrm>
              <a:off x="6322925" y="2948775"/>
              <a:ext cx="2625" cy="34000"/>
            </a:xfrm>
            <a:custGeom>
              <a:rect b="b" l="l" r="r" t="t"/>
              <a:pathLst>
                <a:path extrusionOk="0" h="1360" w="105">
                  <a:moveTo>
                    <a:pt x="52" y="0"/>
                  </a:moveTo>
                  <a:cubicBezTo>
                    <a:pt x="35" y="0"/>
                    <a:pt x="0" y="18"/>
                    <a:pt x="0" y="53"/>
                  </a:cubicBezTo>
                  <a:lnTo>
                    <a:pt x="0" y="1308"/>
                  </a:lnTo>
                  <a:cubicBezTo>
                    <a:pt x="0" y="1343"/>
                    <a:pt x="35" y="1360"/>
                    <a:pt x="52" y="1360"/>
                  </a:cubicBezTo>
                  <a:cubicBezTo>
                    <a:pt x="87" y="1360"/>
                    <a:pt x="105" y="1343"/>
                    <a:pt x="105" y="1308"/>
                  </a:cubicBezTo>
                  <a:lnTo>
                    <a:pt x="105" y="53"/>
                  </a:lnTo>
                  <a:cubicBezTo>
                    <a:pt x="105" y="18"/>
                    <a:pt x="87" y="0"/>
                    <a:pt x="52"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4"/>
            <p:cNvSpPr/>
            <p:nvPr/>
          </p:nvSpPr>
          <p:spPr>
            <a:xfrm>
              <a:off x="6422275" y="2940500"/>
              <a:ext cx="2650" cy="42275"/>
            </a:xfrm>
            <a:custGeom>
              <a:rect b="b" l="l" r="r" t="t"/>
              <a:pathLst>
                <a:path extrusionOk="0" h="1691" w="106">
                  <a:moveTo>
                    <a:pt x="53" y="0"/>
                  </a:moveTo>
                  <a:cubicBezTo>
                    <a:pt x="27" y="0"/>
                    <a:pt x="0" y="18"/>
                    <a:pt x="0" y="52"/>
                  </a:cubicBezTo>
                  <a:lnTo>
                    <a:pt x="0" y="1639"/>
                  </a:lnTo>
                  <a:cubicBezTo>
                    <a:pt x="0" y="1674"/>
                    <a:pt x="18" y="1691"/>
                    <a:pt x="53" y="1691"/>
                  </a:cubicBezTo>
                  <a:cubicBezTo>
                    <a:pt x="88" y="1691"/>
                    <a:pt x="105" y="1674"/>
                    <a:pt x="105" y="1639"/>
                  </a:cubicBezTo>
                  <a:lnTo>
                    <a:pt x="105" y="52"/>
                  </a:lnTo>
                  <a:cubicBezTo>
                    <a:pt x="105" y="18"/>
                    <a:pt x="79" y="0"/>
                    <a:pt x="53"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4"/>
            <p:cNvSpPr/>
            <p:nvPr/>
          </p:nvSpPr>
          <p:spPr>
            <a:xfrm>
              <a:off x="6523150" y="2932200"/>
              <a:ext cx="3075" cy="50575"/>
            </a:xfrm>
            <a:custGeom>
              <a:rect b="b" l="l" r="r" t="t"/>
              <a:pathLst>
                <a:path extrusionOk="0" h="2023" w="123">
                  <a:moveTo>
                    <a:pt x="62" y="1"/>
                  </a:moveTo>
                  <a:cubicBezTo>
                    <a:pt x="31" y="1"/>
                    <a:pt x="1" y="18"/>
                    <a:pt x="10" y="53"/>
                  </a:cubicBezTo>
                  <a:lnTo>
                    <a:pt x="10" y="1971"/>
                  </a:lnTo>
                  <a:cubicBezTo>
                    <a:pt x="10" y="2006"/>
                    <a:pt x="27" y="2023"/>
                    <a:pt x="62" y="2023"/>
                  </a:cubicBezTo>
                  <a:cubicBezTo>
                    <a:pt x="79" y="2023"/>
                    <a:pt x="114" y="2006"/>
                    <a:pt x="114" y="1971"/>
                  </a:cubicBezTo>
                  <a:lnTo>
                    <a:pt x="114" y="53"/>
                  </a:lnTo>
                  <a:cubicBezTo>
                    <a:pt x="123" y="18"/>
                    <a:pt x="92" y="1"/>
                    <a:pt x="62" y="1"/>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
            <p:cNvSpPr/>
            <p:nvPr/>
          </p:nvSpPr>
          <p:spPr>
            <a:xfrm>
              <a:off x="6617075" y="2923500"/>
              <a:ext cx="2625" cy="59275"/>
            </a:xfrm>
            <a:custGeom>
              <a:rect b="b" l="l" r="r" t="t"/>
              <a:pathLst>
                <a:path extrusionOk="0" h="2371" w="105">
                  <a:moveTo>
                    <a:pt x="105" y="0"/>
                  </a:moveTo>
                  <a:lnTo>
                    <a:pt x="0" y="18"/>
                  </a:lnTo>
                  <a:lnTo>
                    <a:pt x="0" y="2319"/>
                  </a:lnTo>
                  <a:cubicBezTo>
                    <a:pt x="9" y="2354"/>
                    <a:pt x="35" y="2371"/>
                    <a:pt x="59" y="2371"/>
                  </a:cubicBezTo>
                  <a:cubicBezTo>
                    <a:pt x="83" y="2371"/>
                    <a:pt x="105" y="2354"/>
                    <a:pt x="105" y="2319"/>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4"/>
            <p:cNvSpPr/>
            <p:nvPr/>
          </p:nvSpPr>
          <p:spPr>
            <a:xfrm>
              <a:off x="6717300" y="2915225"/>
              <a:ext cx="2625" cy="67900"/>
            </a:xfrm>
            <a:custGeom>
              <a:rect b="b" l="l" r="r" t="t"/>
              <a:pathLst>
                <a:path extrusionOk="0" h="2716" w="105">
                  <a:moveTo>
                    <a:pt x="105" y="0"/>
                  </a:moveTo>
                  <a:lnTo>
                    <a:pt x="0" y="18"/>
                  </a:lnTo>
                  <a:lnTo>
                    <a:pt x="0" y="2650"/>
                  </a:lnTo>
                  <a:cubicBezTo>
                    <a:pt x="0" y="2693"/>
                    <a:pt x="27" y="2715"/>
                    <a:pt x="53" y="2715"/>
                  </a:cubicBezTo>
                  <a:cubicBezTo>
                    <a:pt x="79" y="2715"/>
                    <a:pt x="105" y="2693"/>
                    <a:pt x="105" y="2650"/>
                  </a:cubicBezTo>
                  <a:lnTo>
                    <a:pt x="105"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4"/>
            <p:cNvSpPr/>
            <p:nvPr/>
          </p:nvSpPr>
          <p:spPr>
            <a:xfrm>
              <a:off x="6817525" y="2906925"/>
              <a:ext cx="2650" cy="75850"/>
            </a:xfrm>
            <a:custGeom>
              <a:rect b="b" l="l" r="r" t="t"/>
              <a:pathLst>
                <a:path extrusionOk="0" h="3034" w="106">
                  <a:moveTo>
                    <a:pt x="1" y="1"/>
                  </a:moveTo>
                  <a:lnTo>
                    <a:pt x="1" y="2982"/>
                  </a:lnTo>
                  <a:cubicBezTo>
                    <a:pt x="1" y="3017"/>
                    <a:pt x="18" y="3034"/>
                    <a:pt x="53" y="3034"/>
                  </a:cubicBezTo>
                  <a:cubicBezTo>
                    <a:pt x="70" y="3034"/>
                    <a:pt x="105" y="3017"/>
                    <a:pt x="105" y="2982"/>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4"/>
            <p:cNvSpPr/>
            <p:nvPr/>
          </p:nvSpPr>
          <p:spPr>
            <a:xfrm>
              <a:off x="7036300" y="2917825"/>
              <a:ext cx="2625" cy="64950"/>
            </a:xfrm>
            <a:custGeom>
              <a:rect b="b" l="l" r="r" t="t"/>
              <a:pathLst>
                <a:path extrusionOk="0" h="2598" w="105">
                  <a:moveTo>
                    <a:pt x="0" y="1"/>
                  </a:moveTo>
                  <a:lnTo>
                    <a:pt x="0" y="2546"/>
                  </a:lnTo>
                  <a:cubicBezTo>
                    <a:pt x="0" y="2581"/>
                    <a:pt x="17" y="2598"/>
                    <a:pt x="52" y="2598"/>
                  </a:cubicBezTo>
                  <a:cubicBezTo>
                    <a:pt x="87" y="2598"/>
                    <a:pt x="105" y="2581"/>
                    <a:pt x="105" y="2546"/>
                  </a:cubicBezTo>
                  <a:lnTo>
                    <a:pt x="105"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4"/>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
            <p:cNvSpPr/>
            <p:nvPr/>
          </p:nvSpPr>
          <p:spPr>
            <a:xfrm>
              <a:off x="7134350" y="2936125"/>
              <a:ext cx="3075" cy="46650"/>
            </a:xfrm>
            <a:custGeom>
              <a:rect b="b" l="l" r="r" t="t"/>
              <a:pathLst>
                <a:path extrusionOk="0" h="1866" w="123">
                  <a:moveTo>
                    <a:pt x="0" y="1"/>
                  </a:moveTo>
                  <a:lnTo>
                    <a:pt x="0" y="1814"/>
                  </a:lnTo>
                  <a:cubicBezTo>
                    <a:pt x="9" y="1849"/>
                    <a:pt x="35" y="1866"/>
                    <a:pt x="61" y="1866"/>
                  </a:cubicBezTo>
                  <a:cubicBezTo>
                    <a:pt x="87" y="1866"/>
                    <a:pt x="113" y="1849"/>
                    <a:pt x="122" y="1814"/>
                  </a:cubicBezTo>
                  <a:lnTo>
                    <a:pt x="122" y="18"/>
                  </a:lnTo>
                  <a:lnTo>
                    <a:pt x="0"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4"/>
            <p:cNvSpPr/>
            <p:nvPr/>
          </p:nvSpPr>
          <p:spPr>
            <a:xfrm>
              <a:off x="7232825" y="2954425"/>
              <a:ext cx="2650" cy="28350"/>
            </a:xfrm>
            <a:custGeom>
              <a:rect b="b" l="l" r="r" t="t"/>
              <a:pathLst>
                <a:path extrusionOk="0" h="1134" w="106">
                  <a:moveTo>
                    <a:pt x="1" y="1"/>
                  </a:moveTo>
                  <a:lnTo>
                    <a:pt x="1" y="1082"/>
                  </a:lnTo>
                  <a:cubicBezTo>
                    <a:pt x="1" y="1117"/>
                    <a:pt x="18" y="1134"/>
                    <a:pt x="53" y="1134"/>
                  </a:cubicBezTo>
                  <a:cubicBezTo>
                    <a:pt x="88" y="1134"/>
                    <a:pt x="105" y="1117"/>
                    <a:pt x="105" y="1082"/>
                  </a:cubicBezTo>
                  <a:lnTo>
                    <a:pt x="105" y="18"/>
                  </a:lnTo>
                  <a:lnTo>
                    <a:pt x="1"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4"/>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4"/>
            <p:cNvSpPr/>
            <p:nvPr/>
          </p:nvSpPr>
          <p:spPr>
            <a:xfrm>
              <a:off x="6925175" y="2897775"/>
              <a:ext cx="2625" cy="85000"/>
            </a:xfrm>
            <a:custGeom>
              <a:rect b="b" l="l" r="r" t="t"/>
              <a:pathLst>
                <a:path extrusionOk="0" h="3400" w="105">
                  <a:moveTo>
                    <a:pt x="0" y="1"/>
                  </a:moveTo>
                  <a:lnTo>
                    <a:pt x="0" y="3348"/>
                  </a:lnTo>
                  <a:cubicBezTo>
                    <a:pt x="0" y="3383"/>
                    <a:pt x="18" y="3400"/>
                    <a:pt x="52" y="3400"/>
                  </a:cubicBezTo>
                  <a:cubicBezTo>
                    <a:pt x="70" y="3400"/>
                    <a:pt x="105" y="3383"/>
                    <a:pt x="105" y="3348"/>
                  </a:cubicBezTo>
                  <a:lnTo>
                    <a:pt x="105"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4"/>
            <p:cNvSpPr/>
            <p:nvPr/>
          </p:nvSpPr>
          <p:spPr>
            <a:xfrm>
              <a:off x="6224425" y="2983200"/>
              <a:ext cx="122475" cy="346900"/>
            </a:xfrm>
            <a:custGeom>
              <a:rect b="b" l="l" r="r" t="t"/>
              <a:pathLst>
                <a:path extrusionOk="0" fill="none" h="13876" w="4899">
                  <a:moveTo>
                    <a:pt x="4899" y="0"/>
                  </a:moveTo>
                  <a:lnTo>
                    <a:pt x="4899" y="5822"/>
                  </a:lnTo>
                  <a:lnTo>
                    <a:pt x="1" y="13876"/>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p:nvPr/>
          </p:nvSpPr>
          <p:spPr>
            <a:xfrm>
              <a:off x="6346875" y="3128750"/>
              <a:ext cx="96350" cy="195250"/>
            </a:xfrm>
            <a:custGeom>
              <a:rect b="b" l="l" r="r" t="t"/>
              <a:pathLst>
                <a:path extrusionOk="0" fill="none" h="7810" w="3854">
                  <a:moveTo>
                    <a:pt x="1" y="0"/>
                  </a:moveTo>
                  <a:lnTo>
                    <a:pt x="3853" y="7810"/>
                  </a:lnTo>
                </a:path>
              </a:pathLst>
            </a:custGeom>
            <a:noFill/>
            <a:ln cap="rnd" cmpd="sng" w="26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4"/>
            <p:cNvSpPr/>
            <p:nvPr/>
          </p:nvSpPr>
          <p:spPr>
            <a:xfrm>
              <a:off x="6177800" y="3308300"/>
              <a:ext cx="331225" cy="178250"/>
            </a:xfrm>
            <a:custGeom>
              <a:rect b="b" l="l" r="r" t="t"/>
              <a:pathLst>
                <a:path extrusionOk="0" h="7130" w="13249">
                  <a:moveTo>
                    <a:pt x="1" y="0"/>
                  </a:moveTo>
                  <a:lnTo>
                    <a:pt x="1" y="7129"/>
                  </a:lnTo>
                  <a:lnTo>
                    <a:pt x="13248" y="7129"/>
                  </a:lnTo>
                  <a:lnTo>
                    <a:pt x="13248"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4"/>
            <p:cNvSpPr/>
            <p:nvPr/>
          </p:nvSpPr>
          <p:spPr>
            <a:xfrm>
              <a:off x="6438400" y="3308300"/>
              <a:ext cx="70625" cy="178250"/>
            </a:xfrm>
            <a:custGeom>
              <a:rect b="b" l="l" r="r" t="t"/>
              <a:pathLst>
                <a:path extrusionOk="0" h="7130" w="2825">
                  <a:moveTo>
                    <a:pt x="0" y="0"/>
                  </a:moveTo>
                  <a:lnTo>
                    <a:pt x="0" y="7129"/>
                  </a:lnTo>
                  <a:lnTo>
                    <a:pt x="2824" y="7129"/>
                  </a:lnTo>
                  <a:lnTo>
                    <a:pt x="2824"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4"/>
          <p:cNvGrpSpPr/>
          <p:nvPr/>
        </p:nvGrpSpPr>
        <p:grpSpPr>
          <a:xfrm>
            <a:off x="-381000" y="3714140"/>
            <a:ext cx="9870375" cy="1455000"/>
            <a:chOff x="-381000" y="2758675"/>
            <a:chExt cx="9870375" cy="1455000"/>
          </a:xfrm>
        </p:grpSpPr>
        <p:sp>
          <p:nvSpPr>
            <p:cNvPr id="260" name="Google Shape;260;p14"/>
            <p:cNvSpPr/>
            <p:nvPr/>
          </p:nvSpPr>
          <p:spPr>
            <a:xfrm>
              <a:off x="152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p:nvPr/>
          </p:nvSpPr>
          <p:spPr>
            <a:xfrm>
              <a:off x="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4"/>
            <p:cNvSpPr/>
            <p:nvPr/>
          </p:nvSpPr>
          <p:spPr>
            <a:xfrm>
              <a:off x="76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381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p:nvPr/>
          </p:nvSpPr>
          <p:spPr>
            <a:xfrm>
              <a:off x="228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4"/>
            <p:cNvSpPr/>
            <p:nvPr/>
          </p:nvSpPr>
          <p:spPr>
            <a:xfrm>
              <a:off x="304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
            <p:cNvSpPr/>
            <p:nvPr/>
          </p:nvSpPr>
          <p:spPr>
            <a:xfrm>
              <a:off x="6096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p:nvPr/>
          </p:nvSpPr>
          <p:spPr>
            <a:xfrm>
              <a:off x="457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4"/>
            <p:cNvSpPr/>
            <p:nvPr/>
          </p:nvSpPr>
          <p:spPr>
            <a:xfrm>
              <a:off x="5334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7620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p:nvPr/>
          </p:nvSpPr>
          <p:spPr>
            <a:xfrm>
              <a:off x="6858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4"/>
            <p:cNvSpPr/>
            <p:nvPr/>
          </p:nvSpPr>
          <p:spPr>
            <a:xfrm>
              <a:off x="8382000" y="3922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186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p:nvPr/>
          </p:nvSpPr>
          <p:spPr>
            <a:xfrm>
              <a:off x="3764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4"/>
            <p:cNvSpPr/>
            <p:nvPr/>
          </p:nvSpPr>
          <p:spPr>
            <a:xfrm>
              <a:off x="110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415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14"/>
            <p:cNvSpPr/>
            <p:nvPr/>
          </p:nvSpPr>
          <p:spPr>
            <a:xfrm>
              <a:off x="263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4"/>
            <p:cNvSpPr/>
            <p:nvPr/>
          </p:nvSpPr>
          <p:spPr>
            <a:xfrm>
              <a:off x="339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14"/>
            <p:cNvSpPr/>
            <p:nvPr/>
          </p:nvSpPr>
          <p:spPr>
            <a:xfrm>
              <a:off x="6441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4"/>
            <p:cNvSpPr/>
            <p:nvPr/>
          </p:nvSpPr>
          <p:spPr>
            <a:xfrm>
              <a:off x="491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4"/>
            <p:cNvSpPr/>
            <p:nvPr/>
          </p:nvSpPr>
          <p:spPr>
            <a:xfrm>
              <a:off x="5679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4"/>
            <p:cNvSpPr/>
            <p:nvPr/>
          </p:nvSpPr>
          <p:spPr>
            <a:xfrm>
              <a:off x="7965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14"/>
            <p:cNvSpPr/>
            <p:nvPr/>
          </p:nvSpPr>
          <p:spPr>
            <a:xfrm>
              <a:off x="7203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4"/>
            <p:cNvSpPr/>
            <p:nvPr/>
          </p:nvSpPr>
          <p:spPr>
            <a:xfrm>
              <a:off x="8727375"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4"/>
            <p:cNvSpPr/>
            <p:nvPr/>
          </p:nvSpPr>
          <p:spPr>
            <a:xfrm>
              <a:off x="-381000" y="3631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4"/>
            <p:cNvSpPr/>
            <p:nvPr/>
          </p:nvSpPr>
          <p:spPr>
            <a:xfrm>
              <a:off x="152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4"/>
            <p:cNvSpPr/>
            <p:nvPr/>
          </p:nvSpPr>
          <p:spPr>
            <a:xfrm>
              <a:off x="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4"/>
            <p:cNvSpPr/>
            <p:nvPr/>
          </p:nvSpPr>
          <p:spPr>
            <a:xfrm>
              <a:off x="76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4"/>
            <p:cNvSpPr/>
            <p:nvPr/>
          </p:nvSpPr>
          <p:spPr>
            <a:xfrm>
              <a:off x="381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4"/>
            <p:cNvSpPr/>
            <p:nvPr/>
          </p:nvSpPr>
          <p:spPr>
            <a:xfrm>
              <a:off x="228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
            <p:cNvSpPr/>
            <p:nvPr/>
          </p:nvSpPr>
          <p:spPr>
            <a:xfrm>
              <a:off x="304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4"/>
            <p:cNvSpPr/>
            <p:nvPr/>
          </p:nvSpPr>
          <p:spPr>
            <a:xfrm>
              <a:off x="6096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4"/>
            <p:cNvSpPr/>
            <p:nvPr/>
          </p:nvSpPr>
          <p:spPr>
            <a:xfrm>
              <a:off x="457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4"/>
            <p:cNvSpPr/>
            <p:nvPr/>
          </p:nvSpPr>
          <p:spPr>
            <a:xfrm>
              <a:off x="5334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4"/>
            <p:cNvSpPr/>
            <p:nvPr/>
          </p:nvSpPr>
          <p:spPr>
            <a:xfrm>
              <a:off x="7620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4"/>
            <p:cNvSpPr/>
            <p:nvPr/>
          </p:nvSpPr>
          <p:spPr>
            <a:xfrm>
              <a:off x="6858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4"/>
            <p:cNvSpPr/>
            <p:nvPr/>
          </p:nvSpPr>
          <p:spPr>
            <a:xfrm>
              <a:off x="8382000" y="3340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4"/>
            <p:cNvSpPr/>
            <p:nvPr/>
          </p:nvSpPr>
          <p:spPr>
            <a:xfrm>
              <a:off x="1869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4"/>
            <p:cNvSpPr/>
            <p:nvPr/>
          </p:nvSpPr>
          <p:spPr>
            <a:xfrm>
              <a:off x="3764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4"/>
            <p:cNvSpPr/>
            <p:nvPr/>
          </p:nvSpPr>
          <p:spPr>
            <a:xfrm>
              <a:off x="110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4"/>
            <p:cNvSpPr/>
            <p:nvPr/>
          </p:nvSpPr>
          <p:spPr>
            <a:xfrm>
              <a:off x="263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4"/>
            <p:cNvSpPr/>
            <p:nvPr/>
          </p:nvSpPr>
          <p:spPr>
            <a:xfrm>
              <a:off x="6441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14"/>
            <p:cNvSpPr/>
            <p:nvPr/>
          </p:nvSpPr>
          <p:spPr>
            <a:xfrm>
              <a:off x="7965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4"/>
            <p:cNvSpPr/>
            <p:nvPr/>
          </p:nvSpPr>
          <p:spPr>
            <a:xfrm>
              <a:off x="7203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
            <p:cNvSpPr/>
            <p:nvPr/>
          </p:nvSpPr>
          <p:spPr>
            <a:xfrm>
              <a:off x="8727375"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4"/>
            <p:cNvSpPr/>
            <p:nvPr/>
          </p:nvSpPr>
          <p:spPr>
            <a:xfrm>
              <a:off x="-381000" y="3049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4"/>
            <p:cNvSpPr/>
            <p:nvPr/>
          </p:nvSpPr>
          <p:spPr>
            <a:xfrm>
              <a:off x="7620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4"/>
            <p:cNvSpPr/>
            <p:nvPr/>
          </p:nvSpPr>
          <p:spPr>
            <a:xfrm>
              <a:off x="6858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p:nvPr/>
          </p:nvSpPr>
          <p:spPr>
            <a:xfrm>
              <a:off x="838200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4"/>
            <p:cNvSpPr/>
            <p:nvPr/>
          </p:nvSpPr>
          <p:spPr>
            <a:xfrm>
              <a:off x="0" y="2758675"/>
              <a:ext cx="762000" cy="291000"/>
            </a:xfrm>
            <a:prstGeom prst="rect">
              <a:avLst/>
            </a:prstGeom>
            <a:solidFill>
              <a:schemeClr val="dk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0" name="Google Shape;310;p14"/>
          <p:cNvSpPr/>
          <p:nvPr/>
        </p:nvSpPr>
        <p:spPr>
          <a:xfrm>
            <a:off x="0" y="3714150"/>
            <a:ext cx="2898900" cy="1174500"/>
          </a:xfrm>
          <a:prstGeom prst="rtTriangle">
            <a:avLst/>
          </a:pr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4"/>
          <p:cNvSpPr/>
          <p:nvPr/>
        </p:nvSpPr>
        <p:spPr>
          <a:xfrm>
            <a:off x="0" y="4879925"/>
            <a:ext cx="9144000" cy="29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0" y="4521719"/>
            <a:ext cx="1727303" cy="361353"/>
          </a:xfrm>
          <a:custGeom>
            <a:rect b="b" l="l" r="r" t="t"/>
            <a:pathLst>
              <a:path extrusionOk="0" h="9113" w="43561">
                <a:moveTo>
                  <a:pt x="21427" y="0"/>
                </a:moveTo>
                <a:cubicBezTo>
                  <a:pt x="20938" y="0"/>
                  <a:pt x="20447" y="28"/>
                  <a:pt x="19959" y="83"/>
                </a:cubicBezTo>
                <a:cubicBezTo>
                  <a:pt x="16072" y="554"/>
                  <a:pt x="12638" y="2803"/>
                  <a:pt x="10616" y="6149"/>
                </a:cubicBezTo>
                <a:cubicBezTo>
                  <a:pt x="10058" y="5452"/>
                  <a:pt x="9378" y="5365"/>
                  <a:pt x="8576" y="4947"/>
                </a:cubicBezTo>
                <a:cubicBezTo>
                  <a:pt x="7417" y="4361"/>
                  <a:pt x="6105" y="4015"/>
                  <a:pt x="4806" y="4015"/>
                </a:cubicBezTo>
                <a:cubicBezTo>
                  <a:pt x="4249" y="4015"/>
                  <a:pt x="3694" y="4079"/>
                  <a:pt x="3155" y="4215"/>
                </a:cubicBezTo>
                <a:cubicBezTo>
                  <a:pt x="1917" y="4511"/>
                  <a:pt x="819" y="5191"/>
                  <a:pt x="0" y="6149"/>
                </a:cubicBezTo>
                <a:lnTo>
                  <a:pt x="0" y="9113"/>
                </a:lnTo>
                <a:lnTo>
                  <a:pt x="43404" y="8991"/>
                </a:lnTo>
                <a:cubicBezTo>
                  <a:pt x="43561" y="8991"/>
                  <a:pt x="42968" y="8468"/>
                  <a:pt x="43125" y="8468"/>
                </a:cubicBezTo>
                <a:cubicBezTo>
                  <a:pt x="41626" y="6463"/>
                  <a:pt x="39848" y="4598"/>
                  <a:pt x="37582" y="3552"/>
                </a:cubicBezTo>
                <a:cubicBezTo>
                  <a:pt x="36461" y="3026"/>
                  <a:pt x="35204" y="2731"/>
                  <a:pt x="33966" y="2731"/>
                </a:cubicBezTo>
                <a:cubicBezTo>
                  <a:pt x="32701" y="2731"/>
                  <a:pt x="31457" y="3039"/>
                  <a:pt x="30400" y="3727"/>
                </a:cubicBezTo>
                <a:cubicBezTo>
                  <a:pt x="28103" y="1293"/>
                  <a:pt x="24784" y="0"/>
                  <a:pt x="21427" y="0"/>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2742610" y="4791913"/>
            <a:ext cx="2036911" cy="361376"/>
          </a:xfrm>
          <a:custGeom>
            <a:rect b="b" l="l" r="r" t="t"/>
            <a:pathLst>
              <a:path extrusionOk="0" h="4636" w="26131">
                <a:moveTo>
                  <a:pt x="13371" y="1"/>
                </a:moveTo>
                <a:cubicBezTo>
                  <a:pt x="10517" y="1"/>
                  <a:pt x="7646" y="1516"/>
                  <a:pt x="6049" y="3886"/>
                </a:cubicBezTo>
                <a:cubicBezTo>
                  <a:pt x="5404" y="3324"/>
                  <a:pt x="4545" y="3066"/>
                  <a:pt x="3680" y="3066"/>
                </a:cubicBezTo>
                <a:cubicBezTo>
                  <a:pt x="3285" y="3066"/>
                  <a:pt x="2888" y="3120"/>
                  <a:pt x="2511" y="3224"/>
                </a:cubicBezTo>
                <a:cubicBezTo>
                  <a:pt x="1587" y="3503"/>
                  <a:pt x="733" y="3991"/>
                  <a:pt x="1" y="4636"/>
                </a:cubicBezTo>
                <a:lnTo>
                  <a:pt x="26130" y="4636"/>
                </a:lnTo>
                <a:cubicBezTo>
                  <a:pt x="25363" y="3642"/>
                  <a:pt x="24265" y="2962"/>
                  <a:pt x="23027" y="2753"/>
                </a:cubicBezTo>
                <a:cubicBezTo>
                  <a:pt x="22764" y="2715"/>
                  <a:pt x="22499" y="2696"/>
                  <a:pt x="22235" y="2696"/>
                </a:cubicBezTo>
                <a:cubicBezTo>
                  <a:pt x="21068" y="2696"/>
                  <a:pt x="19918" y="3068"/>
                  <a:pt x="18966" y="3764"/>
                </a:cubicBezTo>
                <a:cubicBezTo>
                  <a:pt x="18722" y="2649"/>
                  <a:pt x="18042" y="1655"/>
                  <a:pt x="17083" y="1045"/>
                </a:cubicBezTo>
                <a:cubicBezTo>
                  <a:pt x="16107" y="418"/>
                  <a:pt x="15009" y="69"/>
                  <a:pt x="13876" y="17"/>
                </a:cubicBezTo>
                <a:cubicBezTo>
                  <a:pt x="13708" y="6"/>
                  <a:pt x="13540" y="1"/>
                  <a:pt x="13371"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
          <p:cNvSpPr/>
          <p:nvPr/>
        </p:nvSpPr>
        <p:spPr>
          <a:xfrm>
            <a:off x="0" y="5025282"/>
            <a:ext cx="653285" cy="235097"/>
          </a:xfrm>
          <a:custGeom>
            <a:rect b="b" l="l" r="r" t="t"/>
            <a:pathLst>
              <a:path extrusionOk="0" h="3187" w="8856">
                <a:moveTo>
                  <a:pt x="4158" y="1"/>
                </a:moveTo>
                <a:cubicBezTo>
                  <a:pt x="2578" y="1"/>
                  <a:pt x="1059" y="686"/>
                  <a:pt x="0" y="1896"/>
                </a:cubicBezTo>
                <a:lnTo>
                  <a:pt x="0" y="3186"/>
                </a:lnTo>
                <a:lnTo>
                  <a:pt x="8855" y="3186"/>
                </a:lnTo>
                <a:cubicBezTo>
                  <a:pt x="8140" y="1530"/>
                  <a:pt x="6659" y="362"/>
                  <a:pt x="4881" y="49"/>
                </a:cubicBezTo>
                <a:cubicBezTo>
                  <a:pt x="4639" y="16"/>
                  <a:pt x="4398" y="1"/>
                  <a:pt x="4158" y="1"/>
                </a:cubicBez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370767" y="326051"/>
            <a:ext cx="1247187" cy="176528"/>
          </a:xfrm>
          <a:custGeom>
            <a:rect b="b" l="l" r="r" t="t"/>
            <a:pathLst>
              <a:path extrusionOk="0" h="4118" w="29094">
                <a:moveTo>
                  <a:pt x="13836" y="0"/>
                </a:moveTo>
                <a:cubicBezTo>
                  <a:pt x="11279" y="0"/>
                  <a:pt x="8807" y="1206"/>
                  <a:pt x="7078" y="3089"/>
                </a:cubicBezTo>
                <a:cubicBezTo>
                  <a:pt x="6200" y="2686"/>
                  <a:pt x="5264" y="2489"/>
                  <a:pt x="4335" y="2489"/>
                </a:cubicBezTo>
                <a:cubicBezTo>
                  <a:pt x="2771" y="2489"/>
                  <a:pt x="1225" y="3046"/>
                  <a:pt x="1" y="4117"/>
                </a:cubicBezTo>
                <a:lnTo>
                  <a:pt x="29093" y="4117"/>
                </a:lnTo>
                <a:cubicBezTo>
                  <a:pt x="28361" y="3385"/>
                  <a:pt x="27350" y="2949"/>
                  <a:pt x="26322" y="2723"/>
                </a:cubicBezTo>
                <a:cubicBezTo>
                  <a:pt x="25657" y="2586"/>
                  <a:pt x="24998" y="2511"/>
                  <a:pt x="24350" y="2511"/>
                </a:cubicBezTo>
                <a:cubicBezTo>
                  <a:pt x="23179" y="2511"/>
                  <a:pt x="22041" y="2754"/>
                  <a:pt x="20953" y="3315"/>
                </a:cubicBezTo>
                <a:cubicBezTo>
                  <a:pt x="19227" y="1276"/>
                  <a:pt x="16717" y="73"/>
                  <a:pt x="14050" y="3"/>
                </a:cubicBezTo>
                <a:cubicBezTo>
                  <a:pt x="13979" y="1"/>
                  <a:pt x="13907" y="0"/>
                  <a:pt x="1383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4"/>
          <p:cNvSpPr/>
          <p:nvPr/>
        </p:nvSpPr>
        <p:spPr>
          <a:xfrm>
            <a:off x="6716384" y="1142647"/>
            <a:ext cx="1422800" cy="201218"/>
          </a:xfrm>
          <a:custGeom>
            <a:rect b="b" l="l" r="r" t="t"/>
            <a:pathLst>
              <a:path extrusionOk="0" h="4117" w="29111">
                <a:moveTo>
                  <a:pt x="13885" y="1"/>
                </a:moveTo>
                <a:cubicBezTo>
                  <a:pt x="11311" y="1"/>
                  <a:pt x="8818" y="1194"/>
                  <a:pt x="7077" y="3105"/>
                </a:cubicBezTo>
                <a:cubicBezTo>
                  <a:pt x="6194" y="2693"/>
                  <a:pt x="5252" y="2492"/>
                  <a:pt x="4317" y="2492"/>
                </a:cubicBezTo>
                <a:cubicBezTo>
                  <a:pt x="2759" y="2492"/>
                  <a:pt x="1220" y="3049"/>
                  <a:pt x="0" y="4116"/>
                </a:cubicBezTo>
                <a:lnTo>
                  <a:pt x="29110" y="4116"/>
                </a:lnTo>
                <a:cubicBezTo>
                  <a:pt x="28361" y="3384"/>
                  <a:pt x="27350" y="2948"/>
                  <a:pt x="26321" y="2739"/>
                </a:cubicBezTo>
                <a:cubicBezTo>
                  <a:pt x="25644" y="2600"/>
                  <a:pt x="24973" y="2523"/>
                  <a:pt x="24312" y="2523"/>
                </a:cubicBezTo>
                <a:cubicBezTo>
                  <a:pt x="23155" y="2523"/>
                  <a:pt x="22029" y="2760"/>
                  <a:pt x="20953" y="3314"/>
                </a:cubicBezTo>
                <a:cubicBezTo>
                  <a:pt x="19227" y="1292"/>
                  <a:pt x="16717" y="90"/>
                  <a:pt x="14050" y="3"/>
                </a:cubicBezTo>
                <a:cubicBezTo>
                  <a:pt x="13995" y="1"/>
                  <a:pt x="13940" y="1"/>
                  <a:pt x="1388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14"/>
          <p:cNvGrpSpPr/>
          <p:nvPr/>
        </p:nvGrpSpPr>
        <p:grpSpPr>
          <a:xfrm>
            <a:off x="6258499" y="4642"/>
            <a:ext cx="1874021" cy="991923"/>
            <a:chOff x="3927875" y="2818025"/>
            <a:chExt cx="1071175" cy="566975"/>
          </a:xfrm>
        </p:grpSpPr>
        <p:sp>
          <p:nvSpPr>
            <p:cNvPr id="318" name="Google Shape;318;p14"/>
            <p:cNvSpPr/>
            <p:nvPr/>
          </p:nvSpPr>
          <p:spPr>
            <a:xfrm>
              <a:off x="3927875" y="3269075"/>
              <a:ext cx="1071175" cy="115925"/>
            </a:xfrm>
            <a:custGeom>
              <a:rect b="b" l="l" r="r" t="t"/>
              <a:pathLst>
                <a:path extrusionOk="0" h="4637" w="42847">
                  <a:moveTo>
                    <a:pt x="0" y="192"/>
                  </a:moveTo>
                  <a:cubicBezTo>
                    <a:pt x="0" y="192"/>
                    <a:pt x="0" y="192"/>
                    <a:pt x="0" y="192"/>
                  </a:cubicBezTo>
                  <a:lnTo>
                    <a:pt x="0" y="192"/>
                  </a:lnTo>
                  <a:lnTo>
                    <a:pt x="0" y="192"/>
                  </a:lnTo>
                  <a:close/>
                  <a:moveTo>
                    <a:pt x="42846" y="0"/>
                  </a:moveTo>
                  <a:lnTo>
                    <a:pt x="40005" y="35"/>
                  </a:lnTo>
                  <a:cubicBezTo>
                    <a:pt x="32108" y="87"/>
                    <a:pt x="10093" y="227"/>
                    <a:pt x="2563" y="227"/>
                  </a:cubicBezTo>
                  <a:cubicBezTo>
                    <a:pt x="973" y="227"/>
                    <a:pt x="18" y="210"/>
                    <a:pt x="0" y="192"/>
                  </a:cubicBezTo>
                  <a:lnTo>
                    <a:pt x="0" y="192"/>
                  </a:lnTo>
                  <a:lnTo>
                    <a:pt x="2022" y="4236"/>
                  </a:lnTo>
                  <a:lnTo>
                    <a:pt x="2231" y="4637"/>
                  </a:lnTo>
                  <a:lnTo>
                    <a:pt x="40719" y="4637"/>
                  </a:lnTo>
                  <a:lnTo>
                    <a:pt x="42375" y="1029"/>
                  </a:lnTo>
                  <a:lnTo>
                    <a:pt x="42846" y="0"/>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a:off x="3947050" y="3252075"/>
              <a:ext cx="1032825" cy="25"/>
            </a:xfrm>
            <a:custGeom>
              <a:rect b="b" l="l" r="r" t="t"/>
              <a:pathLst>
                <a:path extrusionOk="0" fill="none" h="1" w="41313">
                  <a:moveTo>
                    <a:pt x="0" y="0"/>
                  </a:moveTo>
                  <a:lnTo>
                    <a:pt x="41312" y="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4"/>
            <p:cNvSpPr/>
            <p:nvPr/>
          </p:nvSpPr>
          <p:spPr>
            <a:xfrm>
              <a:off x="3991925" y="3253375"/>
              <a:ext cx="25" cy="35775"/>
            </a:xfrm>
            <a:custGeom>
              <a:rect b="b" l="l" r="r" t="t"/>
              <a:pathLst>
                <a:path extrusionOk="0" fill="none" h="1431" w="1">
                  <a:moveTo>
                    <a:pt x="1" y="1"/>
                  </a:moveTo>
                  <a:lnTo>
                    <a:pt x="1"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4927550" y="3253375"/>
              <a:ext cx="25" cy="35775"/>
            </a:xfrm>
            <a:custGeom>
              <a:rect b="b" l="l" r="r" t="t"/>
              <a:pathLst>
                <a:path extrusionOk="0" fill="none" h="1431" w="1">
                  <a:moveTo>
                    <a:pt x="0" y="1"/>
                  </a:moveTo>
                  <a:lnTo>
                    <a:pt x="0" y="1430"/>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3978425" y="3294775"/>
              <a:ext cx="1008850" cy="90225"/>
            </a:xfrm>
            <a:custGeom>
              <a:rect b="b" l="l" r="r" t="t"/>
              <a:pathLst>
                <a:path extrusionOk="0" h="3609" w="40354">
                  <a:moveTo>
                    <a:pt x="40353" y="1"/>
                  </a:moveTo>
                  <a:lnTo>
                    <a:pt x="0" y="3208"/>
                  </a:lnTo>
                  <a:lnTo>
                    <a:pt x="209" y="3609"/>
                  </a:lnTo>
                  <a:lnTo>
                    <a:pt x="38680" y="3609"/>
                  </a:lnTo>
                  <a:lnTo>
                    <a:pt x="40353"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4044225" y="2940925"/>
              <a:ext cx="152975" cy="335575"/>
            </a:xfrm>
            <a:custGeom>
              <a:rect b="b" l="l" r="r" t="t"/>
              <a:pathLst>
                <a:path extrusionOk="0" fill="none" h="13423" w="6119">
                  <a:moveTo>
                    <a:pt x="0" y="13423"/>
                  </a:moveTo>
                  <a:lnTo>
                    <a:pt x="4131" y="1"/>
                  </a:lnTo>
                  <a:lnTo>
                    <a:pt x="6119"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4"/>
            <p:cNvSpPr/>
            <p:nvPr/>
          </p:nvSpPr>
          <p:spPr>
            <a:xfrm>
              <a:off x="4133550" y="2913900"/>
              <a:ext cx="28350" cy="28350"/>
            </a:xfrm>
            <a:custGeom>
              <a:rect b="b" l="l" r="r" t="t"/>
              <a:pathLst>
                <a:path extrusionOk="0" fill="none" h="1134" w="1134">
                  <a:moveTo>
                    <a:pt x="1134" y="559"/>
                  </a:moveTo>
                  <a:cubicBezTo>
                    <a:pt x="1134" y="872"/>
                    <a:pt x="872" y="1134"/>
                    <a:pt x="558" y="1134"/>
                  </a:cubicBezTo>
                  <a:cubicBezTo>
                    <a:pt x="245" y="1134"/>
                    <a:pt x="1" y="872"/>
                    <a:pt x="1" y="559"/>
                  </a:cubicBezTo>
                  <a:cubicBezTo>
                    <a:pt x="1" y="245"/>
                    <a:pt x="245" y="1"/>
                    <a:pt x="558" y="1"/>
                  </a:cubicBezTo>
                  <a:cubicBezTo>
                    <a:pt x="872" y="1"/>
                    <a:pt x="1134" y="245"/>
                    <a:pt x="1134" y="559"/>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4146625" y="2818025"/>
              <a:ext cx="900" cy="95900"/>
            </a:xfrm>
            <a:custGeom>
              <a:rect b="b" l="l" r="r" t="t"/>
              <a:pathLst>
                <a:path extrusionOk="0" fill="none" h="3836" w="36">
                  <a:moveTo>
                    <a:pt x="35" y="3836"/>
                  </a:moveTo>
                  <a:lnTo>
                    <a:pt x="1"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14"/>
            <p:cNvSpPr/>
            <p:nvPr/>
          </p:nvSpPr>
          <p:spPr>
            <a:xfrm>
              <a:off x="4736675" y="2938300"/>
              <a:ext cx="153425" cy="335575"/>
            </a:xfrm>
            <a:custGeom>
              <a:rect b="b" l="l" r="r" t="t"/>
              <a:pathLst>
                <a:path extrusionOk="0" fill="none" h="13423" w="6137">
                  <a:moveTo>
                    <a:pt x="6136" y="13423"/>
                  </a:moveTo>
                  <a:lnTo>
                    <a:pt x="2005" y="1"/>
                  </a:lnTo>
                  <a:lnTo>
                    <a:pt x="0" y="13423"/>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4771975" y="2911300"/>
              <a:ext cx="28775" cy="28775"/>
            </a:xfrm>
            <a:custGeom>
              <a:rect b="b" l="l" r="r" t="t"/>
              <a:pathLst>
                <a:path extrusionOk="0" fill="none" h="1151" w="1151">
                  <a:moveTo>
                    <a:pt x="1151" y="575"/>
                  </a:moveTo>
                  <a:cubicBezTo>
                    <a:pt x="1151" y="889"/>
                    <a:pt x="889" y="1151"/>
                    <a:pt x="576" y="1151"/>
                  </a:cubicBezTo>
                  <a:cubicBezTo>
                    <a:pt x="262" y="1151"/>
                    <a:pt x="0" y="889"/>
                    <a:pt x="0" y="575"/>
                  </a:cubicBezTo>
                  <a:cubicBezTo>
                    <a:pt x="0" y="262"/>
                    <a:pt x="262" y="0"/>
                    <a:pt x="576" y="0"/>
                  </a:cubicBezTo>
                  <a:cubicBezTo>
                    <a:pt x="889" y="0"/>
                    <a:pt x="1151" y="262"/>
                    <a:pt x="1151" y="575"/>
                  </a:cubicBezTo>
                  <a:close/>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4786350" y="2818900"/>
              <a:ext cx="900" cy="92425"/>
            </a:xfrm>
            <a:custGeom>
              <a:rect b="b" l="l" r="r" t="t"/>
              <a:pathLst>
                <a:path extrusionOk="0" fill="none" h="3697" w="36">
                  <a:moveTo>
                    <a:pt x="1" y="3696"/>
                  </a:moveTo>
                  <a:lnTo>
                    <a:pt x="36" y="1"/>
                  </a:lnTo>
                </a:path>
              </a:pathLst>
            </a:custGeom>
            <a:noFill/>
            <a:ln cap="rnd" cmpd="sng" w="347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 name="Google Shape;329;p14"/>
          <p:cNvSpPr/>
          <p:nvPr/>
        </p:nvSpPr>
        <p:spPr>
          <a:xfrm>
            <a:off x="8244388" y="4530058"/>
            <a:ext cx="928204" cy="430572"/>
          </a:xfrm>
          <a:custGeom>
            <a:rect b="b" l="l" r="r" t="t"/>
            <a:pathLst>
              <a:path extrusionOk="0" h="5143" w="11087">
                <a:moveTo>
                  <a:pt x="11087" y="0"/>
                </a:moveTo>
                <a:cubicBezTo>
                  <a:pt x="10790" y="35"/>
                  <a:pt x="10511" y="105"/>
                  <a:pt x="10232" y="192"/>
                </a:cubicBezTo>
                <a:cubicBezTo>
                  <a:pt x="8611" y="715"/>
                  <a:pt x="7164" y="1813"/>
                  <a:pt x="6084" y="3121"/>
                </a:cubicBezTo>
                <a:cubicBezTo>
                  <a:pt x="5658" y="2742"/>
                  <a:pt x="5079" y="2596"/>
                  <a:pt x="4490" y="2596"/>
                </a:cubicBezTo>
                <a:cubicBezTo>
                  <a:pt x="4211" y="2596"/>
                  <a:pt x="3930" y="2629"/>
                  <a:pt x="3661" y="2685"/>
                </a:cubicBezTo>
                <a:cubicBezTo>
                  <a:pt x="2179" y="3016"/>
                  <a:pt x="872" y="3887"/>
                  <a:pt x="0" y="5143"/>
                </a:cubicBezTo>
                <a:lnTo>
                  <a:pt x="11087" y="5143"/>
                </a:lnTo>
                <a:lnTo>
                  <a:pt x="11087" y="0"/>
                </a:lnTo>
                <a:close/>
              </a:path>
            </a:pathLst>
          </a:cu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ubtitle and body" type="tx">
  <p:cSld name="TITLE_AND_BODY">
    <p:spTree>
      <p:nvGrpSpPr>
        <p:cNvPr id="3317" name="Shape 3317"/>
        <p:cNvGrpSpPr/>
        <p:nvPr/>
      </p:nvGrpSpPr>
      <p:grpSpPr>
        <a:xfrm>
          <a:off x="0" y="0"/>
          <a:ext cx="0" cy="0"/>
          <a:chOff x="0" y="0"/>
          <a:chExt cx="0" cy="0"/>
        </a:xfrm>
      </p:grpSpPr>
      <p:sp>
        <p:nvSpPr>
          <p:cNvPr id="3318" name="Google Shape;3318;p49"/>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19" name="Google Shape;3319;p49"/>
          <p:cNvSpPr txBox="1"/>
          <p:nvPr>
            <p:ph idx="1" type="body"/>
          </p:nvPr>
        </p:nvSpPr>
        <p:spPr>
          <a:xfrm>
            <a:off x="369000" y="1361400"/>
            <a:ext cx="8406000" cy="3416400"/>
          </a:xfrm>
          <a:prstGeom prst="rect">
            <a:avLst/>
          </a:prstGeom>
          <a:noFill/>
          <a:ln>
            <a:noFill/>
          </a:ln>
        </p:spPr>
        <p:txBody>
          <a:bodyPr anchorCtr="0" anchor="t" bIns="0" lIns="0" spcFirstLastPara="1" rIns="0" wrap="square" tIns="0">
            <a:normAutofit/>
          </a:bodyPr>
          <a:lstStyle>
            <a:lvl1pPr indent="-330200" lvl="0" marL="457200" algn="l">
              <a:lnSpc>
                <a:spcPct val="115000"/>
              </a:lnSpc>
              <a:spcBef>
                <a:spcPts val="0"/>
              </a:spcBef>
              <a:spcAft>
                <a:spcPts val="0"/>
              </a:spcAft>
              <a:buSzPts val="1600"/>
              <a:buChar char="●"/>
              <a:defRPr sz="16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20" name="Google Shape;332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3321" name="Google Shape;3321;p49"/>
          <p:cNvSpPr txBox="1"/>
          <p:nvPr>
            <p:ph idx="2" type="subTitle"/>
          </p:nvPr>
        </p:nvSpPr>
        <p:spPr>
          <a:xfrm>
            <a:off x="374450" y="857600"/>
            <a:ext cx="8406000" cy="4266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000000"/>
              </a:buClr>
              <a:buSzPts val="1600"/>
              <a:buFont typeface="Inter"/>
              <a:buNone/>
              <a:defRPr sz="1600">
                <a:solidFill>
                  <a:srgbClr val="000000"/>
                </a:solidFill>
                <a:latin typeface="Inter"/>
                <a:ea typeface="Inter"/>
                <a:cs typeface="Inter"/>
                <a:sym typeface="Inter"/>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p:cSld name="TITLE_2">
    <p:bg>
      <p:bgPr>
        <a:solidFill>
          <a:schemeClr val="accent1"/>
        </a:solidFill>
      </p:bgPr>
    </p:bg>
    <p:spTree>
      <p:nvGrpSpPr>
        <p:cNvPr id="3322" name="Shape 3322"/>
        <p:cNvGrpSpPr/>
        <p:nvPr/>
      </p:nvGrpSpPr>
      <p:grpSpPr>
        <a:xfrm>
          <a:off x="0" y="0"/>
          <a:ext cx="0" cy="0"/>
          <a:chOff x="0" y="0"/>
          <a:chExt cx="0" cy="0"/>
        </a:xfrm>
      </p:grpSpPr>
      <p:sp>
        <p:nvSpPr>
          <p:cNvPr id="3323" name="Google Shape;3323;p50"/>
          <p:cNvSpPr txBox="1"/>
          <p:nvPr>
            <p:ph type="ctrTitle"/>
          </p:nvPr>
        </p:nvSpPr>
        <p:spPr>
          <a:xfrm>
            <a:off x="369000" y="365700"/>
            <a:ext cx="8463300" cy="392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2"/>
              </a:buClr>
              <a:buSzPts val="3200"/>
              <a:buNone/>
              <a:defRPr sz="3200">
                <a:solidFill>
                  <a:schemeClr val="lt2"/>
                </a:solidFil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24"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25" name="Shape 3325"/>
        <p:cNvGrpSpPr/>
        <p:nvPr/>
      </p:nvGrpSpPr>
      <p:grpSpPr>
        <a:xfrm>
          <a:off x="0" y="0"/>
          <a:ext cx="0" cy="0"/>
          <a:chOff x="0" y="0"/>
          <a:chExt cx="0" cy="0"/>
        </a:xfrm>
      </p:grpSpPr>
      <p:sp>
        <p:nvSpPr>
          <p:cNvPr id="3326" name="Google Shape;3326;p51"/>
          <p:cNvSpPr txBox="1"/>
          <p:nvPr>
            <p:ph type="title"/>
          </p:nvPr>
        </p:nvSpPr>
        <p:spPr>
          <a:xfrm>
            <a:off x="369000" y="365700"/>
            <a:ext cx="8406000" cy="57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27"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66" name="Shape 3366"/>
        <p:cNvGrpSpPr/>
        <p:nvPr/>
      </p:nvGrpSpPr>
      <p:grpSpPr>
        <a:xfrm>
          <a:off x="0" y="0"/>
          <a:ext cx="0" cy="0"/>
          <a:chOff x="0" y="0"/>
          <a:chExt cx="0" cy="0"/>
        </a:xfrm>
      </p:grpSpPr>
      <p:sp>
        <p:nvSpPr>
          <p:cNvPr id="3367" name="Google Shape;3367;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33"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15" Type="http://schemas.openxmlformats.org/officeDocument/2006/relationships/slideLayout" Target="../slideLayouts/slideLayout58.xml"/><Relationship Id="rId17" Type="http://schemas.openxmlformats.org/officeDocument/2006/relationships/theme" Target="../theme/theme4.xml"/></Relationships>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2"/>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713250" y="539500"/>
            <a:ext cx="7717500" cy="572700"/>
          </a:xfrm>
          <a:prstGeom prst="rect">
            <a:avLst/>
          </a:prstGeom>
          <a:noFill/>
          <a:ln>
            <a:noFill/>
          </a:ln>
        </p:spPr>
        <p:txBody>
          <a:bodyPr anchorCtr="0" anchor="t" bIns="91425" lIns="91425" spcFirstLastPara="1" rIns="91425" wrap="square" tIns="91425">
            <a:noAutofit/>
          </a:bodyPr>
          <a:lstStyle>
            <a:lvl1pPr lvl="0"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1pPr>
            <a:lvl2pPr lvl="1"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2pPr>
            <a:lvl3pPr lvl="2"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3pPr>
            <a:lvl4pPr lvl="3"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4pPr>
            <a:lvl5pPr lvl="4"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5pPr>
            <a:lvl6pPr lvl="5"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6pPr>
            <a:lvl7pPr lvl="6"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7pPr>
            <a:lvl8pPr lvl="7"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8pPr>
            <a:lvl9pPr lvl="8" algn="ctr">
              <a:spcBef>
                <a:spcPts val="0"/>
              </a:spcBef>
              <a:spcAft>
                <a:spcPts val="0"/>
              </a:spcAft>
              <a:buClr>
                <a:schemeClr val="accent6"/>
              </a:buClr>
              <a:buSzPts val="3400"/>
              <a:buFont typeface="Prompt"/>
              <a:buNone/>
              <a:defRPr b="1" sz="3400">
                <a:solidFill>
                  <a:schemeClr val="accent6"/>
                </a:solidFill>
                <a:latin typeface="Prompt"/>
                <a:ea typeface="Prompt"/>
                <a:cs typeface="Prompt"/>
                <a:sym typeface="Prompt"/>
              </a:defRPr>
            </a:lvl9pPr>
          </a:lstStyle>
          <a:p/>
        </p:txBody>
      </p:sp>
      <p:sp>
        <p:nvSpPr>
          <p:cNvPr id="52" name="Google Shape;52;p13"/>
          <p:cNvSpPr txBox="1"/>
          <p:nvPr>
            <p:ph idx="1" type="body"/>
          </p:nvPr>
        </p:nvSpPr>
        <p:spPr>
          <a:xfrm>
            <a:off x="713250" y="1187600"/>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1pPr>
            <a:lvl2pPr indent="-317500" lvl="1" marL="9144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2pPr>
            <a:lvl3pPr indent="-317500" lvl="2" marL="13716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3pPr>
            <a:lvl4pPr indent="-317500" lvl="3" marL="18288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4pPr>
            <a:lvl5pPr indent="-317500" lvl="4" marL="22860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5pPr>
            <a:lvl6pPr indent="-317500" lvl="5" marL="27432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6pPr>
            <a:lvl7pPr indent="-317500" lvl="6" marL="32004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7pPr>
            <a:lvl8pPr indent="-317500" lvl="7" marL="36576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8pPr>
            <a:lvl9pPr indent="-317500" lvl="8" marL="4114800">
              <a:lnSpc>
                <a:spcPct val="100000"/>
              </a:lnSpc>
              <a:spcBef>
                <a:spcPts val="0"/>
              </a:spcBef>
              <a:spcAft>
                <a:spcPts val="0"/>
              </a:spcAft>
              <a:buClr>
                <a:schemeClr val="accent6"/>
              </a:buClr>
              <a:buSzPts val="1400"/>
              <a:buFont typeface="Asap"/>
              <a:buChar char="■"/>
              <a:defRPr>
                <a:solidFill>
                  <a:schemeClr val="accent6"/>
                </a:solidFill>
                <a:latin typeface="Asap"/>
                <a:ea typeface="Asap"/>
                <a:cs typeface="Asap"/>
                <a:sym typeface="Asap"/>
              </a:defRPr>
            </a:lvl9pPr>
          </a:lstStyle>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306" name="Shape 3306"/>
        <p:cNvGrpSpPr/>
        <p:nvPr/>
      </p:nvGrpSpPr>
      <p:grpSpPr>
        <a:xfrm>
          <a:off x="0" y="0"/>
          <a:ext cx="0" cy="0"/>
          <a:chOff x="0" y="0"/>
          <a:chExt cx="0" cy="0"/>
        </a:xfrm>
      </p:grpSpPr>
      <p:sp>
        <p:nvSpPr>
          <p:cNvPr id="3307" name="Google Shape;3307;p46"/>
          <p:cNvSpPr txBox="1"/>
          <p:nvPr>
            <p:ph type="title"/>
          </p:nvPr>
        </p:nvSpPr>
        <p:spPr>
          <a:xfrm>
            <a:off x="369000" y="365700"/>
            <a:ext cx="8463300" cy="572700"/>
          </a:xfrm>
          <a:prstGeom prst="rect">
            <a:avLst/>
          </a:prstGeom>
          <a:noFill/>
          <a:ln>
            <a:noFill/>
          </a:ln>
        </p:spPr>
        <p:txBody>
          <a:bodyPr anchorCtr="0" anchor="t" bIns="0" lIns="0" spcFirstLastPara="1" rIns="0" wrap="square" tIns="0">
            <a:noAutofit/>
          </a:bodyPr>
          <a:lstStyle>
            <a:lvl1pPr lvl="0" marR="0" algn="l">
              <a:lnSpc>
                <a:spcPct val="100000"/>
              </a:lnSpc>
              <a:spcBef>
                <a:spcPts val="0"/>
              </a:spcBef>
              <a:spcAft>
                <a:spcPts val="0"/>
              </a:spcAft>
              <a:buClr>
                <a:schemeClr val="dk1"/>
              </a:buClr>
              <a:buSzPts val="2800"/>
              <a:buFont typeface="Bitter"/>
              <a:buNone/>
              <a:defRPr b="1" i="0" sz="2800" u="none" cap="none" strike="noStrike">
                <a:solidFill>
                  <a:schemeClr val="dk1"/>
                </a:solidFill>
                <a:latin typeface="Bitter"/>
                <a:ea typeface="Bitter"/>
                <a:cs typeface="Bitter"/>
                <a:sym typeface="Bitter"/>
              </a:defRPr>
            </a:lvl1pPr>
            <a:lvl2pPr lvl="1"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3308" name="Google Shape;3308;p46"/>
          <p:cNvSpPr txBox="1"/>
          <p:nvPr>
            <p:ph idx="1" type="body"/>
          </p:nvPr>
        </p:nvSpPr>
        <p:spPr>
          <a:xfrm>
            <a:off x="369000" y="1361400"/>
            <a:ext cx="8406000" cy="3416400"/>
          </a:xfrm>
          <a:prstGeom prst="rect">
            <a:avLst/>
          </a:prstGeom>
          <a:noFill/>
          <a:ln>
            <a:noFill/>
          </a:ln>
        </p:spPr>
        <p:txBody>
          <a:bodyPr anchorCtr="0" anchor="t" bIns="0" lIns="0" spcFirstLastPara="1" rIns="0" wrap="square" tIns="0">
            <a:normAutofit/>
          </a:bodyPr>
          <a:lstStyle>
            <a:lvl1pPr indent="-330200" lvl="0" marL="457200" marR="0" algn="l">
              <a:lnSpc>
                <a:spcPct val="115000"/>
              </a:lnSpc>
              <a:spcBef>
                <a:spcPts val="0"/>
              </a:spcBef>
              <a:spcAft>
                <a:spcPts val="0"/>
              </a:spcAft>
              <a:buClr>
                <a:schemeClr val="dk1"/>
              </a:buClr>
              <a:buSzPts val="1600"/>
              <a:buFont typeface="Inter"/>
              <a:buChar char="●"/>
              <a:defRPr b="0" i="0" sz="1600" u="none" cap="none" strike="noStrike">
                <a:solidFill>
                  <a:schemeClr val="dk1"/>
                </a:solidFill>
                <a:latin typeface="Inter"/>
                <a:ea typeface="Inter"/>
                <a:cs typeface="Inter"/>
                <a:sym typeface="Inter"/>
              </a:defRPr>
            </a:lvl1pPr>
            <a:lvl2pPr indent="-304800" lvl="1" marL="9144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2pPr>
            <a:lvl3pPr indent="-304800" lvl="2" marL="13716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3pPr>
            <a:lvl4pPr indent="-304800" lvl="3" marL="18288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4pPr>
            <a:lvl5pPr indent="-304800" lvl="4" marL="22860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5pPr>
            <a:lvl6pPr indent="-304800" lvl="5" marL="27432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6pPr>
            <a:lvl7pPr indent="-304800" lvl="6" marL="32004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7pPr>
            <a:lvl8pPr indent="-304800" lvl="7" marL="36576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8pPr>
            <a:lvl9pPr indent="-304800" lvl="8" marL="4114800" marR="0" algn="l">
              <a:lnSpc>
                <a:spcPct val="115000"/>
              </a:lnSpc>
              <a:spcBef>
                <a:spcPts val="0"/>
              </a:spcBef>
              <a:spcAft>
                <a:spcPts val="0"/>
              </a:spcAft>
              <a:buClr>
                <a:schemeClr val="dk1"/>
              </a:buClr>
              <a:buSzPts val="1200"/>
              <a:buFont typeface="Inter"/>
              <a:buChar char="■"/>
              <a:defRPr b="0" i="0" sz="1200" u="none" cap="none" strike="noStrike">
                <a:solidFill>
                  <a:schemeClr val="dk1"/>
                </a:solidFill>
                <a:latin typeface="Inter"/>
                <a:ea typeface="Inter"/>
                <a:cs typeface="Inter"/>
                <a:sym typeface="Inter"/>
              </a:defRPr>
            </a:lvl9pPr>
          </a:lstStyle>
          <a:p/>
        </p:txBody>
      </p:sp>
      <p:sp>
        <p:nvSpPr>
          <p:cNvPr id="3309" name="Google Shape;3309;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 accent1="accent1" accent2="accent2" accent3="accent3" accent4="accent4" accent5="accent5" accent6="accent6" bg1="lt1" bg2="dk2" tx1="dk1" tx2="lt2" folHlink="folHlink" hlink="hlink"/>
  <p:sldLayoutIdLst>
    <p:sldLayoutId id="2147483693" r:id="rId3"/>
    <p:sldLayoutId id="2147483694" r:id="rId4"/>
    <p:sldLayoutId id="2147483695" r:id="rId5"/>
    <p:sldLayoutId id="2147483705"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32">
          <p15:clr>
            <a:srgbClr val="EA4335"/>
          </p15:clr>
        </p15:guide>
        <p15:guide id="2" orient="horz" pos="230">
          <p15:clr>
            <a:srgbClr val="EA4335"/>
          </p15:clr>
        </p15:guide>
        <p15:guide id="3" orient="horz" pos="3010">
          <p15:clr>
            <a:srgbClr val="EA4335"/>
          </p15:clr>
        </p15:guide>
        <p15:guide id="4" pos="552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6" name="Shape 3556"/>
        <p:cNvGrpSpPr/>
        <p:nvPr/>
      </p:nvGrpSpPr>
      <p:grpSpPr>
        <a:xfrm>
          <a:off x="0" y="0"/>
          <a:ext cx="0" cy="0"/>
          <a:chOff x="0" y="0"/>
          <a:chExt cx="0" cy="0"/>
        </a:xfrm>
      </p:grpSpPr>
      <p:sp>
        <p:nvSpPr>
          <p:cNvPr id="3557" name="Google Shape;3557;p106"/>
          <p:cNvSpPr txBox="1"/>
          <p:nvPr>
            <p:ph type="ctrTitle"/>
          </p:nvPr>
        </p:nvSpPr>
        <p:spPr>
          <a:xfrm>
            <a:off x="1181300" y="707825"/>
            <a:ext cx="3713700" cy="252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s-CL" sz="3000"/>
              <a:t>Full Stack Testing moderno con IA y DevSecOps</a:t>
            </a:r>
            <a:endParaRPr/>
          </a:p>
        </p:txBody>
      </p:sp>
      <p:sp>
        <p:nvSpPr>
          <p:cNvPr id="3558" name="Google Shape;3558;p106"/>
          <p:cNvSpPr txBox="1"/>
          <p:nvPr>
            <p:ph idx="1" type="subTitle"/>
          </p:nvPr>
        </p:nvSpPr>
        <p:spPr>
          <a:xfrm>
            <a:off x="1243000" y="3154680"/>
            <a:ext cx="3651900" cy="68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CL" sz="1200"/>
              <a:t>Clase práctica · IIC3143 Desarrollo de Software</a:t>
            </a:r>
            <a:endParaRPr/>
          </a:p>
          <a:p>
            <a:pPr indent="0" lvl="0" marL="0" rtl="0" algn="l">
              <a:spcBef>
                <a:spcPts val="0"/>
              </a:spcBef>
              <a:spcAft>
                <a:spcPts val="0"/>
              </a:spcAft>
              <a:buNone/>
            </a:pPr>
            <a:r>
              <a:rPr lang="es-CL" sz="1200"/>
              <a:t>Gonzalo Martínez · gonzalo.martinez@uc.cl</a:t>
            </a:r>
            <a:endParaRPr/>
          </a:p>
        </p:txBody>
      </p:sp>
      <p:grpSp>
        <p:nvGrpSpPr>
          <p:cNvPr id="3559" name="Google Shape;3559;p106"/>
          <p:cNvGrpSpPr/>
          <p:nvPr/>
        </p:nvGrpSpPr>
        <p:grpSpPr>
          <a:xfrm>
            <a:off x="4895009" y="2385100"/>
            <a:ext cx="4080950" cy="3063373"/>
            <a:chOff x="408500" y="2277325"/>
            <a:chExt cx="2731925" cy="2050725"/>
          </a:xfrm>
        </p:grpSpPr>
        <p:sp>
          <p:nvSpPr>
            <p:cNvPr id="3560" name="Google Shape;3560;p106"/>
            <p:cNvSpPr/>
            <p:nvPr/>
          </p:nvSpPr>
          <p:spPr>
            <a:xfrm>
              <a:off x="1266125" y="2953575"/>
              <a:ext cx="1106475" cy="1013475"/>
            </a:xfrm>
            <a:custGeom>
              <a:rect b="b" l="l" r="r" t="t"/>
              <a:pathLst>
                <a:path extrusionOk="0" h="40539" w="44259">
                  <a:moveTo>
                    <a:pt x="31655" y="0"/>
                  </a:moveTo>
                  <a:lnTo>
                    <a:pt x="0" y="610"/>
                  </a:lnTo>
                  <a:cubicBezTo>
                    <a:pt x="0" y="610"/>
                    <a:pt x="5526" y="4480"/>
                    <a:pt x="7461" y="12585"/>
                  </a:cubicBezTo>
                  <a:cubicBezTo>
                    <a:pt x="9413" y="20708"/>
                    <a:pt x="12620" y="40423"/>
                    <a:pt x="12620" y="40423"/>
                  </a:cubicBezTo>
                  <a:cubicBezTo>
                    <a:pt x="12620" y="40423"/>
                    <a:pt x="14792" y="40538"/>
                    <a:pt x="18097" y="40538"/>
                  </a:cubicBezTo>
                  <a:cubicBezTo>
                    <a:pt x="24921" y="40538"/>
                    <a:pt x="36576" y="40048"/>
                    <a:pt x="43927" y="37041"/>
                  </a:cubicBezTo>
                  <a:cubicBezTo>
                    <a:pt x="43927" y="37041"/>
                    <a:pt x="44258" y="22312"/>
                    <a:pt x="40789" y="14712"/>
                  </a:cubicBezTo>
                  <a:cubicBezTo>
                    <a:pt x="37320" y="7095"/>
                    <a:pt x="31655" y="0"/>
                    <a:pt x="3165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106"/>
            <p:cNvSpPr/>
            <p:nvPr/>
          </p:nvSpPr>
          <p:spPr>
            <a:xfrm>
              <a:off x="1408175" y="2983200"/>
              <a:ext cx="899050" cy="900775"/>
            </a:xfrm>
            <a:custGeom>
              <a:rect b="b" l="l" r="r" t="t"/>
              <a:pathLst>
                <a:path extrusionOk="0" fill="none" h="36031" w="35962">
                  <a:moveTo>
                    <a:pt x="1" y="332"/>
                  </a:moveTo>
                  <a:cubicBezTo>
                    <a:pt x="1" y="332"/>
                    <a:pt x="5335" y="8611"/>
                    <a:pt x="7287" y="16072"/>
                  </a:cubicBezTo>
                  <a:cubicBezTo>
                    <a:pt x="9222" y="23515"/>
                    <a:pt x="10756" y="36031"/>
                    <a:pt x="10756" y="36031"/>
                  </a:cubicBezTo>
                  <a:lnTo>
                    <a:pt x="35961" y="33416"/>
                  </a:lnTo>
                  <a:cubicBezTo>
                    <a:pt x="35961" y="33416"/>
                    <a:pt x="33172" y="14294"/>
                    <a:pt x="30802" y="9047"/>
                  </a:cubicBezTo>
                  <a:cubicBezTo>
                    <a:pt x="29338" y="5840"/>
                    <a:pt x="27525" y="2789"/>
                    <a:pt x="25381" y="0"/>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106"/>
            <p:cNvSpPr/>
            <p:nvPr/>
          </p:nvSpPr>
          <p:spPr>
            <a:xfrm>
              <a:off x="1459175" y="2974475"/>
              <a:ext cx="268450" cy="915600"/>
            </a:xfrm>
            <a:custGeom>
              <a:rect b="b" l="l" r="r" t="t"/>
              <a:pathLst>
                <a:path extrusionOk="0" fill="none" h="36624" w="10738">
                  <a:moveTo>
                    <a:pt x="0" y="1"/>
                  </a:moveTo>
                  <a:cubicBezTo>
                    <a:pt x="0" y="1"/>
                    <a:pt x="5840" y="9902"/>
                    <a:pt x="7356" y="16491"/>
                  </a:cubicBezTo>
                  <a:cubicBezTo>
                    <a:pt x="8664" y="22191"/>
                    <a:pt x="10738" y="36624"/>
                    <a:pt x="10738" y="36624"/>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106"/>
            <p:cNvSpPr/>
            <p:nvPr/>
          </p:nvSpPr>
          <p:spPr>
            <a:xfrm>
              <a:off x="1992125" y="2968375"/>
              <a:ext cx="272825" cy="873325"/>
            </a:xfrm>
            <a:custGeom>
              <a:rect b="b" l="l" r="r" t="t"/>
              <a:pathLst>
                <a:path extrusionOk="0" fill="none" h="34933" w="10913">
                  <a:moveTo>
                    <a:pt x="1" y="1"/>
                  </a:moveTo>
                  <a:cubicBezTo>
                    <a:pt x="1" y="1"/>
                    <a:pt x="6520" y="9222"/>
                    <a:pt x="7862" y="16822"/>
                  </a:cubicBezTo>
                  <a:cubicBezTo>
                    <a:pt x="9222" y="24439"/>
                    <a:pt x="10913" y="34933"/>
                    <a:pt x="10913" y="34933"/>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106"/>
            <p:cNvSpPr/>
            <p:nvPr/>
          </p:nvSpPr>
          <p:spPr>
            <a:xfrm>
              <a:off x="1402075" y="3012825"/>
              <a:ext cx="687250" cy="29225"/>
            </a:xfrm>
            <a:custGeom>
              <a:rect b="b" l="l" r="r" t="t"/>
              <a:pathLst>
                <a:path extrusionOk="0" fill="none" h="1169" w="27490">
                  <a:moveTo>
                    <a:pt x="1" y="1169"/>
                  </a:moveTo>
                  <a:lnTo>
                    <a:pt x="27490" y="1"/>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106"/>
            <p:cNvSpPr/>
            <p:nvPr/>
          </p:nvSpPr>
          <p:spPr>
            <a:xfrm>
              <a:off x="1634350" y="3771525"/>
              <a:ext cx="691600" cy="72350"/>
            </a:xfrm>
            <a:custGeom>
              <a:rect b="b" l="l" r="r" t="t"/>
              <a:pathLst>
                <a:path extrusionOk="0" fill="none" h="2894" w="27664">
                  <a:moveTo>
                    <a:pt x="1" y="2894"/>
                  </a:moveTo>
                  <a:lnTo>
                    <a:pt x="27664"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106"/>
            <p:cNvSpPr/>
            <p:nvPr/>
          </p:nvSpPr>
          <p:spPr>
            <a:xfrm>
              <a:off x="1543700" y="3046375"/>
              <a:ext cx="359550" cy="310750"/>
            </a:xfrm>
            <a:custGeom>
              <a:rect b="b" l="l" r="r" t="t"/>
              <a:pathLst>
                <a:path extrusionOk="0" fill="none" h="12430" w="14382">
                  <a:moveTo>
                    <a:pt x="1" y="419"/>
                  </a:moveTo>
                  <a:cubicBezTo>
                    <a:pt x="1" y="419"/>
                    <a:pt x="3714" y="7531"/>
                    <a:pt x="4899" y="12429"/>
                  </a:cubicBezTo>
                  <a:lnTo>
                    <a:pt x="14382" y="11506"/>
                  </a:lnTo>
                  <a:lnTo>
                    <a:pt x="1023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106"/>
            <p:cNvSpPr/>
            <p:nvPr/>
          </p:nvSpPr>
          <p:spPr>
            <a:xfrm>
              <a:off x="1680100" y="3095625"/>
              <a:ext cx="188725" cy="153850"/>
            </a:xfrm>
            <a:custGeom>
              <a:rect b="b" l="l" r="r" t="t"/>
              <a:pathLst>
                <a:path extrusionOk="0" fill="none" h="6154" w="7549">
                  <a:moveTo>
                    <a:pt x="5457" y="1"/>
                  </a:moveTo>
                  <a:lnTo>
                    <a:pt x="1" y="436"/>
                  </a:lnTo>
                  <a:lnTo>
                    <a:pt x="2337" y="6154"/>
                  </a:lnTo>
                  <a:lnTo>
                    <a:pt x="7549" y="5718"/>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106"/>
            <p:cNvSpPr/>
            <p:nvPr/>
          </p:nvSpPr>
          <p:spPr>
            <a:xfrm>
              <a:off x="1776850" y="3110875"/>
              <a:ext cx="50575" cy="53625"/>
            </a:xfrm>
            <a:custGeom>
              <a:rect b="b" l="l" r="r" t="t"/>
              <a:pathLst>
                <a:path extrusionOk="0" fill="none" h="2145" w="2023">
                  <a:moveTo>
                    <a:pt x="1" y="123"/>
                  </a:moveTo>
                  <a:lnTo>
                    <a:pt x="750" y="2145"/>
                  </a:lnTo>
                  <a:lnTo>
                    <a:pt x="2023" y="1970"/>
                  </a:lnTo>
                  <a:lnTo>
                    <a:pt x="1291"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106"/>
            <p:cNvSpPr/>
            <p:nvPr/>
          </p:nvSpPr>
          <p:spPr>
            <a:xfrm>
              <a:off x="1799075" y="3174500"/>
              <a:ext cx="50575" cy="53625"/>
            </a:xfrm>
            <a:custGeom>
              <a:rect b="b" l="l" r="r" t="t"/>
              <a:pathLst>
                <a:path extrusionOk="0" fill="none" h="2145" w="2023">
                  <a:moveTo>
                    <a:pt x="1" y="123"/>
                  </a:moveTo>
                  <a:lnTo>
                    <a:pt x="768" y="2145"/>
                  </a:lnTo>
                  <a:lnTo>
                    <a:pt x="2023" y="1970"/>
                  </a:lnTo>
                  <a:lnTo>
                    <a:pt x="1308"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106"/>
            <p:cNvSpPr/>
            <p:nvPr/>
          </p:nvSpPr>
          <p:spPr>
            <a:xfrm>
              <a:off x="1752875" y="3100425"/>
              <a:ext cx="53200" cy="143400"/>
            </a:xfrm>
            <a:custGeom>
              <a:rect b="b" l="l" r="r" t="t"/>
              <a:pathLst>
                <a:path extrusionOk="0" fill="none" h="5736" w="2128">
                  <a:moveTo>
                    <a:pt x="1" y="0"/>
                  </a:moveTo>
                  <a:lnTo>
                    <a:pt x="2128" y="5735"/>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106"/>
            <p:cNvSpPr/>
            <p:nvPr/>
          </p:nvSpPr>
          <p:spPr>
            <a:xfrm>
              <a:off x="1595125" y="3141825"/>
              <a:ext cx="72375" cy="106775"/>
            </a:xfrm>
            <a:custGeom>
              <a:rect b="b" l="l" r="r" t="t"/>
              <a:pathLst>
                <a:path extrusionOk="0" fill="none" h="4271" w="2895">
                  <a:moveTo>
                    <a:pt x="1" y="53"/>
                  </a:moveTo>
                  <a:lnTo>
                    <a:pt x="1744" y="4271"/>
                  </a:lnTo>
                  <a:lnTo>
                    <a:pt x="2894" y="4149"/>
                  </a:lnTo>
                  <a:lnTo>
                    <a:pt x="1204" y="0"/>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106"/>
            <p:cNvSpPr/>
            <p:nvPr/>
          </p:nvSpPr>
          <p:spPr>
            <a:xfrm>
              <a:off x="1820425" y="3038100"/>
              <a:ext cx="326000" cy="292875"/>
            </a:xfrm>
            <a:custGeom>
              <a:rect b="b" l="l" r="r" t="t"/>
              <a:pathLst>
                <a:path extrusionOk="0" fill="none" h="11715" w="13040">
                  <a:moveTo>
                    <a:pt x="1" y="297"/>
                  </a:moveTo>
                  <a:lnTo>
                    <a:pt x="4045" y="11714"/>
                  </a:lnTo>
                  <a:lnTo>
                    <a:pt x="13039" y="10529"/>
                  </a:lnTo>
                  <a:cubicBezTo>
                    <a:pt x="13039" y="10529"/>
                    <a:pt x="11052" y="5701"/>
                    <a:pt x="9954" y="3557"/>
                  </a:cubicBezTo>
                  <a:cubicBezTo>
                    <a:pt x="8856" y="1413"/>
                    <a:pt x="8054" y="1"/>
                    <a:pt x="8054"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106"/>
            <p:cNvSpPr/>
            <p:nvPr/>
          </p:nvSpPr>
          <p:spPr>
            <a:xfrm>
              <a:off x="1938100" y="3042025"/>
              <a:ext cx="123775" cy="85875"/>
            </a:xfrm>
            <a:custGeom>
              <a:rect b="b" l="l" r="r" t="t"/>
              <a:pathLst>
                <a:path extrusionOk="0" fill="none" h="3435" w="4951">
                  <a:moveTo>
                    <a:pt x="0" y="1"/>
                  </a:moveTo>
                  <a:lnTo>
                    <a:pt x="1726" y="3435"/>
                  </a:lnTo>
                  <a:lnTo>
                    <a:pt x="4951" y="2929"/>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4" name="Google Shape;3574;p106"/>
            <p:cNvSpPr/>
            <p:nvPr/>
          </p:nvSpPr>
          <p:spPr>
            <a:xfrm>
              <a:off x="1912375" y="3044200"/>
              <a:ext cx="119875" cy="271950"/>
            </a:xfrm>
            <a:custGeom>
              <a:rect b="b" l="l" r="r" t="t"/>
              <a:pathLst>
                <a:path extrusionOk="0" fill="none" h="10878" w="4795">
                  <a:moveTo>
                    <a:pt x="1" y="1"/>
                  </a:moveTo>
                  <a:cubicBezTo>
                    <a:pt x="1" y="1"/>
                    <a:pt x="4027" y="8681"/>
                    <a:pt x="4794" y="10878"/>
                  </a:cubicBez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5" name="Google Shape;3575;p106"/>
            <p:cNvSpPr/>
            <p:nvPr/>
          </p:nvSpPr>
          <p:spPr>
            <a:xfrm>
              <a:off x="1879700" y="3190200"/>
              <a:ext cx="99375" cy="12650"/>
            </a:xfrm>
            <a:custGeom>
              <a:rect b="b" l="l" r="r" t="t"/>
              <a:pathLst>
                <a:path extrusionOk="0" fill="none" h="506" w="3975">
                  <a:moveTo>
                    <a:pt x="0" y="506"/>
                  </a:moveTo>
                  <a:lnTo>
                    <a:pt x="3975" y="0"/>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6" name="Google Shape;3576;p106"/>
            <p:cNvSpPr/>
            <p:nvPr/>
          </p:nvSpPr>
          <p:spPr>
            <a:xfrm>
              <a:off x="1673575" y="3363625"/>
              <a:ext cx="342550" cy="441050"/>
            </a:xfrm>
            <a:custGeom>
              <a:rect b="b" l="l" r="r" t="t"/>
              <a:pathLst>
                <a:path extrusionOk="0" fill="none" h="17642" w="13702">
                  <a:moveTo>
                    <a:pt x="0" y="698"/>
                  </a:moveTo>
                  <a:cubicBezTo>
                    <a:pt x="0" y="698"/>
                    <a:pt x="2476" y="11993"/>
                    <a:pt x="2859" y="17641"/>
                  </a:cubicBezTo>
                  <a:lnTo>
                    <a:pt x="13701" y="16438"/>
                  </a:lnTo>
                  <a:lnTo>
                    <a:pt x="11749" y="3749"/>
                  </a:lnTo>
                  <a:lnTo>
                    <a:pt x="9204" y="4062"/>
                  </a:lnTo>
                  <a:lnTo>
                    <a:pt x="8193" y="1"/>
                  </a:ln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7" name="Google Shape;3577;p106"/>
            <p:cNvSpPr/>
            <p:nvPr/>
          </p:nvSpPr>
          <p:spPr>
            <a:xfrm>
              <a:off x="1927625" y="3323975"/>
              <a:ext cx="298100" cy="439300"/>
            </a:xfrm>
            <a:custGeom>
              <a:rect b="b" l="l" r="r" t="t"/>
              <a:pathLst>
                <a:path extrusionOk="0" fill="none" h="17572" w="11924">
                  <a:moveTo>
                    <a:pt x="1" y="1273"/>
                  </a:moveTo>
                  <a:lnTo>
                    <a:pt x="820" y="4376"/>
                  </a:lnTo>
                  <a:lnTo>
                    <a:pt x="2964" y="4184"/>
                  </a:lnTo>
                  <a:lnTo>
                    <a:pt x="5073" y="17571"/>
                  </a:lnTo>
                  <a:lnTo>
                    <a:pt x="11924" y="16874"/>
                  </a:lnTo>
                  <a:cubicBezTo>
                    <a:pt x="11924" y="16874"/>
                    <a:pt x="10338" y="3940"/>
                    <a:pt x="8751" y="1"/>
                  </a:cubicBezTo>
                  <a:close/>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106"/>
            <p:cNvSpPr/>
            <p:nvPr/>
          </p:nvSpPr>
          <p:spPr>
            <a:xfrm>
              <a:off x="1678375" y="3395450"/>
              <a:ext cx="168225" cy="115500"/>
            </a:xfrm>
            <a:custGeom>
              <a:rect b="b" l="l" r="r" t="t"/>
              <a:pathLst>
                <a:path extrusionOk="0" fill="none" h="4620" w="6729">
                  <a:moveTo>
                    <a:pt x="959" y="4620"/>
                  </a:moveTo>
                  <a:lnTo>
                    <a:pt x="6729" y="4062"/>
                  </a:lnTo>
                  <a:lnTo>
                    <a:pt x="5840" y="0"/>
                  </a:lnTo>
                  <a:lnTo>
                    <a:pt x="0" y="506"/>
                  </a:lnTo>
                </a:path>
              </a:pathLst>
            </a:custGeom>
            <a:noFill/>
            <a:ln cap="rnd" cmpd="sng" w="17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9" name="Google Shape;3579;p106"/>
            <p:cNvSpPr/>
            <p:nvPr/>
          </p:nvSpPr>
          <p:spPr>
            <a:xfrm>
              <a:off x="1367650" y="3159375"/>
              <a:ext cx="211825" cy="348100"/>
            </a:xfrm>
            <a:custGeom>
              <a:rect b="b" l="l" r="r" t="t"/>
              <a:pathLst>
                <a:path extrusionOk="0" h="13924" w="8473">
                  <a:moveTo>
                    <a:pt x="5785" y="0"/>
                  </a:moveTo>
                  <a:cubicBezTo>
                    <a:pt x="5752" y="0"/>
                    <a:pt x="5718" y="4"/>
                    <a:pt x="5683" y="13"/>
                  </a:cubicBezTo>
                  <a:cubicBezTo>
                    <a:pt x="4570" y="309"/>
                    <a:pt x="4689" y="4911"/>
                    <a:pt x="3806" y="4911"/>
                  </a:cubicBezTo>
                  <a:cubicBezTo>
                    <a:pt x="3804" y="4911"/>
                    <a:pt x="3802" y="4911"/>
                    <a:pt x="3801" y="4911"/>
                  </a:cubicBezTo>
                  <a:cubicBezTo>
                    <a:pt x="2912" y="4876"/>
                    <a:pt x="2929" y="2697"/>
                    <a:pt x="2929" y="2697"/>
                  </a:cubicBezTo>
                  <a:lnTo>
                    <a:pt x="2162" y="553"/>
                  </a:lnTo>
                  <a:cubicBezTo>
                    <a:pt x="1622" y="1286"/>
                    <a:pt x="1151" y="2087"/>
                    <a:pt x="750" y="2907"/>
                  </a:cubicBezTo>
                  <a:cubicBezTo>
                    <a:pt x="1" y="4423"/>
                    <a:pt x="314" y="5120"/>
                    <a:pt x="158" y="6079"/>
                  </a:cubicBezTo>
                  <a:cubicBezTo>
                    <a:pt x="53" y="6619"/>
                    <a:pt x="140" y="7177"/>
                    <a:pt x="402" y="7665"/>
                  </a:cubicBezTo>
                  <a:cubicBezTo>
                    <a:pt x="471" y="8049"/>
                    <a:pt x="489" y="8450"/>
                    <a:pt x="437" y="8833"/>
                  </a:cubicBezTo>
                  <a:cubicBezTo>
                    <a:pt x="367" y="9600"/>
                    <a:pt x="1709" y="10646"/>
                    <a:pt x="2877" y="11779"/>
                  </a:cubicBezTo>
                  <a:cubicBezTo>
                    <a:pt x="3574" y="12459"/>
                    <a:pt x="4237" y="13174"/>
                    <a:pt x="4847" y="13923"/>
                  </a:cubicBezTo>
                  <a:lnTo>
                    <a:pt x="8472" y="10106"/>
                  </a:lnTo>
                  <a:cubicBezTo>
                    <a:pt x="8472" y="10106"/>
                    <a:pt x="7705" y="6619"/>
                    <a:pt x="7479" y="5312"/>
                  </a:cubicBezTo>
                  <a:cubicBezTo>
                    <a:pt x="7276" y="4063"/>
                    <a:pt x="6812" y="0"/>
                    <a:pt x="5785" y="0"/>
                  </a:cubicBezTo>
                  <a:close/>
                </a:path>
              </a:pathLst>
            </a:custGeom>
            <a:solidFill>
              <a:schemeClr val="lt2"/>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0" name="Google Shape;3580;p106"/>
            <p:cNvSpPr/>
            <p:nvPr/>
          </p:nvSpPr>
          <p:spPr>
            <a:xfrm>
              <a:off x="1488800" y="3412450"/>
              <a:ext cx="676350" cy="507550"/>
            </a:xfrm>
            <a:custGeom>
              <a:rect b="b" l="l" r="r" t="t"/>
              <a:pathLst>
                <a:path extrusionOk="0" h="20302" w="27054">
                  <a:moveTo>
                    <a:pt x="3626" y="0"/>
                  </a:moveTo>
                  <a:lnTo>
                    <a:pt x="1" y="3800"/>
                  </a:lnTo>
                  <a:cubicBezTo>
                    <a:pt x="1" y="3800"/>
                    <a:pt x="8173" y="20301"/>
                    <a:pt x="18573" y="20301"/>
                  </a:cubicBezTo>
                  <a:cubicBezTo>
                    <a:pt x="19168" y="20301"/>
                    <a:pt x="19770" y="20247"/>
                    <a:pt x="20378" y="20133"/>
                  </a:cubicBezTo>
                  <a:lnTo>
                    <a:pt x="27054" y="13858"/>
                  </a:lnTo>
                  <a:lnTo>
                    <a:pt x="21894" y="1778"/>
                  </a:lnTo>
                  <a:lnTo>
                    <a:pt x="15724" y="9971"/>
                  </a:lnTo>
                  <a:lnTo>
                    <a:pt x="3626" y="0"/>
                  </a:ln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1" name="Google Shape;3581;p106"/>
            <p:cNvSpPr/>
            <p:nvPr/>
          </p:nvSpPr>
          <p:spPr>
            <a:xfrm>
              <a:off x="2922075" y="3826875"/>
              <a:ext cx="180000" cy="213550"/>
            </a:xfrm>
            <a:custGeom>
              <a:rect b="b" l="l" r="r" t="t"/>
              <a:pathLst>
                <a:path extrusionOk="0" h="8542" w="7200">
                  <a:moveTo>
                    <a:pt x="1" y="0"/>
                  </a:moveTo>
                  <a:lnTo>
                    <a:pt x="2459" y="8541"/>
                  </a:lnTo>
                  <a:cubicBezTo>
                    <a:pt x="2459" y="8541"/>
                    <a:pt x="6607" y="6258"/>
                    <a:pt x="7200"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2" name="Google Shape;3582;p106"/>
            <p:cNvSpPr/>
            <p:nvPr/>
          </p:nvSpPr>
          <p:spPr>
            <a:xfrm>
              <a:off x="2958250" y="3174950"/>
              <a:ext cx="182175" cy="683325"/>
            </a:xfrm>
            <a:custGeom>
              <a:rect b="b" l="l" r="r" t="t"/>
              <a:pathLst>
                <a:path extrusionOk="0" h="27333" w="7287">
                  <a:moveTo>
                    <a:pt x="1081" y="0"/>
                  </a:moveTo>
                  <a:lnTo>
                    <a:pt x="1" y="27332"/>
                  </a:lnTo>
                  <a:lnTo>
                    <a:pt x="7287" y="26321"/>
                  </a:lnTo>
                  <a:cubicBezTo>
                    <a:pt x="7287" y="26321"/>
                    <a:pt x="6938" y="19140"/>
                    <a:pt x="5753" y="11278"/>
                  </a:cubicBezTo>
                  <a:cubicBezTo>
                    <a:pt x="4568" y="3399"/>
                    <a:pt x="1081" y="0"/>
                    <a:pt x="1081"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106"/>
            <p:cNvSpPr/>
            <p:nvPr/>
          </p:nvSpPr>
          <p:spPr>
            <a:xfrm>
              <a:off x="1829150" y="3223300"/>
              <a:ext cx="513800" cy="711225"/>
            </a:xfrm>
            <a:custGeom>
              <a:rect b="b" l="l" r="r" t="t"/>
              <a:pathLst>
                <a:path extrusionOk="0" h="28449" w="20552">
                  <a:moveTo>
                    <a:pt x="15218" y="1"/>
                  </a:moveTo>
                  <a:cubicBezTo>
                    <a:pt x="15061" y="18"/>
                    <a:pt x="14922" y="53"/>
                    <a:pt x="14782" y="106"/>
                  </a:cubicBezTo>
                  <a:cubicBezTo>
                    <a:pt x="10372" y="1552"/>
                    <a:pt x="0" y="15515"/>
                    <a:pt x="0" y="15515"/>
                  </a:cubicBezTo>
                  <a:lnTo>
                    <a:pt x="6433" y="28449"/>
                  </a:lnTo>
                  <a:lnTo>
                    <a:pt x="13963" y="22539"/>
                  </a:lnTo>
                  <a:lnTo>
                    <a:pt x="14015" y="22853"/>
                  </a:lnTo>
                  <a:lnTo>
                    <a:pt x="14608" y="26984"/>
                  </a:lnTo>
                  <a:lnTo>
                    <a:pt x="14643" y="27176"/>
                  </a:lnTo>
                  <a:lnTo>
                    <a:pt x="15322" y="27438"/>
                  </a:lnTo>
                  <a:lnTo>
                    <a:pt x="15532" y="27141"/>
                  </a:lnTo>
                  <a:lnTo>
                    <a:pt x="16978" y="25241"/>
                  </a:lnTo>
                  <a:lnTo>
                    <a:pt x="18687" y="23045"/>
                  </a:lnTo>
                  <a:lnTo>
                    <a:pt x="20552" y="12377"/>
                  </a:lnTo>
                  <a:lnTo>
                    <a:pt x="15218"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4" name="Google Shape;3584;p106"/>
            <p:cNvSpPr/>
            <p:nvPr/>
          </p:nvSpPr>
          <p:spPr>
            <a:xfrm>
              <a:off x="2195200" y="3084000"/>
              <a:ext cx="856325" cy="1210050"/>
            </a:xfrm>
            <a:custGeom>
              <a:rect b="b" l="l" r="r" t="t"/>
              <a:pathLst>
                <a:path extrusionOk="0" h="48402" w="34253">
                  <a:moveTo>
                    <a:pt x="16913" y="0"/>
                  </a:moveTo>
                  <a:cubicBezTo>
                    <a:pt x="15173" y="0"/>
                    <a:pt x="13303" y="109"/>
                    <a:pt x="11313" y="361"/>
                  </a:cubicBezTo>
                  <a:cubicBezTo>
                    <a:pt x="11313" y="361"/>
                    <a:pt x="3278" y="2801"/>
                    <a:pt x="105" y="5556"/>
                  </a:cubicBezTo>
                  <a:cubicBezTo>
                    <a:pt x="105" y="5556"/>
                    <a:pt x="123" y="5590"/>
                    <a:pt x="140" y="5660"/>
                  </a:cubicBezTo>
                  <a:cubicBezTo>
                    <a:pt x="489" y="6828"/>
                    <a:pt x="3435" y="16816"/>
                    <a:pt x="3034" y="23022"/>
                  </a:cubicBezTo>
                  <a:cubicBezTo>
                    <a:pt x="2912" y="25288"/>
                    <a:pt x="2441" y="27519"/>
                    <a:pt x="1639" y="29628"/>
                  </a:cubicBezTo>
                  <a:cubicBezTo>
                    <a:pt x="1360" y="30395"/>
                    <a:pt x="1012" y="31145"/>
                    <a:pt x="593" y="31842"/>
                  </a:cubicBezTo>
                  <a:cubicBezTo>
                    <a:pt x="419" y="32173"/>
                    <a:pt x="227" y="32487"/>
                    <a:pt x="1" y="32783"/>
                  </a:cubicBezTo>
                  <a:lnTo>
                    <a:pt x="70" y="34195"/>
                  </a:lnTo>
                  <a:lnTo>
                    <a:pt x="280" y="38535"/>
                  </a:lnTo>
                  <a:lnTo>
                    <a:pt x="419" y="41411"/>
                  </a:lnTo>
                  <a:lnTo>
                    <a:pt x="646" y="45769"/>
                  </a:lnTo>
                  <a:lnTo>
                    <a:pt x="768" y="48332"/>
                  </a:lnTo>
                  <a:lnTo>
                    <a:pt x="6258" y="48332"/>
                  </a:lnTo>
                  <a:lnTo>
                    <a:pt x="32632" y="48401"/>
                  </a:lnTo>
                  <a:cubicBezTo>
                    <a:pt x="32632" y="48401"/>
                    <a:pt x="32649" y="47460"/>
                    <a:pt x="32684" y="45891"/>
                  </a:cubicBezTo>
                  <a:cubicBezTo>
                    <a:pt x="32702" y="44549"/>
                    <a:pt x="32736" y="42771"/>
                    <a:pt x="32789" y="40749"/>
                  </a:cubicBezTo>
                  <a:cubicBezTo>
                    <a:pt x="32789" y="40087"/>
                    <a:pt x="32806" y="39389"/>
                    <a:pt x="32824" y="38692"/>
                  </a:cubicBezTo>
                  <a:cubicBezTo>
                    <a:pt x="32858" y="37036"/>
                    <a:pt x="32911" y="35293"/>
                    <a:pt x="32946" y="33533"/>
                  </a:cubicBezTo>
                  <a:cubicBezTo>
                    <a:pt x="33120" y="26508"/>
                    <a:pt x="33364" y="19169"/>
                    <a:pt x="33660" y="16938"/>
                  </a:cubicBezTo>
                  <a:cubicBezTo>
                    <a:pt x="34253" y="12284"/>
                    <a:pt x="33242" y="5050"/>
                    <a:pt x="31725" y="3621"/>
                  </a:cubicBezTo>
                  <a:cubicBezTo>
                    <a:pt x="30473" y="2440"/>
                    <a:pt x="25156" y="0"/>
                    <a:pt x="1691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5" name="Google Shape;3585;p106"/>
            <p:cNvSpPr/>
            <p:nvPr/>
          </p:nvSpPr>
          <p:spPr>
            <a:xfrm>
              <a:off x="2196500" y="3922300"/>
              <a:ext cx="822350" cy="142650"/>
            </a:xfrm>
            <a:custGeom>
              <a:rect b="b" l="l" r="r" t="t"/>
              <a:pathLst>
                <a:path extrusionOk="0" h="5706" w="32894">
                  <a:moveTo>
                    <a:pt x="32894" y="1"/>
                  </a:moveTo>
                  <a:lnTo>
                    <a:pt x="32894" y="1"/>
                  </a:lnTo>
                  <a:cubicBezTo>
                    <a:pt x="28057" y="968"/>
                    <a:pt x="21755" y="1261"/>
                    <a:pt x="15903" y="1261"/>
                  </a:cubicBezTo>
                  <a:cubicBezTo>
                    <a:pt x="8786" y="1261"/>
                    <a:pt x="2335" y="827"/>
                    <a:pt x="1" y="646"/>
                  </a:cubicBezTo>
                  <a:lnTo>
                    <a:pt x="1" y="646"/>
                  </a:lnTo>
                  <a:lnTo>
                    <a:pt x="228" y="4986"/>
                  </a:lnTo>
                  <a:cubicBezTo>
                    <a:pt x="3601" y="5528"/>
                    <a:pt x="8710" y="5705"/>
                    <a:pt x="13959" y="5705"/>
                  </a:cubicBezTo>
                  <a:cubicBezTo>
                    <a:pt x="21540" y="5705"/>
                    <a:pt x="29414" y="5335"/>
                    <a:pt x="32772" y="5160"/>
                  </a:cubicBezTo>
                  <a:cubicBezTo>
                    <a:pt x="32806" y="3504"/>
                    <a:pt x="32859" y="1761"/>
                    <a:pt x="328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6" name="Google Shape;3586;p106"/>
            <p:cNvSpPr/>
            <p:nvPr/>
          </p:nvSpPr>
          <p:spPr>
            <a:xfrm>
              <a:off x="2205225" y="4113600"/>
              <a:ext cx="809700" cy="131125"/>
            </a:xfrm>
            <a:custGeom>
              <a:rect b="b" l="l" r="r" t="t"/>
              <a:pathLst>
                <a:path extrusionOk="0" h="5245" w="32388">
                  <a:moveTo>
                    <a:pt x="32388" y="1"/>
                  </a:moveTo>
                  <a:lnTo>
                    <a:pt x="32388" y="1"/>
                  </a:lnTo>
                  <a:cubicBezTo>
                    <a:pt x="27857" y="530"/>
                    <a:pt x="22060" y="705"/>
                    <a:pt x="16558" y="705"/>
                  </a:cubicBezTo>
                  <a:cubicBezTo>
                    <a:pt x="9380" y="705"/>
                    <a:pt x="2704" y="407"/>
                    <a:pt x="1" y="210"/>
                  </a:cubicBezTo>
                  <a:lnTo>
                    <a:pt x="1" y="210"/>
                  </a:lnTo>
                  <a:lnTo>
                    <a:pt x="227" y="4568"/>
                  </a:lnTo>
                  <a:cubicBezTo>
                    <a:pt x="3612" y="5077"/>
                    <a:pt x="8573" y="5245"/>
                    <a:pt x="13660" y="5245"/>
                  </a:cubicBezTo>
                  <a:cubicBezTo>
                    <a:pt x="21121" y="5245"/>
                    <a:pt x="28853" y="4883"/>
                    <a:pt x="32283" y="4707"/>
                  </a:cubicBezTo>
                  <a:cubicBezTo>
                    <a:pt x="32301" y="3365"/>
                    <a:pt x="32335" y="2040"/>
                    <a:pt x="32388"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106"/>
            <p:cNvSpPr/>
            <p:nvPr/>
          </p:nvSpPr>
          <p:spPr>
            <a:xfrm>
              <a:off x="2178200" y="3786775"/>
              <a:ext cx="173475" cy="505525"/>
            </a:xfrm>
            <a:custGeom>
              <a:rect b="b" l="l" r="r" t="t"/>
              <a:pathLst>
                <a:path extrusionOk="0" h="20221" w="6939">
                  <a:moveTo>
                    <a:pt x="1" y="0"/>
                  </a:moveTo>
                  <a:lnTo>
                    <a:pt x="36" y="314"/>
                  </a:lnTo>
                  <a:lnTo>
                    <a:pt x="663" y="4637"/>
                  </a:lnTo>
                  <a:lnTo>
                    <a:pt x="733" y="6067"/>
                  </a:lnTo>
                  <a:lnTo>
                    <a:pt x="960" y="10407"/>
                  </a:lnTo>
                  <a:lnTo>
                    <a:pt x="1099" y="13283"/>
                  </a:lnTo>
                  <a:lnTo>
                    <a:pt x="1308" y="17641"/>
                  </a:lnTo>
                  <a:lnTo>
                    <a:pt x="1430" y="20203"/>
                  </a:lnTo>
                  <a:lnTo>
                    <a:pt x="3836" y="20221"/>
                  </a:lnTo>
                  <a:lnTo>
                    <a:pt x="6938" y="20221"/>
                  </a:lnTo>
                  <a:lnTo>
                    <a:pt x="1570" y="4602"/>
                  </a:lnTo>
                  <a:lnTo>
                    <a:pt x="1273" y="3731"/>
                  </a:lnTo>
                  <a:lnTo>
                    <a:pt x="1"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8" name="Google Shape;3588;p106"/>
            <p:cNvSpPr/>
            <p:nvPr/>
          </p:nvSpPr>
          <p:spPr>
            <a:xfrm>
              <a:off x="2178200" y="3758025"/>
              <a:ext cx="43175" cy="139900"/>
            </a:xfrm>
            <a:custGeom>
              <a:rect b="b" l="l" r="r" t="t"/>
              <a:pathLst>
                <a:path extrusionOk="0" h="5596" w="1727">
                  <a:moveTo>
                    <a:pt x="1726" y="0"/>
                  </a:moveTo>
                  <a:lnTo>
                    <a:pt x="1" y="1150"/>
                  </a:lnTo>
                  <a:lnTo>
                    <a:pt x="36" y="1464"/>
                  </a:lnTo>
                  <a:lnTo>
                    <a:pt x="646" y="5595"/>
                  </a:lnTo>
                  <a:lnTo>
                    <a:pt x="1726" y="0"/>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9" name="Google Shape;3589;p106"/>
            <p:cNvSpPr/>
            <p:nvPr/>
          </p:nvSpPr>
          <p:spPr>
            <a:xfrm>
              <a:off x="2155975" y="2529125"/>
              <a:ext cx="828450" cy="790150"/>
            </a:xfrm>
            <a:custGeom>
              <a:rect b="b" l="l" r="r" t="t"/>
              <a:pathLst>
                <a:path extrusionOk="0" h="31606" w="33138">
                  <a:moveTo>
                    <a:pt x="19315" y="0"/>
                  </a:moveTo>
                  <a:cubicBezTo>
                    <a:pt x="18565" y="0"/>
                    <a:pt x="17833" y="87"/>
                    <a:pt x="17118" y="262"/>
                  </a:cubicBezTo>
                  <a:cubicBezTo>
                    <a:pt x="16996" y="279"/>
                    <a:pt x="16857" y="314"/>
                    <a:pt x="16735" y="349"/>
                  </a:cubicBezTo>
                  <a:cubicBezTo>
                    <a:pt x="15846" y="593"/>
                    <a:pt x="15009" y="959"/>
                    <a:pt x="14207" y="1429"/>
                  </a:cubicBezTo>
                  <a:cubicBezTo>
                    <a:pt x="13946" y="1586"/>
                    <a:pt x="13684" y="1743"/>
                    <a:pt x="13423" y="1935"/>
                  </a:cubicBezTo>
                  <a:cubicBezTo>
                    <a:pt x="11680" y="3155"/>
                    <a:pt x="10233" y="4724"/>
                    <a:pt x="9170" y="6572"/>
                  </a:cubicBezTo>
                  <a:cubicBezTo>
                    <a:pt x="8455" y="7792"/>
                    <a:pt x="7880" y="9082"/>
                    <a:pt x="7444" y="10441"/>
                  </a:cubicBezTo>
                  <a:cubicBezTo>
                    <a:pt x="7304" y="10895"/>
                    <a:pt x="7182" y="11348"/>
                    <a:pt x="7060" y="11801"/>
                  </a:cubicBezTo>
                  <a:cubicBezTo>
                    <a:pt x="6520" y="13962"/>
                    <a:pt x="6729" y="16333"/>
                    <a:pt x="5317" y="18146"/>
                  </a:cubicBezTo>
                  <a:cubicBezTo>
                    <a:pt x="4115" y="19662"/>
                    <a:pt x="2319" y="20621"/>
                    <a:pt x="1238" y="22225"/>
                  </a:cubicBezTo>
                  <a:cubicBezTo>
                    <a:pt x="36" y="23968"/>
                    <a:pt x="1" y="26199"/>
                    <a:pt x="262" y="28204"/>
                  </a:cubicBezTo>
                  <a:cubicBezTo>
                    <a:pt x="262" y="28396"/>
                    <a:pt x="332" y="28570"/>
                    <a:pt x="419" y="28744"/>
                  </a:cubicBezTo>
                  <a:cubicBezTo>
                    <a:pt x="593" y="28936"/>
                    <a:pt x="838" y="29093"/>
                    <a:pt x="1116" y="29145"/>
                  </a:cubicBezTo>
                  <a:lnTo>
                    <a:pt x="1273" y="29180"/>
                  </a:lnTo>
                  <a:cubicBezTo>
                    <a:pt x="1866" y="29372"/>
                    <a:pt x="2476" y="29546"/>
                    <a:pt x="3069" y="29703"/>
                  </a:cubicBezTo>
                  <a:lnTo>
                    <a:pt x="3104" y="29720"/>
                  </a:lnTo>
                  <a:cubicBezTo>
                    <a:pt x="3121" y="29651"/>
                    <a:pt x="3138" y="29581"/>
                    <a:pt x="3138" y="29494"/>
                  </a:cubicBezTo>
                  <a:cubicBezTo>
                    <a:pt x="3278" y="28134"/>
                    <a:pt x="3714" y="26827"/>
                    <a:pt x="4446" y="25676"/>
                  </a:cubicBezTo>
                  <a:lnTo>
                    <a:pt x="4446" y="25676"/>
                  </a:lnTo>
                  <a:cubicBezTo>
                    <a:pt x="4411" y="26286"/>
                    <a:pt x="4481" y="26687"/>
                    <a:pt x="4498" y="27315"/>
                  </a:cubicBezTo>
                  <a:cubicBezTo>
                    <a:pt x="4515" y="28291"/>
                    <a:pt x="4655" y="29250"/>
                    <a:pt x="4934" y="30191"/>
                  </a:cubicBezTo>
                  <a:cubicBezTo>
                    <a:pt x="7060" y="30696"/>
                    <a:pt x="9204" y="31080"/>
                    <a:pt x="11383" y="31324"/>
                  </a:cubicBezTo>
                  <a:cubicBezTo>
                    <a:pt x="11436" y="31324"/>
                    <a:pt x="11488" y="31341"/>
                    <a:pt x="11540" y="31341"/>
                  </a:cubicBezTo>
                  <a:cubicBezTo>
                    <a:pt x="12917" y="31498"/>
                    <a:pt x="14294" y="31568"/>
                    <a:pt x="15671" y="31603"/>
                  </a:cubicBezTo>
                  <a:lnTo>
                    <a:pt x="15811" y="31603"/>
                  </a:lnTo>
                  <a:cubicBezTo>
                    <a:pt x="15967" y="31605"/>
                    <a:pt x="16123" y="31606"/>
                    <a:pt x="16279" y="31606"/>
                  </a:cubicBezTo>
                  <a:cubicBezTo>
                    <a:pt x="18775" y="31606"/>
                    <a:pt x="21282" y="31344"/>
                    <a:pt x="23742" y="30836"/>
                  </a:cubicBezTo>
                  <a:lnTo>
                    <a:pt x="23899" y="30801"/>
                  </a:lnTo>
                  <a:cubicBezTo>
                    <a:pt x="24980" y="30574"/>
                    <a:pt x="26043" y="30278"/>
                    <a:pt x="27071" y="29929"/>
                  </a:cubicBezTo>
                  <a:lnTo>
                    <a:pt x="27228" y="29877"/>
                  </a:lnTo>
                  <a:cubicBezTo>
                    <a:pt x="28205" y="29546"/>
                    <a:pt x="29181" y="29162"/>
                    <a:pt x="30105" y="28727"/>
                  </a:cubicBezTo>
                  <a:cubicBezTo>
                    <a:pt x="30174" y="27907"/>
                    <a:pt x="30105" y="27106"/>
                    <a:pt x="29895" y="26321"/>
                  </a:cubicBezTo>
                  <a:cubicBezTo>
                    <a:pt x="29634" y="25293"/>
                    <a:pt x="29303" y="24282"/>
                    <a:pt x="28884" y="23306"/>
                  </a:cubicBezTo>
                  <a:lnTo>
                    <a:pt x="28884" y="23306"/>
                  </a:lnTo>
                  <a:cubicBezTo>
                    <a:pt x="30139" y="24630"/>
                    <a:pt x="31046" y="26234"/>
                    <a:pt x="31534" y="27977"/>
                  </a:cubicBezTo>
                  <a:cubicBezTo>
                    <a:pt x="31795" y="27838"/>
                    <a:pt x="32039" y="27681"/>
                    <a:pt x="32301" y="27524"/>
                  </a:cubicBezTo>
                  <a:cubicBezTo>
                    <a:pt x="32545" y="27384"/>
                    <a:pt x="32754" y="27193"/>
                    <a:pt x="32928" y="26966"/>
                  </a:cubicBezTo>
                  <a:cubicBezTo>
                    <a:pt x="32946" y="26949"/>
                    <a:pt x="32946" y="26914"/>
                    <a:pt x="32963" y="26896"/>
                  </a:cubicBezTo>
                  <a:cubicBezTo>
                    <a:pt x="33016" y="26757"/>
                    <a:pt x="33068" y="26635"/>
                    <a:pt x="33085" y="26496"/>
                  </a:cubicBezTo>
                  <a:cubicBezTo>
                    <a:pt x="33085" y="26391"/>
                    <a:pt x="33103" y="26304"/>
                    <a:pt x="33103" y="26199"/>
                  </a:cubicBezTo>
                  <a:cubicBezTo>
                    <a:pt x="33138" y="25467"/>
                    <a:pt x="32998" y="24752"/>
                    <a:pt x="32719" y="24090"/>
                  </a:cubicBezTo>
                  <a:cubicBezTo>
                    <a:pt x="32632" y="23898"/>
                    <a:pt x="32527" y="23707"/>
                    <a:pt x="32423" y="23515"/>
                  </a:cubicBezTo>
                  <a:cubicBezTo>
                    <a:pt x="31569" y="22051"/>
                    <a:pt x="30174" y="20900"/>
                    <a:pt x="29582" y="18599"/>
                  </a:cubicBezTo>
                  <a:cubicBezTo>
                    <a:pt x="29547" y="18442"/>
                    <a:pt x="29512" y="18285"/>
                    <a:pt x="29477" y="18146"/>
                  </a:cubicBezTo>
                  <a:cubicBezTo>
                    <a:pt x="29460" y="18059"/>
                    <a:pt x="29442" y="17972"/>
                    <a:pt x="29442" y="17885"/>
                  </a:cubicBezTo>
                  <a:cubicBezTo>
                    <a:pt x="29407" y="17675"/>
                    <a:pt x="29372" y="17484"/>
                    <a:pt x="29355" y="17274"/>
                  </a:cubicBezTo>
                  <a:cubicBezTo>
                    <a:pt x="29163" y="15601"/>
                    <a:pt x="29372" y="13980"/>
                    <a:pt x="29407" y="12237"/>
                  </a:cubicBezTo>
                  <a:lnTo>
                    <a:pt x="29407" y="11888"/>
                  </a:lnTo>
                  <a:lnTo>
                    <a:pt x="29407" y="11470"/>
                  </a:lnTo>
                  <a:cubicBezTo>
                    <a:pt x="29390" y="9273"/>
                    <a:pt x="29250" y="7077"/>
                    <a:pt x="28396" y="5020"/>
                  </a:cubicBezTo>
                  <a:cubicBezTo>
                    <a:pt x="27734" y="3434"/>
                    <a:pt x="26444" y="2214"/>
                    <a:pt x="24893" y="1377"/>
                  </a:cubicBezTo>
                  <a:lnTo>
                    <a:pt x="24788" y="1307"/>
                  </a:lnTo>
                  <a:cubicBezTo>
                    <a:pt x="24352" y="1081"/>
                    <a:pt x="23916" y="889"/>
                    <a:pt x="23481" y="715"/>
                  </a:cubicBezTo>
                  <a:lnTo>
                    <a:pt x="23341" y="680"/>
                  </a:lnTo>
                  <a:cubicBezTo>
                    <a:pt x="23027" y="558"/>
                    <a:pt x="22696" y="453"/>
                    <a:pt x="22365" y="366"/>
                  </a:cubicBezTo>
                  <a:lnTo>
                    <a:pt x="22226" y="331"/>
                  </a:lnTo>
                  <a:cubicBezTo>
                    <a:pt x="22034" y="296"/>
                    <a:pt x="21860" y="244"/>
                    <a:pt x="21668" y="209"/>
                  </a:cubicBezTo>
                  <a:cubicBezTo>
                    <a:pt x="21616" y="192"/>
                    <a:pt x="21563" y="174"/>
                    <a:pt x="21511" y="174"/>
                  </a:cubicBezTo>
                  <a:cubicBezTo>
                    <a:pt x="21127" y="105"/>
                    <a:pt x="20744" y="52"/>
                    <a:pt x="20343" y="18"/>
                  </a:cubicBezTo>
                  <a:cubicBezTo>
                    <a:pt x="20320" y="18"/>
                    <a:pt x="20297" y="25"/>
                    <a:pt x="20263" y="25"/>
                  </a:cubicBezTo>
                  <a:cubicBezTo>
                    <a:pt x="20246" y="25"/>
                    <a:pt x="20227" y="23"/>
                    <a:pt x="20204" y="18"/>
                  </a:cubicBezTo>
                  <a:cubicBezTo>
                    <a:pt x="20134" y="0"/>
                    <a:pt x="20064" y="0"/>
                    <a:pt x="19977"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106"/>
            <p:cNvSpPr/>
            <p:nvPr/>
          </p:nvSpPr>
          <p:spPr>
            <a:xfrm>
              <a:off x="2160775" y="2564850"/>
              <a:ext cx="350400" cy="694225"/>
            </a:xfrm>
            <a:custGeom>
              <a:rect b="b" l="l" r="r" t="t"/>
              <a:pathLst>
                <a:path extrusionOk="0" h="27769" w="14016">
                  <a:moveTo>
                    <a:pt x="14015" y="0"/>
                  </a:moveTo>
                  <a:lnTo>
                    <a:pt x="14015" y="0"/>
                  </a:lnTo>
                  <a:cubicBezTo>
                    <a:pt x="13736" y="157"/>
                    <a:pt x="13475" y="332"/>
                    <a:pt x="13213" y="506"/>
                  </a:cubicBezTo>
                  <a:cubicBezTo>
                    <a:pt x="11714" y="1883"/>
                    <a:pt x="10512" y="3574"/>
                    <a:pt x="9727" y="5456"/>
                  </a:cubicBezTo>
                  <a:cubicBezTo>
                    <a:pt x="8890" y="7444"/>
                    <a:pt x="8559" y="9605"/>
                    <a:pt x="8350" y="11261"/>
                  </a:cubicBezTo>
                  <a:lnTo>
                    <a:pt x="8298" y="11644"/>
                  </a:lnTo>
                  <a:cubicBezTo>
                    <a:pt x="8106" y="13213"/>
                    <a:pt x="7914" y="14817"/>
                    <a:pt x="7060" y="16124"/>
                  </a:cubicBezTo>
                  <a:cubicBezTo>
                    <a:pt x="6398" y="17153"/>
                    <a:pt x="5387" y="17902"/>
                    <a:pt x="4411" y="18634"/>
                  </a:cubicBezTo>
                  <a:cubicBezTo>
                    <a:pt x="3661" y="19157"/>
                    <a:pt x="2964" y="19750"/>
                    <a:pt x="2336" y="20395"/>
                  </a:cubicBezTo>
                  <a:cubicBezTo>
                    <a:pt x="558" y="22400"/>
                    <a:pt x="1" y="25206"/>
                    <a:pt x="907" y="27716"/>
                  </a:cubicBezTo>
                  <a:lnTo>
                    <a:pt x="1064" y="27768"/>
                  </a:lnTo>
                  <a:cubicBezTo>
                    <a:pt x="140" y="25276"/>
                    <a:pt x="663" y="22469"/>
                    <a:pt x="2423" y="20482"/>
                  </a:cubicBezTo>
                  <a:cubicBezTo>
                    <a:pt x="3068" y="19837"/>
                    <a:pt x="3748" y="19262"/>
                    <a:pt x="4498" y="18739"/>
                  </a:cubicBezTo>
                  <a:cubicBezTo>
                    <a:pt x="5474" y="18007"/>
                    <a:pt x="6502" y="17240"/>
                    <a:pt x="7182" y="16194"/>
                  </a:cubicBezTo>
                  <a:cubicBezTo>
                    <a:pt x="8054" y="14869"/>
                    <a:pt x="8246" y="13231"/>
                    <a:pt x="8437" y="11662"/>
                  </a:cubicBezTo>
                  <a:lnTo>
                    <a:pt x="8472" y="11278"/>
                  </a:lnTo>
                  <a:cubicBezTo>
                    <a:pt x="8681" y="9622"/>
                    <a:pt x="9012" y="7478"/>
                    <a:pt x="9849" y="5509"/>
                  </a:cubicBezTo>
                  <a:cubicBezTo>
                    <a:pt x="10756" y="3347"/>
                    <a:pt x="12185" y="1465"/>
                    <a:pt x="1401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1" name="Google Shape;3591;p106"/>
            <p:cNvSpPr/>
            <p:nvPr/>
          </p:nvSpPr>
          <p:spPr>
            <a:xfrm>
              <a:off x="2206975" y="2535650"/>
              <a:ext cx="376975" cy="736500"/>
            </a:xfrm>
            <a:custGeom>
              <a:rect b="b" l="l" r="r" t="t"/>
              <a:pathLst>
                <a:path extrusionOk="0" h="29460" w="15079">
                  <a:moveTo>
                    <a:pt x="15078" y="1"/>
                  </a:moveTo>
                  <a:lnTo>
                    <a:pt x="15078" y="1"/>
                  </a:lnTo>
                  <a:cubicBezTo>
                    <a:pt x="14956" y="18"/>
                    <a:pt x="14834" y="53"/>
                    <a:pt x="14695" y="88"/>
                  </a:cubicBezTo>
                  <a:cubicBezTo>
                    <a:pt x="11121" y="2546"/>
                    <a:pt x="8698" y="6572"/>
                    <a:pt x="8420" y="10843"/>
                  </a:cubicBezTo>
                  <a:cubicBezTo>
                    <a:pt x="8385" y="11139"/>
                    <a:pt x="8385" y="11435"/>
                    <a:pt x="8367" y="11732"/>
                  </a:cubicBezTo>
                  <a:cubicBezTo>
                    <a:pt x="8367" y="12516"/>
                    <a:pt x="8280" y="13283"/>
                    <a:pt x="8123" y="14033"/>
                  </a:cubicBezTo>
                  <a:cubicBezTo>
                    <a:pt x="7670" y="15741"/>
                    <a:pt x="6398" y="17118"/>
                    <a:pt x="5212" y="18251"/>
                  </a:cubicBezTo>
                  <a:cubicBezTo>
                    <a:pt x="4968" y="18478"/>
                    <a:pt x="4724" y="18704"/>
                    <a:pt x="4480" y="18913"/>
                  </a:cubicBezTo>
                  <a:cubicBezTo>
                    <a:pt x="3434" y="19872"/>
                    <a:pt x="2371" y="20848"/>
                    <a:pt x="1604" y="22051"/>
                  </a:cubicBezTo>
                  <a:cubicBezTo>
                    <a:pt x="227" y="24265"/>
                    <a:pt x="0" y="27036"/>
                    <a:pt x="1011" y="29459"/>
                  </a:cubicBezTo>
                  <a:lnTo>
                    <a:pt x="1046" y="29459"/>
                  </a:lnTo>
                  <a:cubicBezTo>
                    <a:pt x="1064" y="29390"/>
                    <a:pt x="1081" y="29320"/>
                    <a:pt x="1081" y="29250"/>
                  </a:cubicBezTo>
                  <a:cubicBezTo>
                    <a:pt x="157" y="26897"/>
                    <a:pt x="384" y="24247"/>
                    <a:pt x="1726" y="22121"/>
                  </a:cubicBezTo>
                  <a:cubicBezTo>
                    <a:pt x="2475" y="20935"/>
                    <a:pt x="3539" y="19959"/>
                    <a:pt x="4567" y="19018"/>
                  </a:cubicBezTo>
                  <a:cubicBezTo>
                    <a:pt x="4829" y="18791"/>
                    <a:pt x="5073" y="18565"/>
                    <a:pt x="5317" y="18338"/>
                  </a:cubicBezTo>
                  <a:cubicBezTo>
                    <a:pt x="6502" y="17205"/>
                    <a:pt x="7792" y="15811"/>
                    <a:pt x="8245" y="14068"/>
                  </a:cubicBezTo>
                  <a:cubicBezTo>
                    <a:pt x="8420" y="13301"/>
                    <a:pt x="8507" y="12516"/>
                    <a:pt x="8507" y="11749"/>
                  </a:cubicBezTo>
                  <a:cubicBezTo>
                    <a:pt x="8524" y="11453"/>
                    <a:pt x="8524" y="11139"/>
                    <a:pt x="8559" y="10860"/>
                  </a:cubicBezTo>
                  <a:cubicBezTo>
                    <a:pt x="8855" y="6520"/>
                    <a:pt x="11365" y="2406"/>
                    <a:pt x="15078"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2" name="Google Shape;3592;p106"/>
            <p:cNvSpPr/>
            <p:nvPr/>
          </p:nvSpPr>
          <p:spPr>
            <a:xfrm>
              <a:off x="2434875" y="2529125"/>
              <a:ext cx="209650" cy="783975"/>
            </a:xfrm>
            <a:custGeom>
              <a:rect b="b" l="l" r="r" t="t"/>
              <a:pathLst>
                <a:path extrusionOk="0" h="31359" w="8386">
                  <a:moveTo>
                    <a:pt x="8159" y="0"/>
                  </a:moveTo>
                  <a:cubicBezTo>
                    <a:pt x="6084" y="1464"/>
                    <a:pt x="4376" y="3382"/>
                    <a:pt x="3138" y="5596"/>
                  </a:cubicBezTo>
                  <a:cubicBezTo>
                    <a:pt x="1587" y="8332"/>
                    <a:pt x="960" y="11470"/>
                    <a:pt x="1326" y="14590"/>
                  </a:cubicBezTo>
                  <a:cubicBezTo>
                    <a:pt x="1448" y="15514"/>
                    <a:pt x="1657" y="16473"/>
                    <a:pt x="1883" y="17379"/>
                  </a:cubicBezTo>
                  <a:cubicBezTo>
                    <a:pt x="2319" y="19296"/>
                    <a:pt x="2772" y="21284"/>
                    <a:pt x="2319" y="23201"/>
                  </a:cubicBezTo>
                  <a:cubicBezTo>
                    <a:pt x="2075" y="24107"/>
                    <a:pt x="1726" y="25014"/>
                    <a:pt x="1273" y="25851"/>
                  </a:cubicBezTo>
                  <a:cubicBezTo>
                    <a:pt x="820" y="26757"/>
                    <a:pt x="367" y="27716"/>
                    <a:pt x="175" y="28727"/>
                  </a:cubicBezTo>
                  <a:cubicBezTo>
                    <a:pt x="1" y="29581"/>
                    <a:pt x="18" y="30487"/>
                    <a:pt x="227" y="31341"/>
                  </a:cubicBezTo>
                  <a:cubicBezTo>
                    <a:pt x="280" y="31341"/>
                    <a:pt x="315" y="31359"/>
                    <a:pt x="367" y="31359"/>
                  </a:cubicBezTo>
                  <a:cubicBezTo>
                    <a:pt x="158" y="30505"/>
                    <a:pt x="123" y="29598"/>
                    <a:pt x="297" y="28744"/>
                  </a:cubicBezTo>
                  <a:cubicBezTo>
                    <a:pt x="489" y="27751"/>
                    <a:pt x="960" y="26809"/>
                    <a:pt x="1395" y="25903"/>
                  </a:cubicBezTo>
                  <a:cubicBezTo>
                    <a:pt x="1831" y="25049"/>
                    <a:pt x="2197" y="24142"/>
                    <a:pt x="2459" y="23218"/>
                  </a:cubicBezTo>
                  <a:cubicBezTo>
                    <a:pt x="2912" y="21266"/>
                    <a:pt x="2459" y="19279"/>
                    <a:pt x="2023" y="17344"/>
                  </a:cubicBezTo>
                  <a:cubicBezTo>
                    <a:pt x="1796" y="16438"/>
                    <a:pt x="1587" y="15496"/>
                    <a:pt x="1465" y="14555"/>
                  </a:cubicBezTo>
                  <a:cubicBezTo>
                    <a:pt x="1099" y="11470"/>
                    <a:pt x="1726" y="8350"/>
                    <a:pt x="3243" y="5648"/>
                  </a:cubicBezTo>
                  <a:cubicBezTo>
                    <a:pt x="4515" y="3399"/>
                    <a:pt x="6259" y="1464"/>
                    <a:pt x="8385"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3" name="Google Shape;3593;p106"/>
            <p:cNvSpPr/>
            <p:nvPr/>
          </p:nvSpPr>
          <p:spPr>
            <a:xfrm>
              <a:off x="2482825" y="2529125"/>
              <a:ext cx="178700" cy="790075"/>
            </a:xfrm>
            <a:custGeom>
              <a:rect b="b" l="l" r="r" t="t"/>
              <a:pathLst>
                <a:path extrusionOk="0" h="31603" w="7148">
                  <a:moveTo>
                    <a:pt x="6938" y="0"/>
                  </a:moveTo>
                  <a:cubicBezTo>
                    <a:pt x="4707" y="1499"/>
                    <a:pt x="2824" y="3818"/>
                    <a:pt x="1517" y="6694"/>
                  </a:cubicBezTo>
                  <a:cubicBezTo>
                    <a:pt x="419" y="9134"/>
                    <a:pt x="0" y="11400"/>
                    <a:pt x="279" y="13422"/>
                  </a:cubicBezTo>
                  <a:cubicBezTo>
                    <a:pt x="506" y="15200"/>
                    <a:pt x="1290" y="16856"/>
                    <a:pt x="2040" y="18460"/>
                  </a:cubicBezTo>
                  <a:cubicBezTo>
                    <a:pt x="2667" y="19837"/>
                    <a:pt x="3330" y="21249"/>
                    <a:pt x="3661" y="22730"/>
                  </a:cubicBezTo>
                  <a:cubicBezTo>
                    <a:pt x="4323" y="25711"/>
                    <a:pt x="3591" y="28814"/>
                    <a:pt x="2597" y="31603"/>
                  </a:cubicBezTo>
                  <a:lnTo>
                    <a:pt x="2737" y="31603"/>
                  </a:lnTo>
                  <a:cubicBezTo>
                    <a:pt x="3731" y="28814"/>
                    <a:pt x="4445" y="25694"/>
                    <a:pt x="3783" y="22696"/>
                  </a:cubicBezTo>
                  <a:cubicBezTo>
                    <a:pt x="3452" y="21196"/>
                    <a:pt x="2789" y="19784"/>
                    <a:pt x="2144" y="18407"/>
                  </a:cubicBezTo>
                  <a:cubicBezTo>
                    <a:pt x="1395" y="16804"/>
                    <a:pt x="628" y="15148"/>
                    <a:pt x="384" y="13405"/>
                  </a:cubicBezTo>
                  <a:cubicBezTo>
                    <a:pt x="122" y="11418"/>
                    <a:pt x="541" y="9169"/>
                    <a:pt x="1621" y="6763"/>
                  </a:cubicBezTo>
                  <a:cubicBezTo>
                    <a:pt x="2946" y="3835"/>
                    <a:pt x="4864" y="1499"/>
                    <a:pt x="7147" y="18"/>
                  </a:cubicBezTo>
                  <a:cubicBezTo>
                    <a:pt x="7077" y="0"/>
                    <a:pt x="7008" y="0"/>
                    <a:pt x="6938" y="0"/>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106"/>
            <p:cNvSpPr/>
            <p:nvPr/>
          </p:nvSpPr>
          <p:spPr>
            <a:xfrm>
              <a:off x="2623150" y="2533900"/>
              <a:ext cx="157775" cy="766125"/>
            </a:xfrm>
            <a:custGeom>
              <a:rect b="b" l="l" r="r" t="t"/>
              <a:pathLst>
                <a:path extrusionOk="0" h="30645" w="6311">
                  <a:moveTo>
                    <a:pt x="2824" y="1"/>
                  </a:moveTo>
                  <a:cubicBezTo>
                    <a:pt x="1464" y="1343"/>
                    <a:pt x="575" y="3086"/>
                    <a:pt x="262" y="4969"/>
                  </a:cubicBezTo>
                  <a:cubicBezTo>
                    <a:pt x="0" y="6660"/>
                    <a:pt x="192" y="8560"/>
                    <a:pt x="872" y="10616"/>
                  </a:cubicBezTo>
                  <a:cubicBezTo>
                    <a:pt x="1412" y="12150"/>
                    <a:pt x="2040" y="13632"/>
                    <a:pt x="2754" y="15079"/>
                  </a:cubicBezTo>
                  <a:cubicBezTo>
                    <a:pt x="2876" y="15358"/>
                    <a:pt x="3016" y="15619"/>
                    <a:pt x="3138" y="15881"/>
                  </a:cubicBezTo>
                  <a:cubicBezTo>
                    <a:pt x="4323" y="18426"/>
                    <a:pt x="5473" y="21180"/>
                    <a:pt x="5857" y="24056"/>
                  </a:cubicBezTo>
                  <a:cubicBezTo>
                    <a:pt x="6171" y="26461"/>
                    <a:pt x="5892" y="28745"/>
                    <a:pt x="5055" y="30645"/>
                  </a:cubicBezTo>
                  <a:lnTo>
                    <a:pt x="5229" y="30610"/>
                  </a:lnTo>
                  <a:cubicBezTo>
                    <a:pt x="6031" y="28693"/>
                    <a:pt x="6310" y="26427"/>
                    <a:pt x="5979" y="24038"/>
                  </a:cubicBezTo>
                  <a:cubicBezTo>
                    <a:pt x="5595" y="21145"/>
                    <a:pt x="4445" y="18391"/>
                    <a:pt x="3242" y="15828"/>
                  </a:cubicBezTo>
                  <a:lnTo>
                    <a:pt x="2876" y="15027"/>
                  </a:lnTo>
                  <a:cubicBezTo>
                    <a:pt x="2162" y="13580"/>
                    <a:pt x="1534" y="12098"/>
                    <a:pt x="994" y="10582"/>
                  </a:cubicBezTo>
                  <a:cubicBezTo>
                    <a:pt x="331" y="8542"/>
                    <a:pt x="122" y="6660"/>
                    <a:pt x="401" y="5004"/>
                  </a:cubicBezTo>
                  <a:cubicBezTo>
                    <a:pt x="697" y="3104"/>
                    <a:pt x="1621" y="1360"/>
                    <a:pt x="2998" y="36"/>
                  </a:cubicBezTo>
                  <a:cubicBezTo>
                    <a:pt x="2946" y="18"/>
                    <a:pt x="2876" y="1"/>
                    <a:pt x="2824" y="1"/>
                  </a:cubicBez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106"/>
            <p:cNvSpPr/>
            <p:nvPr/>
          </p:nvSpPr>
          <p:spPr>
            <a:xfrm>
              <a:off x="2644925" y="2537825"/>
              <a:ext cx="202225" cy="739550"/>
            </a:xfrm>
            <a:custGeom>
              <a:rect b="b" l="l" r="r" t="t"/>
              <a:pathLst>
                <a:path extrusionOk="0" h="29582" w="8089">
                  <a:moveTo>
                    <a:pt x="2685" y="1"/>
                  </a:moveTo>
                  <a:cubicBezTo>
                    <a:pt x="1796" y="1151"/>
                    <a:pt x="1081" y="2424"/>
                    <a:pt x="593" y="3801"/>
                  </a:cubicBezTo>
                  <a:cubicBezTo>
                    <a:pt x="210" y="4777"/>
                    <a:pt x="1" y="5823"/>
                    <a:pt x="1" y="6869"/>
                  </a:cubicBezTo>
                  <a:cubicBezTo>
                    <a:pt x="53" y="8594"/>
                    <a:pt x="785" y="10355"/>
                    <a:pt x="2336" y="12429"/>
                  </a:cubicBezTo>
                  <a:cubicBezTo>
                    <a:pt x="2720" y="12970"/>
                    <a:pt x="3138" y="13492"/>
                    <a:pt x="3539" y="13981"/>
                  </a:cubicBezTo>
                  <a:cubicBezTo>
                    <a:pt x="4393" y="15044"/>
                    <a:pt x="5282" y="16142"/>
                    <a:pt x="5945" y="17345"/>
                  </a:cubicBezTo>
                  <a:cubicBezTo>
                    <a:pt x="6781" y="18948"/>
                    <a:pt x="7357" y="20674"/>
                    <a:pt x="7601" y="22470"/>
                  </a:cubicBezTo>
                  <a:cubicBezTo>
                    <a:pt x="7967" y="24823"/>
                    <a:pt x="7932" y="27228"/>
                    <a:pt x="7513" y="29581"/>
                  </a:cubicBezTo>
                  <a:lnTo>
                    <a:pt x="7670" y="29529"/>
                  </a:lnTo>
                  <a:cubicBezTo>
                    <a:pt x="8071" y="27193"/>
                    <a:pt x="8089" y="24805"/>
                    <a:pt x="7740" y="22452"/>
                  </a:cubicBezTo>
                  <a:cubicBezTo>
                    <a:pt x="7479" y="20657"/>
                    <a:pt x="6921" y="18896"/>
                    <a:pt x="6067" y="17292"/>
                  </a:cubicBezTo>
                  <a:cubicBezTo>
                    <a:pt x="5387" y="16072"/>
                    <a:pt x="4498" y="14974"/>
                    <a:pt x="3644" y="13911"/>
                  </a:cubicBezTo>
                  <a:cubicBezTo>
                    <a:pt x="3243" y="13405"/>
                    <a:pt x="2824" y="12882"/>
                    <a:pt x="2424" y="12359"/>
                  </a:cubicBezTo>
                  <a:cubicBezTo>
                    <a:pt x="907" y="10303"/>
                    <a:pt x="175" y="8559"/>
                    <a:pt x="140" y="6869"/>
                  </a:cubicBezTo>
                  <a:cubicBezTo>
                    <a:pt x="140" y="5823"/>
                    <a:pt x="332" y="4794"/>
                    <a:pt x="715" y="3836"/>
                  </a:cubicBezTo>
                  <a:cubicBezTo>
                    <a:pt x="1203" y="2459"/>
                    <a:pt x="1918" y="1186"/>
                    <a:pt x="2824" y="36"/>
                  </a:cubicBezTo>
                  <a:lnTo>
                    <a:pt x="2685" y="1"/>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6" name="Google Shape;3596;p106"/>
            <p:cNvSpPr/>
            <p:nvPr/>
          </p:nvSpPr>
          <p:spPr>
            <a:xfrm>
              <a:off x="2682400" y="2546550"/>
              <a:ext cx="210500" cy="436225"/>
            </a:xfrm>
            <a:custGeom>
              <a:rect b="b" l="l" r="r" t="t"/>
              <a:pathLst>
                <a:path extrusionOk="0" h="17449" w="8420">
                  <a:moveTo>
                    <a:pt x="2302" y="0"/>
                  </a:moveTo>
                  <a:cubicBezTo>
                    <a:pt x="53" y="3312"/>
                    <a:pt x="1" y="7635"/>
                    <a:pt x="2180" y="10999"/>
                  </a:cubicBezTo>
                  <a:cubicBezTo>
                    <a:pt x="3156" y="12499"/>
                    <a:pt x="4533" y="13736"/>
                    <a:pt x="5840" y="14921"/>
                  </a:cubicBezTo>
                  <a:cubicBezTo>
                    <a:pt x="6747" y="15706"/>
                    <a:pt x="7618" y="16543"/>
                    <a:pt x="8420" y="17449"/>
                  </a:cubicBezTo>
                  <a:cubicBezTo>
                    <a:pt x="8403" y="17362"/>
                    <a:pt x="8385" y="17275"/>
                    <a:pt x="8368" y="17188"/>
                  </a:cubicBezTo>
                  <a:cubicBezTo>
                    <a:pt x="7618" y="16351"/>
                    <a:pt x="6764" y="15566"/>
                    <a:pt x="5927" y="14817"/>
                  </a:cubicBezTo>
                  <a:cubicBezTo>
                    <a:pt x="4620" y="13632"/>
                    <a:pt x="3260" y="12411"/>
                    <a:pt x="2302" y="10912"/>
                  </a:cubicBezTo>
                  <a:cubicBezTo>
                    <a:pt x="1081" y="9030"/>
                    <a:pt x="541" y="6764"/>
                    <a:pt x="768" y="4532"/>
                  </a:cubicBezTo>
                  <a:cubicBezTo>
                    <a:pt x="959" y="2929"/>
                    <a:pt x="1517" y="1377"/>
                    <a:pt x="2424" y="35"/>
                  </a:cubicBezTo>
                  <a:lnTo>
                    <a:pt x="2302" y="0"/>
                  </a:lnTo>
                  <a:close/>
                </a:path>
              </a:pathLst>
            </a:custGeom>
            <a:solidFill>
              <a:srgbClr val="000000">
                <a:alpha val="321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106"/>
            <p:cNvSpPr/>
            <p:nvPr/>
          </p:nvSpPr>
          <p:spPr>
            <a:xfrm>
              <a:off x="2966100" y="3116975"/>
              <a:ext cx="17025" cy="84575"/>
            </a:xfrm>
            <a:custGeom>
              <a:rect b="b" l="l" r="r" t="t"/>
              <a:pathLst>
                <a:path extrusionOk="0" h="3383" w="681">
                  <a:moveTo>
                    <a:pt x="0" y="1"/>
                  </a:moveTo>
                  <a:lnTo>
                    <a:pt x="0" y="1"/>
                  </a:lnTo>
                  <a:cubicBezTo>
                    <a:pt x="332" y="1099"/>
                    <a:pt x="506" y="2232"/>
                    <a:pt x="558" y="3382"/>
                  </a:cubicBezTo>
                  <a:cubicBezTo>
                    <a:pt x="628" y="3243"/>
                    <a:pt x="663" y="3121"/>
                    <a:pt x="680" y="2982"/>
                  </a:cubicBezTo>
                  <a:cubicBezTo>
                    <a:pt x="611" y="2180"/>
                    <a:pt x="489" y="1360"/>
                    <a:pt x="297" y="576"/>
                  </a:cubicBezTo>
                  <a:cubicBezTo>
                    <a:pt x="210" y="384"/>
                    <a:pt x="122" y="175"/>
                    <a:pt x="0" y="1"/>
                  </a:cubicBez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8" name="Google Shape;3598;p106"/>
            <p:cNvSpPr/>
            <p:nvPr/>
          </p:nvSpPr>
          <p:spPr>
            <a:xfrm>
              <a:off x="2753000" y="2561800"/>
              <a:ext cx="138175" cy="258450"/>
            </a:xfrm>
            <a:custGeom>
              <a:rect b="b" l="l" r="r" t="t"/>
              <a:pathLst>
                <a:path extrusionOk="0" h="10338" w="5527">
                  <a:moveTo>
                    <a:pt x="907" y="0"/>
                  </a:moveTo>
                  <a:cubicBezTo>
                    <a:pt x="210" y="1447"/>
                    <a:pt x="1" y="2894"/>
                    <a:pt x="314" y="4149"/>
                  </a:cubicBezTo>
                  <a:cubicBezTo>
                    <a:pt x="558" y="5003"/>
                    <a:pt x="959" y="5805"/>
                    <a:pt x="1517" y="6520"/>
                  </a:cubicBezTo>
                  <a:cubicBezTo>
                    <a:pt x="2249" y="7531"/>
                    <a:pt x="3121" y="8437"/>
                    <a:pt x="4097" y="9222"/>
                  </a:cubicBezTo>
                  <a:cubicBezTo>
                    <a:pt x="4306" y="9396"/>
                    <a:pt x="4533" y="9570"/>
                    <a:pt x="4742" y="9727"/>
                  </a:cubicBezTo>
                  <a:cubicBezTo>
                    <a:pt x="5003" y="9936"/>
                    <a:pt x="5265" y="10128"/>
                    <a:pt x="5526" y="10337"/>
                  </a:cubicBezTo>
                  <a:lnTo>
                    <a:pt x="5526" y="10163"/>
                  </a:lnTo>
                  <a:cubicBezTo>
                    <a:pt x="5300" y="9971"/>
                    <a:pt x="5056" y="9797"/>
                    <a:pt x="4829" y="9622"/>
                  </a:cubicBezTo>
                  <a:cubicBezTo>
                    <a:pt x="4620" y="9466"/>
                    <a:pt x="4393" y="9291"/>
                    <a:pt x="4184" y="9117"/>
                  </a:cubicBezTo>
                  <a:cubicBezTo>
                    <a:pt x="3208" y="8350"/>
                    <a:pt x="2354" y="7444"/>
                    <a:pt x="1622" y="6450"/>
                  </a:cubicBezTo>
                  <a:cubicBezTo>
                    <a:pt x="1081" y="5753"/>
                    <a:pt x="680" y="4951"/>
                    <a:pt x="436" y="4114"/>
                  </a:cubicBezTo>
                  <a:cubicBezTo>
                    <a:pt x="140" y="2894"/>
                    <a:pt x="332" y="1500"/>
                    <a:pt x="1012" y="70"/>
                  </a:cubicBezTo>
                  <a:lnTo>
                    <a:pt x="907" y="0"/>
                  </a:lnTo>
                  <a:close/>
                </a:path>
              </a:pathLst>
            </a:custGeom>
            <a:solidFill>
              <a:srgbClr val="5B3C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9" name="Google Shape;3599;p106"/>
            <p:cNvSpPr/>
            <p:nvPr/>
          </p:nvSpPr>
          <p:spPr>
            <a:xfrm>
              <a:off x="2356450" y="2678150"/>
              <a:ext cx="509875" cy="303100"/>
            </a:xfrm>
            <a:custGeom>
              <a:rect b="b" l="l" r="r" t="t"/>
              <a:pathLst>
                <a:path extrusionOk="0" h="12124" w="20395">
                  <a:moveTo>
                    <a:pt x="3852" y="1"/>
                  </a:moveTo>
                  <a:cubicBezTo>
                    <a:pt x="3452" y="18"/>
                    <a:pt x="3051" y="35"/>
                    <a:pt x="2667" y="88"/>
                  </a:cubicBezTo>
                  <a:cubicBezTo>
                    <a:pt x="2615" y="105"/>
                    <a:pt x="2563" y="105"/>
                    <a:pt x="2510" y="105"/>
                  </a:cubicBezTo>
                  <a:cubicBezTo>
                    <a:pt x="2214" y="157"/>
                    <a:pt x="1900" y="210"/>
                    <a:pt x="1604" y="297"/>
                  </a:cubicBezTo>
                  <a:cubicBezTo>
                    <a:pt x="941" y="1465"/>
                    <a:pt x="401" y="2702"/>
                    <a:pt x="0" y="3992"/>
                  </a:cubicBezTo>
                  <a:cubicBezTo>
                    <a:pt x="244" y="4759"/>
                    <a:pt x="593" y="5509"/>
                    <a:pt x="1011" y="6189"/>
                  </a:cubicBezTo>
                  <a:cubicBezTo>
                    <a:pt x="1046" y="6258"/>
                    <a:pt x="1081" y="6311"/>
                    <a:pt x="1116" y="6363"/>
                  </a:cubicBezTo>
                  <a:cubicBezTo>
                    <a:pt x="1499" y="6973"/>
                    <a:pt x="1935" y="7531"/>
                    <a:pt x="2423" y="8036"/>
                  </a:cubicBezTo>
                  <a:cubicBezTo>
                    <a:pt x="2458" y="8071"/>
                    <a:pt x="2493" y="8106"/>
                    <a:pt x="2528" y="8141"/>
                  </a:cubicBezTo>
                  <a:cubicBezTo>
                    <a:pt x="2545" y="8158"/>
                    <a:pt x="2563" y="8193"/>
                    <a:pt x="2580" y="8211"/>
                  </a:cubicBezTo>
                  <a:cubicBezTo>
                    <a:pt x="3330" y="8978"/>
                    <a:pt x="4184" y="9657"/>
                    <a:pt x="5125" y="10198"/>
                  </a:cubicBezTo>
                  <a:cubicBezTo>
                    <a:pt x="5177" y="10233"/>
                    <a:pt x="5212" y="10250"/>
                    <a:pt x="5264" y="10285"/>
                  </a:cubicBezTo>
                  <a:cubicBezTo>
                    <a:pt x="5317" y="10320"/>
                    <a:pt x="5369" y="10337"/>
                    <a:pt x="5439" y="10372"/>
                  </a:cubicBezTo>
                  <a:cubicBezTo>
                    <a:pt x="5892" y="10616"/>
                    <a:pt x="6380" y="10843"/>
                    <a:pt x="6868" y="11035"/>
                  </a:cubicBezTo>
                  <a:lnTo>
                    <a:pt x="7025" y="11104"/>
                  </a:lnTo>
                  <a:cubicBezTo>
                    <a:pt x="8887" y="11822"/>
                    <a:pt x="10902" y="12124"/>
                    <a:pt x="12923" y="12124"/>
                  </a:cubicBezTo>
                  <a:cubicBezTo>
                    <a:pt x="13456" y="12124"/>
                    <a:pt x="13989" y="12103"/>
                    <a:pt x="14520" y="12063"/>
                  </a:cubicBezTo>
                  <a:lnTo>
                    <a:pt x="14660" y="12063"/>
                  </a:lnTo>
                  <a:cubicBezTo>
                    <a:pt x="15183" y="12011"/>
                    <a:pt x="15706" y="11958"/>
                    <a:pt x="16229" y="11871"/>
                  </a:cubicBezTo>
                  <a:cubicBezTo>
                    <a:pt x="16542" y="11819"/>
                    <a:pt x="16874" y="11767"/>
                    <a:pt x="17187" y="11697"/>
                  </a:cubicBezTo>
                  <a:cubicBezTo>
                    <a:pt x="17222" y="11679"/>
                    <a:pt x="17257" y="11679"/>
                    <a:pt x="17309" y="11662"/>
                  </a:cubicBezTo>
                  <a:cubicBezTo>
                    <a:pt x="18181" y="11488"/>
                    <a:pt x="19035" y="11191"/>
                    <a:pt x="19837" y="10790"/>
                  </a:cubicBezTo>
                  <a:lnTo>
                    <a:pt x="19959" y="10721"/>
                  </a:lnTo>
                  <a:cubicBezTo>
                    <a:pt x="19994" y="10703"/>
                    <a:pt x="20029" y="10686"/>
                    <a:pt x="20064" y="10668"/>
                  </a:cubicBezTo>
                  <a:cubicBezTo>
                    <a:pt x="20168" y="10616"/>
                    <a:pt x="20273" y="10546"/>
                    <a:pt x="20360" y="10494"/>
                  </a:cubicBezTo>
                  <a:cubicBezTo>
                    <a:pt x="20186" y="8908"/>
                    <a:pt x="20377" y="7339"/>
                    <a:pt x="20395" y="5701"/>
                  </a:cubicBezTo>
                  <a:cubicBezTo>
                    <a:pt x="19628" y="5090"/>
                    <a:pt x="18808" y="4550"/>
                    <a:pt x="17937" y="4097"/>
                  </a:cubicBezTo>
                  <a:cubicBezTo>
                    <a:pt x="16525" y="3347"/>
                    <a:pt x="15061" y="2685"/>
                    <a:pt x="13579" y="2145"/>
                  </a:cubicBezTo>
                  <a:cubicBezTo>
                    <a:pt x="13527" y="2127"/>
                    <a:pt x="13475" y="2110"/>
                    <a:pt x="13440" y="2092"/>
                  </a:cubicBezTo>
                  <a:cubicBezTo>
                    <a:pt x="12760" y="1848"/>
                    <a:pt x="12097" y="1639"/>
                    <a:pt x="11418" y="1412"/>
                  </a:cubicBezTo>
                  <a:cubicBezTo>
                    <a:pt x="11383" y="1395"/>
                    <a:pt x="11330" y="1378"/>
                    <a:pt x="11296" y="1378"/>
                  </a:cubicBezTo>
                  <a:lnTo>
                    <a:pt x="10755" y="1221"/>
                  </a:lnTo>
                  <a:lnTo>
                    <a:pt x="10633" y="1186"/>
                  </a:lnTo>
                  <a:cubicBezTo>
                    <a:pt x="9797" y="942"/>
                    <a:pt x="8977" y="733"/>
                    <a:pt x="8123" y="541"/>
                  </a:cubicBezTo>
                  <a:cubicBezTo>
                    <a:pt x="7705" y="454"/>
                    <a:pt x="7286" y="349"/>
                    <a:pt x="6851" y="279"/>
                  </a:cubicBezTo>
                  <a:cubicBezTo>
                    <a:pt x="6798" y="279"/>
                    <a:pt x="6763" y="262"/>
                    <a:pt x="6711" y="262"/>
                  </a:cubicBezTo>
                  <a:cubicBezTo>
                    <a:pt x="6519" y="227"/>
                    <a:pt x="6310" y="192"/>
                    <a:pt x="6101" y="157"/>
                  </a:cubicBezTo>
                  <a:cubicBezTo>
                    <a:pt x="6049" y="140"/>
                    <a:pt x="6014" y="140"/>
                    <a:pt x="5979" y="140"/>
                  </a:cubicBezTo>
                  <a:cubicBezTo>
                    <a:pt x="5369" y="53"/>
                    <a:pt x="4741" y="1"/>
                    <a:pt x="4131" y="1"/>
                  </a:cubicBez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0" name="Google Shape;3600;p106"/>
            <p:cNvSpPr/>
            <p:nvPr/>
          </p:nvSpPr>
          <p:spPr>
            <a:xfrm>
              <a:off x="2298125" y="2413825"/>
              <a:ext cx="670625" cy="526600"/>
            </a:xfrm>
            <a:custGeom>
              <a:rect b="b" l="l" r="r" t="t"/>
              <a:pathLst>
                <a:path extrusionOk="0" h="21064" w="26825">
                  <a:moveTo>
                    <a:pt x="14833" y="0"/>
                  </a:moveTo>
                  <a:cubicBezTo>
                    <a:pt x="14197" y="0"/>
                    <a:pt x="13495" y="188"/>
                    <a:pt x="13036" y="864"/>
                  </a:cubicBezTo>
                  <a:cubicBezTo>
                    <a:pt x="13036" y="864"/>
                    <a:pt x="12755" y="773"/>
                    <a:pt x="12247" y="773"/>
                  </a:cubicBezTo>
                  <a:cubicBezTo>
                    <a:pt x="11254" y="773"/>
                    <a:pt x="9393" y="1124"/>
                    <a:pt x="7074" y="3200"/>
                  </a:cubicBezTo>
                  <a:cubicBezTo>
                    <a:pt x="4216" y="5763"/>
                    <a:pt x="3693" y="7070"/>
                    <a:pt x="2891" y="8883"/>
                  </a:cubicBezTo>
                  <a:cubicBezTo>
                    <a:pt x="2891" y="8883"/>
                    <a:pt x="2681" y="8843"/>
                    <a:pt x="2394" y="8843"/>
                  </a:cubicBezTo>
                  <a:cubicBezTo>
                    <a:pt x="1539" y="8843"/>
                    <a:pt x="0" y="9194"/>
                    <a:pt x="1252" y="11985"/>
                  </a:cubicBezTo>
                  <a:cubicBezTo>
                    <a:pt x="2926" y="15733"/>
                    <a:pt x="5976" y="18208"/>
                    <a:pt x="11258" y="19795"/>
                  </a:cubicBezTo>
                  <a:cubicBezTo>
                    <a:pt x="13921" y="20602"/>
                    <a:pt x="16673" y="21064"/>
                    <a:pt x="19107" y="21064"/>
                  </a:cubicBezTo>
                  <a:cubicBezTo>
                    <a:pt x="21245" y="21064"/>
                    <a:pt x="23136" y="20707"/>
                    <a:pt x="24506" y="19917"/>
                  </a:cubicBezTo>
                  <a:cubicBezTo>
                    <a:pt x="24924" y="19690"/>
                    <a:pt x="24994" y="19132"/>
                    <a:pt x="24663" y="18801"/>
                  </a:cubicBezTo>
                  <a:lnTo>
                    <a:pt x="24645" y="18784"/>
                  </a:lnTo>
                  <a:cubicBezTo>
                    <a:pt x="24645" y="18784"/>
                    <a:pt x="25360" y="16204"/>
                    <a:pt x="24732" y="15785"/>
                  </a:cubicBezTo>
                  <a:cubicBezTo>
                    <a:pt x="24732" y="15785"/>
                    <a:pt x="26824" y="6948"/>
                    <a:pt x="21403" y="2677"/>
                  </a:cubicBezTo>
                  <a:cubicBezTo>
                    <a:pt x="21403" y="2677"/>
                    <a:pt x="19803" y="240"/>
                    <a:pt x="17005" y="240"/>
                  </a:cubicBezTo>
                  <a:cubicBezTo>
                    <a:pt x="16782" y="240"/>
                    <a:pt x="16551" y="256"/>
                    <a:pt x="16313" y="289"/>
                  </a:cubicBezTo>
                  <a:cubicBezTo>
                    <a:pt x="16313" y="289"/>
                    <a:pt x="15623" y="0"/>
                    <a:pt x="14833"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1" name="Google Shape;3601;p106"/>
            <p:cNvSpPr/>
            <p:nvPr/>
          </p:nvSpPr>
          <p:spPr>
            <a:xfrm>
              <a:off x="2370375" y="2635875"/>
              <a:ext cx="104625" cy="158225"/>
            </a:xfrm>
            <a:custGeom>
              <a:rect b="b" l="l" r="r" t="t"/>
              <a:pathLst>
                <a:path extrusionOk="0" fill="none" h="6329" w="4185">
                  <a:moveTo>
                    <a:pt x="1" y="1"/>
                  </a:moveTo>
                  <a:cubicBezTo>
                    <a:pt x="1" y="36"/>
                    <a:pt x="315" y="4271"/>
                    <a:pt x="4184" y="6328"/>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106"/>
            <p:cNvSpPr/>
            <p:nvPr/>
          </p:nvSpPr>
          <p:spPr>
            <a:xfrm>
              <a:off x="2468425" y="2774025"/>
              <a:ext cx="105500" cy="87625"/>
            </a:xfrm>
            <a:custGeom>
              <a:rect b="b" l="l" r="r" t="t"/>
              <a:pathLst>
                <a:path extrusionOk="0" fill="none" h="3505" w="4220">
                  <a:moveTo>
                    <a:pt x="472" y="558"/>
                  </a:moveTo>
                  <a:lnTo>
                    <a:pt x="175" y="1203"/>
                  </a:lnTo>
                  <a:cubicBezTo>
                    <a:pt x="1" y="1569"/>
                    <a:pt x="158" y="2005"/>
                    <a:pt x="524" y="2197"/>
                  </a:cubicBezTo>
                  <a:lnTo>
                    <a:pt x="2651" y="3295"/>
                  </a:lnTo>
                  <a:cubicBezTo>
                    <a:pt x="3034" y="3504"/>
                    <a:pt x="3487" y="3347"/>
                    <a:pt x="3696" y="2981"/>
                  </a:cubicBezTo>
                  <a:lnTo>
                    <a:pt x="4028" y="2319"/>
                  </a:lnTo>
                  <a:cubicBezTo>
                    <a:pt x="4219" y="1953"/>
                    <a:pt x="4080" y="1482"/>
                    <a:pt x="3696" y="1290"/>
                  </a:cubicBezTo>
                  <a:lnTo>
                    <a:pt x="1518" y="210"/>
                  </a:lnTo>
                  <a:cubicBezTo>
                    <a:pt x="1134" y="0"/>
                    <a:pt x="663" y="157"/>
                    <a:pt x="472" y="558"/>
                  </a:cubicBezTo>
                  <a:close/>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106"/>
            <p:cNvSpPr/>
            <p:nvPr/>
          </p:nvSpPr>
          <p:spPr>
            <a:xfrm>
              <a:off x="2565625" y="2843750"/>
              <a:ext cx="310300" cy="81075"/>
            </a:xfrm>
            <a:custGeom>
              <a:rect b="b" l="l" r="r" t="t"/>
              <a:pathLst>
                <a:path extrusionOk="0" fill="none" h="3243" w="12412">
                  <a:moveTo>
                    <a:pt x="0" y="0"/>
                  </a:moveTo>
                  <a:cubicBezTo>
                    <a:pt x="0" y="0"/>
                    <a:pt x="5125" y="3243"/>
                    <a:pt x="12411" y="1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4" name="Google Shape;3604;p106"/>
            <p:cNvSpPr/>
            <p:nvPr/>
          </p:nvSpPr>
          <p:spPr>
            <a:xfrm>
              <a:off x="2873725" y="2808450"/>
              <a:ext cx="42725" cy="85875"/>
            </a:xfrm>
            <a:custGeom>
              <a:rect b="b" l="l" r="r" t="t"/>
              <a:pathLst>
                <a:path extrusionOk="0" fill="none" h="3435" w="1709">
                  <a:moveTo>
                    <a:pt x="1708" y="0"/>
                  </a:moveTo>
                  <a:cubicBezTo>
                    <a:pt x="1708" y="0"/>
                    <a:pt x="366" y="157"/>
                    <a:pt x="261" y="872"/>
                  </a:cubicBezTo>
                  <a:cubicBezTo>
                    <a:pt x="174" y="1430"/>
                    <a:pt x="0" y="2999"/>
                    <a:pt x="227" y="3225"/>
                  </a:cubicBezTo>
                  <a:cubicBezTo>
                    <a:pt x="471" y="3434"/>
                    <a:pt x="1639" y="3016"/>
                    <a:pt x="1639" y="3016"/>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5" name="Google Shape;3605;p106"/>
            <p:cNvSpPr/>
            <p:nvPr/>
          </p:nvSpPr>
          <p:spPr>
            <a:xfrm>
              <a:off x="2624875" y="2435850"/>
              <a:ext cx="104625" cy="227075"/>
            </a:xfrm>
            <a:custGeom>
              <a:rect b="b" l="l" r="r" t="t"/>
              <a:pathLst>
                <a:path extrusionOk="0" fill="none" h="9083" w="4185">
                  <a:moveTo>
                    <a:pt x="1" y="1"/>
                  </a:moveTo>
                  <a:cubicBezTo>
                    <a:pt x="2389" y="2459"/>
                    <a:pt x="3853" y="5666"/>
                    <a:pt x="4184" y="9082"/>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106"/>
            <p:cNvSpPr/>
            <p:nvPr/>
          </p:nvSpPr>
          <p:spPr>
            <a:xfrm>
              <a:off x="2704625" y="2420600"/>
              <a:ext cx="84125" cy="242750"/>
            </a:xfrm>
            <a:custGeom>
              <a:rect b="b" l="l" r="r" t="t"/>
              <a:pathLst>
                <a:path extrusionOk="0" fill="none" h="9710" w="3365">
                  <a:moveTo>
                    <a:pt x="1" y="1"/>
                  </a:moveTo>
                  <a:cubicBezTo>
                    <a:pt x="1970" y="2650"/>
                    <a:pt x="3313" y="6415"/>
                    <a:pt x="3365" y="9710"/>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7" name="Google Shape;3607;p106"/>
            <p:cNvSpPr/>
            <p:nvPr/>
          </p:nvSpPr>
          <p:spPr>
            <a:xfrm>
              <a:off x="2787000" y="2441100"/>
              <a:ext cx="57100" cy="226625"/>
            </a:xfrm>
            <a:custGeom>
              <a:rect b="b" l="l" r="r" t="t"/>
              <a:pathLst>
                <a:path extrusionOk="0" fill="none" h="9065" w="2284">
                  <a:moveTo>
                    <a:pt x="0" y="0"/>
                  </a:moveTo>
                  <a:cubicBezTo>
                    <a:pt x="1499" y="2772"/>
                    <a:pt x="2284" y="5892"/>
                    <a:pt x="2231" y="9064"/>
                  </a:cubicBezTo>
                </a:path>
              </a:pathLst>
            </a:custGeom>
            <a:noFill/>
            <a:ln cap="rnd" cmpd="sng" w="3050">
              <a:solidFill>
                <a:srgbClr val="3F23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8" name="Google Shape;3608;p106"/>
            <p:cNvSpPr/>
            <p:nvPr/>
          </p:nvSpPr>
          <p:spPr>
            <a:xfrm>
              <a:off x="2429650" y="2515925"/>
              <a:ext cx="65825" cy="65125"/>
            </a:xfrm>
            <a:custGeom>
              <a:rect b="b" l="l" r="r" t="t"/>
              <a:pathLst>
                <a:path extrusionOk="0" h="2605" w="2633">
                  <a:moveTo>
                    <a:pt x="1821" y="0"/>
                  </a:moveTo>
                  <a:cubicBezTo>
                    <a:pt x="1795" y="0"/>
                    <a:pt x="1770" y="2"/>
                    <a:pt x="1744" y="5"/>
                  </a:cubicBezTo>
                  <a:cubicBezTo>
                    <a:pt x="1447" y="40"/>
                    <a:pt x="1151" y="284"/>
                    <a:pt x="959" y="511"/>
                  </a:cubicBezTo>
                  <a:cubicBezTo>
                    <a:pt x="646" y="842"/>
                    <a:pt x="402" y="1225"/>
                    <a:pt x="192" y="1626"/>
                  </a:cubicBezTo>
                  <a:cubicBezTo>
                    <a:pt x="175" y="1679"/>
                    <a:pt x="157" y="1713"/>
                    <a:pt x="123" y="1766"/>
                  </a:cubicBezTo>
                  <a:cubicBezTo>
                    <a:pt x="35" y="1923"/>
                    <a:pt x="1" y="2114"/>
                    <a:pt x="53" y="2306"/>
                  </a:cubicBezTo>
                  <a:cubicBezTo>
                    <a:pt x="135" y="2486"/>
                    <a:pt x="323" y="2604"/>
                    <a:pt x="533" y="2604"/>
                  </a:cubicBezTo>
                  <a:cubicBezTo>
                    <a:pt x="547" y="2604"/>
                    <a:pt x="561" y="2604"/>
                    <a:pt x="576" y="2602"/>
                  </a:cubicBezTo>
                  <a:cubicBezTo>
                    <a:pt x="1116" y="2550"/>
                    <a:pt x="1604" y="2289"/>
                    <a:pt x="1935" y="1870"/>
                  </a:cubicBezTo>
                  <a:cubicBezTo>
                    <a:pt x="2302" y="1469"/>
                    <a:pt x="2633" y="946"/>
                    <a:pt x="2406" y="406"/>
                  </a:cubicBezTo>
                  <a:cubicBezTo>
                    <a:pt x="2311" y="153"/>
                    <a:pt x="2073" y="0"/>
                    <a:pt x="1821"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9" name="Google Shape;3609;p106"/>
            <p:cNvSpPr/>
            <p:nvPr/>
          </p:nvSpPr>
          <p:spPr>
            <a:xfrm>
              <a:off x="2394800" y="2591425"/>
              <a:ext cx="35750" cy="34625"/>
            </a:xfrm>
            <a:custGeom>
              <a:rect b="b" l="l" r="r" t="t"/>
              <a:pathLst>
                <a:path extrusionOk="0" h="1385" w="1430">
                  <a:moveTo>
                    <a:pt x="674" y="0"/>
                  </a:moveTo>
                  <a:cubicBezTo>
                    <a:pt x="338" y="0"/>
                    <a:pt x="104" y="373"/>
                    <a:pt x="52" y="663"/>
                  </a:cubicBezTo>
                  <a:cubicBezTo>
                    <a:pt x="0" y="890"/>
                    <a:pt x="70" y="1116"/>
                    <a:pt x="262" y="1273"/>
                  </a:cubicBezTo>
                  <a:cubicBezTo>
                    <a:pt x="358" y="1345"/>
                    <a:pt x="479" y="1384"/>
                    <a:pt x="602" y="1384"/>
                  </a:cubicBezTo>
                  <a:cubicBezTo>
                    <a:pt x="657" y="1384"/>
                    <a:pt x="713" y="1377"/>
                    <a:pt x="767" y="1360"/>
                  </a:cubicBezTo>
                  <a:cubicBezTo>
                    <a:pt x="924" y="1291"/>
                    <a:pt x="1081" y="1186"/>
                    <a:pt x="1185" y="1047"/>
                  </a:cubicBezTo>
                  <a:cubicBezTo>
                    <a:pt x="1238" y="977"/>
                    <a:pt x="1273" y="907"/>
                    <a:pt x="1290" y="820"/>
                  </a:cubicBezTo>
                  <a:cubicBezTo>
                    <a:pt x="1429" y="419"/>
                    <a:pt x="1116" y="1"/>
                    <a:pt x="697" y="1"/>
                  </a:cubicBezTo>
                  <a:cubicBezTo>
                    <a:pt x="690" y="0"/>
                    <a:pt x="682" y="0"/>
                    <a:pt x="67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106"/>
            <p:cNvSpPr/>
            <p:nvPr/>
          </p:nvSpPr>
          <p:spPr>
            <a:xfrm>
              <a:off x="1059550" y="3024600"/>
              <a:ext cx="435825" cy="406175"/>
            </a:xfrm>
            <a:custGeom>
              <a:rect b="b" l="l" r="r" t="t"/>
              <a:pathLst>
                <a:path extrusionOk="0" h="16247" w="17433">
                  <a:moveTo>
                    <a:pt x="10686" y="0"/>
                  </a:moveTo>
                  <a:cubicBezTo>
                    <a:pt x="10372" y="157"/>
                    <a:pt x="7653" y="3382"/>
                    <a:pt x="5893" y="5038"/>
                  </a:cubicBezTo>
                  <a:cubicBezTo>
                    <a:pt x="4115" y="6694"/>
                    <a:pt x="1" y="9256"/>
                    <a:pt x="1" y="9256"/>
                  </a:cubicBezTo>
                  <a:lnTo>
                    <a:pt x="1622" y="16246"/>
                  </a:lnTo>
                  <a:cubicBezTo>
                    <a:pt x="1622" y="16246"/>
                    <a:pt x="6259" y="11906"/>
                    <a:pt x="6991" y="11226"/>
                  </a:cubicBezTo>
                  <a:cubicBezTo>
                    <a:pt x="7723" y="10529"/>
                    <a:pt x="9205" y="10163"/>
                    <a:pt x="11087" y="8420"/>
                  </a:cubicBezTo>
                  <a:cubicBezTo>
                    <a:pt x="12307" y="7304"/>
                    <a:pt x="12883" y="5369"/>
                    <a:pt x="12883" y="5369"/>
                  </a:cubicBezTo>
                  <a:cubicBezTo>
                    <a:pt x="13283" y="4829"/>
                    <a:pt x="13754" y="4323"/>
                    <a:pt x="14260" y="3853"/>
                  </a:cubicBezTo>
                  <a:cubicBezTo>
                    <a:pt x="15061" y="3138"/>
                    <a:pt x="17432" y="872"/>
                    <a:pt x="16805" y="349"/>
                  </a:cubicBezTo>
                  <a:cubicBezTo>
                    <a:pt x="16745" y="301"/>
                    <a:pt x="16658" y="279"/>
                    <a:pt x="16549" y="279"/>
                  </a:cubicBezTo>
                  <a:cubicBezTo>
                    <a:pt x="15517" y="279"/>
                    <a:pt x="12534" y="2249"/>
                    <a:pt x="12534" y="2249"/>
                  </a:cubicBezTo>
                  <a:cubicBezTo>
                    <a:pt x="12290" y="1796"/>
                    <a:pt x="10686" y="0"/>
                    <a:pt x="10686"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1" name="Google Shape;3611;p106"/>
            <p:cNvSpPr/>
            <p:nvPr/>
          </p:nvSpPr>
          <p:spPr>
            <a:xfrm>
              <a:off x="408500" y="2870325"/>
              <a:ext cx="872025" cy="1438550"/>
            </a:xfrm>
            <a:custGeom>
              <a:rect b="b" l="l" r="r" t="t"/>
              <a:pathLst>
                <a:path extrusionOk="0" h="57542" w="34881">
                  <a:moveTo>
                    <a:pt x="14137" y="1"/>
                  </a:moveTo>
                  <a:cubicBezTo>
                    <a:pt x="14137" y="1"/>
                    <a:pt x="4550" y="7043"/>
                    <a:pt x="1639" y="15915"/>
                  </a:cubicBezTo>
                  <a:cubicBezTo>
                    <a:pt x="105" y="20587"/>
                    <a:pt x="1" y="31830"/>
                    <a:pt x="262" y="41470"/>
                  </a:cubicBezTo>
                  <a:cubicBezTo>
                    <a:pt x="297" y="43003"/>
                    <a:pt x="349" y="44520"/>
                    <a:pt x="402" y="45949"/>
                  </a:cubicBezTo>
                  <a:cubicBezTo>
                    <a:pt x="436" y="46891"/>
                    <a:pt x="471" y="47832"/>
                    <a:pt x="524" y="48703"/>
                  </a:cubicBezTo>
                  <a:cubicBezTo>
                    <a:pt x="593" y="50377"/>
                    <a:pt x="663" y="51893"/>
                    <a:pt x="733" y="53183"/>
                  </a:cubicBezTo>
                  <a:cubicBezTo>
                    <a:pt x="890" y="55868"/>
                    <a:pt x="994" y="57541"/>
                    <a:pt x="994" y="57541"/>
                  </a:cubicBezTo>
                  <a:lnTo>
                    <a:pt x="34880" y="57541"/>
                  </a:lnTo>
                  <a:lnTo>
                    <a:pt x="34009" y="53044"/>
                  </a:lnTo>
                  <a:lnTo>
                    <a:pt x="33085" y="48163"/>
                  </a:lnTo>
                  <a:lnTo>
                    <a:pt x="32614" y="45792"/>
                  </a:lnTo>
                  <a:lnTo>
                    <a:pt x="31673" y="40859"/>
                  </a:lnTo>
                  <a:lnTo>
                    <a:pt x="27716" y="20291"/>
                  </a:lnTo>
                  <a:lnTo>
                    <a:pt x="27263" y="17955"/>
                  </a:lnTo>
                  <a:lnTo>
                    <a:pt x="23463" y="6154"/>
                  </a:lnTo>
                  <a:lnTo>
                    <a:pt x="14137" y="1"/>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2" name="Google Shape;3612;p106"/>
            <p:cNvSpPr/>
            <p:nvPr/>
          </p:nvSpPr>
          <p:spPr>
            <a:xfrm>
              <a:off x="415050" y="3892225"/>
              <a:ext cx="809250" cy="136200"/>
            </a:xfrm>
            <a:custGeom>
              <a:rect b="b" l="l" r="r" t="t"/>
              <a:pathLst>
                <a:path extrusionOk="0" h="5448" w="32370">
                  <a:moveTo>
                    <a:pt x="31411" y="1"/>
                  </a:moveTo>
                  <a:cubicBezTo>
                    <a:pt x="26350" y="764"/>
                    <a:pt x="20136" y="1003"/>
                    <a:pt x="14319" y="1003"/>
                  </a:cubicBezTo>
                  <a:cubicBezTo>
                    <a:pt x="8716" y="1003"/>
                    <a:pt x="3481" y="782"/>
                    <a:pt x="0" y="594"/>
                  </a:cubicBezTo>
                  <a:lnTo>
                    <a:pt x="0" y="594"/>
                  </a:lnTo>
                  <a:cubicBezTo>
                    <a:pt x="52" y="2145"/>
                    <a:pt x="87" y="3644"/>
                    <a:pt x="140" y="5073"/>
                  </a:cubicBezTo>
                  <a:cubicBezTo>
                    <a:pt x="3566" y="5349"/>
                    <a:pt x="7813" y="5448"/>
                    <a:pt x="12144" y="5448"/>
                  </a:cubicBezTo>
                  <a:cubicBezTo>
                    <a:pt x="20151" y="5448"/>
                    <a:pt x="28444" y="5109"/>
                    <a:pt x="32370" y="4916"/>
                  </a:cubicBezTo>
                  <a:lnTo>
                    <a:pt x="31411"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106"/>
            <p:cNvSpPr/>
            <p:nvPr/>
          </p:nvSpPr>
          <p:spPr>
            <a:xfrm>
              <a:off x="421575" y="4074825"/>
              <a:ext cx="837150" cy="134625"/>
            </a:xfrm>
            <a:custGeom>
              <a:rect b="b" l="l" r="r" t="t"/>
              <a:pathLst>
                <a:path extrusionOk="0" h="5385" w="33486">
                  <a:moveTo>
                    <a:pt x="32562" y="1"/>
                  </a:moveTo>
                  <a:cubicBezTo>
                    <a:pt x="27290" y="705"/>
                    <a:pt x="20920" y="929"/>
                    <a:pt x="14956" y="929"/>
                  </a:cubicBezTo>
                  <a:cubicBezTo>
                    <a:pt x="9108" y="929"/>
                    <a:pt x="3651" y="713"/>
                    <a:pt x="1" y="523"/>
                  </a:cubicBezTo>
                  <a:lnTo>
                    <a:pt x="1" y="523"/>
                  </a:lnTo>
                  <a:cubicBezTo>
                    <a:pt x="70" y="2214"/>
                    <a:pt x="140" y="3731"/>
                    <a:pt x="210" y="5021"/>
                  </a:cubicBezTo>
                  <a:cubicBezTo>
                    <a:pt x="3788" y="5288"/>
                    <a:pt x="8191" y="5385"/>
                    <a:pt x="12681" y="5385"/>
                  </a:cubicBezTo>
                  <a:cubicBezTo>
                    <a:pt x="20767" y="5385"/>
                    <a:pt x="29137" y="5072"/>
                    <a:pt x="33486" y="4881"/>
                  </a:cubicBezTo>
                  <a:lnTo>
                    <a:pt x="32562"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106"/>
            <p:cNvSpPr/>
            <p:nvPr/>
          </p:nvSpPr>
          <p:spPr>
            <a:xfrm>
              <a:off x="761925" y="2870325"/>
              <a:ext cx="339500" cy="507725"/>
            </a:xfrm>
            <a:custGeom>
              <a:rect b="b" l="l" r="r" t="t"/>
              <a:pathLst>
                <a:path extrusionOk="0" h="20309" w="13580">
                  <a:moveTo>
                    <a:pt x="0" y="1"/>
                  </a:moveTo>
                  <a:lnTo>
                    <a:pt x="0" y="1"/>
                  </a:lnTo>
                  <a:cubicBezTo>
                    <a:pt x="1" y="1"/>
                    <a:pt x="7287" y="9082"/>
                    <a:pt x="8873" y="11732"/>
                  </a:cubicBezTo>
                  <a:cubicBezTo>
                    <a:pt x="9901" y="13458"/>
                    <a:pt x="12115" y="17571"/>
                    <a:pt x="13579" y="20308"/>
                  </a:cubicBezTo>
                  <a:lnTo>
                    <a:pt x="13126" y="17955"/>
                  </a:lnTo>
                  <a:lnTo>
                    <a:pt x="9326" y="6154"/>
                  </a:lnTo>
                  <a:lnTo>
                    <a:pt x="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5" name="Google Shape;3615;p106"/>
            <p:cNvSpPr/>
            <p:nvPr/>
          </p:nvSpPr>
          <p:spPr>
            <a:xfrm>
              <a:off x="653850" y="3836450"/>
              <a:ext cx="214425" cy="491600"/>
            </a:xfrm>
            <a:custGeom>
              <a:rect b="b" l="l" r="r" t="t"/>
              <a:pathLst>
                <a:path extrusionOk="0" h="19664" w="8577">
                  <a:moveTo>
                    <a:pt x="2929" y="1"/>
                  </a:moveTo>
                  <a:lnTo>
                    <a:pt x="192" y="558"/>
                  </a:lnTo>
                  <a:lnTo>
                    <a:pt x="0" y="19593"/>
                  </a:lnTo>
                  <a:lnTo>
                    <a:pt x="8577" y="19663"/>
                  </a:lnTo>
                  <a:lnTo>
                    <a:pt x="2929" y="1"/>
                  </a:lnTo>
                  <a:close/>
                </a:path>
              </a:pathLst>
            </a:custGeom>
            <a:solidFill>
              <a:srgbClr val="000000">
                <a:alpha val="485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6" name="Google Shape;3616;p106"/>
            <p:cNvSpPr/>
            <p:nvPr/>
          </p:nvSpPr>
          <p:spPr>
            <a:xfrm>
              <a:off x="680875" y="3851225"/>
              <a:ext cx="327725" cy="449350"/>
            </a:xfrm>
            <a:custGeom>
              <a:rect b="b" l="l" r="r" t="t"/>
              <a:pathLst>
                <a:path extrusionOk="0" h="17974" w="13109">
                  <a:moveTo>
                    <a:pt x="619" y="1"/>
                  </a:moveTo>
                  <a:cubicBezTo>
                    <a:pt x="229" y="1"/>
                    <a:pt x="0" y="12"/>
                    <a:pt x="0" y="37"/>
                  </a:cubicBezTo>
                  <a:cubicBezTo>
                    <a:pt x="0" y="37"/>
                    <a:pt x="506" y="5964"/>
                    <a:pt x="1534" y="9589"/>
                  </a:cubicBezTo>
                  <a:cubicBezTo>
                    <a:pt x="2545" y="13233"/>
                    <a:pt x="3887" y="17974"/>
                    <a:pt x="3887" y="17974"/>
                  </a:cubicBezTo>
                  <a:lnTo>
                    <a:pt x="13108" y="17974"/>
                  </a:lnTo>
                  <a:cubicBezTo>
                    <a:pt x="13108" y="17974"/>
                    <a:pt x="11174" y="10025"/>
                    <a:pt x="11086" y="8073"/>
                  </a:cubicBezTo>
                  <a:cubicBezTo>
                    <a:pt x="10999" y="6121"/>
                    <a:pt x="10581" y="368"/>
                    <a:pt x="10581" y="368"/>
                  </a:cubicBezTo>
                  <a:cubicBezTo>
                    <a:pt x="10581" y="368"/>
                    <a:pt x="2883" y="1"/>
                    <a:pt x="619"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7" name="Google Shape;3617;p106"/>
            <p:cNvSpPr/>
            <p:nvPr/>
          </p:nvSpPr>
          <p:spPr>
            <a:xfrm>
              <a:off x="543600" y="3142625"/>
              <a:ext cx="587025" cy="734825"/>
            </a:xfrm>
            <a:custGeom>
              <a:rect b="b" l="l" r="r" t="t"/>
              <a:pathLst>
                <a:path extrusionOk="0" h="29393" w="23481">
                  <a:moveTo>
                    <a:pt x="12529" y="1"/>
                  </a:moveTo>
                  <a:cubicBezTo>
                    <a:pt x="12305" y="1"/>
                    <a:pt x="12074" y="13"/>
                    <a:pt x="11836" y="38"/>
                  </a:cubicBezTo>
                  <a:cubicBezTo>
                    <a:pt x="0" y="1311"/>
                    <a:pt x="3382" y="29218"/>
                    <a:pt x="3382" y="29218"/>
                  </a:cubicBezTo>
                  <a:lnTo>
                    <a:pt x="18861" y="29392"/>
                  </a:lnTo>
                  <a:cubicBezTo>
                    <a:pt x="18861" y="29392"/>
                    <a:pt x="23481" y="1"/>
                    <a:pt x="12529"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106"/>
            <p:cNvSpPr/>
            <p:nvPr/>
          </p:nvSpPr>
          <p:spPr>
            <a:xfrm>
              <a:off x="757125" y="2395650"/>
              <a:ext cx="510700" cy="628525"/>
            </a:xfrm>
            <a:custGeom>
              <a:rect b="b" l="l" r="r" t="t"/>
              <a:pathLst>
                <a:path extrusionOk="0" h="25141" w="20428">
                  <a:moveTo>
                    <a:pt x="11774" y="1"/>
                  </a:moveTo>
                  <a:cubicBezTo>
                    <a:pt x="11572" y="1"/>
                    <a:pt x="11366" y="8"/>
                    <a:pt x="11157" y="23"/>
                  </a:cubicBezTo>
                  <a:cubicBezTo>
                    <a:pt x="4690" y="458"/>
                    <a:pt x="1" y="4903"/>
                    <a:pt x="820" y="10673"/>
                  </a:cubicBezTo>
                  <a:cubicBezTo>
                    <a:pt x="820" y="10673"/>
                    <a:pt x="1012" y="13410"/>
                    <a:pt x="1639" y="15379"/>
                  </a:cubicBezTo>
                  <a:lnTo>
                    <a:pt x="175" y="18988"/>
                  </a:lnTo>
                  <a:cubicBezTo>
                    <a:pt x="175" y="18988"/>
                    <a:pt x="4864" y="23311"/>
                    <a:pt x="9501" y="25141"/>
                  </a:cubicBezTo>
                  <a:lnTo>
                    <a:pt x="10947" y="23067"/>
                  </a:lnTo>
                  <a:cubicBezTo>
                    <a:pt x="10947" y="23067"/>
                    <a:pt x="12616" y="23689"/>
                    <a:pt x="14252" y="23689"/>
                  </a:cubicBezTo>
                  <a:cubicBezTo>
                    <a:pt x="15270" y="23689"/>
                    <a:pt x="16275" y="23448"/>
                    <a:pt x="16857" y="22666"/>
                  </a:cubicBezTo>
                  <a:cubicBezTo>
                    <a:pt x="17310" y="22056"/>
                    <a:pt x="17815" y="20713"/>
                    <a:pt x="18269" y="19092"/>
                  </a:cubicBezTo>
                  <a:cubicBezTo>
                    <a:pt x="18286" y="19040"/>
                    <a:pt x="18303" y="19005"/>
                    <a:pt x="18303" y="18970"/>
                  </a:cubicBezTo>
                  <a:cubicBezTo>
                    <a:pt x="18391" y="18709"/>
                    <a:pt x="18443" y="18447"/>
                    <a:pt x="18530" y="18186"/>
                  </a:cubicBezTo>
                  <a:cubicBezTo>
                    <a:pt x="18728" y="18222"/>
                    <a:pt x="18977" y="18258"/>
                    <a:pt x="19217" y="18258"/>
                  </a:cubicBezTo>
                  <a:cubicBezTo>
                    <a:pt x="19442" y="18258"/>
                    <a:pt x="19660" y="18226"/>
                    <a:pt x="19820" y="18134"/>
                  </a:cubicBezTo>
                  <a:cubicBezTo>
                    <a:pt x="20256" y="17890"/>
                    <a:pt x="19907" y="13514"/>
                    <a:pt x="19820" y="12294"/>
                  </a:cubicBezTo>
                  <a:cubicBezTo>
                    <a:pt x="20081" y="11004"/>
                    <a:pt x="20256" y="9697"/>
                    <a:pt x="20360" y="8390"/>
                  </a:cubicBezTo>
                  <a:cubicBezTo>
                    <a:pt x="20428" y="6366"/>
                    <a:pt x="17802" y="1"/>
                    <a:pt x="11774"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9" name="Google Shape;3619;p106"/>
            <p:cNvSpPr/>
            <p:nvPr/>
          </p:nvSpPr>
          <p:spPr>
            <a:xfrm>
              <a:off x="739250" y="2372900"/>
              <a:ext cx="547375" cy="458300"/>
            </a:xfrm>
            <a:custGeom>
              <a:rect b="b" l="l" r="r" t="t"/>
              <a:pathLst>
                <a:path extrusionOk="0" h="18332" w="21895">
                  <a:moveTo>
                    <a:pt x="13509" y="0"/>
                  </a:moveTo>
                  <a:cubicBezTo>
                    <a:pt x="12920" y="0"/>
                    <a:pt x="12334" y="144"/>
                    <a:pt x="11802" y="410"/>
                  </a:cubicBezTo>
                  <a:cubicBezTo>
                    <a:pt x="11394" y="141"/>
                    <a:pt x="10920" y="5"/>
                    <a:pt x="10446" y="5"/>
                  </a:cubicBezTo>
                  <a:cubicBezTo>
                    <a:pt x="10149" y="5"/>
                    <a:pt x="9852" y="58"/>
                    <a:pt x="9571" y="166"/>
                  </a:cubicBezTo>
                  <a:cubicBezTo>
                    <a:pt x="9117" y="392"/>
                    <a:pt x="8717" y="706"/>
                    <a:pt x="8385" y="1089"/>
                  </a:cubicBezTo>
                  <a:cubicBezTo>
                    <a:pt x="8003" y="957"/>
                    <a:pt x="7593" y="890"/>
                    <a:pt x="7182" y="890"/>
                  </a:cubicBezTo>
                  <a:cubicBezTo>
                    <a:pt x="6246" y="890"/>
                    <a:pt x="5308" y="1236"/>
                    <a:pt x="4690" y="1926"/>
                  </a:cubicBezTo>
                  <a:cubicBezTo>
                    <a:pt x="4394" y="2223"/>
                    <a:pt x="4202" y="2606"/>
                    <a:pt x="4167" y="3024"/>
                  </a:cubicBezTo>
                  <a:cubicBezTo>
                    <a:pt x="3749" y="3094"/>
                    <a:pt x="3348" y="3234"/>
                    <a:pt x="2982" y="3443"/>
                  </a:cubicBezTo>
                  <a:cubicBezTo>
                    <a:pt x="2703" y="3652"/>
                    <a:pt x="2459" y="3896"/>
                    <a:pt x="2250" y="4192"/>
                  </a:cubicBezTo>
                  <a:cubicBezTo>
                    <a:pt x="1883" y="4663"/>
                    <a:pt x="1587" y="5186"/>
                    <a:pt x="1378" y="5744"/>
                  </a:cubicBezTo>
                  <a:cubicBezTo>
                    <a:pt x="1169" y="6301"/>
                    <a:pt x="1151" y="6911"/>
                    <a:pt x="1308" y="7487"/>
                  </a:cubicBezTo>
                  <a:cubicBezTo>
                    <a:pt x="1552" y="8358"/>
                    <a:pt x="1517" y="8463"/>
                    <a:pt x="1500" y="9369"/>
                  </a:cubicBezTo>
                  <a:cubicBezTo>
                    <a:pt x="1500" y="10293"/>
                    <a:pt x="838" y="11705"/>
                    <a:pt x="1535" y="12298"/>
                  </a:cubicBezTo>
                  <a:cubicBezTo>
                    <a:pt x="1535" y="12298"/>
                    <a:pt x="1" y="14320"/>
                    <a:pt x="838" y="15557"/>
                  </a:cubicBezTo>
                  <a:cubicBezTo>
                    <a:pt x="1233" y="16155"/>
                    <a:pt x="1735" y="16310"/>
                    <a:pt x="2147" y="16310"/>
                  </a:cubicBezTo>
                  <a:cubicBezTo>
                    <a:pt x="2589" y="16310"/>
                    <a:pt x="2929" y="16133"/>
                    <a:pt x="2929" y="16133"/>
                  </a:cubicBezTo>
                  <a:lnTo>
                    <a:pt x="2929" y="16133"/>
                  </a:lnTo>
                  <a:cubicBezTo>
                    <a:pt x="2929" y="16133"/>
                    <a:pt x="2738" y="17963"/>
                    <a:pt x="4760" y="18294"/>
                  </a:cubicBezTo>
                  <a:cubicBezTo>
                    <a:pt x="4925" y="18319"/>
                    <a:pt x="5087" y="18331"/>
                    <a:pt x="5244" y="18331"/>
                  </a:cubicBezTo>
                  <a:cubicBezTo>
                    <a:pt x="7030" y="18331"/>
                    <a:pt x="8281" y="16830"/>
                    <a:pt x="8281" y="16830"/>
                  </a:cubicBezTo>
                  <a:cubicBezTo>
                    <a:pt x="8281" y="16830"/>
                    <a:pt x="8744" y="18126"/>
                    <a:pt x="9969" y="18126"/>
                  </a:cubicBezTo>
                  <a:cubicBezTo>
                    <a:pt x="10151" y="18126"/>
                    <a:pt x="10349" y="18098"/>
                    <a:pt x="10564" y="18033"/>
                  </a:cubicBezTo>
                  <a:cubicBezTo>
                    <a:pt x="12255" y="17527"/>
                    <a:pt x="13231" y="13622"/>
                    <a:pt x="13231" y="13622"/>
                  </a:cubicBezTo>
                  <a:cubicBezTo>
                    <a:pt x="13231" y="13622"/>
                    <a:pt x="13842" y="13159"/>
                    <a:pt x="14479" y="13159"/>
                  </a:cubicBezTo>
                  <a:cubicBezTo>
                    <a:pt x="14689" y="13159"/>
                    <a:pt x="14902" y="13210"/>
                    <a:pt x="15096" y="13344"/>
                  </a:cubicBezTo>
                  <a:cubicBezTo>
                    <a:pt x="15866" y="13857"/>
                    <a:pt x="15410" y="16100"/>
                    <a:pt x="16283" y="16100"/>
                  </a:cubicBezTo>
                  <a:cubicBezTo>
                    <a:pt x="16300" y="16100"/>
                    <a:pt x="16317" y="16099"/>
                    <a:pt x="16334" y="16098"/>
                  </a:cubicBezTo>
                  <a:cubicBezTo>
                    <a:pt x="17293" y="16011"/>
                    <a:pt x="18408" y="12106"/>
                    <a:pt x="18408" y="12106"/>
                  </a:cubicBezTo>
                  <a:cubicBezTo>
                    <a:pt x="18408" y="12106"/>
                    <a:pt x="18698" y="12225"/>
                    <a:pt x="19100" y="12225"/>
                  </a:cubicBezTo>
                  <a:cubicBezTo>
                    <a:pt x="19694" y="12225"/>
                    <a:pt x="20531" y="11965"/>
                    <a:pt x="21040" y="10677"/>
                  </a:cubicBezTo>
                  <a:cubicBezTo>
                    <a:pt x="21895" y="8515"/>
                    <a:pt x="20657" y="6493"/>
                    <a:pt x="20657" y="6493"/>
                  </a:cubicBezTo>
                  <a:cubicBezTo>
                    <a:pt x="20657" y="6493"/>
                    <a:pt x="21093" y="3478"/>
                    <a:pt x="19576" y="2467"/>
                  </a:cubicBezTo>
                  <a:cubicBezTo>
                    <a:pt x="18772" y="1915"/>
                    <a:pt x="17826" y="1620"/>
                    <a:pt x="16866" y="1620"/>
                  </a:cubicBezTo>
                  <a:cubicBezTo>
                    <a:pt x="16764" y="1620"/>
                    <a:pt x="16663" y="1623"/>
                    <a:pt x="16561" y="1630"/>
                  </a:cubicBezTo>
                  <a:cubicBezTo>
                    <a:pt x="16038" y="880"/>
                    <a:pt x="15271" y="340"/>
                    <a:pt x="14399" y="113"/>
                  </a:cubicBezTo>
                  <a:cubicBezTo>
                    <a:pt x="14106" y="37"/>
                    <a:pt x="13807" y="0"/>
                    <a:pt x="13509"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0" name="Google Shape;3620;p106"/>
            <p:cNvSpPr/>
            <p:nvPr/>
          </p:nvSpPr>
          <p:spPr>
            <a:xfrm>
              <a:off x="1034725" y="2695675"/>
              <a:ext cx="115500" cy="138575"/>
            </a:xfrm>
            <a:custGeom>
              <a:rect b="b" l="l" r="r" t="t"/>
              <a:pathLst>
                <a:path extrusionOk="0" h="5543" w="4620">
                  <a:moveTo>
                    <a:pt x="2443" y="1"/>
                  </a:moveTo>
                  <a:cubicBezTo>
                    <a:pt x="2171" y="1"/>
                    <a:pt x="1901" y="56"/>
                    <a:pt x="1656" y="154"/>
                  </a:cubicBezTo>
                  <a:cubicBezTo>
                    <a:pt x="1011" y="433"/>
                    <a:pt x="593" y="1078"/>
                    <a:pt x="366" y="1757"/>
                  </a:cubicBezTo>
                  <a:cubicBezTo>
                    <a:pt x="0" y="2803"/>
                    <a:pt x="87" y="4128"/>
                    <a:pt x="907" y="4860"/>
                  </a:cubicBezTo>
                  <a:cubicBezTo>
                    <a:pt x="1395" y="5313"/>
                    <a:pt x="2075" y="5470"/>
                    <a:pt x="2737" y="5523"/>
                  </a:cubicBezTo>
                  <a:cubicBezTo>
                    <a:pt x="2824" y="5536"/>
                    <a:pt x="2910" y="5543"/>
                    <a:pt x="2996" y="5543"/>
                  </a:cubicBezTo>
                  <a:cubicBezTo>
                    <a:pt x="3239" y="5543"/>
                    <a:pt x="3477" y="5491"/>
                    <a:pt x="3696" y="5400"/>
                  </a:cubicBezTo>
                  <a:cubicBezTo>
                    <a:pt x="4149" y="5139"/>
                    <a:pt x="4306" y="4564"/>
                    <a:pt x="4393" y="4041"/>
                  </a:cubicBezTo>
                  <a:cubicBezTo>
                    <a:pt x="4620" y="2542"/>
                    <a:pt x="4620" y="311"/>
                    <a:pt x="2789" y="32"/>
                  </a:cubicBezTo>
                  <a:cubicBezTo>
                    <a:pt x="2675" y="11"/>
                    <a:pt x="2559" y="1"/>
                    <a:pt x="2443"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1" name="Google Shape;3621;p106"/>
            <p:cNvSpPr/>
            <p:nvPr/>
          </p:nvSpPr>
          <p:spPr>
            <a:xfrm>
              <a:off x="1036900" y="2784050"/>
              <a:ext cx="81950" cy="45775"/>
            </a:xfrm>
            <a:custGeom>
              <a:rect b="b" l="l" r="r" t="t"/>
              <a:pathLst>
                <a:path extrusionOk="0" fill="none" h="1831" w="3278">
                  <a:moveTo>
                    <a:pt x="0" y="0"/>
                  </a:moveTo>
                  <a:cubicBezTo>
                    <a:pt x="210" y="663"/>
                    <a:pt x="680" y="1221"/>
                    <a:pt x="1308" y="1517"/>
                  </a:cubicBezTo>
                  <a:cubicBezTo>
                    <a:pt x="1935" y="1796"/>
                    <a:pt x="2633" y="1831"/>
                    <a:pt x="3277" y="162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2" name="Google Shape;3622;p106"/>
            <p:cNvSpPr/>
            <p:nvPr/>
          </p:nvSpPr>
          <p:spPr>
            <a:xfrm>
              <a:off x="1092250" y="2743075"/>
              <a:ext cx="20075" cy="45800"/>
            </a:xfrm>
            <a:custGeom>
              <a:rect b="b" l="l" r="r" t="t"/>
              <a:pathLst>
                <a:path extrusionOk="0" fill="none" h="1832" w="803">
                  <a:moveTo>
                    <a:pt x="0" y="1"/>
                  </a:moveTo>
                  <a:cubicBezTo>
                    <a:pt x="506" y="489"/>
                    <a:pt x="785" y="1151"/>
                    <a:pt x="802" y="1831"/>
                  </a:cubicBezTo>
                </a:path>
              </a:pathLst>
            </a:custGeom>
            <a:noFill/>
            <a:ln cap="rnd" cmpd="sng" w="3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106"/>
            <p:cNvSpPr/>
            <p:nvPr/>
          </p:nvSpPr>
          <p:spPr>
            <a:xfrm>
              <a:off x="1209475" y="2751600"/>
              <a:ext cx="21800" cy="29625"/>
            </a:xfrm>
            <a:custGeom>
              <a:rect b="b" l="l" r="r" t="t"/>
              <a:pathLst>
                <a:path extrusionOk="0" h="1185" w="872">
                  <a:moveTo>
                    <a:pt x="519" y="1"/>
                  </a:moveTo>
                  <a:cubicBezTo>
                    <a:pt x="341" y="1"/>
                    <a:pt x="149" y="213"/>
                    <a:pt x="70" y="497"/>
                  </a:cubicBezTo>
                  <a:cubicBezTo>
                    <a:pt x="0" y="828"/>
                    <a:pt x="87" y="1124"/>
                    <a:pt x="297" y="1176"/>
                  </a:cubicBezTo>
                  <a:cubicBezTo>
                    <a:pt x="316" y="1182"/>
                    <a:pt x="336" y="1184"/>
                    <a:pt x="357" y="1184"/>
                  </a:cubicBezTo>
                  <a:cubicBezTo>
                    <a:pt x="533" y="1184"/>
                    <a:pt x="724" y="985"/>
                    <a:pt x="802" y="688"/>
                  </a:cubicBezTo>
                  <a:cubicBezTo>
                    <a:pt x="872" y="374"/>
                    <a:pt x="785" y="61"/>
                    <a:pt x="575" y="8"/>
                  </a:cubicBezTo>
                  <a:cubicBezTo>
                    <a:pt x="557" y="3"/>
                    <a:pt x="538" y="1"/>
                    <a:pt x="51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4" name="Google Shape;3624;p106"/>
            <p:cNvSpPr/>
            <p:nvPr/>
          </p:nvSpPr>
          <p:spPr>
            <a:xfrm>
              <a:off x="1188975" y="2853700"/>
              <a:ext cx="26175" cy="19275"/>
            </a:xfrm>
            <a:custGeom>
              <a:rect b="b" l="l" r="r" t="t"/>
              <a:pathLst>
                <a:path extrusionOk="0" h="771" w="1047">
                  <a:moveTo>
                    <a:pt x="79" y="1"/>
                  </a:moveTo>
                  <a:cubicBezTo>
                    <a:pt x="65" y="1"/>
                    <a:pt x="51" y="6"/>
                    <a:pt x="36" y="21"/>
                  </a:cubicBezTo>
                  <a:cubicBezTo>
                    <a:pt x="1" y="38"/>
                    <a:pt x="1" y="73"/>
                    <a:pt x="18" y="90"/>
                  </a:cubicBezTo>
                  <a:cubicBezTo>
                    <a:pt x="262" y="439"/>
                    <a:pt x="611" y="666"/>
                    <a:pt x="1012" y="770"/>
                  </a:cubicBezTo>
                  <a:cubicBezTo>
                    <a:pt x="1029" y="718"/>
                    <a:pt x="1029" y="683"/>
                    <a:pt x="1047" y="648"/>
                  </a:cubicBezTo>
                  <a:cubicBezTo>
                    <a:pt x="663" y="561"/>
                    <a:pt x="350" y="335"/>
                    <a:pt x="123" y="21"/>
                  </a:cubicBezTo>
                  <a:cubicBezTo>
                    <a:pt x="113" y="11"/>
                    <a:pt x="97" y="1"/>
                    <a:pt x="7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5" name="Google Shape;3625;p106"/>
            <p:cNvSpPr/>
            <p:nvPr/>
          </p:nvSpPr>
          <p:spPr>
            <a:xfrm>
              <a:off x="1199875" y="2698900"/>
              <a:ext cx="45775" cy="27650"/>
            </a:xfrm>
            <a:custGeom>
              <a:rect b="b" l="l" r="r" t="t"/>
              <a:pathLst>
                <a:path extrusionOk="0" h="1106" w="1831">
                  <a:moveTo>
                    <a:pt x="999" y="1"/>
                  </a:moveTo>
                  <a:cubicBezTo>
                    <a:pt x="689" y="1"/>
                    <a:pt x="363" y="176"/>
                    <a:pt x="123" y="478"/>
                  </a:cubicBezTo>
                  <a:cubicBezTo>
                    <a:pt x="36" y="565"/>
                    <a:pt x="1" y="687"/>
                    <a:pt x="18" y="809"/>
                  </a:cubicBezTo>
                  <a:cubicBezTo>
                    <a:pt x="53" y="949"/>
                    <a:pt x="210" y="1001"/>
                    <a:pt x="349" y="1036"/>
                  </a:cubicBezTo>
                  <a:cubicBezTo>
                    <a:pt x="570" y="1082"/>
                    <a:pt x="799" y="1105"/>
                    <a:pt x="1030" y="1105"/>
                  </a:cubicBezTo>
                  <a:cubicBezTo>
                    <a:pt x="1145" y="1105"/>
                    <a:pt x="1262" y="1100"/>
                    <a:pt x="1378" y="1088"/>
                  </a:cubicBezTo>
                  <a:cubicBezTo>
                    <a:pt x="1535" y="1071"/>
                    <a:pt x="1744" y="1001"/>
                    <a:pt x="1814" y="844"/>
                  </a:cubicBezTo>
                  <a:cubicBezTo>
                    <a:pt x="1831" y="739"/>
                    <a:pt x="1814" y="617"/>
                    <a:pt x="1761" y="530"/>
                  </a:cubicBezTo>
                  <a:cubicBezTo>
                    <a:pt x="1582" y="163"/>
                    <a:pt x="1298" y="1"/>
                    <a:pt x="99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6" name="Google Shape;3626;p106"/>
            <p:cNvSpPr/>
            <p:nvPr/>
          </p:nvSpPr>
          <p:spPr>
            <a:xfrm>
              <a:off x="749725" y="2571500"/>
              <a:ext cx="512500" cy="142450"/>
            </a:xfrm>
            <a:custGeom>
              <a:rect b="b" l="l" r="r" t="t"/>
              <a:pathLst>
                <a:path extrusionOk="0" h="5698" w="20500">
                  <a:moveTo>
                    <a:pt x="17000" y="1"/>
                  </a:moveTo>
                  <a:cubicBezTo>
                    <a:pt x="13634" y="1"/>
                    <a:pt x="750" y="1495"/>
                    <a:pt x="750" y="1495"/>
                  </a:cubicBezTo>
                  <a:cubicBezTo>
                    <a:pt x="750" y="1495"/>
                    <a:pt x="0" y="3866"/>
                    <a:pt x="1116" y="4354"/>
                  </a:cubicBezTo>
                  <a:cubicBezTo>
                    <a:pt x="1967" y="4732"/>
                    <a:pt x="6236" y="5698"/>
                    <a:pt x="8882" y="5698"/>
                  </a:cubicBezTo>
                  <a:cubicBezTo>
                    <a:pt x="9649" y="5698"/>
                    <a:pt x="10279" y="5617"/>
                    <a:pt x="10651" y="5417"/>
                  </a:cubicBezTo>
                  <a:cubicBezTo>
                    <a:pt x="12289" y="4545"/>
                    <a:pt x="12132" y="2837"/>
                    <a:pt x="14364" y="2332"/>
                  </a:cubicBezTo>
                  <a:cubicBezTo>
                    <a:pt x="16612" y="1826"/>
                    <a:pt x="20499" y="1652"/>
                    <a:pt x="20499" y="1652"/>
                  </a:cubicBezTo>
                  <a:cubicBezTo>
                    <a:pt x="20499" y="1652"/>
                    <a:pt x="19872" y="188"/>
                    <a:pt x="17449" y="13"/>
                  </a:cubicBezTo>
                  <a:cubicBezTo>
                    <a:pt x="17328" y="5"/>
                    <a:pt x="17177" y="1"/>
                    <a:pt x="17000"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106"/>
            <p:cNvSpPr/>
            <p:nvPr/>
          </p:nvSpPr>
          <p:spPr>
            <a:xfrm>
              <a:off x="696550" y="2277325"/>
              <a:ext cx="696850" cy="391025"/>
            </a:xfrm>
            <a:custGeom>
              <a:rect b="b" l="l" r="r" t="t"/>
              <a:pathLst>
                <a:path extrusionOk="0" h="15641" w="27874">
                  <a:moveTo>
                    <a:pt x="13987" y="1"/>
                  </a:moveTo>
                  <a:cubicBezTo>
                    <a:pt x="13433" y="1"/>
                    <a:pt x="12877" y="40"/>
                    <a:pt x="12325" y="119"/>
                  </a:cubicBezTo>
                  <a:cubicBezTo>
                    <a:pt x="12150" y="136"/>
                    <a:pt x="11993" y="171"/>
                    <a:pt x="11836" y="189"/>
                  </a:cubicBezTo>
                  <a:cubicBezTo>
                    <a:pt x="9675" y="555"/>
                    <a:pt x="7670" y="1601"/>
                    <a:pt x="6136" y="3169"/>
                  </a:cubicBezTo>
                  <a:cubicBezTo>
                    <a:pt x="3992" y="5383"/>
                    <a:pt x="2511" y="8155"/>
                    <a:pt x="1848" y="11170"/>
                  </a:cubicBezTo>
                  <a:cubicBezTo>
                    <a:pt x="1848" y="11170"/>
                    <a:pt x="1" y="11885"/>
                    <a:pt x="471" y="13192"/>
                  </a:cubicBezTo>
                  <a:cubicBezTo>
                    <a:pt x="471" y="13192"/>
                    <a:pt x="855" y="14378"/>
                    <a:pt x="5422" y="15057"/>
                  </a:cubicBezTo>
                  <a:cubicBezTo>
                    <a:pt x="7646" y="15380"/>
                    <a:pt x="8957" y="15579"/>
                    <a:pt x="9917" y="15579"/>
                  </a:cubicBezTo>
                  <a:cubicBezTo>
                    <a:pt x="10929" y="15579"/>
                    <a:pt x="11552" y="15358"/>
                    <a:pt x="12447" y="14831"/>
                  </a:cubicBezTo>
                  <a:cubicBezTo>
                    <a:pt x="14006" y="13902"/>
                    <a:pt x="15124" y="13058"/>
                    <a:pt x="17420" y="13058"/>
                  </a:cubicBezTo>
                  <a:cubicBezTo>
                    <a:pt x="17666" y="13058"/>
                    <a:pt x="17925" y="13068"/>
                    <a:pt x="18199" y="13088"/>
                  </a:cubicBezTo>
                  <a:cubicBezTo>
                    <a:pt x="21023" y="13297"/>
                    <a:pt x="21703" y="14482"/>
                    <a:pt x="23393" y="15075"/>
                  </a:cubicBezTo>
                  <a:cubicBezTo>
                    <a:pt x="24422" y="15435"/>
                    <a:pt x="25798" y="15641"/>
                    <a:pt x="26735" y="15641"/>
                  </a:cubicBezTo>
                  <a:cubicBezTo>
                    <a:pt x="27338" y="15641"/>
                    <a:pt x="27759" y="15556"/>
                    <a:pt x="27786" y="15371"/>
                  </a:cubicBezTo>
                  <a:cubicBezTo>
                    <a:pt x="27873" y="14970"/>
                    <a:pt x="25694" y="14465"/>
                    <a:pt x="25154" y="14134"/>
                  </a:cubicBezTo>
                  <a:cubicBezTo>
                    <a:pt x="25084" y="14099"/>
                    <a:pt x="25049" y="14046"/>
                    <a:pt x="25049" y="13994"/>
                  </a:cubicBezTo>
                  <a:lnTo>
                    <a:pt x="25049" y="13977"/>
                  </a:lnTo>
                  <a:cubicBezTo>
                    <a:pt x="25067" y="13611"/>
                    <a:pt x="24910" y="12007"/>
                    <a:pt x="24439" y="11763"/>
                  </a:cubicBezTo>
                  <a:cubicBezTo>
                    <a:pt x="24683" y="10037"/>
                    <a:pt x="24282" y="8294"/>
                    <a:pt x="23306" y="6847"/>
                  </a:cubicBezTo>
                  <a:cubicBezTo>
                    <a:pt x="21650" y="4407"/>
                    <a:pt x="20430" y="3257"/>
                    <a:pt x="20430" y="3257"/>
                  </a:cubicBezTo>
                  <a:cubicBezTo>
                    <a:pt x="20430" y="3187"/>
                    <a:pt x="20413" y="3117"/>
                    <a:pt x="20413" y="3065"/>
                  </a:cubicBezTo>
                  <a:cubicBezTo>
                    <a:pt x="20395" y="3030"/>
                    <a:pt x="20395" y="2978"/>
                    <a:pt x="20378" y="2943"/>
                  </a:cubicBezTo>
                  <a:cubicBezTo>
                    <a:pt x="20256" y="2490"/>
                    <a:pt x="19855" y="1653"/>
                    <a:pt x="18513" y="973"/>
                  </a:cubicBezTo>
                  <a:cubicBezTo>
                    <a:pt x="18425" y="921"/>
                    <a:pt x="18338" y="886"/>
                    <a:pt x="18269" y="851"/>
                  </a:cubicBezTo>
                  <a:cubicBezTo>
                    <a:pt x="18112" y="764"/>
                    <a:pt x="17937" y="694"/>
                    <a:pt x="17763" y="624"/>
                  </a:cubicBezTo>
                  <a:cubicBezTo>
                    <a:pt x="16546" y="211"/>
                    <a:pt x="15270" y="1"/>
                    <a:pt x="1398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8" name="Google Shape;3628;p106"/>
            <p:cNvSpPr/>
            <p:nvPr/>
          </p:nvSpPr>
          <p:spPr>
            <a:xfrm>
              <a:off x="741000" y="2553375"/>
              <a:ext cx="584400" cy="76875"/>
            </a:xfrm>
            <a:custGeom>
              <a:rect b="b" l="l" r="r" t="t"/>
              <a:pathLst>
                <a:path extrusionOk="0" h="3075" w="23376">
                  <a:moveTo>
                    <a:pt x="14421" y="1"/>
                  </a:moveTo>
                  <a:cubicBezTo>
                    <a:pt x="13626" y="1"/>
                    <a:pt x="12883" y="125"/>
                    <a:pt x="12220" y="372"/>
                  </a:cubicBezTo>
                  <a:cubicBezTo>
                    <a:pt x="11784" y="547"/>
                    <a:pt x="11348" y="773"/>
                    <a:pt x="10930" y="1000"/>
                  </a:cubicBezTo>
                  <a:cubicBezTo>
                    <a:pt x="10581" y="1192"/>
                    <a:pt x="10233" y="1383"/>
                    <a:pt x="9867" y="1540"/>
                  </a:cubicBezTo>
                  <a:cubicBezTo>
                    <a:pt x="9017" y="1901"/>
                    <a:pt x="8045" y="2088"/>
                    <a:pt x="6998" y="2088"/>
                  </a:cubicBezTo>
                  <a:cubicBezTo>
                    <a:pt x="6325" y="2088"/>
                    <a:pt x="5621" y="2011"/>
                    <a:pt x="4899" y="1854"/>
                  </a:cubicBezTo>
                  <a:cubicBezTo>
                    <a:pt x="3225" y="1523"/>
                    <a:pt x="1622" y="826"/>
                    <a:pt x="105" y="163"/>
                  </a:cubicBezTo>
                  <a:cubicBezTo>
                    <a:pt x="96" y="158"/>
                    <a:pt x="87" y="156"/>
                    <a:pt x="78" y="156"/>
                  </a:cubicBezTo>
                  <a:cubicBezTo>
                    <a:pt x="53" y="156"/>
                    <a:pt x="31" y="172"/>
                    <a:pt x="18" y="198"/>
                  </a:cubicBezTo>
                  <a:cubicBezTo>
                    <a:pt x="1" y="215"/>
                    <a:pt x="18" y="250"/>
                    <a:pt x="53" y="268"/>
                  </a:cubicBezTo>
                  <a:cubicBezTo>
                    <a:pt x="1587" y="948"/>
                    <a:pt x="3173" y="1627"/>
                    <a:pt x="4864" y="1976"/>
                  </a:cubicBezTo>
                  <a:cubicBezTo>
                    <a:pt x="5600" y="2133"/>
                    <a:pt x="6315" y="2210"/>
                    <a:pt x="6997" y="2210"/>
                  </a:cubicBezTo>
                  <a:cubicBezTo>
                    <a:pt x="8059" y="2210"/>
                    <a:pt x="9042" y="2023"/>
                    <a:pt x="9902" y="1662"/>
                  </a:cubicBezTo>
                  <a:cubicBezTo>
                    <a:pt x="10285" y="1505"/>
                    <a:pt x="10634" y="1296"/>
                    <a:pt x="10982" y="1104"/>
                  </a:cubicBezTo>
                  <a:cubicBezTo>
                    <a:pt x="11401" y="878"/>
                    <a:pt x="11819" y="669"/>
                    <a:pt x="12272" y="494"/>
                  </a:cubicBezTo>
                  <a:cubicBezTo>
                    <a:pt x="12916" y="247"/>
                    <a:pt x="13644" y="123"/>
                    <a:pt x="14425" y="123"/>
                  </a:cubicBezTo>
                  <a:cubicBezTo>
                    <a:pt x="15018" y="123"/>
                    <a:pt x="15642" y="194"/>
                    <a:pt x="16281" y="337"/>
                  </a:cubicBezTo>
                  <a:cubicBezTo>
                    <a:pt x="17624" y="634"/>
                    <a:pt x="18896" y="1209"/>
                    <a:pt x="20134" y="1749"/>
                  </a:cubicBezTo>
                  <a:lnTo>
                    <a:pt x="20796" y="2063"/>
                  </a:lnTo>
                  <a:cubicBezTo>
                    <a:pt x="21633" y="2464"/>
                    <a:pt x="22487" y="2813"/>
                    <a:pt x="23376" y="3074"/>
                  </a:cubicBezTo>
                  <a:cubicBezTo>
                    <a:pt x="23306" y="3022"/>
                    <a:pt x="23271" y="2970"/>
                    <a:pt x="23271" y="2935"/>
                  </a:cubicBezTo>
                  <a:lnTo>
                    <a:pt x="23271" y="2917"/>
                  </a:lnTo>
                  <a:cubicBezTo>
                    <a:pt x="22452" y="2656"/>
                    <a:pt x="21633" y="2325"/>
                    <a:pt x="20866" y="1941"/>
                  </a:cubicBezTo>
                  <a:lnTo>
                    <a:pt x="20186" y="1645"/>
                  </a:lnTo>
                  <a:cubicBezTo>
                    <a:pt x="18948" y="1087"/>
                    <a:pt x="17676" y="529"/>
                    <a:pt x="16316" y="215"/>
                  </a:cubicBezTo>
                  <a:cubicBezTo>
                    <a:pt x="15661" y="72"/>
                    <a:pt x="15026" y="1"/>
                    <a:pt x="14421"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9" name="Google Shape;3629;p106"/>
            <p:cNvSpPr/>
            <p:nvPr/>
          </p:nvSpPr>
          <p:spPr>
            <a:xfrm>
              <a:off x="1003775" y="2350000"/>
              <a:ext cx="203100" cy="78050"/>
            </a:xfrm>
            <a:custGeom>
              <a:rect b="b" l="l" r="r" t="t"/>
              <a:pathLst>
                <a:path extrusionOk="0" h="3122" w="8124">
                  <a:moveTo>
                    <a:pt x="8089" y="1"/>
                  </a:moveTo>
                  <a:cubicBezTo>
                    <a:pt x="5213" y="350"/>
                    <a:pt x="2441" y="1378"/>
                    <a:pt x="36" y="2999"/>
                  </a:cubicBezTo>
                  <a:cubicBezTo>
                    <a:pt x="1" y="3016"/>
                    <a:pt x="1" y="3051"/>
                    <a:pt x="18" y="3086"/>
                  </a:cubicBezTo>
                  <a:cubicBezTo>
                    <a:pt x="18" y="3104"/>
                    <a:pt x="36" y="3121"/>
                    <a:pt x="70" y="3121"/>
                  </a:cubicBezTo>
                  <a:lnTo>
                    <a:pt x="105" y="3121"/>
                  </a:lnTo>
                  <a:cubicBezTo>
                    <a:pt x="2493" y="1500"/>
                    <a:pt x="5247" y="472"/>
                    <a:pt x="8124" y="123"/>
                  </a:cubicBezTo>
                  <a:cubicBezTo>
                    <a:pt x="8124" y="88"/>
                    <a:pt x="8106" y="53"/>
                    <a:pt x="8089"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0" name="Google Shape;3630;p106"/>
            <p:cNvSpPr/>
            <p:nvPr/>
          </p:nvSpPr>
          <p:spPr>
            <a:xfrm>
              <a:off x="946250" y="2297725"/>
              <a:ext cx="213125" cy="79775"/>
            </a:xfrm>
            <a:custGeom>
              <a:rect b="b" l="l" r="r" t="t"/>
              <a:pathLst>
                <a:path extrusionOk="0" h="3191" w="8525">
                  <a:moveTo>
                    <a:pt x="8281" y="0"/>
                  </a:moveTo>
                  <a:cubicBezTo>
                    <a:pt x="5265" y="70"/>
                    <a:pt x="2354" y="1151"/>
                    <a:pt x="18" y="3085"/>
                  </a:cubicBezTo>
                  <a:cubicBezTo>
                    <a:pt x="1" y="3103"/>
                    <a:pt x="1" y="3138"/>
                    <a:pt x="18" y="3173"/>
                  </a:cubicBezTo>
                  <a:cubicBezTo>
                    <a:pt x="36" y="3190"/>
                    <a:pt x="53" y="3190"/>
                    <a:pt x="70" y="3190"/>
                  </a:cubicBezTo>
                  <a:cubicBezTo>
                    <a:pt x="88" y="3190"/>
                    <a:pt x="105" y="3190"/>
                    <a:pt x="105" y="3173"/>
                  </a:cubicBezTo>
                  <a:cubicBezTo>
                    <a:pt x="2476" y="1220"/>
                    <a:pt x="5457" y="140"/>
                    <a:pt x="8525" y="122"/>
                  </a:cubicBezTo>
                  <a:cubicBezTo>
                    <a:pt x="8455" y="87"/>
                    <a:pt x="8368" y="35"/>
                    <a:pt x="8281"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1" name="Google Shape;3631;p106"/>
            <p:cNvSpPr/>
            <p:nvPr/>
          </p:nvSpPr>
          <p:spPr>
            <a:xfrm>
              <a:off x="890475" y="2279850"/>
              <a:ext cx="114200" cy="71050"/>
            </a:xfrm>
            <a:custGeom>
              <a:rect b="b" l="l" r="r" t="t"/>
              <a:pathLst>
                <a:path extrusionOk="0" h="2842" w="4568">
                  <a:moveTo>
                    <a:pt x="4568" y="0"/>
                  </a:moveTo>
                  <a:lnTo>
                    <a:pt x="4568" y="0"/>
                  </a:lnTo>
                  <a:cubicBezTo>
                    <a:pt x="4411" y="18"/>
                    <a:pt x="4236" y="53"/>
                    <a:pt x="4079" y="70"/>
                  </a:cubicBezTo>
                  <a:cubicBezTo>
                    <a:pt x="2598" y="750"/>
                    <a:pt x="1221" y="1656"/>
                    <a:pt x="18" y="2737"/>
                  </a:cubicBezTo>
                  <a:cubicBezTo>
                    <a:pt x="1" y="2772"/>
                    <a:pt x="1" y="2807"/>
                    <a:pt x="18" y="2824"/>
                  </a:cubicBezTo>
                  <a:cubicBezTo>
                    <a:pt x="35" y="2842"/>
                    <a:pt x="53" y="2842"/>
                    <a:pt x="70" y="2842"/>
                  </a:cubicBezTo>
                  <a:cubicBezTo>
                    <a:pt x="88" y="2842"/>
                    <a:pt x="105" y="2842"/>
                    <a:pt x="105" y="2824"/>
                  </a:cubicBezTo>
                  <a:cubicBezTo>
                    <a:pt x="1430" y="1639"/>
                    <a:pt x="2929" y="680"/>
                    <a:pt x="4568"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106"/>
            <p:cNvSpPr/>
            <p:nvPr/>
          </p:nvSpPr>
          <p:spPr>
            <a:xfrm>
              <a:off x="1131875" y="2488150"/>
              <a:ext cx="54950" cy="35975"/>
            </a:xfrm>
            <a:custGeom>
              <a:rect b="b" l="l" r="r" t="t"/>
              <a:pathLst>
                <a:path extrusionOk="0" h="1439" w="2198">
                  <a:moveTo>
                    <a:pt x="1306" y="1"/>
                  </a:moveTo>
                  <a:cubicBezTo>
                    <a:pt x="815" y="1"/>
                    <a:pt x="1" y="257"/>
                    <a:pt x="228" y="802"/>
                  </a:cubicBezTo>
                  <a:cubicBezTo>
                    <a:pt x="315" y="994"/>
                    <a:pt x="455" y="1134"/>
                    <a:pt x="646" y="1221"/>
                  </a:cubicBezTo>
                  <a:cubicBezTo>
                    <a:pt x="850" y="1366"/>
                    <a:pt x="1102" y="1439"/>
                    <a:pt x="1361" y="1439"/>
                  </a:cubicBezTo>
                  <a:cubicBezTo>
                    <a:pt x="1413" y="1439"/>
                    <a:pt x="1466" y="1436"/>
                    <a:pt x="1518" y="1430"/>
                  </a:cubicBezTo>
                  <a:cubicBezTo>
                    <a:pt x="1832" y="1378"/>
                    <a:pt x="2076" y="1151"/>
                    <a:pt x="2145" y="837"/>
                  </a:cubicBezTo>
                  <a:cubicBezTo>
                    <a:pt x="2198" y="454"/>
                    <a:pt x="1867" y="88"/>
                    <a:pt x="1501" y="18"/>
                  </a:cubicBezTo>
                  <a:cubicBezTo>
                    <a:pt x="1446" y="7"/>
                    <a:pt x="1380" y="1"/>
                    <a:pt x="130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3" name="Google Shape;3633;p106"/>
            <p:cNvSpPr/>
            <p:nvPr/>
          </p:nvSpPr>
          <p:spPr>
            <a:xfrm>
              <a:off x="1192475" y="2509350"/>
              <a:ext cx="80200" cy="56975"/>
            </a:xfrm>
            <a:custGeom>
              <a:rect b="b" l="l" r="r" t="t"/>
              <a:pathLst>
                <a:path extrusionOk="0" h="2279" w="3208">
                  <a:moveTo>
                    <a:pt x="1386" y="1"/>
                  </a:moveTo>
                  <a:cubicBezTo>
                    <a:pt x="1299" y="1"/>
                    <a:pt x="1215" y="8"/>
                    <a:pt x="1133" y="24"/>
                  </a:cubicBezTo>
                  <a:cubicBezTo>
                    <a:pt x="262" y="181"/>
                    <a:pt x="0" y="1070"/>
                    <a:pt x="645" y="1663"/>
                  </a:cubicBezTo>
                  <a:cubicBezTo>
                    <a:pt x="977" y="1942"/>
                    <a:pt x="1360" y="2133"/>
                    <a:pt x="1796" y="2220"/>
                  </a:cubicBezTo>
                  <a:cubicBezTo>
                    <a:pt x="1918" y="2261"/>
                    <a:pt x="2047" y="2278"/>
                    <a:pt x="2174" y="2278"/>
                  </a:cubicBezTo>
                  <a:cubicBezTo>
                    <a:pt x="2264" y="2278"/>
                    <a:pt x="2354" y="2270"/>
                    <a:pt x="2441" y="2255"/>
                  </a:cubicBezTo>
                  <a:cubicBezTo>
                    <a:pt x="2563" y="2220"/>
                    <a:pt x="2685" y="2151"/>
                    <a:pt x="2772" y="2081"/>
                  </a:cubicBezTo>
                  <a:cubicBezTo>
                    <a:pt x="3086" y="1802"/>
                    <a:pt x="3208" y="1384"/>
                    <a:pt x="3068" y="1000"/>
                  </a:cubicBezTo>
                  <a:cubicBezTo>
                    <a:pt x="2867" y="459"/>
                    <a:pt x="2064" y="1"/>
                    <a:pt x="1386"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3634" name="Google Shape;3634;p106"/>
          <p:cNvPicPr preferRelativeResize="0"/>
          <p:nvPr/>
        </p:nvPicPr>
        <p:blipFill>
          <a:blip r:embed="rId3">
            <a:alphaModFix/>
          </a:blip>
          <a:stretch>
            <a:fillRect/>
          </a:stretch>
        </p:blipFill>
        <p:spPr>
          <a:xfrm>
            <a:off x="274875" y="44900"/>
            <a:ext cx="3489955" cy="1340025"/>
          </a:xfrm>
          <a:prstGeom prst="rect">
            <a:avLst/>
          </a:prstGeom>
          <a:noFill/>
          <a:ln>
            <a:noFill/>
          </a:ln>
        </p:spPr>
      </p:pic>
      <p:pic>
        <p:nvPicPr>
          <p:cNvPr id="3635" name="Google Shape;3635;p106"/>
          <p:cNvPicPr preferRelativeResize="0"/>
          <p:nvPr/>
        </p:nvPicPr>
        <p:blipFill>
          <a:blip r:embed="rId4">
            <a:alphaModFix/>
          </a:blip>
          <a:stretch>
            <a:fillRect/>
          </a:stretch>
        </p:blipFill>
        <p:spPr>
          <a:xfrm>
            <a:off x="62451" y="123913"/>
            <a:ext cx="1180550" cy="1182000"/>
          </a:xfrm>
          <a:prstGeom prst="rect">
            <a:avLst/>
          </a:prstGeom>
          <a:noFill/>
          <a:ln>
            <a:no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Agenda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97280"/>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5" name="Oval 4"/>
          <p:cNvSpPr/>
          <p:nvPr/>
        </p:nvSpPr>
        <p:spPr>
          <a:xfrm>
            <a:off x="548640" y="1234439"/>
            <a:ext cx="384048" cy="384048"/>
          </a:xfrm>
          <a:prstGeom prst="ellipse">
            <a:avLst/>
          </a:prstGeom>
          <a:solidFill>
            <a:srgbClr val="F2617A"/>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1</a:t>
            </a:r>
          </a:p>
        </p:txBody>
      </p:sp>
      <p:sp>
        <p:nvSpPr>
          <p:cNvPr id="6" name="TextBox 5"/>
          <p:cNvSpPr txBox="1"/>
          <p:nvPr/>
        </p:nvSpPr>
        <p:spPr>
          <a:xfrm>
            <a:off x="548640" y="1664207"/>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Por qué ahora</a:t>
            </a:r>
          </a:p>
        </p:txBody>
      </p:sp>
      <p:sp>
        <p:nvSpPr>
          <p:cNvPr id="7" name="TextBox 6"/>
          <p:cNvSpPr txBox="1"/>
          <p:nvPr/>
        </p:nvSpPr>
        <p:spPr>
          <a:xfrm>
            <a:off x="548640" y="2103120"/>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La IA y la explosión de tests</a:t>
            </a:r>
          </a:p>
        </p:txBody>
      </p:sp>
      <p:sp>
        <p:nvSpPr>
          <p:cNvPr id="8" name="Rounded Rectangle 7"/>
          <p:cNvSpPr/>
          <p:nvPr/>
        </p:nvSpPr>
        <p:spPr>
          <a:xfrm>
            <a:off x="2560320" y="1097280"/>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9" name="Oval 8"/>
          <p:cNvSpPr/>
          <p:nvPr/>
        </p:nvSpPr>
        <p:spPr>
          <a:xfrm>
            <a:off x="2697480" y="1234439"/>
            <a:ext cx="384048" cy="384048"/>
          </a:xfrm>
          <a:prstGeom prst="ellipse">
            <a:avLst/>
          </a:prstGeom>
          <a:solidFill>
            <a:srgbClr val="003D4F"/>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2</a:t>
            </a:r>
          </a:p>
        </p:txBody>
      </p:sp>
      <p:sp>
        <p:nvSpPr>
          <p:cNvPr id="10" name="TextBox 9"/>
          <p:cNvSpPr txBox="1"/>
          <p:nvPr/>
        </p:nvSpPr>
        <p:spPr>
          <a:xfrm>
            <a:off x="2697480" y="1664207"/>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Spec Driven Development</a:t>
            </a:r>
          </a:p>
        </p:txBody>
      </p:sp>
      <p:sp>
        <p:nvSpPr>
          <p:cNvPr id="11" name="TextBox 10"/>
          <p:cNvSpPr txBox="1"/>
          <p:nvPr/>
        </p:nvSpPr>
        <p:spPr>
          <a:xfrm>
            <a:off x="2697480" y="2103120"/>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La spec manda, también a la IA</a:t>
            </a:r>
          </a:p>
        </p:txBody>
      </p:sp>
      <p:sp>
        <p:nvSpPr>
          <p:cNvPr id="12" name="Rounded Rectangle 11"/>
          <p:cNvSpPr/>
          <p:nvPr/>
        </p:nvSpPr>
        <p:spPr>
          <a:xfrm>
            <a:off x="4709160" y="1097280"/>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13" name="Oval 12"/>
          <p:cNvSpPr/>
          <p:nvPr/>
        </p:nvSpPr>
        <p:spPr>
          <a:xfrm>
            <a:off x="4846320" y="1234439"/>
            <a:ext cx="384048" cy="384048"/>
          </a:xfrm>
          <a:prstGeom prst="ellipse">
            <a:avLst/>
          </a:prstGeom>
          <a:solidFill>
            <a:srgbClr val="CC850A"/>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3</a:t>
            </a:r>
          </a:p>
        </p:txBody>
      </p:sp>
      <p:sp>
        <p:nvSpPr>
          <p:cNvPr id="14" name="TextBox 13"/>
          <p:cNvSpPr txBox="1"/>
          <p:nvPr/>
        </p:nvSpPr>
        <p:spPr>
          <a:xfrm>
            <a:off x="4846320" y="1664207"/>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El proyecto</a:t>
            </a:r>
          </a:p>
        </p:txBody>
      </p:sp>
      <p:sp>
        <p:nvSpPr>
          <p:cNvPr id="15" name="TextBox 14"/>
          <p:cNvSpPr txBox="1"/>
          <p:nvPr/>
        </p:nvSpPr>
        <p:spPr>
          <a:xfrm>
            <a:off x="4846320" y="2103120"/>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Biblioteca UC en capas</a:t>
            </a:r>
          </a:p>
        </p:txBody>
      </p:sp>
      <p:sp>
        <p:nvSpPr>
          <p:cNvPr id="16" name="Rounded Rectangle 15"/>
          <p:cNvSpPr/>
          <p:nvPr/>
        </p:nvSpPr>
        <p:spPr>
          <a:xfrm>
            <a:off x="6858000" y="1097280"/>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17" name="Oval 16"/>
          <p:cNvSpPr/>
          <p:nvPr/>
        </p:nvSpPr>
        <p:spPr>
          <a:xfrm>
            <a:off x="6995160" y="1234439"/>
            <a:ext cx="384048" cy="384048"/>
          </a:xfrm>
          <a:prstGeom prst="ellipse">
            <a:avLst/>
          </a:prstGeom>
          <a:solidFill>
            <a:srgbClr val="38761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4</a:t>
            </a:r>
          </a:p>
        </p:txBody>
      </p:sp>
      <p:sp>
        <p:nvSpPr>
          <p:cNvPr id="18" name="TextBox 17"/>
          <p:cNvSpPr txBox="1"/>
          <p:nvPr/>
        </p:nvSpPr>
        <p:spPr>
          <a:xfrm>
            <a:off x="6995160" y="1664207"/>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Tipos de prueba</a:t>
            </a:r>
          </a:p>
        </p:txBody>
      </p:sp>
      <p:sp>
        <p:nvSpPr>
          <p:cNvPr id="19" name="TextBox 18"/>
          <p:cNvSpPr txBox="1"/>
          <p:nvPr/>
        </p:nvSpPr>
        <p:spPr>
          <a:xfrm>
            <a:off x="6995160" y="2103120"/>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Uno por uno, con código real</a:t>
            </a:r>
          </a:p>
        </p:txBody>
      </p:sp>
      <p:sp>
        <p:nvSpPr>
          <p:cNvPr id="20" name="Rounded Rectangle 19"/>
          <p:cNvSpPr/>
          <p:nvPr/>
        </p:nvSpPr>
        <p:spPr>
          <a:xfrm>
            <a:off x="411480" y="2852928"/>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21" name="Oval 20"/>
          <p:cNvSpPr/>
          <p:nvPr/>
        </p:nvSpPr>
        <p:spPr>
          <a:xfrm>
            <a:off x="548640" y="2990088"/>
            <a:ext cx="384048" cy="384048"/>
          </a:xfrm>
          <a:prstGeom prst="ellipse">
            <a:avLst/>
          </a:prstGeom>
          <a:solidFill>
            <a:srgbClr val="634F7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5</a:t>
            </a:r>
          </a:p>
        </p:txBody>
      </p:sp>
      <p:sp>
        <p:nvSpPr>
          <p:cNvPr id="22" name="TextBox 21"/>
          <p:cNvSpPr txBox="1"/>
          <p:nvPr/>
        </p:nvSpPr>
        <p:spPr>
          <a:xfrm>
            <a:off x="548640" y="3419856"/>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DevSecOps y CI</a:t>
            </a:r>
          </a:p>
        </p:txBody>
      </p:sp>
      <p:sp>
        <p:nvSpPr>
          <p:cNvPr id="23" name="TextBox 22"/>
          <p:cNvSpPr txBox="1"/>
          <p:nvPr/>
        </p:nvSpPr>
        <p:spPr>
          <a:xfrm>
            <a:off x="548640" y="3858768"/>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Etapas, ramas y seguridad</a:t>
            </a:r>
          </a:p>
        </p:txBody>
      </p:sp>
      <p:sp>
        <p:nvSpPr>
          <p:cNvPr id="24" name="Rounded Rectangle 23"/>
          <p:cNvSpPr/>
          <p:nvPr/>
        </p:nvSpPr>
        <p:spPr>
          <a:xfrm>
            <a:off x="2560320" y="2852928"/>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25" name="Oval 24"/>
          <p:cNvSpPr/>
          <p:nvPr/>
        </p:nvSpPr>
        <p:spPr>
          <a:xfrm>
            <a:off x="2697480" y="2990088"/>
            <a:ext cx="384048" cy="384048"/>
          </a:xfrm>
          <a:prstGeom prst="ellipse">
            <a:avLst/>
          </a:prstGeom>
          <a:solidFill>
            <a:srgbClr val="47A1A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6</a:t>
            </a:r>
          </a:p>
        </p:txBody>
      </p:sp>
      <p:sp>
        <p:nvSpPr>
          <p:cNvPr id="26" name="TextBox 25"/>
          <p:cNvSpPr txBox="1"/>
          <p:nvPr/>
        </p:nvSpPr>
        <p:spPr>
          <a:xfrm>
            <a:off x="2697480" y="3419856"/>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Evidencia en el PR</a:t>
            </a:r>
          </a:p>
        </p:txBody>
      </p:sp>
      <p:sp>
        <p:nvSpPr>
          <p:cNvPr id="27" name="TextBox 26"/>
          <p:cNvSpPr txBox="1"/>
          <p:nvPr/>
        </p:nvSpPr>
        <p:spPr>
          <a:xfrm>
            <a:off x="2697480" y="3858768"/>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Capturas, videos y endpoints</a:t>
            </a:r>
          </a:p>
        </p:txBody>
      </p:sp>
      <p:sp>
        <p:nvSpPr>
          <p:cNvPr id="28" name="Rounded Rectangle 27"/>
          <p:cNvSpPr/>
          <p:nvPr/>
        </p:nvSpPr>
        <p:spPr>
          <a:xfrm>
            <a:off x="4709160" y="2852928"/>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29" name="Oval 28"/>
          <p:cNvSpPr/>
          <p:nvPr/>
        </p:nvSpPr>
        <p:spPr>
          <a:xfrm>
            <a:off x="4846320" y="2990088"/>
            <a:ext cx="384048" cy="384048"/>
          </a:xfrm>
          <a:prstGeom prst="ellipse">
            <a:avLst/>
          </a:prstGeom>
          <a:solidFill>
            <a:srgbClr val="4A86E8"/>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7</a:t>
            </a:r>
          </a:p>
        </p:txBody>
      </p:sp>
      <p:sp>
        <p:nvSpPr>
          <p:cNvPr id="30" name="TextBox 29"/>
          <p:cNvSpPr txBox="1"/>
          <p:nvPr/>
        </p:nvSpPr>
        <p:spPr>
          <a:xfrm>
            <a:off x="4846320" y="3419856"/>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Actividad práctica</a:t>
            </a:r>
          </a:p>
        </p:txBody>
      </p:sp>
      <p:sp>
        <p:nvSpPr>
          <p:cNvPr id="31" name="TextBox 30"/>
          <p:cNvSpPr txBox="1"/>
          <p:nvPr/>
        </p:nvSpPr>
        <p:spPr>
          <a:xfrm>
            <a:off x="4846320" y="3858768"/>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SPEC-LIB-03 con un agente</a:t>
            </a:r>
          </a:p>
        </p:txBody>
      </p:sp>
      <p:sp>
        <p:nvSpPr>
          <p:cNvPr id="32" name="Rounded Rectangle 31"/>
          <p:cNvSpPr/>
          <p:nvPr/>
        </p:nvSpPr>
        <p:spPr>
          <a:xfrm>
            <a:off x="6858000" y="2852928"/>
            <a:ext cx="196596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33" name="Oval 32"/>
          <p:cNvSpPr/>
          <p:nvPr/>
        </p:nvSpPr>
        <p:spPr>
          <a:xfrm>
            <a:off x="6995160" y="2990088"/>
            <a:ext cx="384048" cy="384048"/>
          </a:xfrm>
          <a:prstGeom prst="ellipse">
            <a:avLst/>
          </a:prstGeom>
          <a:solidFill>
            <a:srgbClr val="57606A"/>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8</a:t>
            </a:r>
          </a:p>
        </p:txBody>
      </p:sp>
      <p:sp>
        <p:nvSpPr>
          <p:cNvPr id="34" name="TextBox 33"/>
          <p:cNvSpPr txBox="1"/>
          <p:nvPr/>
        </p:nvSpPr>
        <p:spPr>
          <a:xfrm>
            <a:off x="6995160" y="3419856"/>
            <a:ext cx="1691639" cy="420624"/>
          </a:xfrm>
          <a:prstGeom prst="rect">
            <a:avLst/>
          </a:prstGeom>
          <a:noFill/>
        </p:spPr>
        <p:txBody>
          <a:bodyPr wrap="square" lIns="36576" rIns="36576" tIns="36576" bIns="36576" anchor="b"/>
          <a:lstStyle/>
          <a:p>
            <a:pPr algn="l" marL="0" indent="0">
              <a:spcAft>
                <a:spcPts val="400"/>
              </a:spcAft>
              <a:buNone/>
            </a:pPr>
            <a:r>
              <a:rPr sz="1300" b="1" i="0" lang="es-CL">
                <a:solidFill>
                  <a:srgbClr val="1F2328"/>
                </a:solidFill>
                <a:latin typeface="Inter"/>
                <a:ea typeface="Inter"/>
                <a:cs typeface="Inter"/>
              </a:rPr>
              <a:t>Cierre</a:t>
            </a:r>
          </a:p>
        </p:txBody>
      </p:sp>
      <p:sp>
        <p:nvSpPr>
          <p:cNvPr id="35" name="TextBox 34"/>
          <p:cNvSpPr txBox="1"/>
          <p:nvPr/>
        </p:nvSpPr>
        <p:spPr>
          <a:xfrm>
            <a:off x="6995160" y="3858768"/>
            <a:ext cx="1691639" cy="475488"/>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Conclusiones y discusión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Al terminar la clase podrás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822960" y="1188720"/>
            <a:ext cx="1737360" cy="566928"/>
          </a:xfrm>
          <a:prstGeom prst="roundRect">
            <a:avLst>
              <a:gd name="adj" fmla="val 12903"/>
            </a:avLst>
          </a:prstGeom>
          <a:solidFill>
            <a:srgbClr val="F2617A"/>
          </a:solidFill>
          <a:ln>
            <a:noFill/>
          </a:ln>
        </p:spPr>
        <p:txBody>
          <a:bodyPr rtlCol="0" anchor="ctr" wrap="square" lIns="54864" rIns="54864" tIns="54864" bIns="54864"/>
          <a:lstStyle/>
          <a:p>
            <a:pPr algn="ctr" marL="0" indent="0">
              <a:spcAft>
                <a:spcPts val="200"/>
              </a:spcAft>
              <a:buNone/>
            </a:pPr>
            <a:r>
              <a:rPr sz="1500" b="1" i="0" lang="es-CL">
                <a:solidFill>
                  <a:srgbClr val="FFFFFF"/>
                </a:solidFill>
                <a:latin typeface="Inter"/>
                <a:ea typeface="Inter"/>
                <a:cs typeface="Inter"/>
              </a:rPr>
              <a:t>Explicar</a:t>
            </a:r>
          </a:p>
        </p:txBody>
      </p:sp>
      <p:sp>
        <p:nvSpPr>
          <p:cNvPr id="5" name="TextBox 4"/>
          <p:cNvSpPr txBox="1"/>
          <p:nvPr/>
        </p:nvSpPr>
        <p:spPr>
          <a:xfrm>
            <a:off x="2743200" y="1188720"/>
            <a:ext cx="5669280" cy="566928"/>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por qué más tests no es más calidad y qué barandas evitan que la IA infle la suite.</a:t>
            </a:r>
          </a:p>
        </p:txBody>
      </p:sp>
      <p:sp>
        <p:nvSpPr>
          <p:cNvPr id="6" name="Rounded Rectangle 5"/>
          <p:cNvSpPr/>
          <p:nvPr/>
        </p:nvSpPr>
        <p:spPr>
          <a:xfrm>
            <a:off x="822960" y="2011680"/>
            <a:ext cx="1737360" cy="566928"/>
          </a:xfrm>
          <a:prstGeom prst="roundRect">
            <a:avLst>
              <a:gd name="adj" fmla="val 12903"/>
            </a:avLst>
          </a:prstGeom>
          <a:solidFill>
            <a:srgbClr val="003D4F"/>
          </a:solidFill>
          <a:ln>
            <a:noFill/>
          </a:ln>
        </p:spPr>
        <p:txBody>
          <a:bodyPr rtlCol="0" anchor="ctr" wrap="square" lIns="54864" rIns="54864" tIns="54864" bIns="54864"/>
          <a:lstStyle/>
          <a:p>
            <a:pPr algn="ctr" marL="0" indent="0">
              <a:spcAft>
                <a:spcPts val="200"/>
              </a:spcAft>
              <a:buNone/>
            </a:pPr>
            <a:r>
              <a:rPr sz="1500" b="1" i="0" lang="es-CL">
                <a:solidFill>
                  <a:srgbClr val="FFFFFF"/>
                </a:solidFill>
                <a:latin typeface="Inter"/>
                <a:ea typeface="Inter"/>
                <a:cs typeface="Inter"/>
              </a:rPr>
              <a:t>Especificar</a:t>
            </a:r>
          </a:p>
        </p:txBody>
      </p:sp>
      <p:sp>
        <p:nvSpPr>
          <p:cNvPr id="7" name="TextBox 6"/>
          <p:cNvSpPr txBox="1"/>
          <p:nvPr/>
        </p:nvSpPr>
        <p:spPr>
          <a:xfrm>
            <a:off x="2743200" y="2011680"/>
            <a:ext cx="5669280" cy="566928"/>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reglas con ID, un contrato OpenAPI y flujos Gherkin que guían a personas y agentes.</a:t>
            </a:r>
          </a:p>
        </p:txBody>
      </p:sp>
      <p:sp>
        <p:nvSpPr>
          <p:cNvPr id="8" name="Rounded Rectangle 7"/>
          <p:cNvSpPr/>
          <p:nvPr/>
        </p:nvSpPr>
        <p:spPr>
          <a:xfrm>
            <a:off x="822960" y="2834640"/>
            <a:ext cx="1737360" cy="566928"/>
          </a:xfrm>
          <a:prstGeom prst="roundRect">
            <a:avLst>
              <a:gd name="adj" fmla="val 12903"/>
            </a:avLst>
          </a:prstGeom>
          <a:solidFill>
            <a:srgbClr val="38761D"/>
          </a:solidFill>
          <a:ln>
            <a:noFill/>
          </a:ln>
        </p:spPr>
        <p:txBody>
          <a:bodyPr rtlCol="0" anchor="ctr" wrap="square" lIns="54864" rIns="54864" tIns="54864" bIns="54864"/>
          <a:lstStyle/>
          <a:p>
            <a:pPr algn="ctr" marL="0" indent="0">
              <a:spcAft>
                <a:spcPts val="200"/>
              </a:spcAft>
              <a:buNone/>
            </a:pPr>
            <a:r>
              <a:rPr sz="1500" b="1" i="0" lang="es-CL">
                <a:solidFill>
                  <a:srgbClr val="FFFFFF"/>
                </a:solidFill>
                <a:latin typeface="Inter"/>
                <a:ea typeface="Inter"/>
                <a:cs typeface="Inter"/>
              </a:rPr>
              <a:t>Elegir</a:t>
            </a:r>
          </a:p>
        </p:txBody>
      </p:sp>
      <p:sp>
        <p:nvSpPr>
          <p:cNvPr id="9" name="TextBox 8"/>
          <p:cNvSpPr txBox="1"/>
          <p:nvPr/>
        </p:nvSpPr>
        <p:spPr>
          <a:xfrm>
            <a:off x="2743200" y="2834640"/>
            <a:ext cx="5669280" cy="566928"/>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el tipo de prueba y la capa correcta para cada riesgo, desde unit hasta DAST.</a:t>
            </a:r>
          </a:p>
        </p:txBody>
      </p:sp>
      <p:sp>
        <p:nvSpPr>
          <p:cNvPr id="10" name="Rounded Rectangle 9"/>
          <p:cNvSpPr/>
          <p:nvPr/>
        </p:nvSpPr>
        <p:spPr>
          <a:xfrm>
            <a:off x="822960" y="3657600"/>
            <a:ext cx="1737360" cy="566928"/>
          </a:xfrm>
          <a:prstGeom prst="roundRect">
            <a:avLst>
              <a:gd name="adj" fmla="val 12903"/>
            </a:avLst>
          </a:prstGeom>
          <a:solidFill>
            <a:srgbClr val="634F7D"/>
          </a:solidFill>
          <a:ln>
            <a:noFill/>
          </a:ln>
        </p:spPr>
        <p:txBody>
          <a:bodyPr rtlCol="0" anchor="ctr" wrap="square" lIns="54864" rIns="54864" tIns="54864" bIns="54864"/>
          <a:lstStyle/>
          <a:p>
            <a:pPr algn="ctr" marL="0" indent="0">
              <a:spcAft>
                <a:spcPts val="200"/>
              </a:spcAft>
              <a:buNone/>
            </a:pPr>
            <a:r>
              <a:rPr sz="1500" b="1" i="0" lang="es-CL">
                <a:solidFill>
                  <a:srgbClr val="FFFFFF"/>
                </a:solidFill>
                <a:latin typeface="Inter"/>
                <a:ea typeface="Inter"/>
                <a:cs typeface="Inter"/>
              </a:rPr>
              <a:t>Leer</a:t>
            </a:r>
          </a:p>
        </p:txBody>
      </p:sp>
      <p:sp>
        <p:nvSpPr>
          <p:cNvPr id="11" name="TextBox 10"/>
          <p:cNvSpPr txBox="1"/>
          <p:nvPr/>
        </p:nvSpPr>
        <p:spPr>
          <a:xfrm>
            <a:off x="2743200" y="3657600"/>
            <a:ext cx="5669280" cy="566928"/>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un pipeline de CI con DevSecOps y la evidencia que deja en cada Pull Request.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400"/>
              </a:spcAft>
            </a:pPr>
            <a:r>
              <a:rPr sz="2800" b="1" i="0" lang="es-CL">
                <a:solidFill>
                  <a:srgbClr val="000000"/>
                </a:solidFill>
                <a:latin typeface="Bitter"/>
                <a:ea typeface="Bitter"/>
                <a:cs typeface="Bitter"/>
              </a:rPr>
              <a:t>La IA escribe tests más rápido que cualquiera.</a:t>
            </a:r>
          </a:p>
          <a:p>
            <a:pPr algn="ctr">
              <a:spcAft>
                <a:spcPts val="1400"/>
              </a:spcAft>
            </a:pPr>
            <a:r>
              <a:rPr sz="2800" b="1" i="0" lang="es-CL">
                <a:solidFill>
                  <a:srgbClr val="000000"/>
                </a:solidFill>
                <a:latin typeface="Bitter"/>
                <a:ea typeface="Bitter"/>
                <a:cs typeface="Bitter"/>
              </a:rPr>
              <a:t>El desafío ya no es </a:t>
            </a:r>
            <a:r>
              <a:rPr sz="2800" b="1" i="0" lang="es-CL">
                <a:solidFill>
                  <a:srgbClr val="980000"/>
                </a:solidFill>
                <a:latin typeface="Bitter"/>
                <a:ea typeface="Bitter"/>
                <a:cs typeface="Bitter"/>
              </a:rPr>
              <a:t>escribir tests</a:t>
            </a:r>
            <a:r>
              <a:rPr sz="2800" b="1" i="0" lang="es-CL">
                <a:solidFill>
                  <a:srgbClr val="000000"/>
                </a:solidFill>
                <a:latin typeface="Bitter"/>
                <a:ea typeface="Bitter"/>
                <a:cs typeface="Bitter"/>
              </a:rPr>
              <a:t>, es </a:t>
            </a:r>
            <a:r>
              <a:rPr sz="2800" b="1" i="0" lang="es-CL">
                <a:solidFill>
                  <a:srgbClr val="38761D"/>
                </a:solidFill>
                <a:latin typeface="Bitter"/>
                <a:ea typeface="Bitter"/>
                <a:cs typeface="Bitter"/>
              </a:rPr>
              <a:t>decidir cuáles valen la pena</a:t>
            </a:r>
            <a:r>
              <a:rPr sz="2800" b="1" i="0" lang="es-CL">
                <a:solidFill>
                  <a:srgbClr val="000000"/>
                </a:solidFill>
                <a:latin typeface="Bitter"/>
                <a:ea typeface="Bitter"/>
                <a:cs typeface="Bitter"/>
              </a:rPr>
              <a:t>.</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1</a:t>
            </a:r>
          </a:p>
          <a:p>
            <a:pPr algn="ctr">
              <a:spcAft>
                <a:spcPts val="1600"/>
              </a:spcAft>
            </a:pPr>
            <a:r>
              <a:rPr sz="3600" b="1" i="0" lang="es-CL">
                <a:solidFill>
                  <a:srgbClr val="4A86E8"/>
                </a:solidFill>
                <a:latin typeface="Bitter"/>
                <a:ea typeface="Bitter"/>
                <a:cs typeface="Bitter"/>
              </a:rPr>
              <a:t>Por qué ahora</a:t>
            </a:r>
          </a:p>
          <a:p>
            <a:pPr algn="ctr">
              <a:spcAft>
                <a:spcPts val="1400"/>
              </a:spcAft>
            </a:pPr>
            <a:r>
              <a:rPr sz="1500" b="0" i="0" lang="es-CL">
                <a:solidFill>
                  <a:srgbClr val="57606A"/>
                </a:solidFill>
                <a:latin typeface="Inter"/>
                <a:ea typeface="Inter"/>
                <a:cs typeface="Inter"/>
              </a:rPr>
              <a:t>La IA acelera el código y los tests. ¿Quién decide qué entra a la suite?</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Lo que encontró el libro al pedirle tests a la IA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24128"/>
            <a:ext cx="2651760" cy="2514600"/>
          </a:xfrm>
          <a:prstGeom prst="roundRect">
            <a:avLst>
              <a:gd name="adj" fmla="val 3636"/>
            </a:avLst>
          </a:prstGeom>
          <a:solidFill>
            <a:srgbClr val="EDF1F3"/>
          </a:solidFill>
          <a:ln>
            <a:noFill/>
          </a:ln>
        </p:spPr>
        <p:txBody>
          <a:bodyPr rtlCol="0" anchor="ctr" wrap="square" lIns="54864" rIns="54864" tIns="54864" bIns="54864"/>
          <a:lstStyle/>
          <a:p>
            <a:pPr algn="ctr"/>
          </a:p>
        </p:txBody>
      </p:sp>
      <p:sp>
        <p:nvSpPr>
          <p:cNvPr id="5" name="TextBox 4"/>
          <p:cNvSpPr txBox="1"/>
          <p:nvPr/>
        </p:nvSpPr>
        <p:spPr>
          <a:xfrm>
            <a:off x="594360" y="1097280"/>
            <a:ext cx="2286000" cy="640080"/>
          </a:xfrm>
          <a:prstGeom prst="rect">
            <a:avLst/>
          </a:prstGeom>
          <a:noFill/>
        </p:spPr>
        <p:txBody>
          <a:bodyPr wrap="square" lIns="36576" rIns="36576" tIns="36576" bIns="36576" anchor="t"/>
          <a:lstStyle/>
          <a:p>
            <a:pPr algn="l" marL="0" indent="0">
              <a:spcAft>
                <a:spcPts val="400"/>
              </a:spcAft>
              <a:buNone/>
            </a:pPr>
            <a:r>
              <a:rPr sz="3400" b="1" i="0" lang="es-CL">
                <a:solidFill>
                  <a:srgbClr val="F2617A"/>
                </a:solidFill>
                <a:latin typeface="Bitter"/>
                <a:ea typeface="Bitter"/>
                <a:cs typeface="Bitter"/>
              </a:rPr>
              <a:t>70 a 80</a:t>
            </a:r>
          </a:p>
        </p:txBody>
      </p:sp>
      <p:sp>
        <p:nvSpPr>
          <p:cNvPr id="6" name="TextBox 5"/>
          <p:cNvSpPr txBox="1"/>
          <p:nvPr/>
        </p:nvSpPr>
        <p:spPr>
          <a:xfrm>
            <a:off x="594360" y="1737360"/>
            <a:ext cx="2286000" cy="27432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casos de prueba</a:t>
            </a:r>
          </a:p>
        </p:txBody>
      </p:sp>
      <p:sp>
        <p:nvSpPr>
          <p:cNvPr id="7" name="TextBox 6"/>
          <p:cNvSpPr txBox="1"/>
          <p:nvPr/>
        </p:nvSpPr>
        <p:spPr>
          <a:xfrm>
            <a:off x="594360" y="2057400"/>
            <a:ext cx="2286000" cy="11430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entregó Claude para el inicio de Amazon: muchos duplicados y con lógica de negocio inventada.</a:t>
            </a:r>
          </a:p>
        </p:txBody>
      </p:sp>
      <p:sp>
        <p:nvSpPr>
          <p:cNvPr id="8" name="caption"/>
          <p:cNvSpPr txBox="1"/>
          <p:nvPr/>
        </p:nvSpPr>
        <p:spPr>
          <a:xfrm>
            <a:off x="594360" y="3218688"/>
            <a:ext cx="228600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Full Stack Testing, p. 37</a:t>
            </a:r>
          </a:p>
        </p:txBody>
      </p:sp>
      <p:sp>
        <p:nvSpPr>
          <p:cNvPr id="9" name="Rounded Rectangle 8"/>
          <p:cNvSpPr/>
          <p:nvPr/>
        </p:nvSpPr>
        <p:spPr>
          <a:xfrm>
            <a:off x="3246120" y="1024128"/>
            <a:ext cx="2651760" cy="2514600"/>
          </a:xfrm>
          <a:prstGeom prst="roundRect">
            <a:avLst>
              <a:gd name="adj" fmla="val 3636"/>
            </a:avLst>
          </a:prstGeom>
          <a:solidFill>
            <a:srgbClr val="EDF1F3"/>
          </a:solidFill>
          <a:ln>
            <a:noFill/>
          </a:ln>
        </p:spPr>
        <p:txBody>
          <a:bodyPr rtlCol="0" anchor="ctr" wrap="square" lIns="54864" rIns="54864" tIns="54864" bIns="54864"/>
          <a:lstStyle/>
          <a:p>
            <a:pPr algn="ctr"/>
          </a:p>
        </p:txBody>
      </p:sp>
      <p:sp>
        <p:nvSpPr>
          <p:cNvPr id="10" name="TextBox 9"/>
          <p:cNvSpPr txBox="1"/>
          <p:nvPr/>
        </p:nvSpPr>
        <p:spPr>
          <a:xfrm>
            <a:off x="3429000" y="1097280"/>
            <a:ext cx="2286000" cy="640080"/>
          </a:xfrm>
          <a:prstGeom prst="rect">
            <a:avLst/>
          </a:prstGeom>
          <a:noFill/>
        </p:spPr>
        <p:txBody>
          <a:bodyPr wrap="square" lIns="36576" rIns="36576" tIns="36576" bIns="36576" anchor="t"/>
          <a:lstStyle/>
          <a:p>
            <a:pPr algn="l" marL="0" indent="0">
              <a:spcAft>
                <a:spcPts val="400"/>
              </a:spcAft>
              <a:buNone/>
            </a:pPr>
            <a:r>
              <a:rPr sz="3400" b="1" i="0" lang="es-CL">
                <a:solidFill>
                  <a:srgbClr val="CC850A"/>
                </a:solidFill>
                <a:latin typeface="Bitter"/>
                <a:ea typeface="Bitter"/>
                <a:cs typeface="Bitter"/>
              </a:rPr>
              <a:t>30</a:t>
            </a:r>
          </a:p>
        </p:txBody>
      </p:sp>
      <p:sp>
        <p:nvSpPr>
          <p:cNvPr id="11" name="TextBox 10"/>
          <p:cNvSpPr txBox="1"/>
          <p:nvPr/>
        </p:nvSpPr>
        <p:spPr>
          <a:xfrm>
            <a:off x="3429000" y="1737360"/>
            <a:ext cx="2286000" cy="27432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tests REST Assured</a:t>
            </a:r>
          </a:p>
        </p:txBody>
      </p:sp>
      <p:sp>
        <p:nvSpPr>
          <p:cNvPr id="12" name="TextBox 11"/>
          <p:cNvSpPr txBox="1"/>
          <p:nvPr/>
        </p:nvSpPr>
        <p:spPr>
          <a:xfrm>
            <a:off x="3429000" y="2057400"/>
            <a:ext cx="2286000" cy="11430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generó Claude Code desde un OpenAPI. Las validaciones de campos que incluyó van en unit.</a:t>
            </a:r>
          </a:p>
        </p:txBody>
      </p:sp>
      <p:sp>
        <p:nvSpPr>
          <p:cNvPr id="13" name="caption"/>
          <p:cNvSpPr txBox="1"/>
          <p:nvPr/>
        </p:nvSpPr>
        <p:spPr>
          <a:xfrm>
            <a:off x="3429000" y="3218688"/>
            <a:ext cx="228600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Full Stack Testing, p. 102</a:t>
            </a:r>
          </a:p>
        </p:txBody>
      </p:sp>
      <p:sp>
        <p:nvSpPr>
          <p:cNvPr id="14" name="Rounded Rectangle 13"/>
          <p:cNvSpPr/>
          <p:nvPr/>
        </p:nvSpPr>
        <p:spPr>
          <a:xfrm>
            <a:off x="6080760" y="1024128"/>
            <a:ext cx="2651760" cy="2514600"/>
          </a:xfrm>
          <a:prstGeom prst="roundRect">
            <a:avLst>
              <a:gd name="adj" fmla="val 3636"/>
            </a:avLst>
          </a:prstGeom>
          <a:solidFill>
            <a:srgbClr val="EDF1F3"/>
          </a:solidFill>
          <a:ln>
            <a:noFill/>
          </a:ln>
        </p:spPr>
        <p:txBody>
          <a:bodyPr rtlCol="0" anchor="ctr" wrap="square" lIns="54864" rIns="54864" tIns="54864" bIns="54864"/>
          <a:lstStyle/>
          <a:p>
            <a:pPr algn="ctr"/>
          </a:p>
        </p:txBody>
      </p:sp>
      <p:sp>
        <p:nvSpPr>
          <p:cNvPr id="15" name="TextBox 14"/>
          <p:cNvSpPr txBox="1"/>
          <p:nvPr/>
        </p:nvSpPr>
        <p:spPr>
          <a:xfrm>
            <a:off x="6263640" y="1097280"/>
            <a:ext cx="2286000" cy="640080"/>
          </a:xfrm>
          <a:prstGeom prst="rect">
            <a:avLst/>
          </a:prstGeom>
          <a:noFill/>
        </p:spPr>
        <p:txBody>
          <a:bodyPr wrap="square" lIns="36576" rIns="36576" tIns="36576" bIns="36576" anchor="t"/>
          <a:lstStyle/>
          <a:p>
            <a:pPr algn="l" marL="0" indent="0">
              <a:spcAft>
                <a:spcPts val="400"/>
              </a:spcAft>
              <a:buNone/>
            </a:pPr>
            <a:r>
              <a:rPr sz="3400" b="1" i="0" lang="es-CL">
                <a:solidFill>
                  <a:srgbClr val="003D4F"/>
                </a:solidFill>
                <a:latin typeface="Bitter"/>
                <a:ea typeface="Bitter"/>
                <a:cs typeface="Bitter"/>
              </a:rPr>
              <a:t>en lote</a:t>
            </a:r>
          </a:p>
        </p:txBody>
      </p:sp>
      <p:sp>
        <p:nvSpPr>
          <p:cNvPr id="16" name="TextBox 15"/>
          <p:cNvSpPr txBox="1"/>
          <p:nvPr/>
        </p:nvSpPr>
        <p:spPr>
          <a:xfrm>
            <a:off x="6263640" y="1737360"/>
            <a:ext cx="2286000" cy="27432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sin capa</a:t>
            </a:r>
          </a:p>
        </p:txBody>
      </p:sp>
      <p:sp>
        <p:nvSpPr>
          <p:cNvPr id="17" name="TextBox 16"/>
          <p:cNvSpPr txBox="1"/>
          <p:nvPr/>
        </p:nvSpPr>
        <p:spPr>
          <a:xfrm>
            <a:off x="6263640" y="2057400"/>
            <a:ext cx="2286000" cy="11430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Las herramientas de IA tienden a generar tests en lote que no pertenecen a ninguna capa.</a:t>
            </a:r>
          </a:p>
        </p:txBody>
      </p:sp>
      <p:sp>
        <p:nvSpPr>
          <p:cNvPr id="18" name="caption"/>
          <p:cNvSpPr txBox="1"/>
          <p:nvPr/>
        </p:nvSpPr>
        <p:spPr>
          <a:xfrm>
            <a:off x="6263640" y="3218688"/>
            <a:ext cx="228600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Full Stack Testing, p. 118</a:t>
            </a:r>
          </a:p>
        </p:txBody>
      </p:sp>
      <p:sp>
        <p:nvSpPr>
          <p:cNvPr id="19" name="TextBox 18"/>
          <p:cNvSpPr txBox="1"/>
          <p:nvPr/>
        </p:nvSpPr>
        <p:spPr>
          <a:xfrm>
            <a:off x="411480" y="3703320"/>
            <a:ext cx="8321040" cy="777240"/>
          </a:xfrm>
          <a:prstGeom prst="rect">
            <a:avLst/>
          </a:prstGeom>
          <a:noFill/>
        </p:spPr>
        <p:txBody>
          <a:bodyPr wrap="square" lIns="36576" rIns="36576" tIns="36576" bIns="36576" anchor="t"/>
          <a:lstStyle/>
          <a:p>
            <a:pPr algn="ctr" marL="0" indent="0">
              <a:spcAft>
                <a:spcPts val="200"/>
              </a:spcAft>
              <a:buNone/>
            </a:pPr>
            <a:r>
              <a:rPr sz="1300" b="0" i="0" lang="es-CL">
                <a:solidFill>
                  <a:srgbClr val="1F2328"/>
                </a:solidFill>
                <a:latin typeface="Inter"/>
                <a:ea typeface="Inter"/>
                <a:cs typeface="Inter"/>
              </a:rPr>
              <a:t>“Successful AI adoption is a </a:t>
            </a:r>
            <a:r>
              <a:rPr sz="1300" b="1" i="0" lang="es-CL">
                <a:solidFill>
                  <a:srgbClr val="1F2328"/>
                </a:solidFill>
                <a:latin typeface="Inter"/>
                <a:ea typeface="Inter"/>
                <a:cs typeface="Inter"/>
              </a:rPr>
              <a:t>systems problem, not a tools problem</a:t>
            </a:r>
            <a:r>
              <a:rPr sz="1300" b="0" i="0" lang="es-CL">
                <a:solidFill>
                  <a:srgbClr val="1F2328"/>
                </a:solidFill>
                <a:latin typeface="Inter"/>
                <a:ea typeface="Inter"/>
                <a:cs typeface="Inter"/>
              </a:rPr>
              <a:t>.”</a:t>
            </a:r>
          </a:p>
          <a:p>
            <a:pPr algn="ctr" marL="0" indent="0">
              <a:spcAft>
                <a:spcPts val="200"/>
              </a:spcAft>
              <a:buNone/>
            </a:pPr>
            <a:r>
              <a:rPr sz="1300" b="0" i="0" lang="es-CL">
                <a:solidFill>
                  <a:srgbClr val="1F2328"/>
                </a:solidFill>
                <a:latin typeface="Inter"/>
                <a:ea typeface="Inter"/>
                <a:cs typeface="Inter"/>
              </a:rPr>
              <a:t>DORA, State of AI-assisted Software Development 2025 (citado en el libro, p.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Tests micro y macro (Tabla 3-1)</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1024128"/>
          <a:ext cx="5714997" cy="3200400"/>
        </p:xfrm>
        <a:graphic>
          <a:graphicData uri="http://schemas.openxmlformats.org/drawingml/2006/table">
            <a:tbl>
              <a:tblPr firstRow="0" bandRow="0">
                <a:tableStyleId>{5C22544A-7EE6-4342-B048-85BDC9FD1C3A}</a:tableStyleId>
              </a:tblPr>
              <a:tblGrid>
                <a:gridCol w="1050551"/>
                <a:gridCol w="672352"/>
                <a:gridCol w="2059080"/>
                <a:gridCol w="1218639"/>
                <a:gridCol w="714375"/>
              </a:tblGrid>
              <a:tr h="457200">
                <a:tc>
                  <a:txBody>
                    <a:bodyPr wrap="square"/>
                    <a:lstStyle/>
                    <a:p>
                      <a:pPr algn="l" marL="0" indent="0">
                        <a:spcAft>
                          <a:spcPts val="0"/>
                        </a:spcAft>
                        <a:buNone/>
                      </a:pPr>
                      <a:r>
                        <a:rPr sz="1200" b="1" i="0" lang="es-CL">
                          <a:solidFill>
                            <a:srgbClr val="FFFFFF"/>
                          </a:solidFill>
                          <a:latin typeface="Inter"/>
                          <a:ea typeface="Inter"/>
                          <a:cs typeface="Inter"/>
                        </a:rPr>
                        <a:t>Tipo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Nivel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Qué valida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Esfuerzo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Tiempo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Unit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Micro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Un método de una clase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Mínimo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Rápido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Integración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Micro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Dos componentes juntos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Mínimo a moderado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Rápido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Contrato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Micro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El contrato entre dos servicios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Moderado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Medio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Servicio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Macro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La funcionalidad en la API</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Moderado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Medio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UI</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Macro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Un recorrido en la web</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Moderado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Lento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End to end</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Macro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El recorrido completo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Máximo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Lento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bl>
          </a:graphicData>
        </a:graphic>
      </p:graphicFrame>
      <p:sp>
        <p:nvSpPr>
          <p:cNvPr id="5" name="Rounded Rectangle 4"/>
          <p:cNvSpPr/>
          <p:nvPr/>
        </p:nvSpPr>
        <p:spPr>
          <a:xfrm>
            <a:off x="6309360" y="1024128"/>
            <a:ext cx="2423160" cy="3200400"/>
          </a:xfrm>
          <a:prstGeom prst="roundRect">
            <a:avLst>
              <a:gd name="adj" fmla="val 3773"/>
            </a:avLst>
          </a:prstGeom>
          <a:solidFill>
            <a:srgbClr val="DCE9F7"/>
          </a:solidFill>
          <a:ln>
            <a:noFill/>
          </a:ln>
        </p:spPr>
        <p:txBody>
          <a:bodyPr rtlCol="0" anchor="ctr" wrap="square" lIns="54864" rIns="54864" tIns="54864" bIns="54864"/>
          <a:lstStyle/>
          <a:p>
            <a:pPr algn="ctr"/>
          </a:p>
        </p:txBody>
      </p:sp>
      <p:sp>
        <p:nvSpPr>
          <p:cNvPr id="6" name="TextBox 5"/>
          <p:cNvSpPr txBox="1"/>
          <p:nvPr/>
        </p:nvSpPr>
        <p:spPr>
          <a:xfrm>
            <a:off x="6446520" y="1115568"/>
            <a:ext cx="214884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Antes de un test de UI</a:t>
            </a:r>
          </a:p>
        </p:txBody>
      </p:sp>
      <p:sp>
        <p:nvSpPr>
          <p:cNvPr id="7" name="TextBox 6"/>
          <p:cNvSpPr txBox="1"/>
          <p:nvPr/>
        </p:nvSpPr>
        <p:spPr>
          <a:xfrm>
            <a:off x="6446520" y="1463040"/>
            <a:ext cx="2148840" cy="2697480"/>
          </a:xfrm>
          <a:prstGeom prst="rect">
            <a:avLst/>
          </a:prstGeom>
          <a:noFill/>
        </p:spPr>
        <p:txBody>
          <a:bodyPr wrap="square" lIns="36576" rIns="36576" tIns="36576" bIns="36576" anchor="t"/>
          <a:lstStyle/>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¿Cuál es el propósito de este test?</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¿Podría lograr lo mismo con un test micro, más abajo?</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Si la respuesta es sí, el test baja de capa. También se le pregunta a la IA.</a:t>
            </a:r>
          </a:p>
        </p:txBody>
      </p:sp>
      <p:sp>
        <p:nvSpPr>
          <p:cNvPr id="8" name="caption"/>
          <p:cNvSpPr txBox="1"/>
          <p:nvPr/>
        </p:nvSpPr>
        <p:spPr>
          <a:xfrm>
            <a:off x="411480" y="4590288"/>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tabla 3-1 y p. 71 y 72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La pirámide: 10x : 5x : x</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Isosceles Triangle 3"/>
          <p:cNvSpPr/>
          <p:nvPr/>
        </p:nvSpPr>
        <p:spPr>
          <a:xfrm>
            <a:off x="1715129" y="1097280"/>
            <a:ext cx="1233181" cy="960120"/>
          </a:xfrm>
          <a:prstGeom prst="triangle">
            <a:avLst/>
          </a:prstGeom>
          <a:solidFill>
            <a:srgbClr val="CC850A"/>
          </a:solidFill>
          <a:ln>
            <a:noFill/>
          </a:ln>
        </p:spPr>
        <p:txBody>
          <a:bodyPr rtlCol="0" anchor="ctr" wrap="square" lIns="54864" rIns="54864" tIns="54864" bIns="54864"/>
          <a:lstStyle/>
          <a:p>
            <a:pPr algn="ctr"/>
          </a:p>
        </p:txBody>
      </p:sp>
      <p:sp>
        <p:nvSpPr>
          <p:cNvPr id="5" name="TextBox 4"/>
          <p:cNvSpPr txBox="1"/>
          <p:nvPr/>
        </p:nvSpPr>
        <p:spPr>
          <a:xfrm>
            <a:off x="1783079" y="1554480"/>
            <a:ext cx="1097280" cy="457200"/>
          </a:xfrm>
          <a:prstGeom prst="rect">
            <a:avLst/>
          </a:prstGeom>
          <a:noFill/>
        </p:spPr>
        <p:txBody>
          <a:bodyPr wrap="square" lIns="36576" rIns="36576" tIns="36576" bIns="36576" anchor="t"/>
          <a:lstStyle/>
          <a:p>
            <a:pPr algn="ctr" marL="0" indent="0">
              <a:spcAft>
                <a:spcPts val="400"/>
              </a:spcAft>
              <a:buNone/>
            </a:pPr>
            <a:r>
              <a:rPr sz="1600" b="1" i="0" lang="es-CL">
                <a:solidFill>
                  <a:srgbClr val="FFFFFF"/>
                </a:solidFill>
                <a:latin typeface="Inter"/>
                <a:ea typeface="Inter"/>
                <a:cs typeface="Inter"/>
              </a:rPr>
              <a:t>x</a:t>
            </a:r>
          </a:p>
        </p:txBody>
      </p:sp>
      <p:sp>
        <p:nvSpPr>
          <p:cNvPr id="6" name="Trapezoid 5"/>
          <p:cNvSpPr/>
          <p:nvPr/>
        </p:nvSpPr>
        <p:spPr>
          <a:xfrm>
            <a:off x="1063304" y="2112264"/>
            <a:ext cx="2536830" cy="960120"/>
          </a:xfrm>
          <a:prstGeom prst="trapezoid">
            <a:avLst>
              <a:gd name="adj" fmla="val 64220"/>
            </a:avLst>
          </a:prstGeom>
          <a:solidFill>
            <a:srgbClr val="47A1AD"/>
          </a:solidFill>
          <a:ln>
            <a:noFill/>
          </a:ln>
        </p:spPr>
        <p:txBody>
          <a:bodyPr rtlCol="0" anchor="ctr" wrap="square" lIns="54864" rIns="54864" tIns="54864" bIns="54864"/>
          <a:lstStyle/>
          <a:p>
            <a:pPr algn="ctr"/>
          </a:p>
        </p:txBody>
      </p:sp>
      <p:sp>
        <p:nvSpPr>
          <p:cNvPr id="7" name="TextBox 6"/>
          <p:cNvSpPr txBox="1"/>
          <p:nvPr/>
        </p:nvSpPr>
        <p:spPr>
          <a:xfrm>
            <a:off x="1234439" y="2203704"/>
            <a:ext cx="2194560" cy="365760"/>
          </a:xfrm>
          <a:prstGeom prst="rect">
            <a:avLst/>
          </a:prstGeom>
          <a:noFill/>
        </p:spPr>
        <p:txBody>
          <a:bodyPr wrap="square" lIns="36576" rIns="36576" tIns="36576" bIns="36576" anchor="t"/>
          <a:lstStyle/>
          <a:p>
            <a:pPr algn="ctr" marL="0" indent="0">
              <a:spcAft>
                <a:spcPts val="400"/>
              </a:spcAft>
              <a:buNone/>
            </a:pPr>
            <a:r>
              <a:rPr sz="1800" b="1" i="0" lang="es-CL">
                <a:solidFill>
                  <a:srgbClr val="FFFFFF"/>
                </a:solidFill>
                <a:latin typeface="Inter"/>
                <a:ea typeface="Inter"/>
                <a:cs typeface="Inter"/>
              </a:rPr>
              <a:t>5x</a:t>
            </a:r>
          </a:p>
        </p:txBody>
      </p:sp>
      <p:sp>
        <p:nvSpPr>
          <p:cNvPr id="8" name="TextBox 7"/>
          <p:cNvSpPr txBox="1"/>
          <p:nvPr/>
        </p:nvSpPr>
        <p:spPr>
          <a:xfrm>
            <a:off x="960119" y="2615184"/>
            <a:ext cx="2743200" cy="365760"/>
          </a:xfrm>
          <a:prstGeom prst="rect">
            <a:avLst/>
          </a:prstGeom>
          <a:noFill/>
        </p:spPr>
        <p:txBody>
          <a:bodyPr wrap="square" lIns="36576" rIns="36576" tIns="36576" bIns="36576" anchor="t"/>
          <a:lstStyle/>
          <a:p>
            <a:pPr algn="ctr" marL="0" indent="0">
              <a:spcAft>
                <a:spcPts val="400"/>
              </a:spcAft>
              <a:buNone/>
            </a:pPr>
            <a:r>
              <a:rPr sz="1200" b="1" i="0" lang="es-CL">
                <a:solidFill>
                  <a:srgbClr val="FFFFFF"/>
                </a:solidFill>
                <a:latin typeface="Inter"/>
                <a:ea typeface="Inter"/>
                <a:cs typeface="Inter"/>
              </a:rPr>
              <a:t>Servicio y contrato</a:t>
            </a:r>
          </a:p>
        </p:txBody>
      </p:sp>
      <p:sp>
        <p:nvSpPr>
          <p:cNvPr id="9" name="Trapezoid 8"/>
          <p:cNvSpPr/>
          <p:nvPr/>
        </p:nvSpPr>
        <p:spPr>
          <a:xfrm>
            <a:off x="411480" y="3127248"/>
            <a:ext cx="3840479" cy="960120"/>
          </a:xfrm>
          <a:prstGeom prst="trapezoid">
            <a:avLst>
              <a:gd name="adj" fmla="val 64220"/>
            </a:avLst>
          </a:prstGeom>
          <a:solidFill>
            <a:srgbClr val="38761D"/>
          </a:solidFill>
          <a:ln>
            <a:noFill/>
          </a:ln>
        </p:spPr>
        <p:txBody>
          <a:bodyPr rtlCol="0" anchor="ctr" wrap="square" lIns="54864" rIns="54864" tIns="54864" bIns="54864"/>
          <a:lstStyle/>
          <a:p>
            <a:pPr algn="ctr"/>
          </a:p>
        </p:txBody>
      </p:sp>
      <p:sp>
        <p:nvSpPr>
          <p:cNvPr id="10" name="TextBox 9"/>
          <p:cNvSpPr txBox="1"/>
          <p:nvPr/>
        </p:nvSpPr>
        <p:spPr>
          <a:xfrm>
            <a:off x="1234439" y="3218688"/>
            <a:ext cx="2194560" cy="365760"/>
          </a:xfrm>
          <a:prstGeom prst="rect">
            <a:avLst/>
          </a:prstGeom>
          <a:noFill/>
        </p:spPr>
        <p:txBody>
          <a:bodyPr wrap="square" lIns="36576" rIns="36576" tIns="36576" bIns="36576" anchor="t"/>
          <a:lstStyle/>
          <a:p>
            <a:pPr algn="ctr" marL="0" indent="0">
              <a:spcAft>
                <a:spcPts val="400"/>
              </a:spcAft>
              <a:buNone/>
            </a:pPr>
            <a:r>
              <a:rPr sz="1800" b="1" i="0" lang="es-CL">
                <a:solidFill>
                  <a:srgbClr val="FFFFFF"/>
                </a:solidFill>
                <a:latin typeface="Inter"/>
                <a:ea typeface="Inter"/>
                <a:cs typeface="Inter"/>
              </a:rPr>
              <a:t>10x</a:t>
            </a:r>
          </a:p>
        </p:txBody>
      </p:sp>
      <p:sp>
        <p:nvSpPr>
          <p:cNvPr id="11" name="TextBox 10"/>
          <p:cNvSpPr txBox="1"/>
          <p:nvPr/>
        </p:nvSpPr>
        <p:spPr>
          <a:xfrm>
            <a:off x="960119" y="3630168"/>
            <a:ext cx="2743200" cy="365760"/>
          </a:xfrm>
          <a:prstGeom prst="rect">
            <a:avLst/>
          </a:prstGeom>
          <a:noFill/>
        </p:spPr>
        <p:txBody>
          <a:bodyPr wrap="square" lIns="36576" rIns="36576" tIns="36576" bIns="36576" anchor="t"/>
          <a:lstStyle/>
          <a:p>
            <a:pPr algn="ctr" marL="0" indent="0">
              <a:spcAft>
                <a:spcPts val="400"/>
              </a:spcAft>
              <a:buNone/>
            </a:pPr>
            <a:r>
              <a:rPr sz="1200" b="1" i="0" lang="es-CL">
                <a:solidFill>
                  <a:srgbClr val="FFFFFF"/>
                </a:solidFill>
                <a:latin typeface="Inter"/>
                <a:ea typeface="Inter"/>
                <a:cs typeface="Inter"/>
              </a:rPr>
              <a:t>Unit e integración</a:t>
            </a:r>
          </a:p>
        </p:txBody>
      </p:sp>
      <p:sp>
        <p:nvSpPr>
          <p:cNvPr id="12" name="caption"/>
          <p:cNvSpPr txBox="1"/>
          <p:nvPr/>
        </p:nvSpPr>
        <p:spPr>
          <a:xfrm>
            <a:off x="685799" y="4178808"/>
            <a:ext cx="3291840" cy="237744"/>
          </a:xfrm>
          <a:prstGeom prst="rect">
            <a:avLst/>
          </a:prstGeom>
          <a:noFill/>
        </p:spPr>
        <p:txBody>
          <a:bodyPr wrap="square" lIns="36576" rIns="36576" tIns="36576" bIns="36576" anchor="t"/>
          <a:lstStyle/>
          <a:p>
            <a:pPr algn="ctr" marL="0" indent="0">
              <a:spcAft>
                <a:spcPts val="400"/>
              </a:spcAft>
              <a:buNone/>
            </a:pPr>
            <a:r>
              <a:rPr sz="1000" b="0" i="0" lang="es-CL">
                <a:solidFill>
                  <a:srgbClr val="8C959F"/>
                </a:solidFill>
                <a:latin typeface="Inter"/>
                <a:ea typeface="Inter"/>
                <a:cs typeface="Inter"/>
              </a:rPr>
              <a:t>Mike Cohn, citado en el libro, p. 72</a:t>
            </a:r>
          </a:p>
        </p:txBody>
      </p:sp>
      <p:sp>
        <p:nvSpPr>
          <p:cNvPr id="13" name="Rounded Rectangle 12"/>
          <p:cNvSpPr/>
          <p:nvPr/>
        </p:nvSpPr>
        <p:spPr>
          <a:xfrm>
            <a:off x="4663440" y="1097280"/>
            <a:ext cx="4069080" cy="1371600"/>
          </a:xfrm>
          <a:prstGeom prst="roundRect">
            <a:avLst>
              <a:gd name="adj" fmla="val 6666"/>
            </a:avLst>
          </a:prstGeom>
          <a:solidFill>
            <a:srgbClr val="EDF1F3"/>
          </a:solidFill>
          <a:ln>
            <a:noFill/>
          </a:ln>
        </p:spPr>
        <p:txBody>
          <a:bodyPr rtlCol="0" anchor="ctr" wrap="square" lIns="54864" rIns="54864" tIns="54864" bIns="54864"/>
          <a:lstStyle/>
          <a:p>
            <a:pPr algn="ctr"/>
          </a:p>
        </p:txBody>
      </p:sp>
      <p:sp>
        <p:nvSpPr>
          <p:cNvPr id="14" name="TextBox 13"/>
          <p:cNvSpPr txBox="1"/>
          <p:nvPr/>
        </p:nvSpPr>
        <p:spPr>
          <a:xfrm>
            <a:off x="4846320" y="1170432"/>
            <a:ext cx="3657600" cy="274320"/>
          </a:xfrm>
          <a:prstGeom prst="rect">
            <a:avLst/>
          </a:prstGeom>
          <a:noFill/>
        </p:spPr>
        <p:txBody>
          <a:bodyPr wrap="square" lIns="36576" rIns="36576" tIns="36576" bIns="36576" anchor="t"/>
          <a:lstStyle/>
          <a:p>
            <a:pPr algn="l" marL="0" indent="0">
              <a:spcAft>
                <a:spcPts val="400"/>
              </a:spcAft>
              <a:buNone/>
            </a:pPr>
            <a:r>
              <a:rPr sz="1300" b="1" i="0" lang="es-CL">
                <a:solidFill>
                  <a:srgbClr val="980000"/>
                </a:solidFill>
                <a:latin typeface="Inter"/>
                <a:ea typeface="Inter"/>
                <a:cs typeface="Inter"/>
              </a:rPr>
              <a:t>Antes</a:t>
            </a:r>
          </a:p>
        </p:txBody>
      </p:sp>
      <p:sp>
        <p:nvSpPr>
          <p:cNvPr id="15" name="TextBox 14"/>
          <p:cNvSpPr txBox="1"/>
          <p:nvPr/>
        </p:nvSpPr>
        <p:spPr>
          <a:xfrm>
            <a:off x="4846320" y="1481328"/>
            <a:ext cx="3703320" cy="91440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200+ tests de UI</a:t>
            </a:r>
            <a:r>
              <a:rPr sz="1200" b="0" i="0" lang="es-CL">
                <a:solidFill>
                  <a:srgbClr val="1F2328"/>
                </a:solidFill>
                <a:latin typeface="Inter"/>
                <a:ea typeface="Inter"/>
                <a:cs typeface="Inter"/>
              </a:rPr>
              <a:t> que tardaban </a:t>
            </a:r>
            <a:r>
              <a:rPr sz="1200" b="1" i="0" lang="es-CL">
                <a:solidFill>
                  <a:srgbClr val="1F2328"/>
                </a:solidFill>
                <a:latin typeface="Inter"/>
                <a:ea typeface="Inter"/>
                <a:cs typeface="Inter"/>
              </a:rPr>
              <a:t>8 horas</a:t>
            </a:r>
            <a:r>
              <a:rPr sz="1200" b="0" i="0" lang="es-CL">
                <a:solidFill>
                  <a:srgbClr val="1F2328"/>
                </a:solidFill>
                <a:latin typeface="Inter"/>
                <a:ea typeface="Inter"/>
                <a:cs typeface="Inter"/>
              </a:rPr>
              <a:t> y fallaban al final por componentes dependientes o infraestructura.</a:t>
            </a:r>
          </a:p>
        </p:txBody>
      </p:sp>
      <p:sp>
        <p:nvSpPr>
          <p:cNvPr id="16" name="Rounded Rectangle 15"/>
          <p:cNvSpPr/>
          <p:nvPr/>
        </p:nvSpPr>
        <p:spPr>
          <a:xfrm>
            <a:off x="4663440" y="2651760"/>
            <a:ext cx="4069080" cy="1371600"/>
          </a:xfrm>
          <a:prstGeom prst="roundRect">
            <a:avLst>
              <a:gd name="adj" fmla="val 6666"/>
            </a:avLst>
          </a:prstGeom>
          <a:solidFill>
            <a:srgbClr val="EDF1F3"/>
          </a:solidFill>
          <a:ln>
            <a:noFill/>
          </a:ln>
        </p:spPr>
        <p:txBody>
          <a:bodyPr rtlCol="0" anchor="ctr" wrap="square" lIns="54864" rIns="54864" tIns="54864" bIns="54864"/>
          <a:lstStyle/>
          <a:p>
            <a:pPr algn="ctr"/>
          </a:p>
        </p:txBody>
      </p:sp>
      <p:sp>
        <p:nvSpPr>
          <p:cNvPr id="17" name="TextBox 16"/>
          <p:cNvSpPr txBox="1"/>
          <p:nvPr/>
        </p:nvSpPr>
        <p:spPr>
          <a:xfrm>
            <a:off x="4846320" y="2724912"/>
            <a:ext cx="3657600" cy="274320"/>
          </a:xfrm>
          <a:prstGeom prst="rect">
            <a:avLst/>
          </a:prstGeom>
          <a:noFill/>
        </p:spPr>
        <p:txBody>
          <a:bodyPr wrap="square" lIns="36576" rIns="36576" tIns="36576" bIns="36576" anchor="t"/>
          <a:lstStyle/>
          <a:p>
            <a:pPr algn="l" marL="0" indent="0">
              <a:spcAft>
                <a:spcPts val="400"/>
              </a:spcAft>
              <a:buNone/>
            </a:pPr>
            <a:r>
              <a:rPr sz="1300" b="1" i="0" lang="es-CL">
                <a:solidFill>
                  <a:srgbClr val="38761D"/>
                </a:solidFill>
                <a:latin typeface="Inter"/>
                <a:ea typeface="Inter"/>
                <a:cs typeface="Inter"/>
              </a:rPr>
              <a:t>Después de adoptar la pirámide</a:t>
            </a:r>
          </a:p>
        </p:txBody>
      </p:sp>
      <p:sp>
        <p:nvSpPr>
          <p:cNvPr id="18" name="TextBox 17"/>
          <p:cNvSpPr txBox="1"/>
          <p:nvPr/>
        </p:nvSpPr>
        <p:spPr>
          <a:xfrm>
            <a:off x="4846320" y="3035808"/>
            <a:ext cx="3703320" cy="91440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470 tests</a:t>
            </a:r>
            <a:r>
              <a:rPr sz="1200" b="0" i="0" lang="es-CL">
                <a:solidFill>
                  <a:srgbClr val="1F2328"/>
                </a:solidFill>
                <a:latin typeface="Inter"/>
                <a:ea typeface="Inter"/>
                <a:cs typeface="Inter"/>
              </a:rPr>
              <a:t> micro y macro con feedback en </a:t>
            </a:r>
            <a:r>
              <a:rPr sz="1200" b="1" i="0" lang="es-CL">
                <a:solidFill>
                  <a:srgbClr val="1F2328"/>
                </a:solidFill>
                <a:latin typeface="Inter"/>
                <a:ea typeface="Inter"/>
                <a:cs typeface="Inter"/>
              </a:rPr>
              <a:t>35 minutos</a:t>
            </a:r>
            <a:r>
              <a:rPr sz="1200" b="0" i="0" lang="es-CL">
                <a:solidFill>
                  <a:srgbClr val="1F2328"/>
                </a:solidFill>
                <a:latin typeface="Inter"/>
                <a:ea typeface="Inter"/>
                <a:cs typeface="Inter"/>
              </a:rPr>
              <a:t>.</a:t>
            </a:r>
          </a:p>
        </p:txBody>
      </p:sp>
      <p:sp>
        <p:nvSpPr>
          <p:cNvPr id="19" name="caption"/>
          <p:cNvSpPr txBox="1"/>
          <p:nvPr/>
        </p:nvSpPr>
        <p:spPr>
          <a:xfrm>
            <a:off x="4663440" y="4114800"/>
            <a:ext cx="406908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p. 66 y 73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Antipatrones: cono de helado y cupcake</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411480" y="987552"/>
            <a:ext cx="2651760" cy="274320"/>
          </a:xfrm>
          <a:prstGeom prst="rect">
            <a:avLst/>
          </a:prstGeom>
          <a:noFill/>
        </p:spPr>
        <p:txBody>
          <a:bodyPr wrap="square" lIns="36576" rIns="36576" tIns="36576" bIns="36576" anchor="t"/>
          <a:lstStyle/>
          <a:p>
            <a:pPr algn="ctr" marL="0" indent="0">
              <a:spcAft>
                <a:spcPts val="400"/>
              </a:spcAft>
              <a:buNone/>
            </a:pPr>
            <a:r>
              <a:rPr sz="1400" b="1" i="0" lang="es-CL">
                <a:solidFill>
                  <a:srgbClr val="38761D"/>
                </a:solidFill>
                <a:latin typeface="Inter"/>
                <a:ea typeface="Inter"/>
                <a:cs typeface="Inter"/>
              </a:rPr>
              <a:t>Lo ideal</a:t>
            </a:r>
          </a:p>
        </p:txBody>
      </p:sp>
      <p:sp>
        <p:nvSpPr>
          <p:cNvPr id="5" name="TextBox 4"/>
          <p:cNvSpPr txBox="1"/>
          <p:nvPr/>
        </p:nvSpPr>
        <p:spPr>
          <a:xfrm>
            <a:off x="3246120" y="987552"/>
            <a:ext cx="2651760" cy="274320"/>
          </a:xfrm>
          <a:prstGeom prst="rect">
            <a:avLst/>
          </a:prstGeom>
          <a:noFill/>
        </p:spPr>
        <p:txBody>
          <a:bodyPr wrap="square" lIns="36576" rIns="36576" tIns="36576" bIns="36576" anchor="t"/>
          <a:lstStyle/>
          <a:p>
            <a:pPr algn="ctr" marL="0" indent="0">
              <a:spcAft>
                <a:spcPts val="400"/>
              </a:spcAft>
              <a:buNone/>
            </a:pPr>
            <a:r>
              <a:rPr sz="1400" b="1" i="0" lang="es-CL">
                <a:solidFill>
                  <a:srgbClr val="980000"/>
                </a:solidFill>
                <a:latin typeface="Inter"/>
                <a:ea typeface="Inter"/>
                <a:cs typeface="Inter"/>
              </a:rPr>
              <a:t>Cono de helado</a:t>
            </a:r>
          </a:p>
        </p:txBody>
      </p:sp>
      <p:sp>
        <p:nvSpPr>
          <p:cNvPr id="6" name="TextBox 5"/>
          <p:cNvSpPr txBox="1"/>
          <p:nvPr/>
        </p:nvSpPr>
        <p:spPr>
          <a:xfrm>
            <a:off x="6080760" y="987552"/>
            <a:ext cx="2651760" cy="274320"/>
          </a:xfrm>
          <a:prstGeom prst="rect">
            <a:avLst/>
          </a:prstGeom>
          <a:noFill/>
        </p:spPr>
        <p:txBody>
          <a:bodyPr wrap="square" lIns="36576" rIns="36576" tIns="36576" bIns="36576" anchor="t"/>
          <a:lstStyle/>
          <a:p>
            <a:pPr algn="ctr" marL="0" indent="0">
              <a:spcAft>
                <a:spcPts val="400"/>
              </a:spcAft>
              <a:buNone/>
            </a:pPr>
            <a:r>
              <a:rPr sz="1400" b="1" i="0" lang="es-CL">
                <a:solidFill>
                  <a:srgbClr val="980000"/>
                </a:solidFill>
                <a:latin typeface="Inter"/>
                <a:ea typeface="Inter"/>
                <a:cs typeface="Inter"/>
              </a:rPr>
              <a:t>Cupcake</a:t>
            </a:r>
          </a:p>
        </p:txBody>
      </p:sp>
      <p:sp>
        <p:nvSpPr>
          <p:cNvPr id="7" name="Isosceles Triangle 6"/>
          <p:cNvSpPr/>
          <p:nvPr/>
        </p:nvSpPr>
        <p:spPr>
          <a:xfrm>
            <a:off x="1417320" y="1417320"/>
            <a:ext cx="640080" cy="502920"/>
          </a:xfrm>
          <a:prstGeom prst="triangle">
            <a:avLst/>
          </a:prstGeom>
          <a:solidFill>
            <a:srgbClr val="CC850A"/>
          </a:solidFill>
          <a:ln>
            <a:noFill/>
          </a:ln>
        </p:spPr>
        <p:txBody>
          <a:bodyPr rtlCol="0" anchor="ctr" wrap="square" lIns="54864" rIns="54864" tIns="54864" bIns="54864"/>
          <a:lstStyle/>
          <a:p>
            <a:pPr algn="ctr"/>
          </a:p>
        </p:txBody>
      </p:sp>
      <p:sp>
        <p:nvSpPr>
          <p:cNvPr id="8" name="Trapezoid 7"/>
          <p:cNvSpPr/>
          <p:nvPr/>
        </p:nvSpPr>
        <p:spPr>
          <a:xfrm>
            <a:off x="1143000" y="1947672"/>
            <a:ext cx="1188720" cy="502920"/>
          </a:xfrm>
          <a:prstGeom prst="trapezoid">
            <a:avLst>
              <a:gd name="adj" fmla="val 50000"/>
            </a:avLst>
          </a:prstGeom>
          <a:solidFill>
            <a:srgbClr val="47A1AD"/>
          </a:solidFill>
          <a:ln>
            <a:noFill/>
          </a:ln>
        </p:spPr>
        <p:txBody>
          <a:bodyPr rtlCol="0" anchor="ctr" wrap="square" lIns="54864" rIns="54864" tIns="54864" bIns="54864"/>
          <a:lstStyle/>
          <a:p>
            <a:pPr algn="ctr"/>
          </a:p>
        </p:txBody>
      </p:sp>
      <p:sp>
        <p:nvSpPr>
          <p:cNvPr id="9" name="Trapezoid 8"/>
          <p:cNvSpPr/>
          <p:nvPr/>
        </p:nvSpPr>
        <p:spPr>
          <a:xfrm>
            <a:off x="914400" y="2478024"/>
            <a:ext cx="1645920" cy="502920"/>
          </a:xfrm>
          <a:prstGeom prst="trapezoid">
            <a:avLst>
              <a:gd name="adj" fmla="val 40000"/>
            </a:avLst>
          </a:prstGeom>
          <a:solidFill>
            <a:srgbClr val="38761D"/>
          </a:solidFill>
          <a:ln>
            <a:noFill/>
          </a:ln>
        </p:spPr>
        <p:txBody>
          <a:bodyPr rtlCol="0" anchor="ctr" wrap="square" lIns="54864" rIns="54864" tIns="54864" bIns="54864"/>
          <a:lstStyle/>
          <a:p>
            <a:pPr algn="ctr"/>
          </a:p>
        </p:txBody>
      </p:sp>
      <p:sp>
        <p:nvSpPr>
          <p:cNvPr id="10" name="Oval 9"/>
          <p:cNvSpPr/>
          <p:nvPr/>
        </p:nvSpPr>
        <p:spPr>
          <a:xfrm>
            <a:off x="3840480" y="1371600"/>
            <a:ext cx="1463040" cy="640080"/>
          </a:xfrm>
          <a:prstGeom prst="ellipse">
            <a:avLst/>
          </a:prstGeom>
          <a:solidFill>
            <a:srgbClr val="F4B6C2"/>
          </a:solidFill>
          <a:ln>
            <a:noFill/>
          </a:ln>
        </p:spPr>
        <p:txBody>
          <a:bodyPr rtlCol="0" anchor="ctr" wrap="square" lIns="54864" rIns="54864" tIns="54864" bIns="54864"/>
          <a:lstStyle/>
          <a:p>
            <a:pPr algn="ctr" marL="0" indent="0">
              <a:spcAft>
                <a:spcPts val="200"/>
              </a:spcAft>
              <a:buNone/>
            </a:pPr>
            <a:r>
              <a:rPr sz="1200" b="1" i="0" lang="es-CL">
                <a:solidFill>
                  <a:srgbClr val="1F2328"/>
                </a:solidFill>
                <a:latin typeface="Inter"/>
                <a:ea typeface="Inter"/>
                <a:cs typeface="Inter"/>
              </a:rPr>
              <a:t>Manual</a:t>
            </a:r>
          </a:p>
        </p:txBody>
      </p:sp>
      <p:sp>
        <p:nvSpPr>
          <p:cNvPr id="11" name="Rectangle 10"/>
          <p:cNvSpPr/>
          <p:nvPr/>
        </p:nvSpPr>
        <p:spPr>
          <a:xfrm>
            <a:off x="3657600" y="1920240"/>
            <a:ext cx="1828800" cy="365760"/>
          </a:xfrm>
          <a:prstGeom prst="rect">
            <a:avLst/>
          </a:prstGeom>
          <a:solidFill>
            <a:srgbClr val="CC850A"/>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UI</a:t>
            </a:r>
          </a:p>
        </p:txBody>
      </p:sp>
      <p:sp>
        <p:nvSpPr>
          <p:cNvPr id="12" name="Rectangle 11"/>
          <p:cNvSpPr/>
          <p:nvPr/>
        </p:nvSpPr>
        <p:spPr>
          <a:xfrm>
            <a:off x="3886200" y="2304288"/>
            <a:ext cx="1371600" cy="329184"/>
          </a:xfrm>
          <a:prstGeom prst="rect">
            <a:avLst/>
          </a:prstGeom>
          <a:solidFill>
            <a:srgbClr val="47A1A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Servicio</a:t>
            </a:r>
          </a:p>
        </p:txBody>
      </p:sp>
      <p:sp>
        <p:nvSpPr>
          <p:cNvPr id="13" name="Isosceles Triangle 12"/>
          <p:cNvSpPr/>
          <p:nvPr/>
        </p:nvSpPr>
        <p:spPr>
          <a:xfrm rot="10800000">
            <a:off x="4160520" y="2651760"/>
            <a:ext cx="822960" cy="457200"/>
          </a:xfrm>
          <a:prstGeom prst="triangle">
            <a:avLst/>
          </a:prstGeom>
          <a:solidFill>
            <a:srgbClr val="38761D"/>
          </a:solidFill>
          <a:ln>
            <a:noFill/>
          </a:ln>
        </p:spPr>
        <p:txBody>
          <a:bodyPr rtlCol="0" anchor="ctr" wrap="square" lIns="54864" rIns="54864" tIns="54864" bIns="54864"/>
          <a:lstStyle/>
          <a:p>
            <a:pPr algn="ctr"/>
          </a:p>
        </p:txBody>
      </p:sp>
      <p:sp>
        <p:nvSpPr>
          <p:cNvPr id="14" name="TextBox 13"/>
          <p:cNvSpPr txBox="1"/>
          <p:nvPr/>
        </p:nvSpPr>
        <p:spPr>
          <a:xfrm>
            <a:off x="4023360" y="2651760"/>
            <a:ext cx="1097280" cy="274320"/>
          </a:xfrm>
          <a:prstGeom prst="rect">
            <a:avLst/>
          </a:prstGeom>
          <a:noFill/>
        </p:spPr>
        <p:txBody>
          <a:bodyPr wrap="square" lIns="36576" rIns="36576" tIns="36576" bIns="36576" anchor="t"/>
          <a:lstStyle/>
          <a:p>
            <a:pPr algn="ctr" marL="0" indent="0">
              <a:spcAft>
                <a:spcPts val="400"/>
              </a:spcAft>
              <a:buNone/>
            </a:pPr>
            <a:r>
              <a:rPr sz="1200" b="1" i="0" lang="es-CL">
                <a:solidFill>
                  <a:srgbClr val="FFFFFF"/>
                </a:solidFill>
                <a:latin typeface="Inter"/>
                <a:ea typeface="Inter"/>
                <a:cs typeface="Inter"/>
              </a:rPr>
              <a:t>Unit</a:t>
            </a:r>
          </a:p>
        </p:txBody>
      </p:sp>
      <p:sp>
        <p:nvSpPr>
          <p:cNvPr id="15" name="Oval 14"/>
          <p:cNvSpPr/>
          <p:nvPr/>
        </p:nvSpPr>
        <p:spPr>
          <a:xfrm>
            <a:off x="6629400" y="1371600"/>
            <a:ext cx="1554480" cy="530352"/>
          </a:xfrm>
          <a:prstGeom prst="ellipse">
            <a:avLst/>
          </a:prstGeom>
          <a:solidFill>
            <a:srgbClr val="F4B6C2"/>
          </a:solidFill>
          <a:ln>
            <a:noFill/>
          </a:ln>
        </p:spPr>
        <p:txBody>
          <a:bodyPr rtlCol="0" anchor="ctr" wrap="square" lIns="54864" rIns="54864" tIns="54864" bIns="54864"/>
          <a:lstStyle/>
          <a:p>
            <a:pPr algn="ctr" marL="0" indent="0">
              <a:spcAft>
                <a:spcPts val="200"/>
              </a:spcAft>
              <a:buNone/>
            </a:pPr>
            <a:r>
              <a:rPr sz="1200" b="1" i="0" lang="es-CL">
                <a:solidFill>
                  <a:srgbClr val="1F2328"/>
                </a:solidFill>
                <a:latin typeface="Inter"/>
                <a:ea typeface="Inter"/>
                <a:cs typeface="Inter"/>
              </a:rPr>
              <a:t>Manual</a:t>
            </a:r>
          </a:p>
        </p:txBody>
      </p:sp>
      <p:sp>
        <p:nvSpPr>
          <p:cNvPr id="16" name="Rectangle 15"/>
          <p:cNvSpPr/>
          <p:nvPr/>
        </p:nvSpPr>
        <p:spPr>
          <a:xfrm>
            <a:off x="6400800" y="1828800"/>
            <a:ext cx="2011680" cy="365760"/>
          </a:xfrm>
          <a:prstGeom prst="rect">
            <a:avLst/>
          </a:prstGeom>
          <a:solidFill>
            <a:srgbClr val="CC850A"/>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UI (duplica)</a:t>
            </a:r>
          </a:p>
        </p:txBody>
      </p:sp>
      <p:sp>
        <p:nvSpPr>
          <p:cNvPr id="17" name="Rectangle 16"/>
          <p:cNvSpPr/>
          <p:nvPr/>
        </p:nvSpPr>
        <p:spPr>
          <a:xfrm>
            <a:off x="6446520" y="2212848"/>
            <a:ext cx="1920240" cy="365760"/>
          </a:xfrm>
          <a:prstGeom prst="rect">
            <a:avLst/>
          </a:prstGeom>
          <a:solidFill>
            <a:srgbClr val="47A1A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Servicio (duplica)</a:t>
            </a:r>
          </a:p>
        </p:txBody>
      </p:sp>
      <p:sp>
        <p:nvSpPr>
          <p:cNvPr id="18" name="Trapezoid 17"/>
          <p:cNvSpPr/>
          <p:nvPr/>
        </p:nvSpPr>
        <p:spPr>
          <a:xfrm rot="10800000">
            <a:off x="6583679" y="2596896"/>
            <a:ext cx="1645920" cy="457200"/>
          </a:xfrm>
          <a:prstGeom prst="trapezoid">
            <a:avLst/>
          </a:prstGeom>
          <a:solidFill>
            <a:srgbClr val="38761D"/>
          </a:solidFill>
          <a:ln>
            <a:noFill/>
          </a:ln>
        </p:spPr>
        <p:txBody>
          <a:bodyPr rtlCol="0" anchor="ctr" wrap="square" lIns="54864" rIns="54864" tIns="54864" bIns="54864"/>
          <a:lstStyle/>
          <a:p>
            <a:pPr algn="ctr"/>
          </a:p>
        </p:txBody>
      </p:sp>
      <p:sp>
        <p:nvSpPr>
          <p:cNvPr id="19" name="TextBox 18"/>
          <p:cNvSpPr txBox="1"/>
          <p:nvPr/>
        </p:nvSpPr>
        <p:spPr>
          <a:xfrm>
            <a:off x="6858000" y="2670048"/>
            <a:ext cx="1097280" cy="274320"/>
          </a:xfrm>
          <a:prstGeom prst="rect">
            <a:avLst/>
          </a:prstGeom>
          <a:noFill/>
        </p:spPr>
        <p:txBody>
          <a:bodyPr wrap="square" lIns="36576" rIns="36576" tIns="36576" bIns="36576" anchor="t"/>
          <a:lstStyle/>
          <a:p>
            <a:pPr algn="ctr" marL="0" indent="0">
              <a:spcAft>
                <a:spcPts val="400"/>
              </a:spcAft>
              <a:buNone/>
            </a:pPr>
            <a:r>
              <a:rPr sz="1200" b="1" i="0" lang="es-CL">
                <a:solidFill>
                  <a:srgbClr val="FFFFFF"/>
                </a:solidFill>
                <a:latin typeface="Inter"/>
                <a:ea typeface="Inter"/>
                <a:cs typeface="Inter"/>
              </a:rPr>
              <a:t>Unit</a:t>
            </a:r>
          </a:p>
        </p:txBody>
      </p:sp>
      <p:sp>
        <p:nvSpPr>
          <p:cNvPr id="20" name="TextBox 19"/>
          <p:cNvSpPr txBox="1"/>
          <p:nvPr/>
        </p:nvSpPr>
        <p:spPr>
          <a:xfrm>
            <a:off x="411480" y="3200400"/>
            <a:ext cx="2651760" cy="128016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Base ancha de tests micro</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Pocos tests macro que recorren flujos</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Cada test en una sola capa</a:t>
            </a:r>
          </a:p>
        </p:txBody>
      </p:sp>
      <p:sp>
        <p:nvSpPr>
          <p:cNvPr id="21" name="TextBox 20"/>
          <p:cNvSpPr txBox="1"/>
          <p:nvPr/>
        </p:nvSpPr>
        <p:spPr>
          <a:xfrm>
            <a:off x="3246120" y="3200400"/>
            <a:ext cx="2651760" cy="128016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Muchos tests de UI, pocos micro</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Feedback lento, defectos tarde</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Pruebas manuales igual</a:t>
            </a:r>
          </a:p>
        </p:txBody>
      </p:sp>
      <p:sp>
        <p:nvSpPr>
          <p:cNvPr id="22" name="TextBox 21"/>
          <p:cNvSpPr txBox="1"/>
          <p:nvPr/>
        </p:nvSpPr>
        <p:spPr>
          <a:xfrm>
            <a:off x="6080760" y="3200400"/>
            <a:ext cx="2651760" cy="128016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El mismo caso en unit, API y UI</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Releases lentos, culpas cruzadas</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La IA lo agrava</a:t>
            </a:r>
          </a:p>
        </p:txBody>
      </p:sp>
      <p:sp>
        <p:nvSpPr>
          <p:cNvPr id="23" name="caption"/>
          <p:cNvSpPr txBox="1"/>
          <p:nvPr/>
        </p:nvSpPr>
        <p:spPr>
          <a:xfrm>
            <a:off x="411480" y="4526280"/>
            <a:ext cx="8321040" cy="237744"/>
          </a:xfrm>
          <a:prstGeom prst="rect">
            <a:avLst/>
          </a:prstGeom>
          <a:noFill/>
        </p:spPr>
        <p:txBody>
          <a:bodyPr wrap="square" lIns="36576" rIns="36576" tIns="36576" bIns="36576" anchor="t"/>
          <a:lstStyle/>
          <a:p>
            <a:pPr algn="ctr" marL="0" indent="0">
              <a:spcAft>
                <a:spcPts val="400"/>
              </a:spcAft>
              <a:buNone/>
            </a:pPr>
            <a:r>
              <a:rPr sz="1000" b="0" i="0" lang="es-CL">
                <a:solidFill>
                  <a:srgbClr val="8C959F"/>
                </a:solidFill>
                <a:latin typeface="Inter"/>
                <a:ea typeface="Inter"/>
                <a:cs typeface="Inter"/>
              </a:rPr>
              <a:t>Libro, p. 114 a 116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El mito del 100 por ciento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05840"/>
            <a:ext cx="4069080" cy="1417320"/>
          </a:xfrm>
          <a:prstGeom prst="roundRect">
            <a:avLst>
              <a:gd name="adj" fmla="val 6451"/>
            </a:avLst>
          </a:prstGeom>
          <a:solidFill>
            <a:srgbClr val="EDF1F3"/>
          </a:solidFill>
          <a:ln>
            <a:noFill/>
          </a:ln>
        </p:spPr>
        <p:txBody>
          <a:bodyPr rtlCol="0" anchor="ctr" wrap="square" lIns="54864" rIns="54864" tIns="54864" bIns="54864"/>
          <a:lstStyle/>
          <a:p>
            <a:pPr algn="ctr"/>
          </a:p>
        </p:txBody>
      </p:sp>
      <p:sp>
        <p:nvSpPr>
          <p:cNvPr id="5" name="TextBox 4"/>
          <p:cNvSpPr txBox="1"/>
          <p:nvPr/>
        </p:nvSpPr>
        <p:spPr>
          <a:xfrm>
            <a:off x="566928" y="1060704"/>
            <a:ext cx="3749039"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Cobertura de código</a:t>
            </a:r>
          </a:p>
        </p:txBody>
      </p:sp>
      <p:sp>
        <p:nvSpPr>
          <p:cNvPr id="6" name="TextBox 5"/>
          <p:cNvSpPr txBox="1"/>
          <p:nvPr/>
        </p:nvSpPr>
        <p:spPr>
          <a:xfrm>
            <a:off x="566928" y="1371600"/>
            <a:ext cx="3794760" cy="1005840"/>
          </a:xfrm>
          <a:prstGeom prst="rect">
            <a:avLst/>
          </a:prstGeom>
          <a:noFill/>
        </p:spPr>
        <p:txBody>
          <a:bodyPr wrap="square" lIns="36576" rIns="36576" tIns="36576" bIns="36576" anchor="t"/>
          <a:lstStyle/>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Dice qué líneas </a:t>
            </a:r>
            <a:r>
              <a:rPr sz="1200" b="1" i="0" lang="es-CL">
                <a:solidFill>
                  <a:srgbClr val="1F2328"/>
                </a:solidFill>
                <a:latin typeface="Inter"/>
                <a:ea typeface="Inter"/>
                <a:cs typeface="Inter"/>
              </a:rPr>
              <a:t>no</a:t>
            </a:r>
            <a:r>
              <a:rPr sz="1200" b="0" i="0" lang="es-CL">
                <a:solidFill>
                  <a:srgbClr val="1F2328"/>
                </a:solidFill>
                <a:latin typeface="Inter"/>
                <a:ea typeface="Inter"/>
                <a:cs typeface="Inter"/>
              </a:rPr>
              <a:t> ejecutó ningún test</a:t>
            </a:r>
          </a:p>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No dice si los tests verifican algo</a:t>
            </a:r>
          </a:p>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Puede ser alta con un módulo sin tests</a:t>
            </a:r>
          </a:p>
        </p:txBody>
      </p:sp>
      <p:sp>
        <p:nvSpPr>
          <p:cNvPr id="7" name="Rounded Rectangle 6"/>
          <p:cNvSpPr/>
          <p:nvPr/>
        </p:nvSpPr>
        <p:spPr>
          <a:xfrm>
            <a:off x="4663440" y="1005840"/>
            <a:ext cx="4069080" cy="1417320"/>
          </a:xfrm>
          <a:prstGeom prst="roundRect">
            <a:avLst>
              <a:gd name="adj" fmla="val 6451"/>
            </a:avLst>
          </a:prstGeom>
          <a:solidFill>
            <a:srgbClr val="EDF1F3"/>
          </a:solidFill>
          <a:ln>
            <a:noFill/>
          </a:ln>
        </p:spPr>
        <p:txBody>
          <a:bodyPr rtlCol="0" anchor="ctr" wrap="square" lIns="54864" rIns="54864" tIns="54864" bIns="54864"/>
          <a:lstStyle/>
          <a:p>
            <a:pPr algn="ctr"/>
          </a:p>
        </p:txBody>
      </p:sp>
      <p:sp>
        <p:nvSpPr>
          <p:cNvPr id="8" name="TextBox 7"/>
          <p:cNvSpPr txBox="1"/>
          <p:nvPr/>
        </p:nvSpPr>
        <p:spPr>
          <a:xfrm>
            <a:off x="4818888" y="1060704"/>
            <a:ext cx="3749039" cy="274320"/>
          </a:xfrm>
          <a:prstGeom prst="rect">
            <a:avLst/>
          </a:prstGeom>
          <a:noFill/>
        </p:spPr>
        <p:txBody>
          <a:bodyPr wrap="square" lIns="36576" rIns="36576" tIns="36576" bIns="36576" anchor="t"/>
          <a:lstStyle/>
          <a:p>
            <a:pPr algn="l" marL="0" indent="0">
              <a:spcAft>
                <a:spcPts val="400"/>
              </a:spcAft>
              <a:buNone/>
            </a:pPr>
            <a:r>
              <a:rPr sz="1300" b="1" i="0" lang="es-CL">
                <a:solidFill>
                  <a:srgbClr val="38761D"/>
                </a:solidFill>
                <a:latin typeface="Inter"/>
                <a:ea typeface="Inter"/>
                <a:cs typeface="Inter"/>
              </a:rPr>
              <a:t>Mutation testing</a:t>
            </a:r>
          </a:p>
        </p:txBody>
      </p:sp>
      <p:sp>
        <p:nvSpPr>
          <p:cNvPr id="9" name="TextBox 8"/>
          <p:cNvSpPr txBox="1"/>
          <p:nvPr/>
        </p:nvSpPr>
        <p:spPr>
          <a:xfrm>
            <a:off x="4818888" y="1371600"/>
            <a:ext cx="3794760" cy="1005840"/>
          </a:xfrm>
          <a:prstGeom prst="rect">
            <a:avLst/>
          </a:prstGeom>
          <a:noFill/>
        </p:spPr>
        <p:txBody>
          <a:bodyPr wrap="square" lIns="36576" rIns="36576" tIns="36576" bIns="36576" anchor="t"/>
          <a:lstStyle/>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Cambia el código (un mutante) y corre los tests</a:t>
            </a:r>
          </a:p>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Si un test falla, el mutante muere</a:t>
            </a:r>
          </a:p>
          <a:p>
            <a:pPr algn="l" marL="182880" indent="-164592">
              <a:spcAft>
                <a:spcPts val="200"/>
              </a:spcAft>
              <a:buClr>
                <a:srgbClr val="F2617A"/>
              </a:buClr>
              <a:buSzPct val="100000"/>
              <a:buFont typeface="Arial"/>
              <a:buChar char="●"/>
            </a:pPr>
            <a:r>
              <a:rPr sz="1200" b="0" i="0" lang="es-CL">
                <a:solidFill>
                  <a:srgbClr val="1F2328"/>
                </a:solidFill>
                <a:latin typeface="Inter"/>
                <a:ea typeface="Inter"/>
                <a:cs typeface="Inter"/>
              </a:rPr>
              <a:t>Efectivo pero lento: úsalo con criterio</a:t>
            </a:r>
          </a:p>
        </p:txBody>
      </p:sp>
      <p:sp>
        <p:nvSpPr>
          <p:cNvPr id="10" name="Rounded Rectangle 9"/>
          <p:cNvSpPr/>
          <p:nvPr/>
        </p:nvSpPr>
        <p:spPr>
          <a:xfrm>
            <a:off x="411480" y="2560320"/>
            <a:ext cx="8321040" cy="896112"/>
          </a:xfrm>
          <a:prstGeom prst="roundRect">
            <a:avLst>
              <a:gd name="adj" fmla="val 6122"/>
            </a:avLst>
          </a:prstGeom>
          <a:solidFill>
            <a:srgbClr val="F6F8FA"/>
          </a:solidFill>
          <a:ln w="9525">
            <a:solidFill>
              <a:srgbClr val="D0D7DE"/>
            </a:solidFill>
          </a:ln>
        </p:spPr>
        <p:txBody>
          <a:bodyPr rtlCol="0" anchor="ctr" wrap="square" lIns="54864" rIns="54864" tIns="54864" bIns="54864"/>
          <a:lstStyle/>
          <a:p>
            <a:pPr algn="ctr"/>
          </a:p>
        </p:txBody>
      </p:sp>
      <p:sp>
        <p:nvSpPr>
          <p:cNvPr id="11" name="TextBox 10"/>
          <p:cNvSpPr txBox="1"/>
          <p:nvPr/>
        </p:nvSpPr>
        <p:spPr>
          <a:xfrm>
            <a:off x="521208" y="2606039"/>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backend/src/loans/domain/loan-policy.ts (LOAN-R2, extracto)</a:t>
            </a:r>
          </a:p>
        </p:txBody>
      </p:sp>
      <p:sp>
        <p:nvSpPr>
          <p:cNvPr id="12" name="TextBox 11"/>
          <p:cNvSpPr txBox="1"/>
          <p:nvPr/>
        </p:nvSpPr>
        <p:spPr>
          <a:xfrm>
            <a:off x="521208" y="2871215"/>
            <a:ext cx="8101583" cy="530352"/>
          </a:xfrm>
          <a:prstGeom prst="rect">
            <a:avLst/>
          </a:prstGeom>
          <a:noFill/>
        </p:spPr>
        <p:txBody>
          <a:bodyPr wrap="none" lIns="0" rIns="0" tIns="0" bIns="0"/>
          <a:lstStyle/>
          <a:p>
            <a:pPr marL="0" indent="0">
              <a:lnSpc>
                <a:spcPct val="100000"/>
              </a:lnSpc>
              <a:spcAft>
                <a:spcPts val="0"/>
              </a:spcAft>
              <a:buNone/>
            </a:pPr>
            <a:r>
              <a:rPr sz="1100" b="0" i="0" lang="es-CL">
                <a:solidFill>
                  <a:srgbClr val="AF00DB"/>
                </a:solidFill>
                <a:latin typeface="Consolas"/>
                <a:ea typeface="Consolas"/>
                <a:cs typeface="Consolas"/>
              </a:rPr>
              <a:t>if</a:t>
            </a:r>
            <a:r>
              <a:rPr sz="1100" b="0" i="0" lang="es-CL">
                <a:solidFill>
                  <a:srgbClr val="1F2328"/>
                </a:solidFill>
                <a:latin typeface="Consolas"/>
                <a:ea typeface="Consolas"/>
                <a:cs typeface="Consolas"/>
              </a:rPr>
              <a:t> (pending.length &gt;= MAX_UNRETURNED_LOANS)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throw</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new</a:t>
            </a:r>
            <a:r>
              <a:rPr sz="1100" b="0" i="0" lang="es-CL">
                <a:solidFill>
                  <a:srgbClr val="1F2328"/>
                </a:solidFill>
                <a:latin typeface="Consolas"/>
                <a:ea typeface="Consolas"/>
                <a:cs typeface="Consolas"/>
              </a:rPr>
              <a:t> LoanLimitReachedError(borrowerEmail.value, MAX_UNRETURNED_LOANS)</a:t>
            </a:r>
          </a:p>
          <a:p>
            <a:pPr marL="0" indent="0">
              <a:lnSpc>
                <a:spcPct val="100000"/>
              </a:lnSpc>
              <a:spcAft>
                <a:spcPts val="0"/>
              </a:spcAft>
              <a:buNone/>
            </a:pPr>
            <a:r>
              <a:rPr sz="1100" b="0" i="0" lang="es-CL">
                <a:solidFill>
                  <a:srgbClr val="1F2328"/>
                </a:solidFill>
                <a:latin typeface="Consolas"/>
                <a:ea typeface="Consolas"/>
                <a:cs typeface="Consolas"/>
              </a:rPr>
              <a:t>}</a:t>
            </a:r>
          </a:p>
        </p:txBody>
      </p:sp>
      <p:sp>
        <p:nvSpPr>
          <p:cNvPr id="13" name="Rounded Rectangle 12"/>
          <p:cNvSpPr/>
          <p:nvPr/>
        </p:nvSpPr>
        <p:spPr>
          <a:xfrm>
            <a:off x="411480" y="3566160"/>
            <a:ext cx="4206240" cy="777240"/>
          </a:xfrm>
          <a:prstGeom prst="roundRect">
            <a:avLst>
              <a:gd name="adj" fmla="val 7058"/>
            </a:avLst>
          </a:prstGeom>
          <a:solidFill>
            <a:srgbClr val="F6F8FA"/>
          </a:solidFill>
          <a:ln w="9525">
            <a:solidFill>
              <a:srgbClr val="D0D7DE"/>
            </a:solidFill>
          </a:ln>
        </p:spPr>
        <p:txBody>
          <a:bodyPr rtlCol="0" anchor="ctr" wrap="square" lIns="54864" rIns="54864" tIns="54864" bIns="54864"/>
          <a:lstStyle/>
          <a:p>
            <a:pPr algn="ctr"/>
          </a:p>
        </p:txBody>
      </p:sp>
      <p:sp>
        <p:nvSpPr>
          <p:cNvPr id="14" name="TextBox 13"/>
          <p:cNvSpPr txBox="1"/>
          <p:nvPr/>
        </p:nvSpPr>
        <p:spPr>
          <a:xfrm>
            <a:off x="521208" y="3611879"/>
            <a:ext cx="39867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Un mutante que crea Stryker</a:t>
            </a:r>
          </a:p>
        </p:txBody>
      </p:sp>
      <p:sp>
        <p:nvSpPr>
          <p:cNvPr id="15" name="TextBox 14"/>
          <p:cNvSpPr txBox="1"/>
          <p:nvPr/>
        </p:nvSpPr>
        <p:spPr>
          <a:xfrm>
            <a:off x="521208" y="3877056"/>
            <a:ext cx="3986783" cy="411479"/>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 if (pending.length &gt;= MAX_UNRETURNED_LOANS) {</a:t>
            </a:r>
          </a:p>
          <a:p>
            <a:pPr marL="0" indent="0">
              <a:lnSpc>
                <a:spcPct val="100000"/>
              </a:lnSpc>
              <a:spcAft>
                <a:spcPts val="0"/>
              </a:spcAft>
              <a:buNone/>
            </a:pPr>
            <a:r>
              <a:rPr sz="1100" b="0" i="0" lang="es-CL">
                <a:solidFill>
                  <a:srgbClr val="1F2328"/>
                </a:solidFill>
                <a:latin typeface="Consolas"/>
                <a:ea typeface="Consolas"/>
                <a:cs typeface="Consolas"/>
              </a:rPr>
              <a:t>+ if (pending.length &gt; MAX_UNRETURNED_LOANS) {</a:t>
            </a:r>
          </a:p>
        </p:txBody>
      </p:sp>
      <p:sp>
        <p:nvSpPr>
          <p:cNvPr id="16" name="Rounded Rectangle 15"/>
          <p:cNvSpPr/>
          <p:nvPr/>
        </p:nvSpPr>
        <p:spPr>
          <a:xfrm>
            <a:off x="4754880" y="3566160"/>
            <a:ext cx="3977639" cy="960120"/>
          </a:xfrm>
          <a:prstGeom prst="roundRect">
            <a:avLst>
              <a:gd name="adj" fmla="val 9523"/>
            </a:avLst>
          </a:prstGeom>
          <a:solidFill>
            <a:srgbClr val="FCE8EC"/>
          </a:solidFill>
          <a:ln>
            <a:noFill/>
          </a:ln>
        </p:spPr>
        <p:txBody>
          <a:bodyPr rtlCol="0" anchor="ctr" wrap="square" lIns="54864" rIns="54864" tIns="54864" bIns="54864"/>
          <a:lstStyle/>
          <a:p>
            <a:pPr algn="ctr"/>
          </a:p>
        </p:txBody>
      </p:sp>
      <p:sp>
        <p:nvSpPr>
          <p:cNvPr id="17" name="TextBox 16"/>
          <p:cNvSpPr txBox="1"/>
          <p:nvPr/>
        </p:nvSpPr>
        <p:spPr>
          <a:xfrm>
            <a:off x="4892040" y="3611880"/>
            <a:ext cx="3749039" cy="86868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Si ningún test usa </a:t>
            </a:r>
            <a:r>
              <a:rPr sz="1200" b="1" i="0" lang="es-CL">
                <a:solidFill>
                  <a:srgbClr val="1F2328"/>
                </a:solidFill>
                <a:latin typeface="Inter"/>
                <a:ea typeface="Inter"/>
                <a:cs typeface="Inter"/>
              </a:rPr>
              <a:t>exactamente 3</a:t>
            </a:r>
            <a:r>
              <a:rPr sz="1200" b="0" i="0" lang="es-CL">
                <a:solidFill>
                  <a:srgbClr val="1F2328"/>
                </a:solidFill>
                <a:latin typeface="Inter"/>
                <a:ea typeface="Inter"/>
                <a:cs typeface="Inter"/>
              </a:rPr>
              <a:t> préstamos, el mutante sobrevive con 100 por ciento de cobertura. Lo mata </a:t>
            </a:r>
            <a:r>
              <a:rPr sz="1200" b="1" i="0" lang="es-CL">
                <a:solidFill>
                  <a:srgbClr val="1F2328"/>
                </a:solidFill>
                <a:latin typeface="Inter"/>
                <a:ea typeface="Inter"/>
                <a:cs typeface="Inter"/>
              </a:rPr>
              <a:t>[LOAN-R2] rechaza el cuarto préstamo</a:t>
            </a:r>
            <a:r>
              <a:rPr sz="1200" b="0" i="0" lang="es-CL">
                <a:solidFill>
                  <a:srgbClr val="1F2328"/>
                </a:solidFill>
                <a:latin typeface="Inter"/>
                <a:ea typeface="Inter"/>
                <a:cs typeface="Inter"/>
              </a:rPr>
              <a:t>.</a:t>
            </a:r>
          </a:p>
        </p:txBody>
      </p:sp>
      <p:sp>
        <p:nvSpPr>
          <p:cNvPr id="18" name="caption"/>
          <p:cNvSpPr txBox="1"/>
          <p:nvPr/>
        </p:nvSpPr>
        <p:spPr>
          <a:xfrm>
            <a:off x="411480" y="4590288"/>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p. 116 y 117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7 reglas para que la IA no infle la suite</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987552"/>
          <a:ext cx="8321040" cy="3291840"/>
        </p:xfrm>
        <a:graphic>
          <a:graphicData uri="http://schemas.openxmlformats.org/drawingml/2006/table">
            <a:tbl>
              <a:tblPr firstRow="0" bandRow="0">
                <a:tableStyleId>{5C22544A-7EE6-4342-B048-85BDC9FD1C3A}</a:tableStyleId>
              </a:tblPr>
              <a:tblGrid>
                <a:gridCol w="320040"/>
                <a:gridCol w="2331720"/>
                <a:gridCol w="3246120"/>
                <a:gridCol w="2423160"/>
              </a:tblGrid>
              <a:tr h="411480">
                <a:tc>
                  <a:txBody>
                    <a:bodyPr wrap="square"/>
                    <a:lstStyle/>
                    <a:p>
                      <a:pPr algn="ctr" marL="0" indent="0">
                        <a:spcAft>
                          <a:spcPts val="0"/>
                        </a:spcAft>
                        <a:buNone/>
                      </a:pPr>
                      <a:r>
                        <a:rPr sz="1200" b="1" i="0" lang="es-CL">
                          <a:solidFill>
                            <a:srgbClr val="FFFFFF"/>
                          </a:solidFill>
                          <a:latin typeface="Inter"/>
                          <a:ea typeface="Inter"/>
                          <a:cs typeface="Inter"/>
                        </a:rPr>
                        <a: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Regla (constitución P4)</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Qué significa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Quién la hace cumplir</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1</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1" i="0" lang="es-CL">
                          <a:solidFill>
                            <a:srgbClr val="1F2328"/>
                          </a:solidFill>
                          <a:latin typeface="Inter"/>
                          <a:ea typeface="Inter"/>
                          <a:cs typeface="Inter"/>
                        </a:rPr>
                        <a:t>La capa más baja posible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Validaciones de campos en unit, no en API ni UI</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Revisión y revisor IA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2</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1" i="0" lang="es-CL">
                          <a:solidFill>
                            <a:srgbClr val="1F2328"/>
                          </a:solidFill>
                          <a:latin typeface="Inter"/>
                          <a:ea typeface="Inter"/>
                          <a:cs typeface="Inter"/>
                        </a:rPr>
                        <a:t>Una partición, un test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Máximo 6 tests por regla y capa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tools/spec-trace.mjs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3</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1" i="0" lang="es-CL">
                          <a:solidFill>
                            <a:srgbClr val="1F2328"/>
                          </a:solidFill>
                          <a:latin typeface="Inter"/>
                          <a:ea typeface="Inter"/>
                          <a:cs typeface="Inter"/>
                        </a:rPr>
                        <a:t>Sin mocks por defecto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Objetos reales, fakes en memoria y reloj fijo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ESLint (jest.fn, vi.fn)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4</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1" i="0" lang="es-CL">
                          <a:solidFill>
                            <a:srgbClr val="1F2328"/>
                          </a:solidFill>
                          <a:latin typeface="Inter"/>
                          <a:ea typeface="Inter"/>
                          <a:cs typeface="Inter"/>
                        </a:rPr>
                        <a:t>Oráculos explícitos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El valor esperado se escribe literal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Revisión y revisor IA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5</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1" i="0" lang="es-CL">
                          <a:solidFill>
                            <a:srgbClr val="1F2328"/>
                          </a:solidFill>
                          <a:latin typeface="Inter"/>
                          <a:ea typeface="Inter"/>
                          <a:cs typeface="Inter"/>
                        </a:rPr>
                        <a:t>Independencia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Cada test prepara su propio estado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Tests en paralelo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6</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1" i="0" lang="es-CL">
                          <a:solidFill>
                            <a:srgbClr val="1F2328"/>
                          </a:solidFill>
                          <a:latin typeface="Inter"/>
                          <a:ea typeface="Inter"/>
                          <a:cs typeface="Inter"/>
                        </a:rPr>
                        <a:t>Nada débil ni frágil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Sin toBeTruthy, sin esperas fijas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ESLint (toBeTruthy, waitForTimeout)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11480">
                <a:tc>
                  <a:txBody>
                    <a:bodyPr wrap="square"/>
                    <a:lstStyle/>
                    <a:p>
                      <a:pPr algn="ctr" marL="0" indent="0">
                        <a:spcAft>
                          <a:spcPts val="0"/>
                        </a:spcAft>
                        <a:buNone/>
                      </a:pPr>
                      <a:r>
                        <a:rPr sz="1200" b="0" i="0" lang="es-CL">
                          <a:solidFill>
                            <a:srgbClr val="1F2328"/>
                          </a:solidFill>
                          <a:latin typeface="Inter"/>
                          <a:ea typeface="Inter"/>
                          <a:cs typeface="Inter"/>
                        </a:rPr>
                        <a:t>7</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1" i="0" lang="es-CL">
                          <a:solidFill>
                            <a:srgbClr val="1F2328"/>
                          </a:solidFill>
                          <a:latin typeface="Inter"/>
                          <a:ea typeface="Inter"/>
                          <a:cs typeface="Inter"/>
                        </a:rPr>
                        <a:t>La IA propone, tú apruebas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Lista de casos primero, un test a la vez</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CLAUDE.md y AGENTS.md</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bl>
          </a:graphicData>
        </a:graphic>
      </p:graphicFrame>
      <p:sp>
        <p:nvSpPr>
          <p:cNvPr id="5" name="caption"/>
          <p:cNvSpPr txBox="1"/>
          <p:nvPr/>
        </p:nvSpPr>
        <p:spPr>
          <a:xfrm>
            <a:off x="411480" y="4590288"/>
            <a:ext cx="8321040" cy="237744"/>
          </a:xfrm>
          <a:prstGeom prst="rect">
            <a:avLst/>
          </a:prstGeom>
          <a:noFill/>
        </p:spPr>
        <p:txBody>
          <a:bodyPr wrap="square" lIns="36576" rIns="36576" tIns="36576" bIns="36576" anchor="t"/>
          <a:lstStyle/>
          <a:p>
            <a:pPr algn="ctr" marL="0" indent="0">
              <a:spcAft>
                <a:spcPts val="400"/>
              </a:spcAft>
              <a:buNone/>
            </a:pPr>
            <a:r>
              <a:rPr sz="1000" b="0" i="0" lang="es-CL">
                <a:solidFill>
                  <a:srgbClr val="8C959F"/>
                </a:solidFill>
                <a:latin typeface="Inter"/>
                <a:ea typeface="Inter"/>
                <a:cs typeface="Inter"/>
              </a:rPr>
              <a:t>Basadas en el libro: p. 71, 90, 94, 96, 102 y 107. Texto completo en specs/constitution.md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Las reglas también son código: tres barandas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60120"/>
            <a:ext cx="2688336" cy="1344168"/>
          </a:xfrm>
          <a:prstGeom prst="roundRect">
            <a:avLst>
              <a:gd name="adj" fmla="val 6802"/>
            </a:avLst>
          </a:prstGeom>
          <a:solidFill>
            <a:srgbClr val="EDF1F3"/>
          </a:solidFill>
          <a:ln>
            <a:noFill/>
          </a:ln>
        </p:spPr>
        <p:txBody>
          <a:bodyPr rtlCol="0" anchor="ctr" wrap="square" lIns="54864" rIns="54864" tIns="54864" bIns="54864"/>
          <a:lstStyle/>
          <a:p>
            <a:pPr algn="ctr"/>
          </a:p>
        </p:txBody>
      </p:sp>
      <p:sp>
        <p:nvSpPr>
          <p:cNvPr id="5" name="Rounded Rectangle 4"/>
          <p:cNvSpPr/>
          <p:nvPr/>
        </p:nvSpPr>
        <p:spPr>
          <a:xfrm>
            <a:off x="521208" y="1024128"/>
            <a:ext cx="2468880" cy="292608"/>
          </a:xfrm>
          <a:prstGeom prst="roundRect">
            <a:avLst>
              <a:gd name="adj" fmla="val 25000"/>
            </a:avLst>
          </a:prstGeom>
          <a:solidFill>
            <a:srgbClr val="47A1AD"/>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1. Instrucciones</a:t>
            </a:r>
          </a:p>
        </p:txBody>
      </p:sp>
      <p:sp>
        <p:nvSpPr>
          <p:cNvPr id="6" name="TextBox 5"/>
          <p:cNvSpPr txBox="1"/>
          <p:nvPr/>
        </p:nvSpPr>
        <p:spPr>
          <a:xfrm>
            <a:off x="521208" y="1344168"/>
            <a:ext cx="2487168" cy="640080"/>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CLAUDE.md, AGENTS.md y la constitución. El agente las lee antes de escribir.</a:t>
            </a:r>
          </a:p>
        </p:txBody>
      </p:sp>
      <p:sp>
        <p:nvSpPr>
          <p:cNvPr id="7" name="TextBox 6"/>
          <p:cNvSpPr txBox="1"/>
          <p:nvPr/>
        </p:nvSpPr>
        <p:spPr>
          <a:xfrm>
            <a:off x="521208" y="1993392"/>
            <a:ext cx="2487168" cy="256032"/>
          </a:xfrm>
          <a:prstGeom prst="rect">
            <a:avLst/>
          </a:prstGeom>
          <a:noFill/>
        </p:spPr>
        <p:txBody>
          <a:bodyPr wrap="square" lIns="36576" rIns="36576" tIns="36576" bIns="36576" anchor="t"/>
          <a:lstStyle/>
          <a:p>
            <a:pPr algn="l" marL="0" indent="0">
              <a:spcAft>
                <a:spcPts val="400"/>
              </a:spcAft>
              <a:buNone/>
            </a:pPr>
            <a:r>
              <a:rPr sz="1200" b="1" i="0" lang="es-CL">
                <a:solidFill>
                  <a:srgbClr val="47A1AD"/>
                </a:solidFill>
                <a:latin typeface="Inter"/>
                <a:ea typeface="Inter"/>
                <a:cs typeface="Inter"/>
              </a:rPr>
              <a:t>Guía, no garantiza</a:t>
            </a:r>
          </a:p>
        </p:txBody>
      </p:sp>
      <p:sp>
        <p:nvSpPr>
          <p:cNvPr id="8" name="Rounded Rectangle 7"/>
          <p:cNvSpPr/>
          <p:nvPr/>
        </p:nvSpPr>
        <p:spPr>
          <a:xfrm>
            <a:off x="3227832" y="960120"/>
            <a:ext cx="2688336" cy="1344168"/>
          </a:xfrm>
          <a:prstGeom prst="roundRect">
            <a:avLst>
              <a:gd name="adj" fmla="val 6802"/>
            </a:avLst>
          </a:prstGeom>
          <a:solidFill>
            <a:srgbClr val="EDF1F3"/>
          </a:solidFill>
          <a:ln>
            <a:noFill/>
          </a:ln>
        </p:spPr>
        <p:txBody>
          <a:bodyPr rtlCol="0" anchor="ctr" wrap="square" lIns="54864" rIns="54864" tIns="54864" bIns="54864"/>
          <a:lstStyle/>
          <a:p>
            <a:pPr algn="ctr"/>
          </a:p>
        </p:txBody>
      </p:sp>
      <p:sp>
        <p:nvSpPr>
          <p:cNvPr id="9" name="Rounded Rectangle 8"/>
          <p:cNvSpPr/>
          <p:nvPr/>
        </p:nvSpPr>
        <p:spPr>
          <a:xfrm>
            <a:off x="3337560" y="1024128"/>
            <a:ext cx="2468880" cy="292608"/>
          </a:xfrm>
          <a:prstGeom prst="roundRect">
            <a:avLst>
              <a:gd name="adj" fmla="val 25000"/>
            </a:avLst>
          </a:prstGeom>
          <a:solidFill>
            <a:srgbClr val="CC850A"/>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2. Linter</a:t>
            </a:r>
          </a:p>
        </p:txBody>
      </p:sp>
      <p:sp>
        <p:nvSpPr>
          <p:cNvPr id="10" name="TextBox 9"/>
          <p:cNvSpPr txBox="1"/>
          <p:nvPr/>
        </p:nvSpPr>
        <p:spPr>
          <a:xfrm>
            <a:off x="3337560" y="1344168"/>
            <a:ext cx="2487168" cy="640080"/>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ESLint rechaza mocks, esperas fijas y tests sin ID. Semgrep, new Date() en el dominio.</a:t>
            </a:r>
          </a:p>
        </p:txBody>
      </p:sp>
      <p:sp>
        <p:nvSpPr>
          <p:cNvPr id="11" name="TextBox 10"/>
          <p:cNvSpPr txBox="1"/>
          <p:nvPr/>
        </p:nvSpPr>
        <p:spPr>
          <a:xfrm>
            <a:off x="3337560" y="1993392"/>
            <a:ext cx="2487168" cy="256032"/>
          </a:xfrm>
          <a:prstGeom prst="rect">
            <a:avLst/>
          </a:prstGeom>
          <a:noFill/>
        </p:spPr>
        <p:txBody>
          <a:bodyPr wrap="square" lIns="36576" rIns="36576" tIns="36576" bIns="36576" anchor="t"/>
          <a:lstStyle/>
          <a:p>
            <a:pPr algn="l" marL="0" indent="0">
              <a:spcAft>
                <a:spcPts val="400"/>
              </a:spcAft>
              <a:buNone/>
            </a:pPr>
            <a:r>
              <a:rPr sz="1200" b="1" i="0" lang="es-CL">
                <a:solidFill>
                  <a:srgbClr val="CC850A"/>
                </a:solidFill>
                <a:latin typeface="Inter"/>
                <a:ea typeface="Inter"/>
                <a:cs typeface="Inter"/>
              </a:rPr>
              <a:t>Falla en segundos</a:t>
            </a:r>
          </a:p>
        </p:txBody>
      </p:sp>
      <p:sp>
        <p:nvSpPr>
          <p:cNvPr id="12" name="Rounded Rectangle 11"/>
          <p:cNvSpPr/>
          <p:nvPr/>
        </p:nvSpPr>
        <p:spPr>
          <a:xfrm>
            <a:off x="6044184" y="960120"/>
            <a:ext cx="2688336" cy="1344168"/>
          </a:xfrm>
          <a:prstGeom prst="roundRect">
            <a:avLst>
              <a:gd name="adj" fmla="val 6802"/>
            </a:avLst>
          </a:prstGeom>
          <a:solidFill>
            <a:srgbClr val="EDF1F3"/>
          </a:solidFill>
          <a:ln>
            <a:noFill/>
          </a:ln>
        </p:spPr>
        <p:txBody>
          <a:bodyPr rtlCol="0" anchor="ctr" wrap="square" lIns="54864" rIns="54864" tIns="54864" bIns="54864"/>
          <a:lstStyle/>
          <a:p>
            <a:pPr algn="ctr"/>
          </a:p>
        </p:txBody>
      </p:sp>
      <p:sp>
        <p:nvSpPr>
          <p:cNvPr id="13" name="Rounded Rectangle 12"/>
          <p:cNvSpPr/>
          <p:nvPr/>
        </p:nvSpPr>
        <p:spPr>
          <a:xfrm>
            <a:off x="6153912" y="1024128"/>
            <a:ext cx="2468880" cy="292608"/>
          </a:xfrm>
          <a:prstGeom prst="roundRect">
            <a:avLst>
              <a:gd name="adj" fmla="val 25000"/>
            </a:avLst>
          </a:prstGeom>
          <a:solidFill>
            <a:srgbClr val="980000"/>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3. CI</a:t>
            </a:r>
          </a:p>
        </p:txBody>
      </p:sp>
      <p:sp>
        <p:nvSpPr>
          <p:cNvPr id="14" name="TextBox 13"/>
          <p:cNvSpPr txBox="1"/>
          <p:nvPr/>
        </p:nvSpPr>
        <p:spPr>
          <a:xfrm>
            <a:off x="6153912" y="1344168"/>
            <a:ext cx="2487168" cy="640080"/>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spec-trace falla el PR, el revisor IA comenta y la mutación corre de noche.</a:t>
            </a:r>
          </a:p>
        </p:txBody>
      </p:sp>
      <p:sp>
        <p:nvSpPr>
          <p:cNvPr id="15" name="TextBox 14"/>
          <p:cNvSpPr txBox="1"/>
          <p:nvPr/>
        </p:nvSpPr>
        <p:spPr>
          <a:xfrm>
            <a:off x="6153912" y="1993392"/>
            <a:ext cx="2487168" cy="256032"/>
          </a:xfrm>
          <a:prstGeom prst="rect">
            <a:avLst/>
          </a:prstGeom>
          <a:noFill/>
        </p:spPr>
        <p:txBody>
          <a:bodyPr wrap="square" lIns="36576" rIns="36576" tIns="36576" bIns="36576" anchor="t"/>
          <a:lstStyle/>
          <a:p>
            <a:pPr algn="l" marL="0" indent="0">
              <a:spcAft>
                <a:spcPts val="400"/>
              </a:spcAft>
              <a:buNone/>
            </a:pPr>
            <a:r>
              <a:rPr sz="1200" b="1" i="0" lang="es-CL">
                <a:solidFill>
                  <a:srgbClr val="980000"/>
                </a:solidFill>
                <a:latin typeface="Inter"/>
                <a:ea typeface="Inter"/>
                <a:cs typeface="Inter"/>
              </a:rPr>
              <a:t>Falla el PR</a:t>
            </a:r>
          </a:p>
        </p:txBody>
      </p:sp>
      <p:sp>
        <p:nvSpPr>
          <p:cNvPr id="16" name="Rounded Rectangle 15"/>
          <p:cNvSpPr/>
          <p:nvPr/>
        </p:nvSpPr>
        <p:spPr>
          <a:xfrm>
            <a:off x="411480" y="2377440"/>
            <a:ext cx="8321040" cy="2212848"/>
          </a:xfrm>
          <a:prstGeom prst="roundRect">
            <a:avLst>
              <a:gd name="adj" fmla="val 2479"/>
            </a:avLst>
          </a:prstGeom>
          <a:solidFill>
            <a:srgbClr val="F6F8FA"/>
          </a:solidFill>
          <a:ln w="9525">
            <a:solidFill>
              <a:srgbClr val="D0D7DE"/>
            </a:solidFill>
          </a:ln>
        </p:spPr>
        <p:txBody>
          <a:bodyPr rtlCol="0" anchor="ctr" wrap="square" lIns="54864" rIns="54864" tIns="54864" bIns="54864"/>
          <a:lstStyle/>
          <a:p>
            <a:pPr algn="ctr"/>
          </a:p>
        </p:txBody>
      </p:sp>
      <p:sp>
        <p:nvSpPr>
          <p:cNvPr id="17" name="TextBox 16"/>
          <p:cNvSpPr txBox="1"/>
          <p:nvPr/>
        </p:nvSpPr>
        <p:spPr>
          <a:xfrm>
            <a:off x="521208" y="24231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frontend/eslint.config.mjs (extracto)</a:t>
            </a:r>
          </a:p>
        </p:txBody>
      </p:sp>
      <p:sp>
        <p:nvSpPr>
          <p:cNvPr id="18" name="TextBox 17"/>
          <p:cNvSpPr txBox="1"/>
          <p:nvPr/>
        </p:nvSpPr>
        <p:spPr>
          <a:xfrm>
            <a:off x="521208" y="2688336"/>
            <a:ext cx="8101583" cy="1847087"/>
          </a:xfrm>
          <a:prstGeom prst="rect">
            <a:avLst/>
          </a:prstGeom>
          <a:noFill/>
        </p:spPr>
        <p:txBody>
          <a:bodyPr wrap="none" lIns="0" rIns="0" tIns="0" bIns="0"/>
          <a:lstStyle/>
          <a:p>
            <a:pPr marL="0" indent="0">
              <a:lnSpc>
                <a:spcPct val="100000"/>
              </a:lnSpc>
              <a:spcAft>
                <a:spcPts val="0"/>
              </a:spcAft>
              <a:buNone/>
            </a:pP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TITLE_WITH_RULE_ID = </a:t>
            </a:r>
            <a:r>
              <a:rPr sz="1100" b="0" i="0" lang="es-CL">
                <a:solidFill>
                  <a:srgbClr val="A31515"/>
                </a:solidFill>
                <a:latin typeface="Consolas"/>
                <a:ea typeface="Consolas"/>
                <a:cs typeface="Consolas"/>
              </a:rPr>
              <a:t>'/^\\[</a:t>
            </a:r>
            <a:r>
              <a:rPr sz="1100" b="1" i="0" lang="es-CL">
                <a:solidFill>
                  <a:srgbClr val="9900FF"/>
                </a:solidFill>
                <a:latin typeface="Consolas"/>
                <a:ea typeface="Consolas"/>
                <a:cs typeface="Consolas"/>
              </a:rPr>
              <a:t>[A-Z]</a:t>
            </a:r>
            <a:r>
              <a:rPr sz="1100" b="0" i="0" lang="es-CL">
                <a:solidFill>
                  <a:srgbClr val="A31515"/>
                </a:solidFill>
                <a:latin typeface="Consolas"/>
                <a:ea typeface="Consolas"/>
                <a:cs typeface="Consolas"/>
              </a:rPr>
              <a:t>+(-[A-Z0-9]+)+\\] /'</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'no-restricted-properties'</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'error'</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 object: </a:t>
            </a:r>
            <a:r>
              <a:rPr sz="1100" b="0" i="0" lang="es-CL">
                <a:solidFill>
                  <a:srgbClr val="A31515"/>
                </a:solidFill>
                <a:latin typeface="Consolas"/>
                <a:ea typeface="Consolas"/>
                <a:cs typeface="Consolas"/>
              </a:rPr>
              <a:t>'vi'</a:t>
            </a:r>
            <a:r>
              <a:rPr sz="1100" b="0" i="0" lang="es-CL">
                <a:solidFill>
                  <a:srgbClr val="1F2328"/>
                </a:solidFill>
                <a:latin typeface="Consolas"/>
                <a:ea typeface="Consolas"/>
                <a:cs typeface="Consolas"/>
              </a:rPr>
              <a:t>, property: </a:t>
            </a:r>
            <a:r>
              <a:rPr sz="1100" b="0" i="0" lang="es-CL">
                <a:solidFill>
                  <a:srgbClr val="A31515"/>
                </a:solidFill>
                <a:latin typeface="Consolas"/>
                <a:ea typeface="Consolas"/>
                <a:cs typeface="Consolas"/>
              </a:rPr>
              <a:t>'fn'</a:t>
            </a:r>
            <a:r>
              <a:rPr sz="1100" b="0" i="0" lang="es-CL">
                <a:solidFill>
                  <a:srgbClr val="1F2328"/>
                </a:solidFill>
                <a:latin typeface="Consolas"/>
                <a:ea typeface="Consolas"/>
                <a:cs typeface="Consolas"/>
              </a:rPr>
              <a:t>, message: </a:t>
            </a:r>
            <a:r>
              <a:rPr sz="1100" b="0" i="0" lang="es-CL">
                <a:solidFill>
                  <a:srgbClr val="A31515"/>
                </a:solidFill>
                <a:latin typeface="Consolas"/>
                <a:ea typeface="Consolas"/>
                <a:cs typeface="Consolas"/>
              </a:rPr>
              <a:t>'P4.3: usa objetos reales o fakes en memoria.'</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 object: </a:t>
            </a:r>
            <a:r>
              <a:rPr sz="1100" b="0" i="0" lang="es-CL">
                <a:solidFill>
                  <a:srgbClr val="A31515"/>
                </a:solidFill>
                <a:latin typeface="Consolas"/>
                <a:ea typeface="Consolas"/>
                <a:cs typeface="Consolas"/>
              </a:rPr>
              <a:t>'vi'</a:t>
            </a:r>
            <a:r>
              <a:rPr sz="1100" b="0" i="0" lang="es-CL">
                <a:solidFill>
                  <a:srgbClr val="1F2328"/>
                </a:solidFill>
                <a:latin typeface="Consolas"/>
                <a:ea typeface="Consolas"/>
                <a:cs typeface="Consolas"/>
              </a:rPr>
              <a:t>, property: </a:t>
            </a:r>
            <a:r>
              <a:rPr sz="1100" b="0" i="0" lang="es-CL">
                <a:solidFill>
                  <a:srgbClr val="A31515"/>
                </a:solidFill>
                <a:latin typeface="Consolas"/>
                <a:ea typeface="Consolas"/>
                <a:cs typeface="Consolas"/>
              </a:rPr>
              <a:t>'mock'</a:t>
            </a:r>
            <a:r>
              <a:rPr sz="1100" b="0" i="0" lang="es-CL">
                <a:solidFill>
                  <a:srgbClr val="1F2328"/>
                </a:solidFill>
                <a:latin typeface="Consolas"/>
                <a:ea typeface="Consolas"/>
                <a:cs typeface="Consolas"/>
              </a:rPr>
              <a:t>, message: </a:t>
            </a:r>
            <a:r>
              <a:rPr sz="1100" b="0" i="0" lang="es-CL">
                <a:solidFill>
                  <a:srgbClr val="A31515"/>
                </a:solidFill>
                <a:latin typeface="Consolas"/>
                <a:ea typeface="Consolas"/>
                <a:cs typeface="Consolas"/>
              </a:rPr>
              <a:t>'P4.3: usa MSW o fakes en memoria.'</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property: </a:t>
            </a:r>
            <a:r>
              <a:rPr sz="1100" b="0" i="0" lang="es-CL">
                <a:solidFill>
                  <a:srgbClr val="A31515"/>
                </a:solidFill>
                <a:latin typeface="Consolas"/>
                <a:ea typeface="Consolas"/>
                <a:cs typeface="Consolas"/>
              </a:rPr>
              <a:t>'waitForTimeout'</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message: </a:t>
            </a:r>
            <a:r>
              <a:rPr sz="1100" b="0" i="0" lang="es-CL">
                <a:solidFill>
                  <a:srgbClr val="A31515"/>
                </a:solidFill>
                <a:latin typeface="Consolas"/>
                <a:ea typeface="Consolas"/>
                <a:cs typeface="Consolas"/>
              </a:rPr>
              <a:t>'P4.6: nada de esperas fijas. Usa aserciones web-first.'</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Qué hace la industria con IA y tests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4069080" cy="1691640"/>
          </a:xfrm>
          <a:prstGeom prst="roundRect">
            <a:avLst>
              <a:gd name="adj" fmla="val 5405"/>
            </a:avLst>
          </a:prstGeom>
          <a:solidFill>
            <a:srgbClr val="EDF1F3"/>
          </a:solidFill>
          <a:ln>
            <a:noFill/>
          </a:ln>
        </p:spPr>
        <p:txBody>
          <a:bodyPr rtlCol="0" anchor="ctr" wrap="square" lIns="54864" rIns="54864" tIns="54864" bIns="54864"/>
          <a:lstStyle/>
          <a:p>
            <a:pPr algn="ctr"/>
          </a:p>
        </p:txBody>
      </p:sp>
      <p:sp>
        <p:nvSpPr>
          <p:cNvPr id="5" name="Rounded Rectangle 4"/>
          <p:cNvSpPr/>
          <p:nvPr/>
        </p:nvSpPr>
        <p:spPr>
          <a:xfrm>
            <a:off x="548640" y="1097280"/>
            <a:ext cx="2880360" cy="329184"/>
          </a:xfrm>
          <a:prstGeom prst="roundRect">
            <a:avLst>
              <a:gd name="adj" fmla="val 22222"/>
            </a:avLst>
          </a:prstGeom>
          <a:solidFill>
            <a:srgbClr val="003D4F"/>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Meta · TestGen-LLM</a:t>
            </a:r>
          </a:p>
        </p:txBody>
      </p:sp>
      <p:sp>
        <p:nvSpPr>
          <p:cNvPr id="6" name="caption"/>
          <p:cNvSpPr txBox="1"/>
          <p:nvPr/>
        </p:nvSpPr>
        <p:spPr>
          <a:xfrm>
            <a:off x="3474720" y="1097280"/>
            <a:ext cx="914400" cy="329184"/>
          </a:xfrm>
          <a:prstGeom prst="rect">
            <a:avLst/>
          </a:prstGeom>
          <a:noFill/>
        </p:spPr>
        <p:txBody>
          <a:bodyPr wrap="square" lIns="36576" rIns="36576" tIns="36576" bIns="36576" anchor="ctr"/>
          <a:lstStyle/>
          <a:p>
            <a:pPr algn="r" marL="0" indent="0">
              <a:spcAft>
                <a:spcPts val="400"/>
              </a:spcAft>
              <a:buNone/>
            </a:pPr>
            <a:r>
              <a:rPr sz="1000" b="0" i="0" lang="es-CL">
                <a:solidFill>
                  <a:srgbClr val="8C959F"/>
                </a:solidFill>
                <a:latin typeface="Inter"/>
                <a:ea typeface="Inter"/>
                <a:cs typeface="Inter"/>
              </a:rPr>
              <a:t>FSE 2024</a:t>
            </a:r>
          </a:p>
        </p:txBody>
      </p:sp>
      <p:sp>
        <p:nvSpPr>
          <p:cNvPr id="7" name="TextBox 6"/>
          <p:cNvSpPr txBox="1"/>
          <p:nvPr/>
        </p:nvSpPr>
        <p:spPr>
          <a:xfrm>
            <a:off x="548640" y="1499616"/>
            <a:ext cx="3794760" cy="82296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Un LLM propone tests nuevos. Solo pasan los que </a:t>
            </a:r>
            <a:r>
              <a:rPr sz="1200" b="1" i="0" lang="es-CL">
                <a:solidFill>
                  <a:srgbClr val="1F2328"/>
                </a:solidFill>
                <a:latin typeface="Inter"/>
                <a:ea typeface="Inter"/>
                <a:cs typeface="Inter"/>
              </a:rPr>
              <a:t>compilan</a:t>
            </a:r>
            <a:r>
              <a:rPr sz="1200" b="0" i="0" lang="es-CL">
                <a:solidFill>
                  <a:srgbClr val="1F2328"/>
                </a:solidFill>
                <a:latin typeface="Inter"/>
                <a:ea typeface="Inter"/>
                <a:cs typeface="Inter"/>
              </a:rPr>
              <a:t>, </a:t>
            </a:r>
            <a:r>
              <a:rPr sz="1200" b="1" i="0" lang="es-CL">
                <a:solidFill>
                  <a:srgbClr val="1F2328"/>
                </a:solidFill>
                <a:latin typeface="Inter"/>
                <a:ea typeface="Inter"/>
                <a:cs typeface="Inter"/>
              </a:rPr>
              <a:t>pasan de forma confiable</a:t>
            </a:r>
            <a:r>
              <a:rPr sz="1200" b="0" i="0" lang="es-CL">
                <a:solidFill>
                  <a:srgbClr val="1F2328"/>
                </a:solidFill>
                <a:latin typeface="Inter"/>
                <a:ea typeface="Inter"/>
                <a:cs typeface="Inter"/>
              </a:rPr>
              <a:t> y </a:t>
            </a:r>
            <a:r>
              <a:rPr sz="1200" b="1" i="0" lang="es-CL">
                <a:solidFill>
                  <a:srgbClr val="1F2328"/>
                </a:solidFill>
                <a:latin typeface="Inter"/>
                <a:ea typeface="Inter"/>
                <a:cs typeface="Inter"/>
              </a:rPr>
              <a:t>suben la cobertura</a:t>
            </a:r>
            <a:r>
              <a:rPr sz="1200" b="0" i="0" lang="es-CL">
                <a:solidFill>
                  <a:srgbClr val="1F2328"/>
                </a:solidFill>
                <a:latin typeface="Inter"/>
                <a:ea typeface="Inter"/>
                <a:cs typeface="Inter"/>
              </a:rPr>
              <a:t>.</a:t>
            </a:r>
          </a:p>
        </p:txBody>
      </p:sp>
      <p:sp>
        <p:nvSpPr>
          <p:cNvPr id="8" name="TextBox 7"/>
          <p:cNvSpPr txBox="1"/>
          <p:nvPr/>
        </p:nvSpPr>
        <p:spPr>
          <a:xfrm>
            <a:off x="548640" y="2322576"/>
            <a:ext cx="3794760" cy="274320"/>
          </a:xfrm>
          <a:prstGeom prst="rect">
            <a:avLst/>
          </a:prstGeom>
          <a:noFill/>
        </p:spPr>
        <p:txBody>
          <a:bodyPr wrap="square" lIns="36576" rIns="36576" tIns="36576" bIns="36576" anchor="t"/>
          <a:lstStyle/>
          <a:p>
            <a:pPr algn="l" marL="0" indent="0">
              <a:spcAft>
                <a:spcPts val="400"/>
              </a:spcAft>
              <a:buNone/>
            </a:pPr>
            <a:r>
              <a:rPr sz="1200" b="1" i="0" lang="es-CL">
                <a:solidFill>
                  <a:srgbClr val="003D4F"/>
                </a:solidFill>
                <a:latin typeface="Inter"/>
                <a:ea typeface="Inter"/>
                <a:cs typeface="Inter"/>
              </a:rPr>
              <a:t>Lección: Filtra antes de mostrar.</a:t>
            </a:r>
          </a:p>
        </p:txBody>
      </p:sp>
      <p:sp>
        <p:nvSpPr>
          <p:cNvPr id="9" name="Rounded Rectangle 8"/>
          <p:cNvSpPr/>
          <p:nvPr/>
        </p:nvSpPr>
        <p:spPr>
          <a:xfrm>
            <a:off x="4617720" y="987552"/>
            <a:ext cx="4069080" cy="1691640"/>
          </a:xfrm>
          <a:prstGeom prst="roundRect">
            <a:avLst>
              <a:gd name="adj" fmla="val 5405"/>
            </a:avLst>
          </a:prstGeom>
          <a:solidFill>
            <a:srgbClr val="EDF1F3"/>
          </a:solidFill>
          <a:ln>
            <a:noFill/>
          </a:ln>
        </p:spPr>
        <p:txBody>
          <a:bodyPr rtlCol="0" anchor="ctr" wrap="square" lIns="54864" rIns="54864" tIns="54864" bIns="54864"/>
          <a:lstStyle/>
          <a:p>
            <a:pPr algn="ctr"/>
          </a:p>
        </p:txBody>
      </p:sp>
      <p:sp>
        <p:nvSpPr>
          <p:cNvPr id="10" name="Rounded Rectangle 9"/>
          <p:cNvSpPr/>
          <p:nvPr/>
        </p:nvSpPr>
        <p:spPr>
          <a:xfrm>
            <a:off x="4754880" y="1097280"/>
            <a:ext cx="2880360" cy="329184"/>
          </a:xfrm>
          <a:prstGeom prst="roundRect">
            <a:avLst>
              <a:gd name="adj" fmla="val 22222"/>
            </a:avLst>
          </a:prstGeom>
          <a:solidFill>
            <a:srgbClr val="CC850A"/>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Meta · ACH</a:t>
            </a:r>
          </a:p>
        </p:txBody>
      </p:sp>
      <p:sp>
        <p:nvSpPr>
          <p:cNvPr id="11" name="caption"/>
          <p:cNvSpPr txBox="1"/>
          <p:nvPr/>
        </p:nvSpPr>
        <p:spPr>
          <a:xfrm>
            <a:off x="7680960" y="1097280"/>
            <a:ext cx="914400" cy="329184"/>
          </a:xfrm>
          <a:prstGeom prst="rect">
            <a:avLst/>
          </a:prstGeom>
          <a:noFill/>
        </p:spPr>
        <p:txBody>
          <a:bodyPr wrap="square" lIns="36576" rIns="36576" tIns="36576" bIns="36576" anchor="ctr"/>
          <a:lstStyle/>
          <a:p>
            <a:pPr algn="r" marL="0" indent="0">
              <a:spcAft>
                <a:spcPts val="400"/>
              </a:spcAft>
              <a:buNone/>
            </a:pPr>
            <a:r>
              <a:rPr sz="1000" b="0" i="0" lang="es-CL">
                <a:solidFill>
                  <a:srgbClr val="8C959F"/>
                </a:solidFill>
                <a:latin typeface="Inter"/>
                <a:ea typeface="Inter"/>
                <a:cs typeface="Inter"/>
              </a:rPr>
              <a:t>2025</a:t>
            </a:r>
          </a:p>
        </p:txBody>
      </p:sp>
      <p:sp>
        <p:nvSpPr>
          <p:cNvPr id="12" name="TextBox 11"/>
          <p:cNvSpPr txBox="1"/>
          <p:nvPr/>
        </p:nvSpPr>
        <p:spPr>
          <a:xfrm>
            <a:off x="4754880" y="1499616"/>
            <a:ext cx="3794760" cy="82296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Generación guiada por mutantes: el LLM crea un bug plausible y luego un test que lo mata.</a:t>
            </a:r>
          </a:p>
        </p:txBody>
      </p:sp>
      <p:sp>
        <p:nvSpPr>
          <p:cNvPr id="13" name="TextBox 12"/>
          <p:cNvSpPr txBox="1"/>
          <p:nvPr/>
        </p:nvSpPr>
        <p:spPr>
          <a:xfrm>
            <a:off x="4754880" y="2322576"/>
            <a:ext cx="3794760" cy="274320"/>
          </a:xfrm>
          <a:prstGeom prst="rect">
            <a:avLst/>
          </a:prstGeom>
          <a:noFill/>
        </p:spPr>
        <p:txBody>
          <a:bodyPr wrap="square" lIns="36576" rIns="36576" tIns="36576" bIns="36576" anchor="t"/>
          <a:lstStyle/>
          <a:p>
            <a:pPr algn="l" marL="0" indent="0">
              <a:spcAft>
                <a:spcPts val="400"/>
              </a:spcAft>
              <a:buNone/>
            </a:pPr>
            <a:r>
              <a:rPr sz="1200" b="1" i="0" lang="es-CL">
                <a:solidFill>
                  <a:srgbClr val="CC850A"/>
                </a:solidFill>
                <a:latin typeface="Inter"/>
                <a:ea typeface="Inter"/>
                <a:cs typeface="Inter"/>
              </a:rPr>
              <a:t>Lección: Detectar fallas, no sumar tests.</a:t>
            </a:r>
          </a:p>
        </p:txBody>
      </p:sp>
      <p:sp>
        <p:nvSpPr>
          <p:cNvPr id="14" name="Rounded Rectangle 13"/>
          <p:cNvSpPr/>
          <p:nvPr/>
        </p:nvSpPr>
        <p:spPr>
          <a:xfrm>
            <a:off x="411480" y="2788920"/>
            <a:ext cx="4069080" cy="1691640"/>
          </a:xfrm>
          <a:prstGeom prst="roundRect">
            <a:avLst>
              <a:gd name="adj" fmla="val 5405"/>
            </a:avLst>
          </a:prstGeom>
          <a:solidFill>
            <a:srgbClr val="EDF1F3"/>
          </a:solidFill>
          <a:ln>
            <a:noFill/>
          </a:ln>
        </p:spPr>
        <p:txBody>
          <a:bodyPr rtlCol="0" anchor="ctr" wrap="square" lIns="54864" rIns="54864" tIns="54864" bIns="54864"/>
          <a:lstStyle/>
          <a:p>
            <a:pPr algn="ctr"/>
          </a:p>
        </p:txBody>
      </p:sp>
      <p:sp>
        <p:nvSpPr>
          <p:cNvPr id="15" name="Rounded Rectangle 14"/>
          <p:cNvSpPr/>
          <p:nvPr/>
        </p:nvSpPr>
        <p:spPr>
          <a:xfrm>
            <a:off x="548640" y="2898648"/>
            <a:ext cx="2880360" cy="329184"/>
          </a:xfrm>
          <a:prstGeom prst="roundRect">
            <a:avLst>
              <a:gd name="adj" fmla="val 22222"/>
            </a:avLst>
          </a:prstGeom>
          <a:solidFill>
            <a:srgbClr val="38761D"/>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Google · mutación en code review</a:t>
            </a:r>
          </a:p>
        </p:txBody>
      </p:sp>
      <p:sp>
        <p:nvSpPr>
          <p:cNvPr id="16" name="caption"/>
          <p:cNvSpPr txBox="1"/>
          <p:nvPr/>
        </p:nvSpPr>
        <p:spPr>
          <a:xfrm>
            <a:off x="3474720" y="2898648"/>
            <a:ext cx="914400" cy="329184"/>
          </a:xfrm>
          <a:prstGeom prst="rect">
            <a:avLst/>
          </a:prstGeom>
          <a:noFill/>
        </p:spPr>
        <p:txBody>
          <a:bodyPr wrap="square" lIns="36576" rIns="36576" tIns="36576" bIns="36576" anchor="ctr"/>
          <a:lstStyle/>
          <a:p>
            <a:pPr algn="r" marL="0" indent="0">
              <a:spcAft>
                <a:spcPts val="400"/>
              </a:spcAft>
              <a:buNone/>
            </a:pPr>
            <a:r>
              <a:rPr sz="1000" b="0" i="0" lang="es-CL">
                <a:solidFill>
                  <a:srgbClr val="8C959F"/>
                </a:solidFill>
                <a:latin typeface="Inter"/>
                <a:ea typeface="Inter"/>
                <a:cs typeface="Inter"/>
              </a:rPr>
              <a:t>ICSE 2018</a:t>
            </a:r>
          </a:p>
        </p:txBody>
      </p:sp>
      <p:sp>
        <p:nvSpPr>
          <p:cNvPr id="17" name="TextBox 16"/>
          <p:cNvSpPr txBox="1"/>
          <p:nvPr/>
        </p:nvSpPr>
        <p:spPr>
          <a:xfrm>
            <a:off x="548640" y="3300984"/>
            <a:ext cx="3794760" cy="82296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Mutation testing </a:t>
            </a:r>
            <a:r>
              <a:rPr sz="1200" b="1" i="0" lang="es-CL">
                <a:solidFill>
                  <a:srgbClr val="1F2328"/>
                </a:solidFill>
                <a:latin typeface="Inter"/>
                <a:ea typeface="Inter"/>
                <a:cs typeface="Inter"/>
              </a:rPr>
              <a:t>solo sobre las líneas cambiadas</a:t>
            </a:r>
            <a:r>
              <a:rPr sz="1200" b="0" i="0" lang="es-CL">
                <a:solidFill>
                  <a:srgbClr val="1F2328"/>
                </a:solidFill>
                <a:latin typeface="Inter"/>
                <a:ea typeface="Inter"/>
                <a:cs typeface="Inter"/>
              </a:rPr>
              <a:t> del PR, con mutantes útiles para el revisor.</a:t>
            </a:r>
          </a:p>
        </p:txBody>
      </p:sp>
      <p:sp>
        <p:nvSpPr>
          <p:cNvPr id="18" name="TextBox 17"/>
          <p:cNvSpPr txBox="1"/>
          <p:nvPr/>
        </p:nvSpPr>
        <p:spPr>
          <a:xfrm>
            <a:off x="548640" y="4123944"/>
            <a:ext cx="3794760" cy="274320"/>
          </a:xfrm>
          <a:prstGeom prst="rect">
            <a:avLst/>
          </a:prstGeom>
          <a:noFill/>
        </p:spPr>
        <p:txBody>
          <a:bodyPr wrap="square" lIns="36576" rIns="36576" tIns="36576" bIns="36576" anchor="t"/>
          <a:lstStyle/>
          <a:p>
            <a:pPr algn="l" marL="0" indent="0">
              <a:spcAft>
                <a:spcPts val="400"/>
              </a:spcAft>
              <a:buNone/>
            </a:pPr>
            <a:r>
              <a:rPr sz="1200" b="1" i="0" lang="es-CL">
                <a:solidFill>
                  <a:srgbClr val="38761D"/>
                </a:solidFill>
                <a:latin typeface="Inter"/>
                <a:ea typeface="Inter"/>
                <a:cs typeface="Inter"/>
              </a:rPr>
              <a:t>Lección: Mutación incremental.</a:t>
            </a:r>
          </a:p>
        </p:txBody>
      </p:sp>
      <p:sp>
        <p:nvSpPr>
          <p:cNvPr id="19" name="Rounded Rectangle 18"/>
          <p:cNvSpPr/>
          <p:nvPr/>
        </p:nvSpPr>
        <p:spPr>
          <a:xfrm>
            <a:off x="4617720" y="2788920"/>
            <a:ext cx="4069080" cy="1691640"/>
          </a:xfrm>
          <a:prstGeom prst="roundRect">
            <a:avLst>
              <a:gd name="adj" fmla="val 5405"/>
            </a:avLst>
          </a:prstGeom>
          <a:solidFill>
            <a:srgbClr val="EDF1F3"/>
          </a:solidFill>
          <a:ln>
            <a:noFill/>
          </a:ln>
        </p:spPr>
        <p:txBody>
          <a:bodyPr rtlCol="0" anchor="ctr" wrap="square" lIns="54864" rIns="54864" tIns="54864" bIns="54864"/>
          <a:lstStyle/>
          <a:p>
            <a:pPr algn="ctr"/>
          </a:p>
        </p:txBody>
      </p:sp>
      <p:sp>
        <p:nvSpPr>
          <p:cNvPr id="20" name="Rounded Rectangle 19"/>
          <p:cNvSpPr/>
          <p:nvPr/>
        </p:nvSpPr>
        <p:spPr>
          <a:xfrm>
            <a:off x="4754880" y="2898648"/>
            <a:ext cx="2880360" cy="329184"/>
          </a:xfrm>
          <a:prstGeom prst="roundRect">
            <a:avLst>
              <a:gd name="adj" fmla="val 22222"/>
            </a:avLst>
          </a:prstGeom>
          <a:solidFill>
            <a:srgbClr val="634F7D"/>
          </a:solidFill>
          <a:ln>
            <a:noFill/>
          </a:ln>
        </p:spPr>
        <p:txBody>
          <a:bodyPr rtlCol="0" anchor="ctr" wrap="square" lIns="73152" rIns="73152" tIns="73152" bIns="73152"/>
          <a:lstStyle/>
          <a:p>
            <a:pPr algn="l" marL="0" indent="0">
              <a:spcAft>
                <a:spcPts val="200"/>
              </a:spcAft>
              <a:buNone/>
            </a:pPr>
            <a:r>
              <a:rPr sz="1200" b="1" i="0" lang="es-CL">
                <a:solidFill>
                  <a:srgbClr val="FFFFFF"/>
                </a:solidFill>
                <a:latin typeface="Inter"/>
                <a:ea typeface="Inter"/>
                <a:cs typeface="Inter"/>
              </a:rPr>
              <a:t>Google · revisión con ML</a:t>
            </a:r>
          </a:p>
        </p:txBody>
      </p:sp>
      <p:sp>
        <p:nvSpPr>
          <p:cNvPr id="21" name="caption"/>
          <p:cNvSpPr txBox="1"/>
          <p:nvPr/>
        </p:nvSpPr>
        <p:spPr>
          <a:xfrm>
            <a:off x="7680960" y="2898648"/>
            <a:ext cx="914400" cy="329184"/>
          </a:xfrm>
          <a:prstGeom prst="rect">
            <a:avLst/>
          </a:prstGeom>
          <a:noFill/>
        </p:spPr>
        <p:txBody>
          <a:bodyPr wrap="square" lIns="36576" rIns="36576" tIns="36576" bIns="36576" anchor="ctr"/>
          <a:lstStyle/>
          <a:p>
            <a:pPr algn="r" marL="0" indent="0">
              <a:spcAft>
                <a:spcPts val="400"/>
              </a:spcAft>
              <a:buNone/>
            </a:pPr>
            <a:r>
              <a:rPr sz="1000" b="0" i="0" lang="es-CL">
                <a:solidFill>
                  <a:srgbClr val="8C959F"/>
                </a:solidFill>
                <a:latin typeface="Inter"/>
                <a:ea typeface="Inter"/>
                <a:cs typeface="Inter"/>
              </a:rPr>
              <a:t>2023</a:t>
            </a:r>
          </a:p>
        </p:txBody>
      </p:sp>
      <p:sp>
        <p:nvSpPr>
          <p:cNvPr id="22" name="TextBox 21"/>
          <p:cNvSpPr txBox="1"/>
          <p:nvPr/>
        </p:nvSpPr>
        <p:spPr>
          <a:xfrm>
            <a:off x="4754880" y="3300984"/>
            <a:ext cx="3794760" cy="82296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Un modelo propone cómo resolver comentarios de revisión y la persona acepta o descarta.</a:t>
            </a:r>
          </a:p>
        </p:txBody>
      </p:sp>
      <p:sp>
        <p:nvSpPr>
          <p:cNvPr id="23" name="TextBox 22"/>
          <p:cNvSpPr txBox="1"/>
          <p:nvPr/>
        </p:nvSpPr>
        <p:spPr>
          <a:xfrm>
            <a:off x="4754880" y="4123944"/>
            <a:ext cx="3794760" cy="274320"/>
          </a:xfrm>
          <a:prstGeom prst="rect">
            <a:avLst/>
          </a:prstGeom>
          <a:noFill/>
        </p:spPr>
        <p:txBody>
          <a:bodyPr wrap="square" lIns="36576" rIns="36576" tIns="36576" bIns="36576" anchor="t"/>
          <a:lstStyle/>
          <a:p>
            <a:pPr algn="l" marL="0" indent="0">
              <a:spcAft>
                <a:spcPts val="400"/>
              </a:spcAft>
              <a:buNone/>
            </a:pPr>
            <a:r>
              <a:rPr sz="1200" b="1" i="0" lang="es-CL">
                <a:solidFill>
                  <a:srgbClr val="634F7D"/>
                </a:solidFill>
                <a:latin typeface="Inter"/>
                <a:ea typeface="Inter"/>
                <a:cs typeface="Inter"/>
              </a:rPr>
              <a:t>Lección: La IA sugiere, la persona decide.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2</a:t>
            </a:r>
          </a:p>
          <a:p>
            <a:pPr algn="ctr">
              <a:spcAft>
                <a:spcPts val="1600"/>
              </a:spcAft>
            </a:pPr>
            <a:r>
              <a:rPr sz="3600" b="1" i="0" lang="es-CL">
                <a:solidFill>
                  <a:srgbClr val="4A86E8"/>
                </a:solidFill>
                <a:latin typeface="Bitter"/>
                <a:ea typeface="Bitter"/>
                <a:cs typeface="Bitter"/>
              </a:rPr>
              <a:t>Spec Driven Development</a:t>
            </a:r>
          </a:p>
          <a:p>
            <a:pPr algn="ctr">
              <a:spcAft>
                <a:spcPts val="1400"/>
              </a:spcAft>
            </a:pPr>
            <a:r>
              <a:rPr sz="1500" b="0" i="0" lang="es-CL">
                <a:solidFill>
                  <a:srgbClr val="57606A"/>
                </a:solidFill>
                <a:latin typeface="Inter"/>
                <a:ea typeface="Inter"/>
                <a:cs typeface="Inter"/>
              </a:rPr>
              <a:t>Si la IA escribe el código, la spec es lo que de verdad programas.</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Qué es Spec Driven Development</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411480" y="1005840"/>
            <a:ext cx="4023360" cy="1097280"/>
          </a:xfrm>
          <a:prstGeom prst="rect">
            <a:avLst/>
          </a:prstGeom>
          <a:noFill/>
        </p:spPr>
        <p:txBody>
          <a:bodyPr wrap="square" lIns="36576" rIns="36576" tIns="36576" bIns="36576" anchor="t"/>
          <a:lstStyle/>
          <a:p>
            <a:pPr algn="l" marL="0" indent="0">
              <a:spcAft>
                <a:spcPts val="400"/>
              </a:spcAft>
              <a:buNone/>
            </a:pPr>
            <a:r>
              <a:rPr sz="1300" b="0" i="0" lang="es-CL">
                <a:solidFill>
                  <a:srgbClr val="1F2328"/>
                </a:solidFill>
                <a:latin typeface="Inter"/>
                <a:ea typeface="Inter"/>
                <a:cs typeface="Inter"/>
              </a:rPr>
              <a:t>Escribes una </a:t>
            </a:r>
            <a:r>
              <a:rPr sz="1300" b="1" i="0" lang="es-CL">
                <a:solidFill>
                  <a:srgbClr val="1F2328"/>
                </a:solidFill>
                <a:latin typeface="Inter"/>
                <a:ea typeface="Inter"/>
                <a:cs typeface="Inter"/>
              </a:rPr>
              <a:t>spec</a:t>
            </a:r>
            <a:r>
              <a:rPr sz="1300" b="0" i="0" lang="es-CL">
                <a:solidFill>
                  <a:srgbClr val="1F2328"/>
                </a:solidFill>
                <a:latin typeface="Inter"/>
                <a:ea typeface="Inter"/>
                <a:cs typeface="Inter"/>
              </a:rPr>
              <a:t> (requisitos, diseño técnico y arquitectura) y los agentes de IA desarrollan la feature de punta a punta, incluidos los tests.</a:t>
            </a:r>
          </a:p>
        </p:txBody>
      </p:sp>
      <p:sp>
        <p:nvSpPr>
          <p:cNvPr id="5" name="TextBox 4"/>
          <p:cNvSpPr txBox="1"/>
          <p:nvPr/>
        </p:nvSpPr>
        <p:spPr>
          <a:xfrm>
            <a:off x="411480" y="2103120"/>
            <a:ext cx="4023360" cy="274320"/>
          </a:xfrm>
          <a:prstGeom prst="rect">
            <a:avLst/>
          </a:prstGeom>
          <a:noFill/>
        </p:spPr>
        <p:txBody>
          <a:bodyPr wrap="square" lIns="36576" rIns="36576" tIns="36576" bIns="36576" anchor="t"/>
          <a:lstStyle/>
          <a:p>
            <a:pPr algn="l" marL="0" indent="0">
              <a:spcAft>
                <a:spcPts val="400"/>
              </a:spcAft>
              <a:buNone/>
            </a:pPr>
            <a:r>
              <a:rPr sz="1200" b="1" i="0" lang="es-CL">
                <a:solidFill>
                  <a:srgbClr val="003D4F"/>
                </a:solidFill>
                <a:latin typeface="Inter"/>
                <a:ea typeface="Inter"/>
                <a:cs typeface="Inter"/>
              </a:rPr>
              <a:t>Herramientas: Kiro, Spec Kit, Tessl</a:t>
            </a:r>
          </a:p>
        </p:txBody>
      </p:sp>
      <p:sp>
        <p:nvSpPr>
          <p:cNvPr id="6" name="Rounded Rectangle 5"/>
          <p:cNvSpPr/>
          <p:nvPr/>
        </p:nvSpPr>
        <p:spPr>
          <a:xfrm>
            <a:off x="411480" y="2514600"/>
            <a:ext cx="1947672" cy="1783080"/>
          </a:xfrm>
          <a:prstGeom prst="roundRect">
            <a:avLst>
              <a:gd name="adj" fmla="val 5128"/>
            </a:avLst>
          </a:prstGeom>
          <a:solidFill>
            <a:srgbClr val="EDF1F3"/>
          </a:solidFill>
          <a:ln>
            <a:noFill/>
          </a:ln>
        </p:spPr>
        <p:txBody>
          <a:bodyPr rtlCol="0" anchor="ctr" wrap="square" lIns="54864" rIns="54864" tIns="54864" bIns="54864"/>
          <a:lstStyle/>
          <a:p>
            <a:pPr algn="ctr"/>
          </a:p>
        </p:txBody>
      </p:sp>
      <p:sp>
        <p:nvSpPr>
          <p:cNvPr id="7" name="TextBox 6"/>
          <p:cNvSpPr txBox="1"/>
          <p:nvPr/>
        </p:nvSpPr>
        <p:spPr>
          <a:xfrm>
            <a:off x="521208" y="2578608"/>
            <a:ext cx="1737360" cy="274320"/>
          </a:xfrm>
          <a:prstGeom prst="rect">
            <a:avLst/>
          </a:prstGeom>
          <a:noFill/>
        </p:spPr>
        <p:txBody>
          <a:bodyPr wrap="square" lIns="36576" rIns="36576" tIns="36576" bIns="36576" anchor="t"/>
          <a:lstStyle/>
          <a:p>
            <a:pPr algn="l" marL="0" indent="0">
              <a:spcAft>
                <a:spcPts val="400"/>
              </a:spcAft>
              <a:buNone/>
            </a:pPr>
            <a:r>
              <a:rPr sz="1300" b="1" i="0" lang="es-CL">
                <a:solidFill>
                  <a:srgbClr val="980000"/>
                </a:solidFill>
                <a:latin typeface="Inter"/>
                <a:ea typeface="Inter"/>
                <a:cs typeface="Inter"/>
              </a:rPr>
              <a:t>Crítica</a:t>
            </a:r>
          </a:p>
        </p:txBody>
      </p:sp>
      <p:sp>
        <p:nvSpPr>
          <p:cNvPr id="8" name="TextBox 7"/>
          <p:cNvSpPr txBox="1"/>
          <p:nvPr/>
        </p:nvSpPr>
        <p:spPr>
          <a:xfrm>
            <a:off x="521208" y="2889504"/>
            <a:ext cx="1755648" cy="13716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Mantener documentos largos en vez de avanzar en pasos chicos.</a:t>
            </a:r>
          </a:p>
        </p:txBody>
      </p:sp>
      <p:sp>
        <p:nvSpPr>
          <p:cNvPr id="9" name="Rounded Rectangle 8"/>
          <p:cNvSpPr/>
          <p:nvPr/>
        </p:nvSpPr>
        <p:spPr>
          <a:xfrm>
            <a:off x="2487168" y="2514600"/>
            <a:ext cx="1947672" cy="1783080"/>
          </a:xfrm>
          <a:prstGeom prst="roundRect">
            <a:avLst>
              <a:gd name="adj" fmla="val 5128"/>
            </a:avLst>
          </a:prstGeom>
          <a:solidFill>
            <a:srgbClr val="EDF1F3"/>
          </a:solidFill>
          <a:ln>
            <a:noFill/>
          </a:ln>
        </p:spPr>
        <p:txBody>
          <a:bodyPr rtlCol="0" anchor="ctr" wrap="square" lIns="54864" rIns="54864" tIns="54864" bIns="54864"/>
          <a:lstStyle/>
          <a:p>
            <a:pPr algn="ctr"/>
          </a:p>
        </p:txBody>
      </p:sp>
      <p:sp>
        <p:nvSpPr>
          <p:cNvPr id="10" name="TextBox 9"/>
          <p:cNvSpPr txBox="1"/>
          <p:nvPr/>
        </p:nvSpPr>
        <p:spPr>
          <a:xfrm>
            <a:off x="2596896" y="2578608"/>
            <a:ext cx="1737360" cy="274320"/>
          </a:xfrm>
          <a:prstGeom prst="rect">
            <a:avLst/>
          </a:prstGeom>
          <a:noFill/>
        </p:spPr>
        <p:txBody>
          <a:bodyPr wrap="square" lIns="36576" rIns="36576" tIns="36576" bIns="36576" anchor="t"/>
          <a:lstStyle/>
          <a:p>
            <a:pPr algn="l" marL="0" indent="0">
              <a:spcAft>
                <a:spcPts val="400"/>
              </a:spcAft>
              <a:buNone/>
            </a:pPr>
            <a:r>
              <a:rPr sz="1300" b="1" i="0" lang="es-CL">
                <a:solidFill>
                  <a:srgbClr val="38761D"/>
                </a:solidFill>
                <a:latin typeface="Inter"/>
                <a:ea typeface="Inter"/>
                <a:cs typeface="Inter"/>
              </a:rPr>
              <a:t>Ventaja</a:t>
            </a:r>
          </a:p>
        </p:txBody>
      </p:sp>
      <p:sp>
        <p:nvSpPr>
          <p:cNvPr id="11" name="TextBox 10"/>
          <p:cNvSpPr txBox="1"/>
          <p:nvPr/>
        </p:nvSpPr>
        <p:spPr>
          <a:xfrm>
            <a:off x="2596896" y="2889504"/>
            <a:ext cx="1755648" cy="13716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Si cambia un requisito, cambias la spec y los tests la siguen.</a:t>
            </a:r>
          </a:p>
        </p:txBody>
      </p:sp>
      <p:sp>
        <p:nvSpPr>
          <p:cNvPr id="12" name="caption"/>
          <p:cNvSpPr txBox="1"/>
          <p:nvPr/>
        </p:nvSpPr>
        <p:spPr>
          <a:xfrm>
            <a:off x="411480" y="4370832"/>
            <a:ext cx="402336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p. 113</a:t>
            </a:r>
          </a:p>
        </p:txBody>
      </p:sp>
      <p:cxnSp>
        <p:nvCxnSpPr>
          <p:cNvPr id="13" name="Connector 12"/>
          <p:cNvCxnSpPr/>
          <p:nvPr/>
        </p:nvCxnSpPr>
        <p:spPr>
          <a:xfrm>
            <a:off x="7073751" y="1800809"/>
            <a:ext cx="254755" cy="185090"/>
          </a:xfrm>
          <a:prstGeom prst="line">
            <a:avLst/>
          </a:prstGeom>
          <a:ln w="22225">
            <a:solidFill>
              <a:srgbClr val="8C959F"/>
            </a:solidFill>
            <a:tailEnd type="triangle" w="med" len="med"/>
          </a:ln>
        </p:spPr>
      </p:cxnSp>
      <p:cxnSp>
        <p:nvCxnSpPr>
          <p:cNvPr id="14" name="Connector 13"/>
          <p:cNvCxnSpPr/>
          <p:nvPr/>
        </p:nvCxnSpPr>
        <p:spPr>
          <a:xfrm flipH="1">
            <a:off x="7467975" y="2714623"/>
            <a:ext cx="229515" cy="706377"/>
          </a:xfrm>
          <a:prstGeom prst="line">
            <a:avLst/>
          </a:prstGeom>
          <a:ln w="22225">
            <a:solidFill>
              <a:srgbClr val="8C959F"/>
            </a:solidFill>
            <a:tailEnd type="triangle" w="med" len="med"/>
          </a:ln>
        </p:spPr>
      </p:cxnSp>
      <p:cxnSp>
        <p:nvCxnSpPr>
          <p:cNvPr id="15" name="Connector 14"/>
          <p:cNvCxnSpPr/>
          <p:nvPr/>
        </p:nvCxnSpPr>
        <p:spPr>
          <a:xfrm flipH="1">
            <a:off x="6551991" y="3793666"/>
            <a:ext cx="63377" cy="0"/>
          </a:xfrm>
          <a:prstGeom prst="line">
            <a:avLst/>
          </a:prstGeom>
          <a:ln w="22225">
            <a:solidFill>
              <a:srgbClr val="8C959F"/>
            </a:solidFill>
            <a:tailEnd type="triangle" w="med" len="med"/>
          </a:ln>
        </p:spPr>
      </p:cxnSp>
      <p:cxnSp>
        <p:nvCxnSpPr>
          <p:cNvPr id="16" name="Connector 15"/>
          <p:cNvCxnSpPr/>
          <p:nvPr/>
        </p:nvCxnSpPr>
        <p:spPr>
          <a:xfrm flipH="1" flipV="1">
            <a:off x="5469869" y="2714623"/>
            <a:ext cx="229515" cy="706377"/>
          </a:xfrm>
          <a:prstGeom prst="line">
            <a:avLst/>
          </a:prstGeom>
          <a:ln w="22225">
            <a:solidFill>
              <a:srgbClr val="8C959F"/>
            </a:solidFill>
            <a:tailEnd type="triangle" w="med" len="med"/>
          </a:ln>
        </p:spPr>
      </p:cxnSp>
      <p:cxnSp>
        <p:nvCxnSpPr>
          <p:cNvPr id="17" name="Connector 16"/>
          <p:cNvCxnSpPr/>
          <p:nvPr/>
        </p:nvCxnSpPr>
        <p:spPr>
          <a:xfrm flipV="1">
            <a:off x="5838853" y="1800809"/>
            <a:ext cx="254755" cy="185090"/>
          </a:xfrm>
          <a:prstGeom prst="line">
            <a:avLst/>
          </a:prstGeom>
          <a:ln w="22225">
            <a:solidFill>
              <a:srgbClr val="8C959F"/>
            </a:solidFill>
            <a:tailEnd type="triangle" w="med" len="med"/>
          </a:ln>
        </p:spPr>
      </p:cxnSp>
      <p:sp>
        <p:nvSpPr>
          <p:cNvPr id="18" name="Rounded Rectangle 17"/>
          <p:cNvSpPr/>
          <p:nvPr/>
        </p:nvSpPr>
        <p:spPr>
          <a:xfrm>
            <a:off x="5897880" y="1115568"/>
            <a:ext cx="1371600" cy="658368"/>
          </a:xfrm>
          <a:prstGeom prst="roundRect">
            <a:avLst>
              <a:gd name="adj" fmla="val 11111"/>
            </a:avLst>
          </a:prstGeom>
          <a:solidFill>
            <a:srgbClr val="003D4F"/>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Spec</a:t>
            </a:r>
          </a:p>
          <a:p>
            <a:pPr algn="ctr" marL="0" indent="0">
              <a:spcAft>
                <a:spcPts val="0"/>
              </a:spcAft>
              <a:buNone/>
            </a:pPr>
            <a:r>
              <a:rPr sz="1200" b="0" i="0" lang="es-CL">
                <a:solidFill>
                  <a:srgbClr val="FFFFFF"/>
                </a:solidFill>
                <a:latin typeface="Inter"/>
                <a:ea typeface="Inter"/>
                <a:cs typeface="Inter"/>
              </a:rPr>
              <a:t>reglas con ID</a:t>
            </a:r>
          </a:p>
        </p:txBody>
      </p:sp>
      <p:sp>
        <p:nvSpPr>
          <p:cNvPr id="19" name="Rounded Rectangle 18"/>
          <p:cNvSpPr/>
          <p:nvPr/>
        </p:nvSpPr>
        <p:spPr>
          <a:xfrm>
            <a:off x="7132777" y="2012773"/>
            <a:ext cx="1371600" cy="658368"/>
          </a:xfrm>
          <a:prstGeom prst="roundRect">
            <a:avLst>
              <a:gd name="adj" fmla="val 11111"/>
            </a:avLst>
          </a:prstGeom>
          <a:solidFill>
            <a:srgbClr val="47A1A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Contrato</a:t>
            </a:r>
          </a:p>
          <a:p>
            <a:pPr algn="ctr" marL="0" indent="0">
              <a:spcAft>
                <a:spcPts val="0"/>
              </a:spcAft>
              <a:buNone/>
            </a:pPr>
            <a:r>
              <a:rPr sz="1200" b="0" i="0" lang="es-CL">
                <a:solidFill>
                  <a:srgbClr val="FFFFFF"/>
                </a:solidFill>
                <a:latin typeface="Inter"/>
                <a:ea typeface="Inter"/>
                <a:cs typeface="Inter"/>
              </a:rPr>
              <a:t>openapi.yaml</a:t>
            </a:r>
          </a:p>
        </p:txBody>
      </p:sp>
      <p:sp>
        <p:nvSpPr>
          <p:cNvPr id="20" name="Rounded Rectangle 19"/>
          <p:cNvSpPr/>
          <p:nvPr/>
        </p:nvSpPr>
        <p:spPr>
          <a:xfrm>
            <a:off x="6661088" y="3464482"/>
            <a:ext cx="1371600" cy="658368"/>
          </a:xfrm>
          <a:prstGeom prst="roundRect">
            <a:avLst>
              <a:gd name="adj" fmla="val 11111"/>
            </a:avLst>
          </a:prstGeom>
          <a:solidFill>
            <a:srgbClr val="980000"/>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Tests en rojo</a:t>
            </a:r>
          </a:p>
          <a:p>
            <a:pPr algn="ctr" marL="0" indent="0">
              <a:spcAft>
                <a:spcPts val="0"/>
              </a:spcAft>
              <a:buNone/>
            </a:pPr>
            <a:r>
              <a:rPr sz="1200" b="0" i="0" lang="es-CL">
                <a:solidFill>
                  <a:srgbClr val="FFFFFF"/>
                </a:solidFill>
                <a:latin typeface="Inter"/>
                <a:ea typeface="Inter"/>
                <a:cs typeface="Inter"/>
              </a:rPr>
              <a:t>uno a la vez</a:t>
            </a:r>
          </a:p>
        </p:txBody>
      </p:sp>
      <p:sp>
        <p:nvSpPr>
          <p:cNvPr id="21" name="Rounded Rectangle 20"/>
          <p:cNvSpPr/>
          <p:nvPr/>
        </p:nvSpPr>
        <p:spPr>
          <a:xfrm>
            <a:off x="5134671" y="3464482"/>
            <a:ext cx="1371600" cy="658368"/>
          </a:xfrm>
          <a:prstGeom prst="roundRect">
            <a:avLst>
              <a:gd name="adj" fmla="val 11111"/>
            </a:avLst>
          </a:prstGeom>
          <a:solidFill>
            <a:srgbClr val="CC850A"/>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Código</a:t>
            </a:r>
          </a:p>
          <a:p>
            <a:pPr algn="ctr" marL="0" indent="0">
              <a:spcAft>
                <a:spcPts val="0"/>
              </a:spcAft>
              <a:buNone/>
            </a:pPr>
            <a:r>
              <a:rPr sz="1200" b="0" i="0" lang="es-CL">
                <a:solidFill>
                  <a:srgbClr val="FFFFFF"/>
                </a:solidFill>
                <a:latin typeface="Inter"/>
                <a:ea typeface="Inter"/>
                <a:cs typeface="Inter"/>
              </a:rPr>
              <a:t>lo mínimo</a:t>
            </a:r>
          </a:p>
        </p:txBody>
      </p:sp>
      <p:sp>
        <p:nvSpPr>
          <p:cNvPr id="22" name="Rounded Rectangle 21"/>
          <p:cNvSpPr/>
          <p:nvPr/>
        </p:nvSpPr>
        <p:spPr>
          <a:xfrm>
            <a:off x="4662982" y="2012773"/>
            <a:ext cx="1371600" cy="658368"/>
          </a:xfrm>
          <a:prstGeom prst="roundRect">
            <a:avLst>
              <a:gd name="adj" fmla="val 11111"/>
            </a:avLst>
          </a:prstGeom>
          <a:solidFill>
            <a:srgbClr val="38761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Verde</a:t>
            </a:r>
          </a:p>
          <a:p>
            <a:pPr algn="ctr" marL="0" indent="0">
              <a:spcAft>
                <a:spcPts val="0"/>
              </a:spcAft>
              <a:buNone/>
            </a:pPr>
            <a:r>
              <a:rPr sz="1200" b="0" i="0" lang="es-CL">
                <a:solidFill>
                  <a:srgbClr val="FFFFFF"/>
                </a:solidFill>
                <a:latin typeface="Inter"/>
                <a:ea typeface="Inter"/>
                <a:cs typeface="Inter"/>
              </a:rPr>
              <a:t>y evidencia</a:t>
            </a:r>
          </a:p>
        </p:txBody>
      </p:sp>
      <p:sp>
        <p:nvSpPr>
          <p:cNvPr id="23" name="TextBox 22"/>
          <p:cNvSpPr txBox="1"/>
          <p:nvPr/>
        </p:nvSpPr>
        <p:spPr>
          <a:xfrm>
            <a:off x="5715000" y="2560320"/>
            <a:ext cx="1737360" cy="411480"/>
          </a:xfrm>
          <a:prstGeom prst="rect">
            <a:avLst/>
          </a:prstGeom>
          <a:noFill/>
        </p:spPr>
        <p:txBody>
          <a:bodyPr wrap="square" lIns="36576" rIns="36576" tIns="36576" bIns="36576" anchor="ctr"/>
          <a:lstStyle/>
          <a:p>
            <a:pPr algn="ctr" marL="0" indent="0">
              <a:spcAft>
                <a:spcPts val="400"/>
              </a:spcAft>
              <a:buNone/>
            </a:pPr>
            <a:r>
              <a:rPr sz="1200" b="1" i="0" lang="es-CL">
                <a:solidFill>
                  <a:srgbClr val="57606A"/>
                </a:solidFill>
                <a:latin typeface="Inter"/>
                <a:ea typeface="Inter"/>
                <a:cs typeface="Inter"/>
              </a:rPr>
              <a:t>Constitución P1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Anatomía de un SPEC</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2240280" cy="402336"/>
          </a:xfrm>
          <a:prstGeom prst="roundRect">
            <a:avLst>
              <a:gd name="adj" fmla="val 18181"/>
            </a:avLst>
          </a:prstGeom>
          <a:solidFill>
            <a:srgbClr val="003D4F"/>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Encabezado</a:t>
            </a:r>
          </a:p>
        </p:txBody>
      </p:sp>
      <p:sp>
        <p:nvSpPr>
          <p:cNvPr id="5" name="TextBox 4"/>
          <p:cNvSpPr txBox="1"/>
          <p:nvPr/>
        </p:nvSpPr>
        <p:spPr>
          <a:xfrm>
            <a:off x="2761488" y="987552"/>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ID, versión, contrato API, flujos y specs por capa</a:t>
            </a:r>
          </a:p>
        </p:txBody>
      </p:sp>
      <p:sp>
        <p:nvSpPr>
          <p:cNvPr id="6" name="Rounded Rectangle 5"/>
          <p:cNvSpPr/>
          <p:nvPr/>
        </p:nvSpPr>
        <p:spPr>
          <a:xfrm>
            <a:off x="411480" y="1481328"/>
            <a:ext cx="2240280" cy="402336"/>
          </a:xfrm>
          <a:prstGeom prst="roundRect">
            <a:avLst>
              <a:gd name="adj" fmla="val 18181"/>
            </a:avLst>
          </a:prstGeom>
          <a:solidFill>
            <a:srgbClr val="47A1AD"/>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Contexto</a:t>
            </a:r>
          </a:p>
        </p:txBody>
      </p:sp>
      <p:sp>
        <p:nvSpPr>
          <p:cNvPr id="7" name="TextBox 6"/>
          <p:cNvSpPr txBox="1"/>
          <p:nvPr/>
        </p:nvSpPr>
        <p:spPr>
          <a:xfrm>
            <a:off x="2761488" y="1481328"/>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El problema en lenguaje del negocio</a:t>
            </a:r>
          </a:p>
        </p:txBody>
      </p:sp>
      <p:sp>
        <p:nvSpPr>
          <p:cNvPr id="8" name="Rounded Rectangle 7"/>
          <p:cNvSpPr/>
          <p:nvPr/>
        </p:nvSpPr>
        <p:spPr>
          <a:xfrm>
            <a:off x="411480" y="1975104"/>
            <a:ext cx="2240280" cy="402336"/>
          </a:xfrm>
          <a:prstGeom prst="roundRect">
            <a:avLst>
              <a:gd name="adj" fmla="val 18181"/>
            </a:avLst>
          </a:prstGeom>
          <a:solidFill>
            <a:srgbClr val="47A1AD"/>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Supuestos</a:t>
            </a:r>
          </a:p>
        </p:txBody>
      </p:sp>
      <p:sp>
        <p:nvSpPr>
          <p:cNvPr id="9" name="TextBox 8"/>
          <p:cNvSpPr txBox="1"/>
          <p:nvPr/>
        </p:nvSpPr>
        <p:spPr>
          <a:xfrm>
            <a:off x="2761488" y="1975104"/>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Lo que el código da por hecho: reloj, UTC, sin login</a:t>
            </a:r>
          </a:p>
        </p:txBody>
      </p:sp>
      <p:sp>
        <p:nvSpPr>
          <p:cNvPr id="10" name="Rounded Rectangle 9"/>
          <p:cNvSpPr/>
          <p:nvPr/>
        </p:nvSpPr>
        <p:spPr>
          <a:xfrm>
            <a:off x="411480" y="2468880"/>
            <a:ext cx="2240280" cy="402336"/>
          </a:xfrm>
          <a:prstGeom prst="roundRect">
            <a:avLst>
              <a:gd name="adj" fmla="val 18181"/>
            </a:avLst>
          </a:prstGeom>
          <a:solidFill>
            <a:srgbClr val="980000"/>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Reglas con ID</a:t>
            </a:r>
          </a:p>
        </p:txBody>
      </p:sp>
      <p:sp>
        <p:nvSpPr>
          <p:cNvPr id="11" name="TextBox 10"/>
          <p:cNvSpPr txBox="1"/>
          <p:nvPr/>
        </p:nvSpPr>
        <p:spPr>
          <a:xfrm>
            <a:off x="2761488" y="2468880"/>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LOAN-R2 · Límite por persona, con código de error</a:t>
            </a:r>
          </a:p>
        </p:txBody>
      </p:sp>
      <p:sp>
        <p:nvSpPr>
          <p:cNvPr id="12" name="Rounded Rectangle 11"/>
          <p:cNvSpPr/>
          <p:nvPr/>
        </p:nvSpPr>
        <p:spPr>
          <a:xfrm>
            <a:off x="411480" y="2962656"/>
            <a:ext cx="2240280" cy="402336"/>
          </a:xfrm>
          <a:prstGeom prst="roundRect">
            <a:avLst>
              <a:gd name="adj" fmla="val 18181"/>
            </a:avLst>
          </a:prstGeom>
          <a:solidFill>
            <a:srgbClr val="CC850A"/>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Comportamiento en UI</a:t>
            </a:r>
          </a:p>
        </p:txBody>
      </p:sp>
      <p:sp>
        <p:nvSpPr>
          <p:cNvPr id="13" name="TextBox 12"/>
          <p:cNvSpPr txBox="1"/>
          <p:nvPr/>
        </p:nvSpPr>
        <p:spPr>
          <a:xfrm>
            <a:off x="2761488" y="2962656"/>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UI-LOAN-2: textos y colores exactos</a:t>
            </a:r>
          </a:p>
        </p:txBody>
      </p:sp>
      <p:sp>
        <p:nvSpPr>
          <p:cNvPr id="14" name="Rounded Rectangle 13"/>
          <p:cNvSpPr/>
          <p:nvPr/>
        </p:nvSpPr>
        <p:spPr>
          <a:xfrm>
            <a:off x="411480" y="3456432"/>
            <a:ext cx="2240280" cy="402336"/>
          </a:xfrm>
          <a:prstGeom prst="roundRect">
            <a:avLst>
              <a:gd name="adj" fmla="val 18181"/>
            </a:avLst>
          </a:prstGeom>
          <a:solidFill>
            <a:srgbClr val="38761D"/>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Criterios de aceptación</a:t>
            </a:r>
          </a:p>
        </p:txBody>
      </p:sp>
      <p:sp>
        <p:nvSpPr>
          <p:cNvPr id="15" name="TextBox 14"/>
          <p:cNvSpPr txBox="1"/>
          <p:nvPr/>
        </p:nvSpPr>
        <p:spPr>
          <a:xfrm>
            <a:off x="2761488" y="3456432"/>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Tabla regla → capa → test</a:t>
            </a:r>
          </a:p>
        </p:txBody>
      </p:sp>
      <p:sp>
        <p:nvSpPr>
          <p:cNvPr id="16" name="Rounded Rectangle 15"/>
          <p:cNvSpPr/>
          <p:nvPr/>
        </p:nvSpPr>
        <p:spPr>
          <a:xfrm>
            <a:off x="411480" y="3950208"/>
            <a:ext cx="2240280" cy="402336"/>
          </a:xfrm>
          <a:prstGeom prst="roundRect">
            <a:avLst>
              <a:gd name="adj" fmla="val 18181"/>
            </a:avLst>
          </a:prstGeom>
          <a:solidFill>
            <a:srgbClr val="57606A"/>
          </a:solidFill>
          <a:ln>
            <a:noFill/>
          </a:ln>
        </p:spPr>
        <p:txBody>
          <a:bodyPr rtlCol="0" anchor="ctr" wrap="square" tIns="91440" bIns="91440"/>
          <a:lstStyle/>
          <a:p>
            <a:pPr algn="l" marL="0" indent="0">
              <a:spcAft>
                <a:spcPts val="200"/>
              </a:spcAft>
              <a:buNone/>
            </a:pPr>
            <a:r>
              <a:rPr sz="1200" b="1" i="0" lang="es-CL">
                <a:solidFill>
                  <a:srgbClr val="FFFFFF"/>
                </a:solidFill>
                <a:latin typeface="Inter"/>
                <a:ea typeface="Inter"/>
                <a:cs typeface="Inter"/>
              </a:rPr>
              <a:t>Fuera de alcance</a:t>
            </a:r>
          </a:p>
        </p:txBody>
      </p:sp>
      <p:sp>
        <p:nvSpPr>
          <p:cNvPr id="17" name="TextBox 16"/>
          <p:cNvSpPr txBox="1"/>
          <p:nvPr/>
        </p:nvSpPr>
        <p:spPr>
          <a:xfrm>
            <a:off x="2761488" y="3950208"/>
            <a:ext cx="292608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Lo que NO se hace (renovar, multas)</a:t>
            </a:r>
          </a:p>
        </p:txBody>
      </p:sp>
      <p:sp>
        <p:nvSpPr>
          <p:cNvPr id="18" name="Rounded Rectangle 17"/>
          <p:cNvSpPr/>
          <p:nvPr/>
        </p:nvSpPr>
        <p:spPr>
          <a:xfrm>
            <a:off x="5897880" y="987552"/>
            <a:ext cx="2834640" cy="3383280"/>
          </a:xfrm>
          <a:prstGeom prst="roundRect">
            <a:avLst>
              <a:gd name="adj" fmla="val 3225"/>
            </a:avLst>
          </a:prstGeom>
          <a:solidFill>
            <a:srgbClr val="DCE9F7"/>
          </a:solidFill>
          <a:ln>
            <a:noFill/>
          </a:ln>
        </p:spPr>
        <p:txBody>
          <a:bodyPr rtlCol="0" anchor="ctr" wrap="square" lIns="54864" rIns="54864" tIns="54864" bIns="54864"/>
          <a:lstStyle/>
          <a:p>
            <a:pPr algn="ctr"/>
          </a:p>
        </p:txBody>
      </p:sp>
      <p:sp>
        <p:nvSpPr>
          <p:cNvPr id="19" name="TextBox 18"/>
          <p:cNvSpPr txBox="1"/>
          <p:nvPr/>
        </p:nvSpPr>
        <p:spPr>
          <a:xfrm>
            <a:off x="6035040" y="1078992"/>
            <a:ext cx="256032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Formato de referencia</a:t>
            </a:r>
          </a:p>
        </p:txBody>
      </p:sp>
      <p:sp>
        <p:nvSpPr>
          <p:cNvPr id="20" name="TextBox 19"/>
          <p:cNvSpPr txBox="1"/>
          <p:nvPr/>
        </p:nvSpPr>
        <p:spPr>
          <a:xfrm>
            <a:off x="6035040" y="1426464"/>
            <a:ext cx="2560320" cy="2880360"/>
          </a:xfrm>
          <a:prstGeom prst="rect">
            <a:avLst/>
          </a:prstGeom>
          <a:noFill/>
        </p:spPr>
        <p:txBody>
          <a:bodyPr wrap="square" lIns="36576" rIns="36576" tIns="36576" bIns="36576" anchor="t"/>
          <a:lstStyle/>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Sale del ejemplo de spec del curso: contexto, supuestos, reglas R1, R2... y mapa a los tests.</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Una spec por feature y una por capa.</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Si algo no está en la spec, el agente se detiene y la propone primero.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Extracto de SPEC-LIB-02: Préstamos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8321040" cy="2194560"/>
          </a:xfrm>
          <a:prstGeom prst="roundRect">
            <a:avLst>
              <a:gd name="adj" fmla="val 2500"/>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specs/features/SPEC-LIB-02-prestamos.md (extracto)</a:t>
            </a:r>
          </a:p>
        </p:txBody>
      </p:sp>
      <p:sp>
        <p:nvSpPr>
          <p:cNvPr id="6" name="TextBox 5"/>
          <p:cNvSpPr txBox="1"/>
          <p:nvPr/>
        </p:nvSpPr>
        <p:spPr>
          <a:xfrm>
            <a:off x="521208" y="1298448"/>
            <a:ext cx="8101583" cy="1828799"/>
          </a:xfrm>
          <a:prstGeom prst="rect">
            <a:avLst/>
          </a:prstGeom>
          <a:noFill/>
        </p:spPr>
        <p:txBody>
          <a:bodyPr wrap="none" lIns="0" rIns="0" tIns="0" bIns="0"/>
          <a:lstStyle/>
          <a:p>
            <a:pPr marL="0" indent="0">
              <a:lnSpc>
                <a:spcPct val="100000"/>
              </a:lnSpc>
              <a:spcAft>
                <a:spcPts val="0"/>
              </a:spcAft>
              <a:buNone/>
            </a:pPr>
            <a:r>
              <a:rPr sz="1050" b="0" i="0" lang="es-CL">
                <a:solidFill>
                  <a:srgbClr val="1F2328"/>
                </a:solidFill>
                <a:latin typeface="Consolas"/>
                <a:ea typeface="Consolas"/>
                <a:cs typeface="Consolas"/>
              </a:rPr>
              <a:t>- </a:t>
            </a:r>
            <a:r>
              <a:rPr sz="1050" b="1" i="0" lang="es-CL">
                <a:solidFill>
                  <a:srgbClr val="1F2328"/>
                </a:solidFill>
                <a:latin typeface="Consolas"/>
                <a:ea typeface="Consolas"/>
                <a:cs typeface="Consolas"/>
              </a:rPr>
              <a:t>**LOAN-R1 · Copias disponibles.**</a:t>
            </a:r>
            <a:r>
              <a:rPr sz="1050" b="0" i="0" lang="es-CL">
                <a:solidFill>
                  <a:srgbClr val="1F2328"/>
                </a:solidFill>
                <a:latin typeface="Consolas"/>
                <a:ea typeface="Consolas"/>
                <a:cs typeface="Consolas"/>
              </a:rPr>
              <a:t> Solo se presta si </a:t>
            </a:r>
            <a:r>
              <a:rPr sz="1050" b="0" i="0" lang="es-CL">
                <a:solidFill>
                  <a:srgbClr val="A31515"/>
                </a:solidFill>
                <a:latin typeface="Consolas"/>
                <a:ea typeface="Consolas"/>
                <a:cs typeface="Consolas"/>
              </a:rPr>
              <a:t>`availableCopies &gt; 0`</a:t>
            </a:r>
            <a:r>
              <a:rPr sz="1050" b="0" i="0" lang="es-CL">
                <a:solidFill>
                  <a:srgbClr val="1F2328"/>
                </a:solidFill>
                <a:latin typeface="Consolas"/>
                <a:ea typeface="Consolas"/>
                <a:cs typeface="Consolas"/>
              </a:rPr>
              <a:t>. Al prestar,</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31515"/>
                </a:solidFill>
                <a:latin typeface="Consolas"/>
                <a:ea typeface="Consolas"/>
                <a:cs typeface="Consolas"/>
              </a:rPr>
              <a:t>`availableCopies`</a:t>
            </a:r>
            <a:r>
              <a:rPr sz="1050" b="0" i="0" lang="es-CL">
                <a:solidFill>
                  <a:srgbClr val="1F2328"/>
                </a:solidFill>
                <a:latin typeface="Consolas"/>
                <a:ea typeface="Consolas"/>
                <a:cs typeface="Consolas"/>
              </a:rPr>
              <a:t> baja en 1. Si no hay copias: 409 </a:t>
            </a:r>
            <a:r>
              <a:rPr sz="1050" b="0" i="0" lang="es-CL">
                <a:solidFill>
                  <a:srgbClr val="A31515"/>
                </a:solidFill>
                <a:latin typeface="Consolas"/>
                <a:ea typeface="Consolas"/>
                <a:cs typeface="Consolas"/>
              </a:rPr>
              <a:t>`NO_COPIES_AVAILABLE`</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Dos solicitudes simultáneas por la última copia: exactamente una tiene éxito</a:t>
            </a:r>
          </a:p>
          <a:p>
            <a:pPr marL="0" indent="0">
              <a:lnSpc>
                <a:spcPct val="100000"/>
              </a:lnSpc>
              <a:spcAft>
                <a:spcPts val="0"/>
              </a:spcAft>
              <a:buNone/>
            </a:pPr>
            <a:r>
              <a:rPr sz="1050" b="0" i="0" lang="es-CL">
                <a:solidFill>
                  <a:srgbClr val="1F2328"/>
                </a:solidFill>
                <a:latin typeface="Consolas"/>
                <a:ea typeface="Consolas"/>
                <a:cs typeface="Consolas"/>
              </a:rPr>
              <a:t>  (se garantiza en la base de datos con una actualización condicional dentro de una transacción).</a:t>
            </a:r>
          </a:p>
          <a:p>
            <a:pPr marL="0" indent="0">
              <a:lnSpc>
                <a:spcPct val="100000"/>
              </a:lnSpc>
              <a:spcAft>
                <a:spcPts val="0"/>
              </a:spcAft>
              <a:buNone/>
            </a:pPr>
            <a:r>
              <a:rPr sz="1050" b="0" i="0" lang="es-CL">
                <a:solidFill>
                  <a:srgbClr val="1F2328"/>
                </a:solidFill>
                <a:latin typeface="Consolas"/>
                <a:ea typeface="Consolas"/>
                <a:cs typeface="Consolas"/>
              </a:rPr>
              <a:t>- </a:t>
            </a:r>
            <a:r>
              <a:rPr sz="1050" b="1" i="0" lang="es-CL">
                <a:solidFill>
                  <a:srgbClr val="1F2328"/>
                </a:solidFill>
                <a:latin typeface="Consolas"/>
                <a:ea typeface="Consolas"/>
                <a:cs typeface="Consolas"/>
              </a:rPr>
              <a:t>**LOAN-R2 · Límite por persona.**</a:t>
            </a:r>
            <a:r>
              <a:rPr sz="1050" b="0" i="0" lang="es-CL">
                <a:solidFill>
                  <a:srgbClr val="1F2328"/>
                </a:solidFill>
                <a:latin typeface="Consolas"/>
                <a:ea typeface="Consolas"/>
                <a:cs typeface="Consolas"/>
              </a:rPr>
              <a:t> Una persona puede tener como máximo 3 préstamos no</a:t>
            </a:r>
          </a:p>
          <a:p>
            <a:pPr marL="0" indent="0">
              <a:lnSpc>
                <a:spcPct val="100000"/>
              </a:lnSpc>
              <a:spcAft>
                <a:spcPts val="0"/>
              </a:spcAft>
              <a:buNone/>
            </a:pPr>
            <a:r>
              <a:rPr sz="1050" b="0" i="0" lang="es-CL">
                <a:solidFill>
                  <a:srgbClr val="1F2328"/>
                </a:solidFill>
                <a:latin typeface="Consolas"/>
                <a:ea typeface="Consolas"/>
                <a:cs typeface="Consolas"/>
              </a:rPr>
              <a:t>  devueltos (activos o vencidos). El cuarto responde 409 </a:t>
            </a:r>
            <a:r>
              <a:rPr sz="1050" b="0" i="0" lang="es-CL">
                <a:solidFill>
                  <a:srgbClr val="A31515"/>
                </a:solidFill>
                <a:latin typeface="Consolas"/>
                <a:ea typeface="Consolas"/>
                <a:cs typeface="Consolas"/>
              </a:rPr>
              <a:t>`LOAN_LIMIT_REACHED`</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a:t>
            </a:r>
            <a:r>
              <a:rPr sz="1050" b="1" i="0" lang="es-CL">
                <a:solidFill>
                  <a:srgbClr val="1F2328"/>
                </a:solidFill>
                <a:latin typeface="Consolas"/>
                <a:ea typeface="Consolas"/>
                <a:cs typeface="Consolas"/>
              </a:rPr>
              <a:t>**LOAN-R3 · Fecha de devolución.**</a:t>
            </a:r>
            <a:r>
              <a:rPr sz="1050" b="0" i="0" lang="es-CL">
                <a:solidFill>
                  <a:srgbClr val="1F2328"/>
                </a:solidFill>
                <a:latin typeface="Consolas"/>
                <a:ea typeface="Consolas"/>
                <a:cs typeface="Consolas"/>
              </a:rPr>
              <a:t> </a:t>
            </a:r>
            <a:r>
              <a:rPr sz="1050" b="0" i="0" lang="es-CL">
                <a:solidFill>
                  <a:srgbClr val="A31515"/>
                </a:solidFill>
                <a:latin typeface="Consolas"/>
                <a:ea typeface="Consolas"/>
                <a:cs typeface="Consolas"/>
              </a:rPr>
              <a:t>`dueAt = loanedAt + 14 días`</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57606A"/>
                </a:solidFill>
                <a:latin typeface="Consolas"/>
                <a:ea typeface="Consolas"/>
                <a:cs typeface="Consolas"/>
              </a:rPr>
              <a:t>| LOAN-R2   | unit dominio `loan-policy.spec.ts` · contrato (409)                            |</a:t>
            </a:r>
          </a:p>
        </p:txBody>
      </p:sp>
      <p:sp>
        <p:nvSpPr>
          <p:cNvPr id="7" name="Rounded Rectangle 6"/>
          <p:cNvSpPr/>
          <p:nvPr/>
        </p:nvSpPr>
        <p:spPr>
          <a:xfrm>
            <a:off x="411480" y="3337560"/>
            <a:ext cx="1591056" cy="1188720"/>
          </a:xfrm>
          <a:prstGeom prst="roundRect">
            <a:avLst>
              <a:gd name="adj" fmla="val 7692"/>
            </a:avLst>
          </a:prstGeom>
          <a:solidFill>
            <a:srgbClr val="EDF1F3"/>
          </a:solidFill>
          <a:ln>
            <a:noFill/>
          </a:ln>
        </p:spPr>
        <p:txBody>
          <a:bodyPr rtlCol="0" anchor="ctr" wrap="square" lIns="54864" rIns="54864" tIns="54864" bIns="54864"/>
          <a:lstStyle/>
          <a:p>
            <a:pPr algn="ctr"/>
          </a:p>
        </p:txBody>
      </p:sp>
      <p:sp>
        <p:nvSpPr>
          <p:cNvPr id="8" name="Rounded Rectangle 7"/>
          <p:cNvSpPr/>
          <p:nvPr/>
        </p:nvSpPr>
        <p:spPr>
          <a:xfrm>
            <a:off x="484632" y="3401568"/>
            <a:ext cx="1444752" cy="310896"/>
          </a:xfrm>
          <a:prstGeom prst="roundRect">
            <a:avLst>
              <a:gd name="adj" fmla="val 23529"/>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ID de regla</a:t>
            </a:r>
          </a:p>
        </p:txBody>
      </p:sp>
      <p:sp>
        <p:nvSpPr>
          <p:cNvPr id="9" name="TextBox 8"/>
          <p:cNvSpPr txBox="1"/>
          <p:nvPr/>
        </p:nvSpPr>
        <p:spPr>
          <a:xfrm>
            <a:off x="502920" y="3749039"/>
            <a:ext cx="1426464" cy="74980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Lo citan los tests: [LOAN-R2] ...</a:t>
            </a:r>
          </a:p>
        </p:txBody>
      </p:sp>
      <p:sp>
        <p:nvSpPr>
          <p:cNvPr id="10" name="Rounded Rectangle 9"/>
          <p:cNvSpPr/>
          <p:nvPr/>
        </p:nvSpPr>
        <p:spPr>
          <a:xfrm>
            <a:off x="2093976" y="3337560"/>
            <a:ext cx="1591056" cy="1188720"/>
          </a:xfrm>
          <a:prstGeom prst="roundRect">
            <a:avLst>
              <a:gd name="adj" fmla="val 7692"/>
            </a:avLst>
          </a:prstGeom>
          <a:solidFill>
            <a:srgbClr val="EDF1F3"/>
          </a:solidFill>
          <a:ln>
            <a:noFill/>
          </a:ln>
        </p:spPr>
        <p:txBody>
          <a:bodyPr rtlCol="0" anchor="ctr" wrap="square" lIns="54864" rIns="54864" tIns="54864" bIns="54864"/>
          <a:lstStyle/>
          <a:p>
            <a:pPr algn="ctr"/>
          </a:p>
        </p:txBody>
      </p:sp>
      <p:sp>
        <p:nvSpPr>
          <p:cNvPr id="11" name="Rounded Rectangle 10"/>
          <p:cNvSpPr/>
          <p:nvPr/>
        </p:nvSpPr>
        <p:spPr>
          <a:xfrm>
            <a:off x="2167128" y="3401568"/>
            <a:ext cx="1444752" cy="310896"/>
          </a:xfrm>
          <a:prstGeom prst="roundRect">
            <a:avLst>
              <a:gd name="adj" fmla="val 23529"/>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Código de error</a:t>
            </a:r>
          </a:p>
        </p:txBody>
      </p:sp>
      <p:sp>
        <p:nvSpPr>
          <p:cNvPr id="12" name="TextBox 11"/>
          <p:cNvSpPr txBox="1"/>
          <p:nvPr/>
        </p:nvSpPr>
        <p:spPr>
          <a:xfrm>
            <a:off x="2185416" y="3749039"/>
            <a:ext cx="1426464" cy="74980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Contrato, backend y UI usan el mismo</a:t>
            </a:r>
          </a:p>
        </p:txBody>
      </p:sp>
      <p:sp>
        <p:nvSpPr>
          <p:cNvPr id="13" name="Rounded Rectangle 12"/>
          <p:cNvSpPr/>
          <p:nvPr/>
        </p:nvSpPr>
        <p:spPr>
          <a:xfrm>
            <a:off x="3776472" y="3337560"/>
            <a:ext cx="1591056" cy="1188720"/>
          </a:xfrm>
          <a:prstGeom prst="roundRect">
            <a:avLst>
              <a:gd name="adj" fmla="val 7692"/>
            </a:avLst>
          </a:prstGeom>
          <a:solidFill>
            <a:srgbClr val="EDF1F3"/>
          </a:solidFill>
          <a:ln>
            <a:noFill/>
          </a:ln>
        </p:spPr>
        <p:txBody>
          <a:bodyPr rtlCol="0" anchor="ctr" wrap="square" lIns="54864" rIns="54864" tIns="54864" bIns="54864"/>
          <a:lstStyle/>
          <a:p>
            <a:pPr algn="ctr"/>
          </a:p>
        </p:txBody>
      </p:sp>
      <p:sp>
        <p:nvSpPr>
          <p:cNvPr id="14" name="Rounded Rectangle 13"/>
          <p:cNvSpPr/>
          <p:nvPr/>
        </p:nvSpPr>
        <p:spPr>
          <a:xfrm>
            <a:off x="3849624" y="3401568"/>
            <a:ext cx="1444752" cy="310896"/>
          </a:xfrm>
          <a:prstGeom prst="roundRect">
            <a:avLst>
              <a:gd name="adj" fmla="val 23529"/>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Valor límite</a:t>
            </a:r>
          </a:p>
        </p:txBody>
      </p:sp>
      <p:sp>
        <p:nvSpPr>
          <p:cNvPr id="15" name="TextBox 14"/>
          <p:cNvSpPr txBox="1"/>
          <p:nvPr/>
        </p:nvSpPr>
        <p:spPr>
          <a:xfrm>
            <a:off x="3867911" y="3749039"/>
            <a:ext cx="1426464" cy="74980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3 préstamos: un test justo en el borde</a:t>
            </a:r>
          </a:p>
        </p:txBody>
      </p:sp>
      <p:sp>
        <p:nvSpPr>
          <p:cNvPr id="16" name="Rounded Rectangle 15"/>
          <p:cNvSpPr/>
          <p:nvPr/>
        </p:nvSpPr>
        <p:spPr>
          <a:xfrm>
            <a:off x="5458968" y="3337560"/>
            <a:ext cx="1591056" cy="1188720"/>
          </a:xfrm>
          <a:prstGeom prst="roundRect">
            <a:avLst>
              <a:gd name="adj" fmla="val 7692"/>
            </a:avLst>
          </a:prstGeom>
          <a:solidFill>
            <a:srgbClr val="EDF1F3"/>
          </a:solidFill>
          <a:ln>
            <a:noFill/>
          </a:ln>
        </p:spPr>
        <p:txBody>
          <a:bodyPr rtlCol="0" anchor="ctr" wrap="square" lIns="54864" rIns="54864" tIns="54864" bIns="54864"/>
          <a:lstStyle/>
          <a:p>
            <a:pPr algn="ctr"/>
          </a:p>
        </p:txBody>
      </p:sp>
      <p:sp>
        <p:nvSpPr>
          <p:cNvPr id="17" name="Rounded Rectangle 16"/>
          <p:cNvSpPr/>
          <p:nvPr/>
        </p:nvSpPr>
        <p:spPr>
          <a:xfrm>
            <a:off x="5532120" y="3401568"/>
            <a:ext cx="1444752" cy="310896"/>
          </a:xfrm>
          <a:prstGeom prst="roundRect">
            <a:avLst>
              <a:gd name="adj" fmla="val 23529"/>
            </a:avLst>
          </a:prstGeom>
          <a:solidFill>
            <a:srgbClr val="47A1A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Concurrencia</a:t>
            </a:r>
          </a:p>
        </p:txBody>
      </p:sp>
      <p:sp>
        <p:nvSpPr>
          <p:cNvPr id="18" name="TextBox 17"/>
          <p:cNvSpPr txBox="1"/>
          <p:nvPr/>
        </p:nvSpPr>
        <p:spPr>
          <a:xfrm>
            <a:off x="5550408" y="3749039"/>
            <a:ext cx="1426464" cy="74980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Exige PostgreSQL real</a:t>
            </a:r>
          </a:p>
        </p:txBody>
      </p:sp>
      <p:sp>
        <p:nvSpPr>
          <p:cNvPr id="19" name="Rounded Rectangle 18"/>
          <p:cNvSpPr/>
          <p:nvPr/>
        </p:nvSpPr>
        <p:spPr>
          <a:xfrm>
            <a:off x="7141464" y="3337560"/>
            <a:ext cx="1591056" cy="1188720"/>
          </a:xfrm>
          <a:prstGeom prst="roundRect">
            <a:avLst>
              <a:gd name="adj" fmla="val 7692"/>
            </a:avLst>
          </a:prstGeom>
          <a:solidFill>
            <a:srgbClr val="EDF1F3"/>
          </a:solidFill>
          <a:ln>
            <a:noFill/>
          </a:ln>
        </p:spPr>
        <p:txBody>
          <a:bodyPr rtlCol="0" anchor="ctr" wrap="square" lIns="54864" rIns="54864" tIns="54864" bIns="54864"/>
          <a:lstStyle/>
          <a:p>
            <a:pPr algn="ctr"/>
          </a:p>
        </p:txBody>
      </p:sp>
      <p:sp>
        <p:nvSpPr>
          <p:cNvPr id="20" name="Rounded Rectangle 19"/>
          <p:cNvSpPr/>
          <p:nvPr/>
        </p:nvSpPr>
        <p:spPr>
          <a:xfrm>
            <a:off x="7214616" y="3401568"/>
            <a:ext cx="1444752" cy="310896"/>
          </a:xfrm>
          <a:prstGeom prst="roundRect">
            <a:avLst>
              <a:gd name="adj" fmla="val 23529"/>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Mapa a tests</a:t>
            </a:r>
          </a:p>
        </p:txBody>
      </p:sp>
      <p:sp>
        <p:nvSpPr>
          <p:cNvPr id="21" name="TextBox 20"/>
          <p:cNvSpPr txBox="1"/>
          <p:nvPr/>
        </p:nvSpPr>
        <p:spPr>
          <a:xfrm>
            <a:off x="7232904" y="3749039"/>
            <a:ext cx="1426464" cy="74980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Dice en qué capa va cada test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Una spec por capa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8321040" cy="2011680"/>
          </a:xfrm>
          <a:prstGeom prst="roundRect">
            <a:avLst>
              <a:gd name="adj" fmla="val 2727"/>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backend/src/loans/domain/SPEC.md (extracto)</a:t>
            </a:r>
          </a:p>
        </p:txBody>
      </p:sp>
      <p:sp>
        <p:nvSpPr>
          <p:cNvPr id="6" name="TextBox 5"/>
          <p:cNvSpPr txBox="1"/>
          <p:nvPr/>
        </p:nvSpPr>
        <p:spPr>
          <a:xfrm>
            <a:off x="521208" y="1298448"/>
            <a:ext cx="8101583" cy="1645920"/>
          </a:xfrm>
          <a:prstGeom prst="rect">
            <a:avLst/>
          </a:prstGeom>
          <a:noFill/>
        </p:spPr>
        <p:txBody>
          <a:bodyPr wrap="none" lIns="0" rIns="0" tIns="0" bIns="0"/>
          <a:lstStyle/>
          <a:p>
            <a:pPr marL="0" indent="0">
              <a:lnSpc>
                <a:spcPct val="100000"/>
              </a:lnSpc>
              <a:spcAft>
                <a:spcPts val="0"/>
              </a:spcAft>
              <a:buNone/>
            </a:pPr>
            <a:r>
              <a:rPr sz="1050" b="1" i="0" lang="es-CL">
                <a:solidFill>
                  <a:srgbClr val="003D4F"/>
                </a:solidFill>
                <a:latin typeface="Consolas"/>
                <a:ea typeface="Consolas"/>
                <a:cs typeface="Consolas"/>
              </a:rPr>
              <a:t>## Puede depender de / no puede depender de</a:t>
            </a:r>
          </a:p>
          <a:p>
            <a:pPr marL="0" indent="0">
              <a:lnSpc>
                <a:spcPct val="100000"/>
              </a:lnSpc>
              <a:spcAft>
                <a:spcPts val="0"/>
              </a:spcAft>
              <a:buNone/>
            </a:pPr>
            <a:r>
              <a:rPr sz="1050" b="0" i="0" lang="es-CL">
                <a:solidFill>
                  <a:srgbClr val="1F2328"/>
                </a:solidFill>
                <a:latin typeface="Consolas"/>
                <a:ea typeface="Consolas"/>
                <a:cs typeface="Consolas"/>
              </a:rPr>
              <a:t> </a:t>
            </a:r>
          </a:p>
          <a:p>
            <a:pPr marL="0" indent="0">
              <a:lnSpc>
                <a:spcPct val="100000"/>
              </a:lnSpc>
              <a:spcAft>
                <a:spcPts val="0"/>
              </a:spcAft>
              <a:buNone/>
            </a:pPr>
            <a:r>
              <a:rPr sz="1050" b="0" i="0" lang="es-CL">
                <a:solidFill>
                  <a:srgbClr val="1F2328"/>
                </a:solidFill>
                <a:latin typeface="Consolas"/>
                <a:ea typeface="Consolas"/>
                <a:cs typeface="Consolas"/>
              </a:rPr>
              <a:t>- Puede: </a:t>
            </a:r>
            <a:r>
              <a:rPr sz="1050" b="0" i="0" lang="es-CL">
                <a:solidFill>
                  <a:srgbClr val="A31515"/>
                </a:solidFill>
                <a:latin typeface="Consolas"/>
                <a:ea typeface="Consolas"/>
                <a:cs typeface="Consolas"/>
              </a:rPr>
              <a:t>`shared/domain`</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No puede: </a:t>
            </a:r>
            <a:r>
              <a:rPr sz="1050" b="0" i="0" lang="es-CL">
                <a:solidFill>
                  <a:srgbClr val="A31515"/>
                </a:solidFill>
                <a:latin typeface="Consolas"/>
                <a:ea typeface="Consolas"/>
                <a:cs typeface="Consolas"/>
              </a:rPr>
              <a:t>`@nestjs/*`</a:t>
            </a:r>
            <a:r>
              <a:rPr sz="1050" b="0" i="0" lang="es-CL">
                <a:solidFill>
                  <a:srgbClr val="1F2328"/>
                </a:solidFill>
                <a:latin typeface="Consolas"/>
                <a:ea typeface="Consolas"/>
                <a:cs typeface="Consolas"/>
              </a:rPr>
              <a:t>, </a:t>
            </a:r>
            <a:r>
              <a:rPr sz="1050" b="0" i="0" lang="es-CL">
                <a:solidFill>
                  <a:srgbClr val="A31515"/>
                </a:solidFill>
                <a:latin typeface="Consolas"/>
                <a:ea typeface="Consolas"/>
                <a:cs typeface="Consolas"/>
              </a:rPr>
              <a:t>`typeorm`</a:t>
            </a:r>
            <a:r>
              <a:rPr sz="1050" b="0" i="0" lang="es-CL">
                <a:solidFill>
                  <a:srgbClr val="1F2328"/>
                </a:solidFill>
                <a:latin typeface="Consolas"/>
                <a:ea typeface="Consolas"/>
                <a:cs typeface="Consolas"/>
              </a:rPr>
              <a:t>, </a:t>
            </a:r>
            <a:r>
              <a:rPr sz="1050" b="0" i="0" lang="es-CL">
                <a:solidFill>
                  <a:srgbClr val="A31515"/>
                </a:solidFill>
                <a:latin typeface="Consolas"/>
                <a:ea typeface="Consolas"/>
                <a:cs typeface="Consolas"/>
              </a:rPr>
              <a:t>`pg`</a:t>
            </a:r>
            <a:r>
              <a:rPr sz="1050" b="0" i="0" lang="es-CL">
                <a:solidFill>
                  <a:srgbClr val="1F2328"/>
                </a:solidFill>
                <a:latin typeface="Consolas"/>
                <a:ea typeface="Consolas"/>
                <a:cs typeface="Consolas"/>
              </a:rPr>
              <a:t>, ni otras capas (ARCH-R1). No importa </a:t>
            </a:r>
            <a:r>
              <a:rPr sz="1050" b="0" i="0" lang="es-CL">
                <a:solidFill>
                  <a:srgbClr val="A31515"/>
                </a:solidFill>
                <a:latin typeface="Consolas"/>
                <a:ea typeface="Consolas"/>
                <a:cs typeface="Consolas"/>
              </a:rPr>
              <a:t>`books`</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un préstamo guarda </a:t>
            </a:r>
            <a:r>
              <a:rPr sz="1050" b="0" i="0" lang="es-CL">
                <a:solidFill>
                  <a:srgbClr val="A31515"/>
                </a:solidFill>
                <a:latin typeface="Consolas"/>
                <a:ea typeface="Consolas"/>
                <a:cs typeface="Consolas"/>
              </a:rPr>
              <a:t>`bookId`</a:t>
            </a:r>
            <a:r>
              <a:rPr sz="1050" b="0" i="0" lang="es-CL">
                <a:solidFill>
                  <a:srgbClr val="1F2328"/>
                </a:solidFill>
                <a:latin typeface="Consolas"/>
                <a:ea typeface="Consolas"/>
                <a:cs typeface="Consolas"/>
              </a:rPr>
              <a:t> y </a:t>
            </a:r>
            <a:r>
              <a:rPr sz="1050" b="0" i="0" lang="es-CL">
                <a:solidFill>
                  <a:srgbClr val="A31515"/>
                </a:solidFill>
                <a:latin typeface="Consolas"/>
                <a:ea typeface="Consolas"/>
                <a:cs typeface="Consolas"/>
              </a:rPr>
              <a:t>`bookTitle`</a:t>
            </a:r>
            <a:r>
              <a:rPr sz="1050" b="0" i="0" lang="es-CL">
                <a:solidFill>
                  <a:srgbClr val="1F2328"/>
                </a:solidFill>
                <a:latin typeface="Consolas"/>
                <a:ea typeface="Consolas"/>
                <a:cs typeface="Consolas"/>
              </a:rPr>
              <a:t> como datos.</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1" i="0" lang="es-CL">
                <a:solidFill>
                  <a:srgbClr val="003D4F"/>
                </a:solidFill>
                <a:latin typeface="Consolas"/>
                <a:ea typeface="Consolas"/>
                <a:cs typeface="Consolas"/>
              </a:rPr>
              <a:t>## Cómo se prueba esta capa</a:t>
            </a:r>
          </a:p>
          <a:p>
            <a:pPr marL="0" indent="0">
              <a:lnSpc>
                <a:spcPct val="100000"/>
              </a:lnSpc>
              <a:spcAft>
                <a:spcPts val="0"/>
              </a:spcAft>
              <a:buNone/>
            </a:pPr>
            <a:r>
              <a:rPr sz="1050" b="0" i="0" lang="es-CL">
                <a:solidFill>
                  <a:srgbClr val="1F2328"/>
                </a:solidFill>
                <a:latin typeface="Consolas"/>
                <a:ea typeface="Consolas"/>
                <a:cs typeface="Consolas"/>
              </a:rPr>
              <a:t> </a:t>
            </a:r>
          </a:p>
          <a:p>
            <a:pPr marL="0" indent="0">
              <a:lnSpc>
                <a:spcPct val="100000"/>
              </a:lnSpc>
              <a:spcAft>
                <a:spcPts val="0"/>
              </a:spcAft>
              <a:buNone/>
            </a:pPr>
            <a:r>
              <a:rPr sz="1050" b="0" i="0" lang="es-CL">
                <a:solidFill>
                  <a:srgbClr val="1F2328"/>
                </a:solidFill>
                <a:latin typeface="Consolas"/>
                <a:ea typeface="Consolas"/>
                <a:cs typeface="Consolas"/>
              </a:rPr>
              <a:t>Tests unitarios sin dobles. Las fechas son literales ISO 8601 en UTC y el "ahora" se pasa</a:t>
            </a:r>
          </a:p>
          <a:p>
            <a:pPr marL="0" indent="0">
              <a:lnSpc>
                <a:spcPct val="100000"/>
              </a:lnSpc>
              <a:spcAft>
                <a:spcPts val="0"/>
              </a:spcAft>
              <a:buNone/>
            </a:pPr>
            <a:r>
              <a:rPr sz="1050" b="0" i="0" lang="es-CL">
                <a:solidFill>
                  <a:srgbClr val="1F2328"/>
                </a:solidFill>
                <a:latin typeface="Consolas"/>
                <a:ea typeface="Consolas"/>
                <a:cs typeface="Consolas"/>
              </a:rPr>
              <a:t>como parámetro: el dominio nunca lee el reloj. El estado no se guarda, se calcula.</a:t>
            </a:r>
          </a:p>
        </p:txBody>
      </p:sp>
      <p:sp>
        <p:nvSpPr>
          <p:cNvPr id="7" name="Rounded Rectangle 6"/>
          <p:cNvSpPr/>
          <p:nvPr/>
        </p:nvSpPr>
        <p:spPr>
          <a:xfrm>
            <a:off x="411480" y="3127248"/>
            <a:ext cx="4206240" cy="1426464"/>
          </a:xfrm>
          <a:prstGeom prst="roundRect">
            <a:avLst>
              <a:gd name="adj" fmla="val 3846"/>
            </a:avLst>
          </a:prstGeom>
          <a:solidFill>
            <a:srgbClr val="F6F8FA"/>
          </a:solidFill>
          <a:ln w="9525">
            <a:solidFill>
              <a:srgbClr val="D0D7DE"/>
            </a:solidFill>
          </a:ln>
        </p:spPr>
        <p:txBody>
          <a:bodyPr rtlCol="0" anchor="ctr" wrap="square" lIns="54864" rIns="54864" tIns="54864" bIns="54864"/>
          <a:lstStyle/>
          <a:p>
            <a:pPr algn="ctr"/>
          </a:p>
        </p:txBody>
      </p:sp>
      <p:sp>
        <p:nvSpPr>
          <p:cNvPr id="8" name="TextBox 7"/>
          <p:cNvSpPr txBox="1"/>
          <p:nvPr/>
        </p:nvSpPr>
        <p:spPr>
          <a:xfrm>
            <a:off x="521208" y="3172968"/>
            <a:ext cx="39867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Dónde viven</a:t>
            </a:r>
          </a:p>
        </p:txBody>
      </p:sp>
      <p:sp>
        <p:nvSpPr>
          <p:cNvPr id="9" name="TextBox 8"/>
          <p:cNvSpPr txBox="1"/>
          <p:nvPr/>
        </p:nvSpPr>
        <p:spPr>
          <a:xfrm>
            <a:off x="521208" y="3438144"/>
            <a:ext cx="3986783" cy="1060704"/>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backend/src/loans/</a:t>
            </a:r>
          </a:p>
          <a:p>
            <a:pPr marL="0" indent="0">
              <a:lnSpc>
                <a:spcPct val="100000"/>
              </a:lnSpc>
              <a:spcAft>
                <a:spcPts val="0"/>
              </a:spcAft>
              <a:buNone/>
            </a:pPr>
            <a:r>
              <a:rPr sz="1100" b="0" i="0" lang="es-CL">
                <a:solidFill>
                  <a:srgbClr val="1F2328"/>
                </a:solidFill>
                <a:latin typeface="Consolas"/>
                <a:ea typeface="Consolas"/>
                <a:cs typeface="Consolas"/>
              </a:rPr>
              <a:t>├── domain/SPEC.md</a:t>
            </a:r>
          </a:p>
          <a:p>
            <a:pPr marL="0" indent="0">
              <a:lnSpc>
                <a:spcPct val="100000"/>
              </a:lnSpc>
              <a:spcAft>
                <a:spcPts val="0"/>
              </a:spcAft>
              <a:buNone/>
            </a:pPr>
            <a:r>
              <a:rPr sz="1100" b="0" i="0" lang="es-CL">
                <a:solidFill>
                  <a:srgbClr val="1F2328"/>
                </a:solidFill>
                <a:latin typeface="Consolas"/>
                <a:ea typeface="Consolas"/>
                <a:cs typeface="Consolas"/>
              </a:rPr>
              <a:t>├── application/SPEC.md</a:t>
            </a:r>
          </a:p>
          <a:p>
            <a:pPr marL="0" indent="0">
              <a:lnSpc>
                <a:spcPct val="100000"/>
              </a:lnSpc>
              <a:spcAft>
                <a:spcPts val="0"/>
              </a:spcAft>
              <a:buNone/>
            </a:pPr>
            <a:r>
              <a:rPr sz="1100" b="0" i="0" lang="es-CL">
                <a:solidFill>
                  <a:srgbClr val="1F2328"/>
                </a:solidFill>
                <a:latin typeface="Consolas"/>
                <a:ea typeface="Consolas"/>
                <a:cs typeface="Consolas"/>
              </a:rPr>
              <a:t>├── infrastructure/SPEC.md</a:t>
            </a:r>
          </a:p>
          <a:p>
            <a:pPr marL="0" indent="0">
              <a:lnSpc>
                <a:spcPct val="100000"/>
              </a:lnSpc>
              <a:spcAft>
                <a:spcPts val="0"/>
              </a:spcAft>
              <a:buNone/>
            </a:pPr>
            <a:r>
              <a:rPr sz="1100" b="0" i="0" lang="es-CL">
                <a:solidFill>
                  <a:srgbClr val="1F2328"/>
                </a:solidFill>
                <a:latin typeface="Consolas"/>
                <a:ea typeface="Consolas"/>
                <a:cs typeface="Consolas"/>
              </a:rPr>
              <a:t>└── presentation/SPEC.md</a:t>
            </a:r>
          </a:p>
          <a:p>
            <a:pPr marL="0" indent="0">
              <a:lnSpc>
                <a:spcPct val="100000"/>
              </a:lnSpc>
              <a:spcAft>
                <a:spcPts val="0"/>
              </a:spcAft>
              <a:buNone/>
            </a:pPr>
            <a:r>
              <a:rPr sz="1100" b="0" i="0" lang="es-CL">
                <a:solidFill>
                  <a:srgbClr val="1F2328"/>
                </a:solidFill>
                <a:latin typeface="Consolas"/>
                <a:ea typeface="Consolas"/>
                <a:cs typeface="Consolas"/>
              </a:rPr>
              <a:t>frontend/src/features/loans/SPEC.md</a:t>
            </a:r>
          </a:p>
        </p:txBody>
      </p:sp>
      <p:sp>
        <p:nvSpPr>
          <p:cNvPr id="10" name="TextBox 9"/>
          <p:cNvSpPr txBox="1"/>
          <p:nvPr/>
        </p:nvSpPr>
        <p:spPr>
          <a:xfrm>
            <a:off x="4800600" y="3127248"/>
            <a:ext cx="3931920" cy="1463040"/>
          </a:xfrm>
          <a:prstGeom prst="rect">
            <a:avLst/>
          </a:prstGeom>
          <a:noFill/>
        </p:spPr>
        <p:txBody>
          <a:bodyPr wrap="square" lIns="36576" rIns="36576" tIns="36576" bIns="36576" anchor="t"/>
          <a:lstStyle/>
          <a:p>
            <a:pPr algn="l" marL="182880" indent="-164592">
              <a:spcAft>
                <a:spcPts val="500"/>
              </a:spcAft>
              <a:buClr>
                <a:srgbClr val="F2617A"/>
              </a:buClr>
              <a:buSzPct val="100000"/>
              <a:buFont typeface="Arial"/>
              <a:buChar char="●"/>
            </a:pPr>
            <a:r>
              <a:rPr sz="1200" b="0" i="0" lang="es-CL">
                <a:solidFill>
                  <a:srgbClr val="1F2328"/>
                </a:solidFill>
                <a:latin typeface="Inter"/>
                <a:ea typeface="Inter"/>
                <a:cs typeface="Inter"/>
              </a:rPr>
              <a:t>Cada capa declara qué </a:t>
            </a:r>
            <a:r>
              <a:rPr sz="1200" b="1" i="0" lang="es-CL">
                <a:solidFill>
                  <a:srgbClr val="1F2328"/>
                </a:solidFill>
                <a:latin typeface="Inter"/>
                <a:ea typeface="Inter"/>
                <a:cs typeface="Inter"/>
              </a:rPr>
              <a:t>puede</a:t>
            </a:r>
            <a:r>
              <a:rPr sz="1200" b="0" i="0" lang="es-CL">
                <a:solidFill>
                  <a:srgbClr val="1F2328"/>
                </a:solidFill>
                <a:latin typeface="Inter"/>
                <a:ea typeface="Inter"/>
                <a:cs typeface="Inter"/>
              </a:rPr>
              <a:t> y qué </a:t>
            </a:r>
            <a:r>
              <a:rPr sz="1200" b="1" i="0" lang="es-CL">
                <a:solidFill>
                  <a:srgbClr val="1F2328"/>
                </a:solidFill>
                <a:latin typeface="Inter"/>
                <a:ea typeface="Inter"/>
                <a:cs typeface="Inter"/>
              </a:rPr>
              <a:t>no puede</a:t>
            </a:r>
            <a:r>
              <a:rPr sz="1200" b="0" i="0" lang="es-CL">
                <a:solidFill>
                  <a:srgbClr val="1F2328"/>
                </a:solidFill>
                <a:latin typeface="Inter"/>
                <a:ea typeface="Inter"/>
                <a:cs typeface="Inter"/>
              </a:rPr>
              <a:t> importar: lo verifica dependency-cruiser.</a:t>
            </a:r>
          </a:p>
          <a:p>
            <a:pPr algn="l" marL="182880" indent="-164592">
              <a:spcAft>
                <a:spcPts val="500"/>
              </a:spcAft>
              <a:buClr>
                <a:srgbClr val="F2617A"/>
              </a:buClr>
              <a:buSzPct val="100000"/>
              <a:buFont typeface="Arial"/>
              <a:buChar char="●"/>
            </a:pPr>
            <a:r>
              <a:rPr sz="1200" b="0" i="0" lang="es-CL">
                <a:solidFill>
                  <a:srgbClr val="1F2328"/>
                </a:solidFill>
                <a:latin typeface="Inter"/>
                <a:ea typeface="Inter"/>
                <a:cs typeface="Inter"/>
              </a:rPr>
              <a:t>Dice qué se prueba ahí y qué </a:t>
            </a:r>
            <a:r>
              <a:rPr sz="1200" b="1" i="0" lang="es-CL">
                <a:solidFill>
                  <a:srgbClr val="1F2328"/>
                </a:solidFill>
                <a:latin typeface="Inter"/>
                <a:ea typeface="Inter"/>
                <a:cs typeface="Inter"/>
              </a:rPr>
              <a:t>no</a:t>
            </a:r>
            <a:r>
              <a:rPr sz="1200" b="0" i="0" lang="es-CL">
                <a:solidFill>
                  <a:srgbClr val="1F2328"/>
                </a:solidFill>
                <a:latin typeface="Inter"/>
                <a:ea typeface="Inter"/>
                <a:cs typeface="Inter"/>
              </a:rPr>
              <a:t>: eso evita el cupcake.</a:t>
            </a:r>
          </a:p>
          <a:p>
            <a:pPr algn="l" marL="182880" indent="-164592">
              <a:spcAft>
                <a:spcPts val="500"/>
              </a:spcAft>
              <a:buClr>
                <a:srgbClr val="F2617A"/>
              </a:buClr>
              <a:buSzPct val="100000"/>
              <a:buFont typeface="Arial"/>
              <a:buChar char="●"/>
            </a:pPr>
            <a:r>
              <a:rPr sz="1200" b="0" i="0" lang="es-CL">
                <a:solidFill>
                  <a:srgbClr val="1F2328"/>
                </a:solidFill>
                <a:latin typeface="Inter"/>
                <a:ea typeface="Inter"/>
                <a:cs typeface="Inter"/>
              </a:rPr>
              <a:t>Es la spec que recibe el agente cuando construye esa capa.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Trazabilidad: regla → test</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188720"/>
            <a:ext cx="1371600" cy="548640"/>
          </a:xfrm>
          <a:prstGeom prst="roundRect">
            <a:avLst>
              <a:gd name="adj" fmla="val 13333"/>
            </a:avLst>
          </a:prstGeom>
          <a:solidFill>
            <a:srgbClr val="980000"/>
          </a:solidFill>
          <a:ln>
            <a:noFill/>
          </a:ln>
        </p:spPr>
        <p:txBody>
          <a:bodyPr rtlCol="0" anchor="ctr" wrap="square" lIns="54864" rIns="54864" tIns="54864" bIns="54864"/>
          <a:lstStyle/>
          <a:p>
            <a:pPr algn="ctr" marL="0" indent="0">
              <a:spcAft>
                <a:spcPts val="200"/>
              </a:spcAft>
              <a:buNone/>
            </a:pPr>
            <a:r>
              <a:rPr sz="1400" b="1" i="0" lang="es-CL">
                <a:solidFill>
                  <a:srgbClr val="FFFFFF"/>
                </a:solidFill>
                <a:latin typeface="Inter"/>
                <a:ea typeface="Inter"/>
                <a:cs typeface="Inter"/>
              </a:rPr>
              <a:t>LOAN-R2</a:t>
            </a:r>
          </a:p>
        </p:txBody>
      </p:sp>
      <p:cxnSp>
        <p:nvCxnSpPr>
          <p:cNvPr id="5" name="Connector 4"/>
          <p:cNvCxnSpPr/>
          <p:nvPr/>
        </p:nvCxnSpPr>
        <p:spPr>
          <a:xfrm>
            <a:off x="1801368" y="1463040"/>
            <a:ext cx="228600" cy="0"/>
          </a:xfrm>
          <a:prstGeom prst="line">
            <a:avLst/>
          </a:prstGeom>
          <a:ln w="22225">
            <a:solidFill>
              <a:srgbClr val="8C959F"/>
            </a:solidFill>
            <a:tailEnd type="triangle" w="med" len="med"/>
          </a:ln>
        </p:spPr>
      </p:cxnSp>
      <p:sp>
        <p:nvSpPr>
          <p:cNvPr id="6" name="Rounded Rectangle 5"/>
          <p:cNvSpPr/>
          <p:nvPr/>
        </p:nvSpPr>
        <p:spPr>
          <a:xfrm>
            <a:off x="2057400" y="1078992"/>
            <a:ext cx="932688" cy="768096"/>
          </a:xfrm>
          <a:prstGeom prst="roundRect">
            <a:avLst>
              <a:gd name="adj" fmla="val 9523"/>
            </a:avLst>
          </a:prstGeom>
          <a:solidFill>
            <a:srgbClr val="38761D"/>
          </a:solidFill>
          <a:ln>
            <a:noFill/>
          </a:ln>
        </p:spPr>
        <p:txBody>
          <a:bodyPr rtlCol="0" anchor="ctr" wrap="square" lIns="18288" rIns="18288" tIns="18288" bIns="18288"/>
          <a:lstStyle/>
          <a:p>
            <a:pPr algn="ctr" marL="0" indent="0">
              <a:spcAft>
                <a:spcPts val="0"/>
              </a:spcAft>
              <a:buNone/>
            </a:pPr>
            <a:r>
              <a:rPr sz="1200" b="1" i="0" lang="es-CL">
                <a:solidFill>
                  <a:srgbClr val="FFFFFF"/>
                </a:solidFill>
                <a:latin typeface="Inter"/>
                <a:ea typeface="Inter"/>
                <a:cs typeface="Inter"/>
              </a:rPr>
              <a:t>5</a:t>
            </a:r>
          </a:p>
          <a:p>
            <a:pPr algn="ctr" marL="0" indent="0">
              <a:spcAft>
                <a:spcPts val="0"/>
              </a:spcAft>
              <a:buNone/>
            </a:pPr>
            <a:r>
              <a:rPr sz="1200" b="0" i="0" lang="es-CL">
                <a:solidFill>
                  <a:srgbClr val="FFFFFF"/>
                </a:solidFill>
                <a:latin typeface="Inter"/>
                <a:ea typeface="Inter"/>
                <a:cs typeface="Inter"/>
              </a:rPr>
              <a:t>unit</a:t>
            </a:r>
          </a:p>
        </p:txBody>
      </p:sp>
      <p:sp>
        <p:nvSpPr>
          <p:cNvPr id="7" name="Rounded Rectangle 6"/>
          <p:cNvSpPr/>
          <p:nvPr/>
        </p:nvSpPr>
        <p:spPr>
          <a:xfrm>
            <a:off x="3081528" y="1078992"/>
            <a:ext cx="932688" cy="768096"/>
          </a:xfrm>
          <a:prstGeom prst="roundRect">
            <a:avLst>
              <a:gd name="adj" fmla="val 9523"/>
            </a:avLst>
          </a:prstGeom>
          <a:solidFill>
            <a:srgbClr val="47A1AD"/>
          </a:solidFill>
          <a:ln>
            <a:noFill/>
          </a:ln>
        </p:spPr>
        <p:txBody>
          <a:bodyPr rtlCol="0" anchor="ctr" wrap="square" lIns="18288" rIns="18288" tIns="18288" bIns="18288"/>
          <a:lstStyle/>
          <a:p>
            <a:pPr algn="ctr" marL="0" indent="0">
              <a:spcAft>
                <a:spcPts val="0"/>
              </a:spcAft>
              <a:buNone/>
            </a:pPr>
            <a:r>
              <a:rPr sz="1200" b="1" i="0" lang="es-CL">
                <a:solidFill>
                  <a:srgbClr val="FFFFFF"/>
                </a:solidFill>
                <a:latin typeface="Inter"/>
                <a:ea typeface="Inter"/>
                <a:cs typeface="Inter"/>
              </a:rPr>
              <a:t>1</a:t>
            </a:r>
          </a:p>
          <a:p>
            <a:pPr algn="ctr" marL="0" indent="0">
              <a:spcAft>
                <a:spcPts val="0"/>
              </a:spcAft>
              <a:buNone/>
            </a:pPr>
            <a:r>
              <a:rPr sz="1200" b="0" i="0" lang="es-CL">
                <a:solidFill>
                  <a:srgbClr val="FFFFFF"/>
                </a:solidFill>
                <a:latin typeface="Inter"/>
                <a:ea typeface="Inter"/>
                <a:cs typeface="Inter"/>
              </a:rPr>
              <a:t>integración</a:t>
            </a:r>
          </a:p>
        </p:txBody>
      </p:sp>
      <p:sp>
        <p:nvSpPr>
          <p:cNvPr id="8" name="Rounded Rectangle 7"/>
          <p:cNvSpPr/>
          <p:nvPr/>
        </p:nvSpPr>
        <p:spPr>
          <a:xfrm>
            <a:off x="4105656" y="1078992"/>
            <a:ext cx="932688" cy="768096"/>
          </a:xfrm>
          <a:prstGeom prst="roundRect">
            <a:avLst>
              <a:gd name="adj" fmla="val 9523"/>
            </a:avLst>
          </a:prstGeom>
          <a:solidFill>
            <a:srgbClr val="003D4F"/>
          </a:solidFill>
          <a:ln>
            <a:noFill/>
          </a:ln>
        </p:spPr>
        <p:txBody>
          <a:bodyPr rtlCol="0" anchor="ctr" wrap="square" lIns="18288" rIns="18288" tIns="18288" bIns="18288"/>
          <a:lstStyle/>
          <a:p>
            <a:pPr algn="ctr" marL="0" indent="0">
              <a:spcAft>
                <a:spcPts val="0"/>
              </a:spcAft>
              <a:buNone/>
            </a:pPr>
            <a:r>
              <a:rPr sz="1200" b="1" i="0" lang="es-CL">
                <a:solidFill>
                  <a:srgbClr val="FFFFFF"/>
                </a:solidFill>
                <a:latin typeface="Inter"/>
                <a:ea typeface="Inter"/>
                <a:cs typeface="Inter"/>
              </a:rPr>
              <a:t>1</a:t>
            </a:r>
          </a:p>
          <a:p>
            <a:pPr algn="ctr" marL="0" indent="0">
              <a:spcAft>
                <a:spcPts val="0"/>
              </a:spcAft>
              <a:buNone/>
            </a:pPr>
            <a:r>
              <a:rPr sz="1200" b="0" i="0" lang="es-CL">
                <a:solidFill>
                  <a:srgbClr val="FFFFFF"/>
                </a:solidFill>
                <a:latin typeface="Inter"/>
                <a:ea typeface="Inter"/>
                <a:cs typeface="Inter"/>
              </a:rPr>
              <a:t>contrato</a:t>
            </a:r>
          </a:p>
        </p:txBody>
      </p:sp>
      <p:sp>
        <p:nvSpPr>
          <p:cNvPr id="9" name="Rounded Rectangle 8"/>
          <p:cNvSpPr/>
          <p:nvPr/>
        </p:nvSpPr>
        <p:spPr>
          <a:xfrm>
            <a:off x="5129784" y="1078992"/>
            <a:ext cx="932688" cy="768096"/>
          </a:xfrm>
          <a:prstGeom prst="roundRect">
            <a:avLst>
              <a:gd name="adj" fmla="val 9523"/>
            </a:avLst>
          </a:prstGeom>
          <a:solidFill>
            <a:srgbClr val="CC850A"/>
          </a:solidFill>
          <a:ln>
            <a:noFill/>
          </a:ln>
        </p:spPr>
        <p:txBody>
          <a:bodyPr rtlCol="0" anchor="ctr" wrap="square" lIns="18288" rIns="18288" tIns="18288" bIns="18288"/>
          <a:lstStyle/>
          <a:p>
            <a:pPr algn="ctr" marL="0" indent="0">
              <a:spcAft>
                <a:spcPts val="0"/>
              </a:spcAft>
              <a:buNone/>
            </a:pPr>
            <a:r>
              <a:rPr sz="1200" b="1" i="0" lang="es-CL">
                <a:solidFill>
                  <a:srgbClr val="FFFFFF"/>
                </a:solidFill>
                <a:latin typeface="Inter"/>
                <a:ea typeface="Inter"/>
                <a:cs typeface="Inter"/>
              </a:rPr>
              <a:t>1</a:t>
            </a:r>
          </a:p>
          <a:p>
            <a:pPr algn="ctr" marL="0" indent="0">
              <a:spcAft>
                <a:spcPts val="0"/>
              </a:spcAft>
              <a:buNone/>
            </a:pPr>
            <a:r>
              <a:rPr sz="1200" b="0" i="0" lang="es-CL">
                <a:solidFill>
                  <a:srgbClr val="FFFFFF"/>
                </a:solidFill>
                <a:latin typeface="Inter"/>
                <a:ea typeface="Inter"/>
                <a:cs typeface="Inter"/>
              </a:rPr>
              <a:t>mocks MSW</a:t>
            </a:r>
          </a:p>
        </p:txBody>
      </p:sp>
      <p:sp>
        <p:nvSpPr>
          <p:cNvPr id="10" name="TextBox 9"/>
          <p:cNvSpPr txBox="1"/>
          <p:nvPr/>
        </p:nvSpPr>
        <p:spPr>
          <a:xfrm>
            <a:off x="6263640" y="987552"/>
            <a:ext cx="2468880" cy="128016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Cada test nombra su regla al inicio del título.</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spec-trace cuenta los tests por regla y capa.</a:t>
            </a:r>
          </a:p>
        </p:txBody>
      </p:sp>
      <p:sp>
        <p:nvSpPr>
          <p:cNvPr id="11" name="caption"/>
          <p:cNvSpPr txBox="1"/>
          <p:nvPr/>
        </p:nvSpPr>
        <p:spPr>
          <a:xfrm>
            <a:off x="411480" y="1920240"/>
            <a:ext cx="57607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Conteo real de LOAN-R2 en npm run spec:trace</a:t>
            </a:r>
          </a:p>
        </p:txBody>
      </p:sp>
      <p:sp>
        <p:nvSpPr>
          <p:cNvPr id="12" name="Rounded Rectangle 11"/>
          <p:cNvSpPr/>
          <p:nvPr/>
        </p:nvSpPr>
        <p:spPr>
          <a:xfrm>
            <a:off x="411480" y="2267712"/>
            <a:ext cx="8321040" cy="2304288"/>
          </a:xfrm>
          <a:prstGeom prst="roundRect">
            <a:avLst>
              <a:gd name="adj" fmla="val 2380"/>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313432"/>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Salida real con el repo de prueba que tiene un caso de cada falla</a:t>
            </a:r>
          </a:p>
        </p:txBody>
      </p:sp>
      <p:sp>
        <p:nvSpPr>
          <p:cNvPr id="14" name="TextBox 13"/>
          <p:cNvSpPr txBox="1"/>
          <p:nvPr/>
        </p:nvSpPr>
        <p:spPr>
          <a:xfrm>
            <a:off x="521208" y="2578608"/>
            <a:ext cx="8101583" cy="1938528"/>
          </a:xfrm>
          <a:prstGeom prst="rect">
            <a:avLst/>
          </a:prstGeom>
          <a:noFill/>
        </p:spPr>
        <p:txBody>
          <a:bodyPr wrap="none" lIns="0" rIns="0" tIns="0" bIns="0"/>
          <a:lstStyle/>
          <a:p>
            <a:pPr marL="0" indent="0">
              <a:lnSpc>
                <a:spcPct val="100000"/>
              </a:lnSpc>
              <a:spcAft>
                <a:spcPts val="0"/>
              </a:spcAft>
              <a:buNone/>
            </a:pPr>
            <a:r>
              <a:rPr sz="1100" b="0" i="0" lang="es-CL">
                <a:solidFill>
                  <a:srgbClr val="8C959F"/>
                </a:solidFill>
                <a:latin typeface="Consolas"/>
                <a:ea typeface="Consolas"/>
                <a:cs typeface="Consolas"/>
              </a:rPr>
              <a:t>$ </a:t>
            </a:r>
            <a:r>
              <a:rPr sz="1100" b="0" i="0" lang="es-CL">
                <a:solidFill>
                  <a:srgbClr val="1F2328"/>
                </a:solidFill>
                <a:latin typeface="Consolas"/>
                <a:ea typeface="Consolas"/>
                <a:cs typeface="Consolas"/>
              </a:rPr>
              <a:t>node tools/spec-trace.mjs --root tools/__fixtures__/spec-trace/bad</a:t>
            </a:r>
          </a:p>
          <a:p>
            <a:pPr marL="0" indent="0">
              <a:lnSpc>
                <a:spcPct val="100000"/>
              </a:lnSpc>
              <a:spcAft>
                <a:spcPts val="0"/>
              </a:spcAft>
              <a:buNone/>
            </a:pPr>
            <a:r>
              <a:rPr sz="1100" b="0" i="0" lang="es-CL">
                <a:solidFill>
                  <a:srgbClr val="1F2328"/>
                </a:solidFill>
                <a:latin typeface="Consolas"/>
                <a:ea typeface="Consolas"/>
                <a:cs typeface="Consolas"/>
              </a:rPr>
              <a:t>Regla        unit  Estado</a:t>
            </a:r>
          </a:p>
          <a:p>
            <a:pPr marL="0" indent="0">
              <a:lnSpc>
                <a:spcPct val="100000"/>
              </a:lnSpc>
              <a:spcAft>
                <a:spcPts val="0"/>
              </a:spcAft>
              <a:buNone/>
            </a:pPr>
            <a:r>
              <a:rPr sz="1100" b="0" i="0" lang="es-CL">
                <a:solidFill>
                  <a:srgbClr val="1F2328"/>
                </a:solidFill>
                <a:latin typeface="Consolas"/>
                <a:ea typeface="Consolas"/>
                <a:cs typeface="Consolas"/>
              </a:rPr>
              <a:t>CAT-R1       ·     sin tests</a:t>
            </a:r>
          </a:p>
          <a:p>
            <a:pPr marL="0" indent="0">
              <a:lnSpc>
                <a:spcPct val="100000"/>
              </a:lnSpc>
              <a:spcAft>
                <a:spcPts val="0"/>
              </a:spcAft>
              <a:buNone/>
            </a:pPr>
            <a:r>
              <a:rPr sz="1100" b="0" i="0" lang="es-CL">
                <a:solidFill>
                  <a:srgbClr val="1F2328"/>
                </a:solidFill>
                <a:latin typeface="Consolas"/>
                <a:ea typeface="Consolas"/>
                <a:cs typeface="Consolas"/>
              </a:rPr>
              <a:t>CAT-R2       7     excede presupuesto</a:t>
            </a:r>
          </a:p>
          <a:p>
            <a:pPr marL="0" indent="0">
              <a:lnSpc>
                <a:spcPct val="100000"/>
              </a:lnSpc>
              <a:spcAft>
                <a:spcPts val="0"/>
              </a:spcAft>
              <a:buNone/>
            </a:pPr>
            <a:r>
              <a:rPr sz="1100" b="0" i="0" lang="es-CL">
                <a:solidFill>
                  <a:srgbClr val="1F2328"/>
                </a:solidFill>
                <a:latin typeface="Consolas"/>
                <a:ea typeface="Consolas"/>
                <a:cs typeface="Consolas"/>
              </a:rPr>
              <a:t>FLOW-CAT-01  ·     sin tests</a:t>
            </a:r>
          </a:p>
          <a:p>
            <a:pPr marL="0" indent="0">
              <a:lnSpc>
                <a:spcPct val="100000"/>
              </a:lnSpc>
              <a:spcAft>
                <a:spcPts val="0"/>
              </a:spcAft>
              <a:buNone/>
            </a:pPr>
            <a:r>
              <a:rPr sz="1100" b="1" i="0" lang="es-CL">
                <a:solidFill>
                  <a:srgbClr val="980000"/>
                </a:solidFill>
                <a:latin typeface="Consolas"/>
                <a:ea typeface="Consolas"/>
                <a:cs typeface="Consolas"/>
              </a:rPr>
              <a:t>HUÉRFANO   backend/src/books/domain/search.spec.ts:14 normaliza el texto</a:t>
            </a:r>
          </a:p>
          <a:p>
            <a:pPr marL="0" indent="0">
              <a:lnSpc>
                <a:spcPct val="100000"/>
              </a:lnSpc>
              <a:spcAft>
                <a:spcPts val="0"/>
              </a:spcAft>
              <a:buNone/>
            </a:pPr>
            <a:r>
              <a:rPr sz="1100" b="1" i="0" lang="es-CL">
                <a:solidFill>
                  <a:srgbClr val="980000"/>
                </a:solidFill>
                <a:latin typeface="Consolas"/>
                <a:ea typeface="Consolas"/>
                <a:cs typeface="Consolas"/>
              </a:rPr>
              <a:t>ID NO EXISTE NOPE-R9  backend/src/books/domain/search.spec.ts:18</a:t>
            </a:r>
          </a:p>
          <a:p>
            <a:pPr marL="0" indent="0">
              <a:lnSpc>
                <a:spcPct val="100000"/>
              </a:lnSpc>
              <a:spcAft>
                <a:spcPts val="0"/>
              </a:spcAft>
              <a:buNone/>
            </a:pPr>
            <a:r>
              <a:rPr sz="1100" b="1" i="0" lang="es-CL">
                <a:solidFill>
                  <a:srgbClr val="980000"/>
                </a:solidFill>
                <a:latin typeface="Consolas"/>
                <a:ea typeface="Consolas"/>
                <a:cs typeface="Consolas"/>
              </a:rPr>
              <a:t>PRESUPUESTO CAT-R2 tiene 7 tests en unit (máx. 6)</a:t>
            </a:r>
          </a:p>
          <a:p>
            <a:pPr marL="0" indent="0">
              <a:lnSpc>
                <a:spcPct val="100000"/>
              </a:lnSpc>
              <a:spcAft>
                <a:spcPts val="0"/>
              </a:spcAft>
              <a:buNone/>
            </a:pPr>
            <a:r>
              <a:rPr sz="1100" b="0" i="0" lang="es-CL">
                <a:solidFill>
                  <a:srgbClr val="1F2328"/>
                </a:solidFill>
                <a:latin typeface="Consolas"/>
                <a:ea typeface="Consolas"/>
                <a:cs typeface="Consolas"/>
              </a:rPr>
              <a:t>PASOS SIN IMPLEMENTAR FLOW-CAT-01: ordeno por año</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1" i="0" lang="es-CL">
                <a:solidFill>
                  <a:srgbClr val="980000"/>
                </a:solidFill>
                <a:latin typeface="Consolas"/>
                <a:ea typeface="Consolas"/>
                <a:cs typeface="Consolas"/>
              </a:rPr>
              <a:t>FALLA: 1/3 reglas cubiertas, 9 tests, 1 huérfanos, 1 IDs inexistentes, 1 sobre presupuesto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OpenAPI: el contrato es la fuente de verdad</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60120"/>
            <a:ext cx="8321040" cy="2395728"/>
          </a:xfrm>
          <a:prstGeom prst="roundRect">
            <a:avLst>
              <a:gd name="adj" fmla="val 2290"/>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0584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specs/api/openapi.yaml (extracto)</a:t>
            </a:r>
          </a:p>
        </p:txBody>
      </p:sp>
      <p:sp>
        <p:nvSpPr>
          <p:cNvPr id="6" name="TextBox 5"/>
          <p:cNvSpPr txBox="1"/>
          <p:nvPr/>
        </p:nvSpPr>
        <p:spPr>
          <a:xfrm>
            <a:off x="521208" y="1271016"/>
            <a:ext cx="8101583" cy="2029967"/>
          </a:xfrm>
          <a:prstGeom prst="rect">
            <a:avLst/>
          </a:prstGeom>
          <a:noFill/>
        </p:spPr>
        <p:txBody>
          <a:bodyPr wrap="none" lIns="0" rIns="0" tIns="0" bIns="0"/>
          <a:lstStyle/>
          <a:p>
            <a:pPr marL="0" indent="0">
              <a:lnSpc>
                <a:spcPct val="100000"/>
              </a:lnSpc>
              <a:spcAft>
                <a:spcPts val="0"/>
              </a:spcAft>
              <a:buNone/>
            </a:pPr>
            <a:r>
              <a:rPr sz="1000" b="0" i="0" lang="es-CL">
                <a:solidFill>
                  <a:srgbClr val="0451A5"/>
                </a:solidFill>
                <a:latin typeface="Consolas"/>
                <a:ea typeface="Consolas"/>
                <a:cs typeface="Consolas"/>
              </a:rPr>
              <a:t>/api/loans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0451A5"/>
                </a:solidFill>
                <a:latin typeface="Consolas"/>
                <a:ea typeface="Consolas"/>
                <a:cs typeface="Consolas"/>
              </a:rPr>
              <a:t>  post</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0451A5"/>
                </a:solidFill>
                <a:latin typeface="Consolas"/>
                <a:ea typeface="Consolas"/>
                <a:cs typeface="Consolas"/>
              </a:rPr>
              <a:t>    operationId</a:t>
            </a:r>
            <a:r>
              <a:rPr sz="1000" b="0" i="0" lang="es-CL">
                <a:solidFill>
                  <a:srgbClr val="1F2328"/>
                </a:solidFill>
                <a:latin typeface="Consolas"/>
                <a:ea typeface="Consolas"/>
                <a:cs typeface="Consolas"/>
              </a:rPr>
              <a:t>: createLoan</a:t>
            </a:r>
          </a:p>
          <a:p>
            <a:pPr marL="0" indent="0">
              <a:lnSpc>
                <a:spcPct val="100000"/>
              </a:lnSpc>
              <a:spcAft>
                <a:spcPts val="0"/>
              </a:spcAft>
              <a:buNone/>
            </a:pPr>
            <a:r>
              <a:rPr sz="1000" b="0" i="0" lang="es-CL">
                <a:solidFill>
                  <a:srgbClr val="0451A5"/>
                </a:solidFill>
                <a:latin typeface="Consolas"/>
                <a:ea typeface="Consolas"/>
                <a:cs typeface="Consolas"/>
              </a:rPr>
              <a:t>    tags</a:t>
            </a:r>
            <a:r>
              <a:rPr sz="1000" b="0" i="0" lang="es-CL">
                <a:solidFill>
                  <a:srgbClr val="1F2328"/>
                </a:solidFill>
                <a:latin typeface="Consolas"/>
                <a:ea typeface="Consolas"/>
                <a:cs typeface="Consolas"/>
              </a:rPr>
              <a:t>: [loans]</a:t>
            </a:r>
          </a:p>
          <a:p>
            <a:pPr marL="0" indent="0">
              <a:lnSpc>
                <a:spcPct val="100000"/>
              </a:lnSpc>
              <a:spcAft>
                <a:spcPts val="0"/>
              </a:spcAft>
              <a:buNone/>
            </a:pPr>
            <a:r>
              <a:rPr sz="1000" b="0" i="0" lang="es-CL">
                <a:solidFill>
                  <a:srgbClr val="0451A5"/>
                </a:solidFill>
                <a:latin typeface="Consolas"/>
                <a:ea typeface="Consolas"/>
                <a:cs typeface="Consolas"/>
              </a:rPr>
              <a:t>    summary</a:t>
            </a:r>
            <a:r>
              <a:rPr sz="1000" b="0" i="0" lang="es-CL">
                <a:solidFill>
                  <a:srgbClr val="1F2328"/>
                </a:solidFill>
                <a:latin typeface="Consolas"/>
                <a:ea typeface="Consolas"/>
                <a:cs typeface="Consolas"/>
              </a:rPr>
              <a:t>: Registra un préstamo</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0451A5"/>
                </a:solidFill>
                <a:latin typeface="Consolas"/>
                <a:ea typeface="Consolas"/>
                <a:cs typeface="Consolas"/>
              </a:rPr>
              <a:t>    responses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0451A5"/>
                </a:solidFill>
                <a:latin typeface="Consolas"/>
                <a:ea typeface="Consolas"/>
                <a:cs typeface="Consolas"/>
              </a:rPr>
              <a:t>      '409'</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0451A5"/>
                </a:solidFill>
                <a:latin typeface="Consolas"/>
                <a:ea typeface="Consolas"/>
                <a:cs typeface="Consolas"/>
              </a:rPr>
              <a:t>        description</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No se puede prestar: sin copias disponibles (LOAN-R1), límite de</a:t>
            </a:r>
          </a:p>
          <a:p>
            <a:pPr marL="0" indent="0">
              <a:lnSpc>
                <a:spcPct val="100000"/>
              </a:lnSpc>
              <a:spcAft>
                <a:spcPts val="0"/>
              </a:spcAft>
              <a:buNone/>
            </a:pPr>
            <a:r>
              <a:rPr sz="1000" b="0" i="0" lang="es-CL">
                <a:solidFill>
                  <a:srgbClr val="1F2328"/>
                </a:solidFill>
                <a:latin typeface="Consolas"/>
                <a:ea typeface="Consolas"/>
                <a:cs typeface="Consolas"/>
              </a:rPr>
              <a:t>          préstamos activos (LOAN-R2) o préstamo activo del mismo libro (LOAN-R4).</a:t>
            </a:r>
          </a:p>
        </p:txBody>
      </p:sp>
      <p:sp>
        <p:nvSpPr>
          <p:cNvPr id="7" name="TextBox 6"/>
          <p:cNvSpPr txBox="1"/>
          <p:nvPr/>
        </p:nvSpPr>
        <p:spPr>
          <a:xfrm>
            <a:off x="411480" y="3419856"/>
            <a:ext cx="8321040" cy="27432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Un archivo, cinco consumidores</a:t>
            </a:r>
          </a:p>
        </p:txBody>
      </p:sp>
      <p:sp>
        <p:nvSpPr>
          <p:cNvPr id="8" name="Rounded Rectangle 7"/>
          <p:cNvSpPr/>
          <p:nvPr/>
        </p:nvSpPr>
        <p:spPr>
          <a:xfrm>
            <a:off x="411480" y="3721608"/>
            <a:ext cx="1591056" cy="329184"/>
          </a:xfrm>
          <a:prstGeom prst="roundRect">
            <a:avLst>
              <a:gd name="adj" fmla="val 22222"/>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Backend</a:t>
            </a:r>
          </a:p>
        </p:txBody>
      </p:sp>
      <p:sp>
        <p:nvSpPr>
          <p:cNvPr id="9" name="TextBox 8"/>
          <p:cNvSpPr txBox="1"/>
          <p:nvPr/>
        </p:nvSpPr>
        <p:spPr>
          <a:xfrm>
            <a:off x="411480" y="4087368"/>
            <a:ext cx="1591056" cy="512064"/>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lo implementa y se valida contra él</a:t>
            </a:r>
          </a:p>
        </p:txBody>
      </p:sp>
      <p:sp>
        <p:nvSpPr>
          <p:cNvPr id="10" name="Rounded Rectangle 9"/>
          <p:cNvSpPr/>
          <p:nvPr/>
        </p:nvSpPr>
        <p:spPr>
          <a:xfrm>
            <a:off x="2093976" y="3721608"/>
            <a:ext cx="1591056" cy="329184"/>
          </a:xfrm>
          <a:prstGeom prst="roundRect">
            <a:avLst>
              <a:gd name="adj" fmla="val 22222"/>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Frontend</a:t>
            </a:r>
          </a:p>
        </p:txBody>
      </p:sp>
      <p:sp>
        <p:nvSpPr>
          <p:cNvPr id="11" name="TextBox 10"/>
          <p:cNvSpPr txBox="1"/>
          <p:nvPr/>
        </p:nvSpPr>
        <p:spPr>
          <a:xfrm>
            <a:off x="2093976" y="4087368"/>
            <a:ext cx="1591056" cy="512064"/>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genera sus tipos con openapi-typescript</a:t>
            </a:r>
          </a:p>
        </p:txBody>
      </p:sp>
      <p:sp>
        <p:nvSpPr>
          <p:cNvPr id="12" name="Rounded Rectangle 11"/>
          <p:cNvSpPr/>
          <p:nvPr/>
        </p:nvSpPr>
        <p:spPr>
          <a:xfrm>
            <a:off x="3776472" y="3721608"/>
            <a:ext cx="1591056" cy="329184"/>
          </a:xfrm>
          <a:prstGeom prst="roundRect">
            <a:avLst>
              <a:gd name="adj" fmla="val 22222"/>
            </a:avLst>
          </a:prstGeom>
          <a:solidFill>
            <a:srgbClr val="47A1A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Mocks MSW</a:t>
            </a:r>
          </a:p>
        </p:txBody>
      </p:sp>
      <p:sp>
        <p:nvSpPr>
          <p:cNvPr id="13" name="TextBox 12"/>
          <p:cNvSpPr txBox="1"/>
          <p:nvPr/>
        </p:nvSpPr>
        <p:spPr>
          <a:xfrm>
            <a:off x="3776472" y="4087368"/>
            <a:ext cx="1591056" cy="512064"/>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se validan contra el mismo contrato</a:t>
            </a:r>
          </a:p>
        </p:txBody>
      </p:sp>
      <p:sp>
        <p:nvSpPr>
          <p:cNvPr id="14" name="Rounded Rectangle 13"/>
          <p:cNvSpPr/>
          <p:nvPr/>
        </p:nvSpPr>
        <p:spPr>
          <a:xfrm>
            <a:off x="5458968" y="3721608"/>
            <a:ext cx="1591056" cy="329184"/>
          </a:xfrm>
          <a:prstGeom prst="roundRect">
            <a:avLst>
              <a:gd name="adj" fmla="val 22222"/>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Spectral y oasdiff</a:t>
            </a:r>
          </a:p>
        </p:txBody>
      </p:sp>
      <p:sp>
        <p:nvSpPr>
          <p:cNvPr id="15" name="TextBox 14"/>
          <p:cNvSpPr txBox="1"/>
          <p:nvPr/>
        </p:nvSpPr>
        <p:spPr>
          <a:xfrm>
            <a:off x="5458968" y="4087368"/>
            <a:ext cx="1591056" cy="512064"/>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revisan estilo y compatibilidad</a:t>
            </a:r>
          </a:p>
        </p:txBody>
      </p:sp>
      <p:sp>
        <p:nvSpPr>
          <p:cNvPr id="16" name="Rounded Rectangle 15"/>
          <p:cNvSpPr/>
          <p:nvPr/>
        </p:nvSpPr>
        <p:spPr>
          <a:xfrm>
            <a:off x="7141464" y="3721608"/>
            <a:ext cx="1591056" cy="329184"/>
          </a:xfrm>
          <a:prstGeom prst="roundRect">
            <a:avLst>
              <a:gd name="adj" fmla="val 22222"/>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Schemathesis, ZAP</a:t>
            </a:r>
          </a:p>
        </p:txBody>
      </p:sp>
      <p:sp>
        <p:nvSpPr>
          <p:cNvPr id="17" name="TextBox 16"/>
          <p:cNvSpPr txBox="1"/>
          <p:nvPr/>
        </p:nvSpPr>
        <p:spPr>
          <a:xfrm>
            <a:off x="7141464" y="4087368"/>
            <a:ext cx="1591056" cy="512064"/>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lo usan para atacar la API</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El contrato se verifica antes que el código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1554480" cy="658368"/>
          </a:xfrm>
          <a:prstGeom prst="roundRect">
            <a:avLst>
              <a:gd name="adj" fmla="val 11111"/>
            </a:avLst>
          </a:prstGeom>
          <a:solidFill>
            <a:srgbClr val="003D4F"/>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openapi.yaml</a:t>
            </a:r>
          </a:p>
          <a:p>
            <a:pPr algn="ctr" marL="0" indent="0">
              <a:spcAft>
                <a:spcPts val="0"/>
              </a:spcAft>
              <a:buNone/>
            </a:pPr>
            <a:r>
              <a:rPr sz="1200" b="0" i="0" lang="es-CL">
                <a:solidFill>
                  <a:srgbClr val="FFFFFF"/>
                </a:solidFill>
                <a:latin typeface="Inter"/>
                <a:ea typeface="Inter"/>
                <a:cs typeface="Inter"/>
              </a:rPr>
              <a:t>cambio en el PR</a:t>
            </a:r>
          </a:p>
        </p:txBody>
      </p:sp>
      <p:cxnSp>
        <p:nvCxnSpPr>
          <p:cNvPr id="5" name="Connector 4"/>
          <p:cNvCxnSpPr/>
          <p:nvPr/>
        </p:nvCxnSpPr>
        <p:spPr>
          <a:xfrm>
            <a:off x="1975103" y="1316736"/>
            <a:ext cx="118873" cy="0"/>
          </a:xfrm>
          <a:prstGeom prst="line">
            <a:avLst/>
          </a:prstGeom>
          <a:ln w="22225">
            <a:solidFill>
              <a:srgbClr val="8C959F"/>
            </a:solidFill>
            <a:tailEnd type="triangle" w="med" len="med"/>
          </a:ln>
        </p:spPr>
      </p:cxnSp>
      <p:sp>
        <p:nvSpPr>
          <p:cNvPr id="6" name="Rounded Rectangle 5"/>
          <p:cNvSpPr/>
          <p:nvPr/>
        </p:nvSpPr>
        <p:spPr>
          <a:xfrm>
            <a:off x="2103120" y="987552"/>
            <a:ext cx="1554480" cy="658368"/>
          </a:xfrm>
          <a:prstGeom prst="roundRect">
            <a:avLst>
              <a:gd name="adj" fmla="val 11111"/>
            </a:avLst>
          </a:prstGeom>
          <a:solidFill>
            <a:srgbClr val="634F7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Spectral</a:t>
            </a:r>
          </a:p>
          <a:p>
            <a:pPr algn="ctr" marL="0" indent="0">
              <a:spcAft>
                <a:spcPts val="0"/>
              </a:spcAft>
              <a:buNone/>
            </a:pPr>
            <a:r>
              <a:rPr sz="1200" b="0" i="0" lang="es-CL">
                <a:solidFill>
                  <a:srgbClr val="FFFFFF"/>
                </a:solidFill>
                <a:latin typeface="Inter"/>
                <a:ea typeface="Inter"/>
                <a:cs typeface="Inter"/>
              </a:rPr>
              <a:t>estilo y reglas</a:t>
            </a:r>
          </a:p>
        </p:txBody>
      </p:sp>
      <p:cxnSp>
        <p:nvCxnSpPr>
          <p:cNvPr id="7" name="Connector 6"/>
          <p:cNvCxnSpPr/>
          <p:nvPr/>
        </p:nvCxnSpPr>
        <p:spPr>
          <a:xfrm>
            <a:off x="3666744" y="1316736"/>
            <a:ext cx="118871" cy="0"/>
          </a:xfrm>
          <a:prstGeom prst="line">
            <a:avLst/>
          </a:prstGeom>
          <a:ln w="22225">
            <a:solidFill>
              <a:srgbClr val="8C959F"/>
            </a:solidFill>
            <a:tailEnd type="triangle" w="med" len="med"/>
          </a:ln>
        </p:spPr>
      </p:cxnSp>
      <p:sp>
        <p:nvSpPr>
          <p:cNvPr id="8" name="Rounded Rectangle 7"/>
          <p:cNvSpPr/>
          <p:nvPr/>
        </p:nvSpPr>
        <p:spPr>
          <a:xfrm>
            <a:off x="3794759" y="987552"/>
            <a:ext cx="1554480" cy="658368"/>
          </a:xfrm>
          <a:prstGeom prst="roundRect">
            <a:avLst>
              <a:gd name="adj" fmla="val 11111"/>
            </a:avLst>
          </a:prstGeom>
          <a:solidFill>
            <a:srgbClr val="980000"/>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oasdiff</a:t>
            </a:r>
          </a:p>
          <a:p>
            <a:pPr algn="ctr" marL="0" indent="0">
              <a:spcAft>
                <a:spcPts val="0"/>
              </a:spcAft>
              <a:buNone/>
            </a:pPr>
            <a:r>
              <a:rPr sz="1200" b="0" i="0" lang="es-CL">
                <a:solidFill>
                  <a:srgbClr val="FFFFFF"/>
                </a:solidFill>
                <a:latin typeface="Inter"/>
                <a:ea typeface="Inter"/>
                <a:cs typeface="Inter"/>
              </a:rPr>
              <a:t>¿rompe clientes?</a:t>
            </a:r>
          </a:p>
        </p:txBody>
      </p:sp>
      <p:cxnSp>
        <p:nvCxnSpPr>
          <p:cNvPr id="9" name="Connector 8"/>
          <p:cNvCxnSpPr/>
          <p:nvPr/>
        </p:nvCxnSpPr>
        <p:spPr>
          <a:xfrm>
            <a:off x="5358383" y="1316736"/>
            <a:ext cx="118872" cy="0"/>
          </a:xfrm>
          <a:prstGeom prst="line">
            <a:avLst/>
          </a:prstGeom>
          <a:ln w="22225">
            <a:solidFill>
              <a:srgbClr val="8C959F"/>
            </a:solidFill>
            <a:tailEnd type="triangle" w="med" len="med"/>
          </a:ln>
        </p:spPr>
      </p:cxnSp>
      <p:sp>
        <p:nvSpPr>
          <p:cNvPr id="10" name="Rounded Rectangle 9"/>
          <p:cNvSpPr/>
          <p:nvPr/>
        </p:nvSpPr>
        <p:spPr>
          <a:xfrm>
            <a:off x="5486400" y="987552"/>
            <a:ext cx="1554480" cy="658368"/>
          </a:xfrm>
          <a:prstGeom prst="roundRect">
            <a:avLst>
              <a:gd name="adj" fmla="val 11111"/>
            </a:avLst>
          </a:prstGeom>
          <a:solidFill>
            <a:srgbClr val="CC850A"/>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api:generate</a:t>
            </a:r>
          </a:p>
          <a:p>
            <a:pPr algn="ctr" marL="0" indent="0">
              <a:spcAft>
                <a:spcPts val="0"/>
              </a:spcAft>
              <a:buNone/>
            </a:pPr>
            <a:r>
              <a:rPr sz="1200" b="0" i="0" lang="es-CL">
                <a:solidFill>
                  <a:srgbClr val="FFFFFF"/>
                </a:solidFill>
                <a:latin typeface="Inter"/>
                <a:ea typeface="Inter"/>
                <a:cs typeface="Inter"/>
              </a:rPr>
              <a:t>tipos del frontend</a:t>
            </a:r>
          </a:p>
        </p:txBody>
      </p:sp>
      <p:cxnSp>
        <p:nvCxnSpPr>
          <p:cNvPr id="11" name="Connector 10"/>
          <p:cNvCxnSpPr/>
          <p:nvPr/>
        </p:nvCxnSpPr>
        <p:spPr>
          <a:xfrm>
            <a:off x="7050024" y="1316736"/>
            <a:ext cx="118872" cy="0"/>
          </a:xfrm>
          <a:prstGeom prst="line">
            <a:avLst/>
          </a:prstGeom>
          <a:ln w="22225">
            <a:solidFill>
              <a:srgbClr val="8C959F"/>
            </a:solidFill>
            <a:tailEnd type="triangle" w="med" len="med"/>
          </a:ln>
        </p:spPr>
      </p:cxnSp>
      <p:sp>
        <p:nvSpPr>
          <p:cNvPr id="12" name="Rounded Rectangle 11"/>
          <p:cNvSpPr/>
          <p:nvPr/>
        </p:nvSpPr>
        <p:spPr>
          <a:xfrm>
            <a:off x="7178040" y="987552"/>
            <a:ext cx="1554480" cy="658368"/>
          </a:xfrm>
          <a:prstGeom prst="roundRect">
            <a:avLst>
              <a:gd name="adj" fmla="val 11111"/>
            </a:avLst>
          </a:prstGeom>
          <a:solidFill>
            <a:srgbClr val="38761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api:check</a:t>
            </a:r>
          </a:p>
          <a:p>
            <a:pPr algn="ctr" marL="0" indent="0">
              <a:spcAft>
                <a:spcPts val="0"/>
              </a:spcAft>
              <a:buNone/>
            </a:pPr>
            <a:r>
              <a:rPr sz="1200" b="0" i="0" lang="es-CL">
                <a:solidFill>
                  <a:srgbClr val="FFFFFF"/>
                </a:solidFill>
                <a:latin typeface="Inter"/>
                <a:ea typeface="Inter"/>
                <a:cs typeface="Inter"/>
              </a:rPr>
              <a:t>drift = falla</a:t>
            </a:r>
          </a:p>
        </p:txBody>
      </p:sp>
      <p:sp>
        <p:nvSpPr>
          <p:cNvPr id="13" name="Rounded Rectangle 12"/>
          <p:cNvSpPr/>
          <p:nvPr/>
        </p:nvSpPr>
        <p:spPr>
          <a:xfrm>
            <a:off x="411480" y="1783080"/>
            <a:ext cx="4069080" cy="1938528"/>
          </a:xfrm>
          <a:prstGeom prst="roundRect">
            <a:avLst>
              <a:gd name="adj" fmla="val 2830"/>
            </a:avLst>
          </a:prstGeom>
          <a:solidFill>
            <a:srgbClr val="F6F8FA"/>
          </a:solidFill>
          <a:ln w="9525">
            <a:solidFill>
              <a:srgbClr val="D0D7DE"/>
            </a:solidFill>
          </a:ln>
        </p:spPr>
        <p:txBody>
          <a:bodyPr rtlCol="0" anchor="ctr" wrap="square" lIns="54864" rIns="54864" tIns="54864" bIns="54864"/>
          <a:lstStyle/>
          <a:p>
            <a:pPr algn="ctr"/>
          </a:p>
        </p:txBody>
      </p:sp>
      <p:sp>
        <p:nvSpPr>
          <p:cNvPr id="14" name="TextBox 13"/>
          <p:cNvSpPr txBox="1"/>
          <p:nvPr/>
        </p:nvSpPr>
        <p:spPr>
          <a:xfrm>
            <a:off x="521208" y="1828800"/>
            <a:ext cx="384962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.spectral.yaml (una regla propia)</a:t>
            </a:r>
          </a:p>
        </p:txBody>
      </p:sp>
      <p:sp>
        <p:nvSpPr>
          <p:cNvPr id="15" name="TextBox 14"/>
          <p:cNvSpPr txBox="1"/>
          <p:nvPr/>
        </p:nvSpPr>
        <p:spPr>
          <a:xfrm>
            <a:off x="521208" y="2093976"/>
            <a:ext cx="3849624" cy="1572768"/>
          </a:xfrm>
          <a:prstGeom prst="rect">
            <a:avLst/>
          </a:prstGeom>
          <a:noFill/>
        </p:spPr>
        <p:txBody>
          <a:bodyPr wrap="none" lIns="0" rIns="0" tIns="0" bIns="0"/>
          <a:lstStyle/>
          <a:p>
            <a:pPr marL="0" indent="0">
              <a:lnSpc>
                <a:spcPct val="100000"/>
              </a:lnSpc>
              <a:spcAft>
                <a:spcPts val="0"/>
              </a:spcAft>
              <a:buNone/>
            </a:pPr>
            <a:r>
              <a:rPr sz="1000" b="0" i="0" lang="es-CL">
                <a:solidFill>
                  <a:srgbClr val="0451A5"/>
                </a:solidFill>
                <a:latin typeface="Consolas"/>
                <a:ea typeface="Consolas"/>
                <a:cs typeface="Consolas"/>
              </a:rPr>
              <a:t>biblioteca-paths-under-api</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0451A5"/>
                </a:solidFill>
                <a:latin typeface="Consolas"/>
                <a:ea typeface="Consolas"/>
                <a:cs typeface="Consolas"/>
              </a:rPr>
              <a:t>  description</a:t>
            </a:r>
            <a:r>
              <a:rPr sz="1000" b="0" i="0" lang="es-CL">
                <a:solidFill>
                  <a:srgbClr val="1F2328"/>
                </a:solidFill>
                <a:latin typeface="Consolas"/>
                <a:ea typeface="Consolas"/>
                <a:cs typeface="Consolas"/>
              </a:rPr>
              <a:t>: Todos los paths empiezan con /api.</a:t>
            </a:r>
          </a:p>
          <a:p>
            <a:pPr marL="0" indent="0">
              <a:lnSpc>
                <a:spcPct val="100000"/>
              </a:lnSpc>
              <a:spcAft>
                <a:spcPts val="0"/>
              </a:spcAft>
              <a:buNone/>
            </a:pPr>
            <a:r>
              <a:rPr sz="1000" b="0" i="0" lang="es-CL">
                <a:solidFill>
                  <a:srgbClr val="0451A5"/>
                </a:solidFill>
                <a:latin typeface="Consolas"/>
                <a:ea typeface="Consolas"/>
                <a:cs typeface="Consolas"/>
              </a:rPr>
              <a:t>  message</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'{{property}} no empieza con /api.'</a:t>
            </a:r>
          </a:p>
          <a:p>
            <a:pPr marL="0" indent="0">
              <a:lnSpc>
                <a:spcPct val="100000"/>
              </a:lnSpc>
              <a:spcAft>
                <a:spcPts val="0"/>
              </a:spcAft>
              <a:buNone/>
            </a:pPr>
            <a:r>
              <a:rPr sz="1000" b="0" i="0" lang="es-CL">
                <a:solidFill>
                  <a:srgbClr val="0451A5"/>
                </a:solidFill>
                <a:latin typeface="Consolas"/>
                <a:ea typeface="Consolas"/>
                <a:cs typeface="Consolas"/>
              </a:rPr>
              <a:t>  severity</a:t>
            </a:r>
            <a:r>
              <a:rPr sz="1000" b="0" i="0" lang="es-CL">
                <a:solidFill>
                  <a:srgbClr val="1F2328"/>
                </a:solidFill>
                <a:latin typeface="Consolas"/>
                <a:ea typeface="Consolas"/>
                <a:cs typeface="Consolas"/>
              </a:rPr>
              <a:t>: error</a:t>
            </a:r>
          </a:p>
          <a:p>
            <a:pPr marL="0" indent="0">
              <a:lnSpc>
                <a:spcPct val="100000"/>
              </a:lnSpc>
              <a:spcAft>
                <a:spcPts val="0"/>
              </a:spcAft>
              <a:buNone/>
            </a:pPr>
            <a:r>
              <a:rPr sz="1000" b="0" i="0" lang="es-CL">
                <a:solidFill>
                  <a:srgbClr val="0451A5"/>
                </a:solidFill>
                <a:latin typeface="Consolas"/>
                <a:ea typeface="Consolas"/>
                <a:cs typeface="Consolas"/>
              </a:rPr>
              <a:t>  given</a:t>
            </a:r>
            <a:r>
              <a:rPr sz="1000" b="0" i="0" lang="es-CL">
                <a:solidFill>
                  <a:srgbClr val="1F2328"/>
                </a:solidFill>
                <a:latin typeface="Consolas"/>
                <a:ea typeface="Consolas"/>
                <a:cs typeface="Consolas"/>
              </a:rPr>
              <a:t>: $.paths</a:t>
            </a:r>
          </a:p>
          <a:p>
            <a:pPr marL="0" indent="0">
              <a:lnSpc>
                <a:spcPct val="100000"/>
              </a:lnSpc>
              <a:spcAft>
                <a:spcPts val="0"/>
              </a:spcAft>
              <a:buNone/>
            </a:pPr>
            <a:r>
              <a:rPr sz="1000" b="0" i="0" lang="es-CL">
                <a:solidFill>
                  <a:srgbClr val="0451A5"/>
                </a:solidFill>
                <a:latin typeface="Consolas"/>
                <a:ea typeface="Consolas"/>
                <a:cs typeface="Consolas"/>
              </a:rPr>
              <a:t>  then</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0451A5"/>
                </a:solidFill>
                <a:latin typeface="Consolas"/>
                <a:ea typeface="Consolas"/>
                <a:cs typeface="Consolas"/>
              </a:rPr>
              <a:t>    field</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'@key'</a:t>
            </a:r>
          </a:p>
          <a:p>
            <a:pPr marL="0" indent="0">
              <a:lnSpc>
                <a:spcPct val="100000"/>
              </a:lnSpc>
              <a:spcAft>
                <a:spcPts val="0"/>
              </a:spcAft>
              <a:buNone/>
            </a:pPr>
            <a:r>
              <a:rPr sz="1000" b="0" i="0" lang="es-CL">
                <a:solidFill>
                  <a:srgbClr val="0451A5"/>
                </a:solidFill>
                <a:latin typeface="Consolas"/>
                <a:ea typeface="Consolas"/>
                <a:cs typeface="Consolas"/>
              </a:rPr>
              <a:t>    function</a:t>
            </a:r>
            <a:r>
              <a:rPr sz="1000" b="0" i="0" lang="es-CL">
                <a:solidFill>
                  <a:srgbClr val="1F2328"/>
                </a:solidFill>
                <a:latin typeface="Consolas"/>
                <a:ea typeface="Consolas"/>
                <a:cs typeface="Consolas"/>
              </a:rPr>
              <a:t>: pattern</a:t>
            </a:r>
          </a:p>
          <a:p>
            <a:pPr marL="0" indent="0">
              <a:lnSpc>
                <a:spcPct val="100000"/>
              </a:lnSpc>
              <a:spcAft>
                <a:spcPts val="0"/>
              </a:spcAft>
              <a:buNone/>
            </a:pPr>
            <a:r>
              <a:rPr sz="1000" b="0" i="0" lang="es-CL">
                <a:solidFill>
                  <a:srgbClr val="0451A5"/>
                </a:solidFill>
                <a:latin typeface="Consolas"/>
                <a:ea typeface="Consolas"/>
                <a:cs typeface="Consolas"/>
              </a:rPr>
              <a:t>    functionOptions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0451A5"/>
                </a:solidFill>
                <a:latin typeface="Consolas"/>
                <a:ea typeface="Consolas"/>
                <a:cs typeface="Consolas"/>
              </a:rPr>
              <a:t>      match</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'^/api(/|$)'</a:t>
            </a:r>
          </a:p>
        </p:txBody>
      </p:sp>
      <p:sp>
        <p:nvSpPr>
          <p:cNvPr id="16" name="Rounded Rectangle 15"/>
          <p:cNvSpPr/>
          <p:nvPr/>
        </p:nvSpPr>
        <p:spPr>
          <a:xfrm>
            <a:off x="4645152" y="1801368"/>
            <a:ext cx="1097280" cy="310896"/>
          </a:xfrm>
          <a:prstGeom prst="roundRect">
            <a:avLst>
              <a:gd name="adj" fmla="val 23529"/>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Spectral</a:t>
            </a:r>
          </a:p>
        </p:txBody>
      </p:sp>
      <p:sp>
        <p:nvSpPr>
          <p:cNvPr id="17" name="TextBox 16"/>
          <p:cNvSpPr txBox="1"/>
          <p:nvPr/>
        </p:nvSpPr>
        <p:spPr>
          <a:xfrm>
            <a:off x="5833872" y="1764792"/>
            <a:ext cx="2898648"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Parte de spectral:oas y suma reglas del curso: 4xx con problem+json, ejemplos y paths bajo /api.</a:t>
            </a:r>
          </a:p>
        </p:txBody>
      </p:sp>
      <p:sp>
        <p:nvSpPr>
          <p:cNvPr id="18" name="Rounded Rectangle 17"/>
          <p:cNvSpPr/>
          <p:nvPr/>
        </p:nvSpPr>
        <p:spPr>
          <a:xfrm>
            <a:off x="4645152" y="2459736"/>
            <a:ext cx="1097280" cy="310896"/>
          </a:xfrm>
          <a:prstGeom prst="roundRect">
            <a:avLst>
              <a:gd name="adj" fmla="val 23529"/>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oasdiff</a:t>
            </a:r>
          </a:p>
        </p:txBody>
      </p:sp>
      <p:sp>
        <p:nvSpPr>
          <p:cNvPr id="19" name="TextBox 18"/>
          <p:cNvSpPr txBox="1"/>
          <p:nvPr/>
        </p:nvSpPr>
        <p:spPr>
          <a:xfrm>
            <a:off x="5833872" y="2423160"/>
            <a:ext cx="2898648"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Compara con el contrato de main. Borrar un endpoint o exigir un campo nuevo es ERR y falla el PR.</a:t>
            </a:r>
          </a:p>
        </p:txBody>
      </p:sp>
      <p:sp>
        <p:nvSpPr>
          <p:cNvPr id="20" name="Rounded Rectangle 19"/>
          <p:cNvSpPr/>
          <p:nvPr/>
        </p:nvSpPr>
        <p:spPr>
          <a:xfrm>
            <a:off x="4645152" y="3118103"/>
            <a:ext cx="1097280" cy="310896"/>
          </a:xfrm>
          <a:prstGeom prst="roundRect">
            <a:avLst>
              <a:gd name="adj" fmla="val 23529"/>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api:check</a:t>
            </a:r>
          </a:p>
        </p:txBody>
      </p:sp>
      <p:sp>
        <p:nvSpPr>
          <p:cNvPr id="21" name="TextBox 20"/>
          <p:cNvSpPr txBox="1"/>
          <p:nvPr/>
        </p:nvSpPr>
        <p:spPr>
          <a:xfrm>
            <a:off x="5833872" y="3081527"/>
            <a:ext cx="2898648"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Regenera los tipos y falla si no coinciden con los commiteados.</a:t>
            </a:r>
          </a:p>
        </p:txBody>
      </p:sp>
      <p:sp>
        <p:nvSpPr>
          <p:cNvPr id="22" name="Rounded Rectangle 21"/>
          <p:cNvSpPr/>
          <p:nvPr/>
        </p:nvSpPr>
        <p:spPr>
          <a:xfrm>
            <a:off x="411480" y="3822191"/>
            <a:ext cx="8321040" cy="768096"/>
          </a:xfrm>
          <a:prstGeom prst="roundRect">
            <a:avLst>
              <a:gd name="adj" fmla="val 7142"/>
            </a:avLst>
          </a:prstGeom>
          <a:solidFill>
            <a:srgbClr val="F6F8FA"/>
          </a:solidFill>
          <a:ln w="9525">
            <a:solidFill>
              <a:srgbClr val="D0D7DE"/>
            </a:solidFill>
          </a:ln>
        </p:spPr>
        <p:txBody>
          <a:bodyPr rtlCol="0" anchor="ctr" wrap="square" lIns="54864" rIns="54864" tIns="54864" bIns="54864"/>
          <a:lstStyle/>
          <a:p>
            <a:pPr algn="ctr"/>
          </a:p>
        </p:txBody>
      </p:sp>
      <p:sp>
        <p:nvSpPr>
          <p:cNvPr id="23" name="TextBox 22"/>
          <p:cNvSpPr txBox="1"/>
          <p:nvPr/>
        </p:nvSpPr>
        <p:spPr>
          <a:xfrm>
            <a:off x="521208" y="3867911"/>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etapa 2 del pipeline, job contrato-openapi</a:t>
            </a:r>
          </a:p>
        </p:txBody>
      </p:sp>
      <p:sp>
        <p:nvSpPr>
          <p:cNvPr id="24" name="TextBox 23"/>
          <p:cNvSpPr txBox="1"/>
          <p:nvPr/>
        </p:nvSpPr>
        <p:spPr>
          <a:xfrm>
            <a:off x="521208" y="4133087"/>
            <a:ext cx="8101583" cy="402336"/>
          </a:xfrm>
          <a:prstGeom prst="rect">
            <a:avLst/>
          </a:prstGeom>
          <a:noFill/>
        </p:spPr>
        <p:txBody>
          <a:bodyPr wrap="none" lIns="0" rIns="0" tIns="0" bIns="0"/>
          <a:lstStyle/>
          <a:p>
            <a:pPr marL="0" indent="0">
              <a:lnSpc>
                <a:spcPct val="100000"/>
              </a:lnSpc>
              <a:spcAft>
                <a:spcPts val="0"/>
              </a:spcAft>
              <a:buNone/>
            </a:pPr>
            <a:r>
              <a:rPr sz="1100" b="0" i="0" lang="es-CL">
                <a:solidFill>
                  <a:srgbClr val="8C959F"/>
                </a:solidFill>
                <a:latin typeface="Consolas"/>
                <a:ea typeface="Consolas"/>
                <a:cs typeface="Consolas"/>
              </a:rPr>
              <a:t>$ </a:t>
            </a:r>
            <a:r>
              <a:rPr sz="1100" b="0" i="0" lang="es-CL">
                <a:solidFill>
                  <a:srgbClr val="1F2328"/>
                </a:solidFill>
                <a:latin typeface="Consolas"/>
                <a:ea typeface="Consolas"/>
                <a:cs typeface="Consolas"/>
              </a:rPr>
              <a:t>npm run lint:openapi</a:t>
            </a:r>
          </a:p>
          <a:p>
            <a:pPr marL="0" indent="0">
              <a:lnSpc>
                <a:spcPct val="100000"/>
              </a:lnSpc>
              <a:spcAft>
                <a:spcPts val="0"/>
              </a:spcAft>
              <a:buNone/>
            </a:pPr>
            <a:r>
              <a:rPr sz="1100" b="0" i="0" lang="es-CL">
                <a:solidFill>
                  <a:srgbClr val="1F2328"/>
                </a:solidFill>
                <a:latin typeface="Consolas"/>
                <a:ea typeface="Consolas"/>
                <a:cs typeface="Consolas"/>
              </a:rPr>
              <a:t>No results with a severity of </a:t>
            </a:r>
            <a:r>
              <a:rPr sz="1100" b="0" i="0" lang="es-CL">
                <a:solidFill>
                  <a:srgbClr val="A31515"/>
                </a:solidFill>
                <a:latin typeface="Consolas"/>
                <a:ea typeface="Consolas"/>
                <a:cs typeface="Consolas"/>
              </a:rPr>
              <a:t>'error'</a:t>
            </a:r>
            <a:r>
              <a:rPr sz="1100" b="0" i="0" lang="es-CL">
                <a:solidFill>
                  <a:srgbClr val="1F2328"/>
                </a:solidFill>
                <a:latin typeface="Consolas"/>
                <a:ea typeface="Consolas"/>
                <a:cs typeface="Consolas"/>
              </a:rPr>
              <a:t> found!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Flujos en Gherkin: escribir el flujo es escribir el test</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5943600" cy="1755648"/>
          </a:xfrm>
          <a:prstGeom prst="roundRect">
            <a:avLst>
              <a:gd name="adj" fmla="val 3125"/>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572414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specs/flows/prestamos.feature (extracto)</a:t>
            </a:r>
          </a:p>
        </p:txBody>
      </p:sp>
      <p:sp>
        <p:nvSpPr>
          <p:cNvPr id="6" name="TextBox 5"/>
          <p:cNvSpPr txBox="1"/>
          <p:nvPr/>
        </p:nvSpPr>
        <p:spPr>
          <a:xfrm>
            <a:off x="521208" y="1298448"/>
            <a:ext cx="5724144" cy="1389887"/>
          </a:xfrm>
          <a:prstGeom prst="rect">
            <a:avLst/>
          </a:prstGeom>
          <a:noFill/>
        </p:spPr>
        <p:txBody>
          <a:bodyPr wrap="none" lIns="0" rIns="0" tIns="0" bIns="0"/>
          <a:lstStyle/>
          <a:p>
            <a:pPr marL="0" indent="0">
              <a:lnSpc>
                <a:spcPct val="100000"/>
              </a:lnSpc>
              <a:spcAft>
                <a:spcPts val="0"/>
              </a:spcAft>
              <a:buNone/>
            </a:pPr>
            <a:r>
              <a:rPr sz="1000" b="0" i="0" lang="es-CL">
                <a:solidFill>
                  <a:srgbClr val="800080"/>
                </a:solidFill>
                <a:latin typeface="Consolas"/>
                <a:ea typeface="Consolas"/>
                <a:cs typeface="Consolas"/>
              </a:rPr>
              <a:t>@SPEC-LIB-02</a:t>
            </a:r>
          </a:p>
          <a:p>
            <a:pPr marL="0" indent="0">
              <a:lnSpc>
                <a:spcPct val="100000"/>
              </a:lnSpc>
              <a:spcAft>
                <a:spcPts val="0"/>
              </a:spcAft>
              <a:buNone/>
            </a:pPr>
            <a:r>
              <a:rPr sz="1000" b="1" i="0" lang="es-CL">
                <a:solidFill>
                  <a:srgbClr val="0000FF"/>
                </a:solidFill>
                <a:latin typeface="Consolas"/>
                <a:ea typeface="Consolas"/>
                <a:cs typeface="Consolas"/>
              </a:rPr>
              <a:t>Característica</a:t>
            </a:r>
            <a:r>
              <a:rPr sz="1000" b="0" i="0" lang="es-CL">
                <a:solidFill>
                  <a:srgbClr val="1F2328"/>
                </a:solidFill>
                <a:latin typeface="Consolas"/>
                <a:ea typeface="Consolas"/>
                <a:cs typeface="Consolas"/>
              </a:rPr>
              <a:t>: Préstamos</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800080"/>
                </a:solidFill>
                <a:latin typeface="Consolas"/>
                <a:ea typeface="Consolas"/>
                <a:cs typeface="Consolas"/>
              </a:rPr>
              <a:t>@FLOW-PRE-01</a:t>
            </a:r>
            <a:r>
              <a:rPr sz="1000" b="0" i="0" lang="es-CL">
                <a:solidFill>
                  <a:srgbClr val="1F2328"/>
                </a:solidFill>
                <a:latin typeface="Consolas"/>
                <a:ea typeface="Consolas"/>
                <a:cs typeface="Consolas"/>
              </a:rPr>
              <a:t> </a:t>
            </a:r>
            <a:r>
              <a:rPr sz="1000" b="0" i="0" lang="es-CL">
                <a:solidFill>
                  <a:srgbClr val="800080"/>
                </a:solidFill>
                <a:latin typeface="Consolas"/>
                <a:ea typeface="Consolas"/>
                <a:cs typeface="Consolas"/>
              </a:rPr>
              <a:t>@smoke</a:t>
            </a:r>
          </a:p>
          <a:p>
            <a:pPr marL="0" indent="0">
              <a:lnSpc>
                <a:spcPct val="100000"/>
              </a:lnSpc>
              <a:spcAft>
                <a:spcPts val="0"/>
              </a:spcAft>
              <a:buNone/>
            </a:pPr>
            <a:r>
              <a:rPr sz="1000" b="1" i="0" lang="es-CL">
                <a:solidFill>
                  <a:srgbClr val="0000FF"/>
                </a:solidFill>
                <a:latin typeface="Consolas"/>
                <a:ea typeface="Consolas"/>
                <a:cs typeface="Consolas"/>
              </a:rPr>
              <a:t>  Escenario</a:t>
            </a:r>
            <a:r>
              <a:rPr sz="1000" b="0" i="0" lang="es-CL">
                <a:solidFill>
                  <a:srgbClr val="1F2328"/>
                </a:solidFill>
                <a:latin typeface="Consolas"/>
                <a:ea typeface="Consolas"/>
                <a:cs typeface="Consolas"/>
              </a:rPr>
              <a:t>: Pedir prestado un libro disponible</a:t>
            </a:r>
          </a:p>
          <a:p>
            <a:pPr marL="0" indent="0">
              <a:lnSpc>
                <a:spcPct val="100000"/>
              </a:lnSpc>
              <a:spcAft>
                <a:spcPts val="0"/>
              </a:spcAft>
              <a:buNone/>
            </a:pPr>
            <a:r>
              <a:rPr sz="1000" b="1" i="0" lang="es-CL">
                <a:solidFill>
                  <a:srgbClr val="0000FF"/>
                </a:solidFill>
                <a:latin typeface="Consolas"/>
                <a:ea typeface="Consolas"/>
                <a:cs typeface="Consolas"/>
              </a:rPr>
              <a:t>    Dado</a:t>
            </a:r>
            <a:r>
              <a:rPr sz="1000" b="0" i="0" lang="es-CL">
                <a:solidFill>
                  <a:srgbClr val="1F2328"/>
                </a:solidFill>
                <a:latin typeface="Consolas"/>
                <a:ea typeface="Consolas"/>
                <a:cs typeface="Consolas"/>
              </a:rPr>
              <a:t> que estoy en el catálogo</a:t>
            </a:r>
          </a:p>
          <a:p>
            <a:pPr marL="0" indent="0">
              <a:lnSpc>
                <a:spcPct val="100000"/>
              </a:lnSpc>
              <a:spcAft>
                <a:spcPts val="0"/>
              </a:spcAft>
              <a:buNone/>
            </a:pPr>
            <a:r>
              <a:rPr sz="1000" b="1" i="0" lang="es-CL">
                <a:solidFill>
                  <a:srgbClr val="0000FF"/>
                </a:solidFill>
                <a:latin typeface="Consolas"/>
                <a:ea typeface="Consolas"/>
                <a:cs typeface="Consolas"/>
              </a:rPr>
              <a:t>    Cuando</a:t>
            </a:r>
            <a:r>
              <a:rPr sz="1000" b="0" i="0" lang="es-CL">
                <a:solidFill>
                  <a:srgbClr val="1F2328"/>
                </a:solidFill>
                <a:latin typeface="Consolas"/>
                <a:ea typeface="Consolas"/>
                <a:cs typeface="Consolas"/>
              </a:rPr>
              <a:t> pido prestado </a:t>
            </a:r>
            <a:r>
              <a:rPr sz="1000" b="0" i="0" lang="es-CL">
                <a:solidFill>
                  <a:srgbClr val="A31515"/>
                </a:solidFill>
                <a:latin typeface="Consolas"/>
                <a:ea typeface="Consolas"/>
                <a:cs typeface="Consolas"/>
              </a:rPr>
              <a:t>"Cien años de soledad"</a:t>
            </a:r>
            <a:r>
              <a:rPr sz="1000" b="0" i="0" lang="es-CL">
                <a:solidFill>
                  <a:srgbClr val="1F2328"/>
                </a:solidFill>
                <a:latin typeface="Consolas"/>
                <a:ea typeface="Consolas"/>
                <a:cs typeface="Consolas"/>
              </a:rPr>
              <a:t> con el correo </a:t>
            </a:r>
            <a:r>
              <a:rPr sz="1000" b="0" i="0" lang="es-CL">
                <a:solidFill>
                  <a:srgbClr val="A31515"/>
                </a:solidFill>
                <a:latin typeface="Consolas"/>
                <a:ea typeface="Consolas"/>
                <a:cs typeface="Consolas"/>
              </a:rPr>
              <a:t>"ana@uc.cl"</a:t>
            </a:r>
          </a:p>
          <a:p>
            <a:pPr marL="0" indent="0">
              <a:lnSpc>
                <a:spcPct val="100000"/>
              </a:lnSpc>
              <a:spcAft>
                <a:spcPts val="0"/>
              </a:spcAft>
              <a:buNone/>
            </a:pPr>
            <a:r>
              <a:rPr sz="1000" b="1" i="0" lang="es-CL">
                <a:solidFill>
                  <a:srgbClr val="0000FF"/>
                </a:solidFill>
                <a:latin typeface="Consolas"/>
                <a:ea typeface="Consolas"/>
                <a:cs typeface="Consolas"/>
              </a:rPr>
              <a:t>    Entonces</a:t>
            </a:r>
            <a:r>
              <a:rPr sz="1000" b="0" i="0" lang="es-CL">
                <a:solidFill>
                  <a:srgbClr val="1F2328"/>
                </a:solidFill>
                <a:latin typeface="Consolas"/>
                <a:ea typeface="Consolas"/>
                <a:cs typeface="Consolas"/>
              </a:rPr>
              <a:t> veo el mensaje </a:t>
            </a:r>
            <a:r>
              <a:rPr sz="1000" b="0" i="0" lang="es-CL">
                <a:solidFill>
                  <a:srgbClr val="A31515"/>
                </a:solidFill>
                <a:latin typeface="Consolas"/>
                <a:ea typeface="Consolas"/>
                <a:cs typeface="Consolas"/>
              </a:rPr>
              <a:t>"Préstamo registrado"</a:t>
            </a:r>
          </a:p>
          <a:p>
            <a:pPr marL="0" indent="0">
              <a:lnSpc>
                <a:spcPct val="100000"/>
              </a:lnSpc>
              <a:spcAft>
                <a:spcPts val="0"/>
              </a:spcAft>
              <a:buNone/>
            </a:pPr>
            <a:r>
              <a:rPr sz="1000" b="1" i="0" lang="es-CL">
                <a:solidFill>
                  <a:srgbClr val="0000FF"/>
                </a:solidFill>
                <a:latin typeface="Consolas"/>
                <a:ea typeface="Consolas"/>
                <a:cs typeface="Consolas"/>
              </a:rPr>
              <a:t>    Y</a:t>
            </a:r>
            <a:r>
              <a:rPr sz="1000" b="0" i="0" lang="es-CL">
                <a:solidFill>
                  <a:srgbClr val="1F2328"/>
                </a:solidFill>
                <a:latin typeface="Consolas"/>
                <a:ea typeface="Consolas"/>
                <a:cs typeface="Consolas"/>
              </a:rPr>
              <a:t> veo la fecha de devolución </a:t>
            </a:r>
            <a:r>
              <a:rPr sz="1000" b="0" i="0" lang="es-CL">
                <a:solidFill>
                  <a:srgbClr val="A31515"/>
                </a:solidFill>
                <a:latin typeface="Consolas"/>
                <a:ea typeface="Consolas"/>
                <a:cs typeface="Consolas"/>
              </a:rPr>
              <a:t>"16-03-2026"</a:t>
            </a:r>
          </a:p>
        </p:txBody>
      </p:sp>
      <p:sp>
        <p:nvSpPr>
          <p:cNvPr id="7" name="Rounded Rectangle 6"/>
          <p:cNvSpPr/>
          <p:nvPr/>
        </p:nvSpPr>
        <p:spPr>
          <a:xfrm>
            <a:off x="6492240" y="987552"/>
            <a:ext cx="2240280" cy="1755648"/>
          </a:xfrm>
          <a:prstGeom prst="roundRect">
            <a:avLst>
              <a:gd name="adj" fmla="val 5208"/>
            </a:avLst>
          </a:prstGeom>
          <a:solidFill>
            <a:srgbClr val="DCE9F7"/>
          </a:solidFill>
          <a:ln>
            <a:noFill/>
          </a:ln>
        </p:spPr>
        <p:txBody>
          <a:bodyPr rtlCol="0" anchor="ctr" wrap="square" lIns="54864" rIns="54864" tIns="54864" bIns="54864"/>
          <a:lstStyle/>
          <a:p>
            <a:pPr algn="ctr"/>
          </a:p>
        </p:txBody>
      </p:sp>
      <p:sp>
        <p:nvSpPr>
          <p:cNvPr id="8" name="TextBox 7"/>
          <p:cNvSpPr txBox="1"/>
          <p:nvPr/>
        </p:nvSpPr>
        <p:spPr>
          <a:xfrm>
            <a:off x="6583680" y="1042415"/>
            <a:ext cx="2103120" cy="1664208"/>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Cada escenario es un test con su ID.</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@smoke corre también contra el stack real.</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Datos y reloj fijo: specs/flows/README.md</a:t>
            </a:r>
          </a:p>
        </p:txBody>
      </p:sp>
      <p:sp>
        <p:nvSpPr>
          <p:cNvPr id="9" name="Rounded Rectangle 8"/>
          <p:cNvSpPr/>
          <p:nvPr/>
        </p:nvSpPr>
        <p:spPr>
          <a:xfrm>
            <a:off x="411480" y="2862072"/>
            <a:ext cx="1051560" cy="310896"/>
          </a:xfrm>
          <a:prstGeom prst="roundRect">
            <a:avLst>
              <a:gd name="adj" fmla="val 23529"/>
            </a:avLst>
          </a:prstGeom>
          <a:solidFill>
            <a:srgbClr val="634F7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bddgen</a:t>
            </a:r>
          </a:p>
        </p:txBody>
      </p:sp>
      <p:cxnSp>
        <p:nvCxnSpPr>
          <p:cNvPr id="10" name="Connector 9"/>
          <p:cNvCxnSpPr/>
          <p:nvPr/>
        </p:nvCxnSpPr>
        <p:spPr>
          <a:xfrm>
            <a:off x="932688" y="2752344"/>
            <a:ext cx="0" cy="100584"/>
          </a:xfrm>
          <a:prstGeom prst="line">
            <a:avLst/>
          </a:prstGeom>
          <a:ln w="22225">
            <a:solidFill>
              <a:srgbClr val="8C959F"/>
            </a:solidFill>
            <a:tailEnd type="triangle" w="med" len="med"/>
          </a:ln>
        </p:spPr>
      </p:cxnSp>
      <p:sp>
        <p:nvSpPr>
          <p:cNvPr id="11" name="Rounded Rectangle 10"/>
          <p:cNvSpPr/>
          <p:nvPr/>
        </p:nvSpPr>
        <p:spPr>
          <a:xfrm>
            <a:off x="411480" y="3200400"/>
            <a:ext cx="8321040" cy="1371600"/>
          </a:xfrm>
          <a:prstGeom prst="roundRect">
            <a:avLst>
              <a:gd name="adj" fmla="val 4000"/>
            </a:avLst>
          </a:prstGeom>
          <a:solidFill>
            <a:srgbClr val="F6F8FA"/>
          </a:solidFill>
          <a:ln w="9525">
            <a:solidFill>
              <a:srgbClr val="D0D7DE"/>
            </a:solidFill>
          </a:ln>
        </p:spPr>
        <p:txBody>
          <a:bodyPr rtlCol="0" anchor="ctr" wrap="square" lIns="54864" rIns="54864" tIns="54864" bIns="54864"/>
          <a:lstStyle/>
          <a:p>
            <a:pPr algn="ctr"/>
          </a:p>
        </p:txBody>
      </p:sp>
      <p:sp>
        <p:nvSpPr>
          <p:cNvPr id="12" name="TextBox 11"/>
          <p:cNvSpPr txBox="1"/>
          <p:nvPr/>
        </p:nvSpPr>
        <p:spPr>
          <a:xfrm>
            <a:off x="521208" y="324612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frontend/tests/e2e/steps/loans.steps.ts (extracto)</a:t>
            </a:r>
          </a:p>
        </p:txBody>
      </p:sp>
      <p:sp>
        <p:nvSpPr>
          <p:cNvPr id="13" name="TextBox 12"/>
          <p:cNvSpPr txBox="1"/>
          <p:nvPr/>
        </p:nvSpPr>
        <p:spPr>
          <a:xfrm>
            <a:off x="521208" y="3511296"/>
            <a:ext cx="8101583" cy="1005840"/>
          </a:xfrm>
          <a:prstGeom prst="rect">
            <a:avLst/>
          </a:prstGeom>
          <a:noFill/>
        </p:spPr>
        <p:txBody>
          <a:bodyPr wrap="none" lIns="0" rIns="0" tIns="0" bIns="0"/>
          <a:lstStyle/>
          <a:p>
            <a:pPr marL="0" indent="0">
              <a:lnSpc>
                <a:spcPct val="100000"/>
              </a:lnSpc>
              <a:spcAft>
                <a:spcPts val="0"/>
              </a:spcAft>
              <a:buNone/>
            </a:pPr>
            <a:r>
              <a:rPr sz="1100" b="0" i="0" lang="es-CL">
                <a:solidFill>
                  <a:srgbClr val="795E26"/>
                </a:solidFill>
                <a:latin typeface="Consolas"/>
                <a:ea typeface="Consolas"/>
                <a:cs typeface="Consolas"/>
              </a:rPr>
              <a:t>When</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'pido prestado {string} con el correo {string}'</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async</a:t>
            </a:r>
            <a:r>
              <a:rPr sz="1100" b="0" i="0" lang="es-CL">
                <a:solidFill>
                  <a:srgbClr val="1F2328"/>
                </a:solidFill>
                <a:latin typeface="Consolas"/>
                <a:ea typeface="Consolas"/>
                <a:cs typeface="Consolas"/>
              </a:rPr>
              <a:t> ({ page }, title: string, email: string) =&gt;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page.getByLabel(</a:t>
            </a:r>
            <a:r>
              <a:rPr sz="1100" b="0" i="0" lang="es-CL">
                <a:solidFill>
                  <a:srgbClr val="A31515"/>
                </a:solidFill>
                <a:latin typeface="Consolas"/>
                <a:ea typeface="Consolas"/>
                <a:cs typeface="Consolas"/>
              </a:rPr>
              <a:t>'Correo'</a:t>
            </a:r>
            <a:r>
              <a:rPr sz="1100" b="0" i="0" lang="es-CL">
                <a:solidFill>
                  <a:srgbClr val="1F2328"/>
                </a:solidFill>
                <a:latin typeface="Consolas"/>
                <a:ea typeface="Consolas"/>
                <a:cs typeface="Consolas"/>
              </a:rPr>
              <a:t>).fill(email)</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page.getByRole(</a:t>
            </a:r>
            <a:r>
              <a:rPr sz="1100" b="0" i="0" lang="es-CL">
                <a:solidFill>
                  <a:srgbClr val="A31515"/>
                </a:solidFill>
                <a:latin typeface="Consolas"/>
                <a:ea typeface="Consolas"/>
                <a:cs typeface="Consolas"/>
              </a:rPr>
              <a:t>'button'</a:t>
            </a:r>
            <a:r>
              <a:rPr sz="1100" b="0" i="0" lang="es-CL">
                <a:solidFill>
                  <a:srgbClr val="1F2328"/>
                </a:solidFill>
                <a:latin typeface="Consolas"/>
                <a:ea typeface="Consolas"/>
                <a:cs typeface="Consolas"/>
              </a:rPr>
              <a:t>, { name: </a:t>
            </a:r>
            <a:r>
              <a:rPr sz="1100" b="0" i="0" lang="es-CL">
                <a:solidFill>
                  <a:srgbClr val="A31515"/>
                </a:solidFill>
                <a:latin typeface="Consolas"/>
                <a:ea typeface="Consolas"/>
                <a:cs typeface="Consolas"/>
              </a:rPr>
              <a:t>'Pedir prestado'</a:t>
            </a:r>
            <a:r>
              <a:rPr sz="1100" b="0" i="0" lang="es-CL">
                <a:solidFill>
                  <a:srgbClr val="1F2328"/>
                </a:solidFill>
                <a:latin typeface="Consolas"/>
                <a:ea typeface="Consolas"/>
                <a:cs typeface="Consolas"/>
              </a:rPr>
              <a:t>, exact: </a:t>
            </a:r>
            <a:r>
              <a:rPr sz="1100" b="0" i="0" lang="es-CL">
                <a:solidFill>
                  <a:srgbClr val="0000FF"/>
                </a:solidFill>
                <a:latin typeface="Consolas"/>
                <a:ea typeface="Consolas"/>
                <a:cs typeface="Consolas"/>
              </a:rPr>
              <a:t>true</a:t>
            </a:r>
            <a:r>
              <a:rPr sz="1100" b="0" i="0" lang="es-CL">
                <a:solidFill>
                  <a:srgbClr val="1F2328"/>
                </a:solidFill>
                <a:latin typeface="Consolas"/>
                <a:ea typeface="Consolas"/>
                <a:cs typeface="Consolas"/>
              </a:rPr>
              <a:t> }).click()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La IA en SDD: dos pasos y un juez</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05840"/>
            <a:ext cx="1536192" cy="1261872"/>
          </a:xfrm>
          <a:prstGeom prst="roundRect">
            <a:avLst>
              <a:gd name="adj" fmla="val 5797"/>
            </a:avLst>
          </a:prstGeom>
          <a:solidFill>
            <a:srgbClr val="003D4F"/>
          </a:solidFill>
          <a:ln>
            <a:noFill/>
          </a:ln>
        </p:spPr>
        <p:txBody>
          <a:bodyPr rtlCol="0" anchor="ctr" wrap="square" lIns="45720" rIns="45720"/>
          <a:lstStyle/>
          <a:p>
            <a:pPr algn="ctr" marL="0" indent="0">
              <a:spcAft>
                <a:spcPts val="300"/>
              </a:spcAft>
              <a:buNone/>
            </a:pPr>
            <a:r>
              <a:rPr sz="1200" b="1" i="0" lang="es-CL">
                <a:solidFill>
                  <a:srgbClr val="FFFFFF"/>
                </a:solidFill>
                <a:latin typeface="Inter"/>
                <a:ea typeface="Inter"/>
                <a:cs typeface="Inter"/>
              </a:rPr>
              <a:t>Spec y reglas</a:t>
            </a:r>
          </a:p>
          <a:p>
            <a:pPr algn="ctr" marL="0" indent="0">
              <a:spcAft>
                <a:spcPts val="300"/>
              </a:spcAft>
              <a:buNone/>
            </a:pPr>
            <a:r>
              <a:rPr sz="1200" b="0" i="0" lang="es-CL">
                <a:solidFill>
                  <a:srgbClr val="FFFFFF"/>
                </a:solidFill>
                <a:latin typeface="Inter"/>
                <a:ea typeface="Inter"/>
                <a:cs typeface="Inter"/>
              </a:rPr>
              <a:t>SPEC-LIB-XX con IDs</a:t>
            </a:r>
          </a:p>
        </p:txBody>
      </p:sp>
      <p:cxnSp>
        <p:nvCxnSpPr>
          <p:cNvPr id="5" name="Connector 4"/>
          <p:cNvCxnSpPr/>
          <p:nvPr/>
        </p:nvCxnSpPr>
        <p:spPr>
          <a:xfrm>
            <a:off x="1956815" y="1636776"/>
            <a:ext cx="146305" cy="0"/>
          </a:xfrm>
          <a:prstGeom prst="line">
            <a:avLst/>
          </a:prstGeom>
          <a:ln w="22225">
            <a:solidFill>
              <a:srgbClr val="8C959F"/>
            </a:solidFill>
            <a:tailEnd type="triangle" w="med" len="med"/>
          </a:ln>
        </p:spPr>
      </p:cxnSp>
      <p:sp>
        <p:nvSpPr>
          <p:cNvPr id="6" name="Rounded Rectangle 5"/>
          <p:cNvSpPr/>
          <p:nvPr/>
        </p:nvSpPr>
        <p:spPr>
          <a:xfrm>
            <a:off x="2112264" y="1005840"/>
            <a:ext cx="1536192" cy="1261872"/>
          </a:xfrm>
          <a:prstGeom prst="roundRect">
            <a:avLst>
              <a:gd name="adj" fmla="val 5797"/>
            </a:avLst>
          </a:prstGeom>
          <a:solidFill>
            <a:srgbClr val="CC850A"/>
          </a:solidFill>
          <a:ln>
            <a:noFill/>
          </a:ln>
        </p:spPr>
        <p:txBody>
          <a:bodyPr rtlCol="0" anchor="ctr" wrap="square" lIns="45720" rIns="45720"/>
          <a:lstStyle/>
          <a:p>
            <a:pPr algn="ctr" marL="0" indent="0">
              <a:spcAft>
                <a:spcPts val="300"/>
              </a:spcAft>
              <a:buNone/>
            </a:pPr>
            <a:r>
              <a:rPr sz="1200" b="1" i="0" lang="es-CL">
                <a:solidFill>
                  <a:srgbClr val="FFFFFF"/>
                </a:solidFill>
                <a:latin typeface="Inter"/>
                <a:ea typeface="Inter"/>
                <a:cs typeface="Inter"/>
              </a:rPr>
              <a:t>Paso 1: plan</a:t>
            </a:r>
          </a:p>
          <a:p>
            <a:pPr algn="ctr" marL="0" indent="0">
              <a:spcAft>
                <a:spcPts val="300"/>
              </a:spcAft>
              <a:buNone/>
            </a:pPr>
            <a:r>
              <a:rPr sz="1200" b="0" i="0" lang="es-CL">
                <a:solidFill>
                  <a:srgbClr val="FFFFFF"/>
                </a:solidFill>
                <a:latin typeface="Inter"/>
                <a:ea typeface="Inter"/>
                <a:cs typeface="Inter"/>
              </a:rPr>
              <a:t>La IA propone casos: regla, capa y partición</a:t>
            </a:r>
          </a:p>
        </p:txBody>
      </p:sp>
      <p:cxnSp>
        <p:nvCxnSpPr>
          <p:cNvPr id="7" name="Connector 6"/>
          <p:cNvCxnSpPr/>
          <p:nvPr/>
        </p:nvCxnSpPr>
        <p:spPr>
          <a:xfrm>
            <a:off x="3657600" y="1636776"/>
            <a:ext cx="146304" cy="0"/>
          </a:xfrm>
          <a:prstGeom prst="line">
            <a:avLst/>
          </a:prstGeom>
          <a:ln w="22225">
            <a:solidFill>
              <a:srgbClr val="8C959F"/>
            </a:solidFill>
            <a:tailEnd type="triangle" w="med" len="med"/>
          </a:ln>
        </p:spPr>
      </p:cxnSp>
      <p:sp>
        <p:nvSpPr>
          <p:cNvPr id="8" name="Rounded Rectangle 7"/>
          <p:cNvSpPr/>
          <p:nvPr/>
        </p:nvSpPr>
        <p:spPr>
          <a:xfrm>
            <a:off x="3813048" y="1005840"/>
            <a:ext cx="1536192" cy="1261872"/>
          </a:xfrm>
          <a:prstGeom prst="roundRect">
            <a:avLst>
              <a:gd name="adj" fmla="val 5797"/>
            </a:avLst>
          </a:prstGeom>
          <a:solidFill>
            <a:srgbClr val="980000"/>
          </a:solidFill>
          <a:ln>
            <a:noFill/>
          </a:ln>
        </p:spPr>
        <p:txBody>
          <a:bodyPr rtlCol="0" anchor="ctr" wrap="square" lIns="45720" rIns="45720"/>
          <a:lstStyle/>
          <a:p>
            <a:pPr algn="ctr" marL="0" indent="0">
              <a:spcAft>
                <a:spcPts val="300"/>
              </a:spcAft>
              <a:buNone/>
            </a:pPr>
            <a:r>
              <a:rPr sz="1200" b="1" i="0" lang="es-CL">
                <a:solidFill>
                  <a:srgbClr val="FFFFFF"/>
                </a:solidFill>
                <a:latin typeface="Inter"/>
                <a:ea typeface="Inter"/>
                <a:cs typeface="Inter"/>
              </a:rPr>
              <a:t>Tú apruebas</a:t>
            </a:r>
          </a:p>
          <a:p>
            <a:pPr algn="ctr" marL="0" indent="0">
              <a:spcAft>
                <a:spcPts val="300"/>
              </a:spcAft>
              <a:buNone/>
            </a:pPr>
            <a:r>
              <a:rPr sz="1200" b="0" i="0" lang="es-CL">
                <a:solidFill>
                  <a:srgbClr val="FFFFFF"/>
                </a:solidFill>
                <a:latin typeface="Inter"/>
                <a:ea typeface="Inter"/>
                <a:cs typeface="Inter"/>
              </a:rPr>
              <a:t>Podas duplicados y bajas casos de capa</a:t>
            </a:r>
          </a:p>
        </p:txBody>
      </p:sp>
      <p:cxnSp>
        <p:nvCxnSpPr>
          <p:cNvPr id="9" name="Connector 8"/>
          <p:cNvCxnSpPr/>
          <p:nvPr/>
        </p:nvCxnSpPr>
        <p:spPr>
          <a:xfrm>
            <a:off x="5358383" y="1636776"/>
            <a:ext cx="146305" cy="0"/>
          </a:xfrm>
          <a:prstGeom prst="line">
            <a:avLst/>
          </a:prstGeom>
          <a:ln w="22225">
            <a:solidFill>
              <a:srgbClr val="8C959F"/>
            </a:solidFill>
            <a:tailEnd type="triangle" w="med" len="med"/>
          </a:ln>
        </p:spPr>
      </p:cxnSp>
      <p:sp>
        <p:nvSpPr>
          <p:cNvPr id="10" name="Rounded Rectangle 9"/>
          <p:cNvSpPr/>
          <p:nvPr/>
        </p:nvSpPr>
        <p:spPr>
          <a:xfrm>
            <a:off x="5513832" y="1005840"/>
            <a:ext cx="1536192" cy="1261872"/>
          </a:xfrm>
          <a:prstGeom prst="roundRect">
            <a:avLst>
              <a:gd name="adj" fmla="val 5797"/>
            </a:avLst>
          </a:prstGeom>
          <a:solidFill>
            <a:srgbClr val="38761D"/>
          </a:solidFill>
          <a:ln>
            <a:noFill/>
          </a:ln>
        </p:spPr>
        <p:txBody>
          <a:bodyPr rtlCol="0" anchor="ctr" wrap="square" lIns="45720" rIns="45720"/>
          <a:lstStyle/>
          <a:p>
            <a:pPr algn="ctr" marL="0" indent="0">
              <a:spcAft>
                <a:spcPts val="300"/>
              </a:spcAft>
              <a:buNone/>
            </a:pPr>
            <a:r>
              <a:rPr sz="1200" b="1" i="0" lang="es-CL">
                <a:solidFill>
                  <a:srgbClr val="FFFFFF"/>
                </a:solidFill>
                <a:latin typeface="Inter"/>
                <a:ea typeface="Inter"/>
                <a:cs typeface="Inter"/>
              </a:rPr>
              <a:t>Paso 2: un test a la vez</a:t>
            </a:r>
          </a:p>
          <a:p>
            <a:pPr algn="ctr" marL="0" indent="0">
              <a:spcAft>
                <a:spcPts val="300"/>
              </a:spcAft>
              <a:buNone/>
            </a:pPr>
            <a:r>
              <a:rPr sz="1200" b="0" i="0" lang="es-CL">
                <a:solidFill>
                  <a:srgbClr val="FFFFFF"/>
                </a:solidFill>
                <a:latin typeface="Inter"/>
                <a:ea typeface="Inter"/>
                <a:cs typeface="Inter"/>
              </a:rPr>
              <a:t>Falla por la razón correcta, después el código</a:t>
            </a:r>
          </a:p>
        </p:txBody>
      </p:sp>
      <p:cxnSp>
        <p:nvCxnSpPr>
          <p:cNvPr id="11" name="Connector 10"/>
          <p:cNvCxnSpPr/>
          <p:nvPr/>
        </p:nvCxnSpPr>
        <p:spPr>
          <a:xfrm>
            <a:off x="7059168" y="1636776"/>
            <a:ext cx="146304" cy="0"/>
          </a:xfrm>
          <a:prstGeom prst="line">
            <a:avLst/>
          </a:prstGeom>
          <a:ln w="22225">
            <a:solidFill>
              <a:srgbClr val="8C959F"/>
            </a:solidFill>
            <a:tailEnd type="triangle" w="med" len="med"/>
          </a:ln>
        </p:spPr>
      </p:cxnSp>
      <p:sp>
        <p:nvSpPr>
          <p:cNvPr id="12" name="Rounded Rectangle 11"/>
          <p:cNvSpPr/>
          <p:nvPr/>
        </p:nvSpPr>
        <p:spPr>
          <a:xfrm>
            <a:off x="7214616" y="1005840"/>
            <a:ext cx="1536192" cy="1261872"/>
          </a:xfrm>
          <a:prstGeom prst="roundRect">
            <a:avLst>
              <a:gd name="adj" fmla="val 5797"/>
            </a:avLst>
          </a:prstGeom>
          <a:solidFill>
            <a:srgbClr val="634F7D"/>
          </a:solidFill>
          <a:ln>
            <a:noFill/>
          </a:ln>
        </p:spPr>
        <p:txBody>
          <a:bodyPr rtlCol="0" anchor="ctr" wrap="square" lIns="45720" rIns="45720"/>
          <a:lstStyle/>
          <a:p>
            <a:pPr algn="ctr" marL="0" indent="0">
              <a:spcAft>
                <a:spcPts val="300"/>
              </a:spcAft>
              <a:buNone/>
            </a:pPr>
            <a:r>
              <a:rPr sz="1200" b="1" i="0" lang="es-CL">
                <a:solidFill>
                  <a:srgbClr val="FFFFFF"/>
                </a:solidFill>
                <a:latin typeface="Inter"/>
                <a:ea typeface="Inter"/>
                <a:cs typeface="Inter"/>
              </a:rPr>
              <a:t>Revisor IA</a:t>
            </a:r>
          </a:p>
          <a:p>
            <a:pPr algn="ctr" marL="0" indent="0">
              <a:spcAft>
                <a:spcPts val="300"/>
              </a:spcAft>
              <a:buNone/>
            </a:pPr>
            <a:r>
              <a:rPr sz="1200" b="0" i="0" lang="es-CL">
                <a:solidFill>
                  <a:srgbClr val="FFFFFF"/>
                </a:solidFill>
                <a:latin typeface="Inter"/>
                <a:ea typeface="Inter"/>
                <a:cs typeface="Inter"/>
              </a:rPr>
              <a:t>Otro modelo evalúa contra la spec</a:t>
            </a:r>
          </a:p>
        </p:txBody>
      </p:sp>
      <p:sp>
        <p:nvSpPr>
          <p:cNvPr id="13" name="Rounded Rectangle 12"/>
          <p:cNvSpPr/>
          <p:nvPr/>
        </p:nvSpPr>
        <p:spPr>
          <a:xfrm>
            <a:off x="411480" y="2450592"/>
            <a:ext cx="4343400" cy="1481328"/>
          </a:xfrm>
          <a:prstGeom prst="roundRect">
            <a:avLst>
              <a:gd name="adj" fmla="val 3703"/>
            </a:avLst>
          </a:prstGeom>
          <a:solidFill>
            <a:srgbClr val="F6F8FA"/>
          </a:solidFill>
          <a:ln w="9525">
            <a:solidFill>
              <a:srgbClr val="D0D7DE"/>
            </a:solidFill>
          </a:ln>
        </p:spPr>
        <p:txBody>
          <a:bodyPr rtlCol="0" anchor="ctr" wrap="square" lIns="54864" rIns="54864" tIns="54864" bIns="54864"/>
          <a:lstStyle/>
          <a:p>
            <a:pPr algn="ctr"/>
          </a:p>
        </p:txBody>
      </p:sp>
      <p:sp>
        <p:nvSpPr>
          <p:cNvPr id="14" name="TextBox 13"/>
          <p:cNvSpPr txBox="1"/>
          <p:nvPr/>
        </p:nvSpPr>
        <p:spPr>
          <a:xfrm>
            <a:off x="521208" y="2496312"/>
            <a:ext cx="412394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Ejemplo de plan del paso 1</a:t>
            </a:r>
          </a:p>
        </p:txBody>
      </p:sp>
      <p:sp>
        <p:nvSpPr>
          <p:cNvPr id="15" name="TextBox 14"/>
          <p:cNvSpPr txBox="1"/>
          <p:nvPr/>
        </p:nvSpPr>
        <p:spPr>
          <a:xfrm>
            <a:off x="521208" y="2761488"/>
            <a:ext cx="4123944" cy="1115568"/>
          </a:xfrm>
          <a:prstGeom prst="rect">
            <a:avLst/>
          </a:prstGeom>
          <a:noFill/>
        </p:spPr>
        <p:txBody>
          <a:bodyPr wrap="none" lIns="0" rIns="0" tIns="0" bIns="0"/>
          <a:lstStyle/>
          <a:p>
            <a:pPr marL="0" indent="0">
              <a:lnSpc>
                <a:spcPct val="100000"/>
              </a:lnSpc>
              <a:spcAft>
                <a:spcPts val="0"/>
              </a:spcAft>
              <a:buNone/>
            </a:pPr>
            <a:r>
              <a:rPr sz="1100" b="0" i="0" lang="es-CL">
                <a:solidFill>
                  <a:srgbClr val="57606A"/>
                </a:solidFill>
                <a:latin typeface="Consolas"/>
                <a:ea typeface="Consolas"/>
                <a:cs typeface="Consolas"/>
              </a:rPr>
              <a:t>| Regla   | Capa     | Partición                |</a:t>
            </a:r>
          </a:p>
          <a:p>
            <a:pPr marL="0" indent="0">
              <a:lnSpc>
                <a:spcPct val="100000"/>
              </a:lnSpc>
              <a:spcAft>
                <a:spcPts val="0"/>
              </a:spcAft>
              <a:buNone/>
            </a:pPr>
            <a:r>
              <a:rPr sz="1100" b="0" i="0" lang="es-CL">
                <a:solidFill>
                  <a:srgbClr val="57606A"/>
                </a:solidFill>
                <a:latin typeface="Consolas"/>
                <a:ea typeface="Consolas"/>
                <a:cs typeface="Consolas"/>
              </a:rPr>
              <a:t>| LOAN-R2 | unit     | 2 préstamos: permite     |</a:t>
            </a:r>
          </a:p>
          <a:p>
            <a:pPr marL="0" indent="0">
              <a:lnSpc>
                <a:spcPct val="100000"/>
              </a:lnSpc>
              <a:spcAft>
                <a:spcPts val="0"/>
              </a:spcAft>
              <a:buNone/>
            </a:pPr>
            <a:r>
              <a:rPr sz="1100" b="0" i="0" lang="es-CL">
                <a:solidFill>
                  <a:srgbClr val="57606A"/>
                </a:solidFill>
                <a:latin typeface="Consolas"/>
                <a:ea typeface="Consolas"/>
                <a:cs typeface="Consolas"/>
              </a:rPr>
              <a:t>| LOAN-R2 | unit     | 3 préstamos: rechaza     |</a:t>
            </a:r>
          </a:p>
          <a:p>
            <a:pPr marL="0" indent="0">
              <a:lnSpc>
                <a:spcPct val="100000"/>
              </a:lnSpc>
              <a:spcAft>
                <a:spcPts val="0"/>
              </a:spcAft>
              <a:buNone/>
            </a:pPr>
            <a:r>
              <a:rPr sz="1100" b="0" i="0" lang="es-CL">
                <a:solidFill>
                  <a:srgbClr val="57606A"/>
                </a:solidFill>
                <a:latin typeface="Consolas"/>
                <a:ea typeface="Consolas"/>
                <a:cs typeface="Consolas"/>
              </a:rPr>
              <a:t>| LOAN-R2 | contrato | 409 LOAN_LIMIT_REACHED   |</a:t>
            </a:r>
          </a:p>
          <a:p>
            <a:pPr marL="0" indent="0">
              <a:lnSpc>
                <a:spcPct val="100000"/>
              </a:lnSpc>
              <a:spcAft>
                <a:spcPts val="0"/>
              </a:spcAft>
              <a:buNone/>
            </a:pPr>
            <a:r>
              <a:rPr sz="1100" b="0" i="0" lang="es-CL">
                <a:solidFill>
                  <a:srgbClr val="57606A"/>
                </a:solidFill>
                <a:latin typeface="Consolas"/>
                <a:ea typeface="Consolas"/>
                <a:cs typeface="Consolas"/>
              </a:rPr>
              <a:t>| LOAN-R2 | UI       | ya cubierto: FLOW-PRE-03 |</a:t>
            </a:r>
          </a:p>
        </p:txBody>
      </p:sp>
      <p:sp>
        <p:nvSpPr>
          <p:cNvPr id="16" name="TextBox 15"/>
          <p:cNvSpPr txBox="1"/>
          <p:nvPr/>
        </p:nvSpPr>
        <p:spPr>
          <a:xfrm>
            <a:off x="4937760" y="2395728"/>
            <a:ext cx="3794760" cy="2194560"/>
          </a:xfrm>
          <a:prstGeom prst="rect">
            <a:avLst/>
          </a:prstGeom>
          <a:noFill/>
        </p:spPr>
        <p:txBody>
          <a:bodyPr wrap="square" lIns="36576" rIns="36576" tIns="36576" bIns="36576" anchor="t"/>
          <a:lstStyle/>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“...generate one test at a time, so that you can review them diligently!” (p. 94).</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El flujo de dos pasos existe para que </a:t>
            </a:r>
            <a:r>
              <a:rPr sz="1200" b="1" i="0" lang="es-CL">
                <a:solidFill>
                  <a:srgbClr val="1F2328"/>
                </a:solidFill>
                <a:latin typeface="Inter"/>
                <a:ea typeface="Inter"/>
                <a:cs typeface="Inter"/>
              </a:rPr>
              <a:t>tú elijas</a:t>
            </a:r>
            <a:r>
              <a:rPr sz="1200" b="0" i="0" lang="es-CL">
                <a:solidFill>
                  <a:srgbClr val="1F2328"/>
                </a:solidFill>
                <a:latin typeface="Inter"/>
                <a:ea typeface="Inter"/>
                <a:cs typeface="Inter"/>
              </a:rPr>
              <a:t> qué casos automatizar en cada capa (p. 96).</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El juez usa un modelo distinto y puntúa de 0 a 1 con razones (p. 103).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Un agente que propone tests desde el OpenAPI</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1536192" cy="960120"/>
          </a:xfrm>
          <a:prstGeom prst="roundRect">
            <a:avLst>
              <a:gd name="adj" fmla="val 7619"/>
            </a:avLst>
          </a:prstGeom>
          <a:solidFill>
            <a:srgbClr val="003D4F"/>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Disparo manual</a:t>
            </a:r>
          </a:p>
          <a:p>
            <a:pPr algn="ctr" marL="0" indent="0">
              <a:spcAft>
                <a:spcPts val="200"/>
              </a:spcAft>
              <a:buNone/>
            </a:pPr>
            <a:r>
              <a:rPr sz="1200" b="0" i="0" lang="es-CL">
                <a:solidFill>
                  <a:srgbClr val="FFFFFF"/>
                </a:solidFill>
                <a:latin typeface="Inter"/>
                <a:ea typeface="Inter"/>
                <a:cs typeface="Inter"/>
              </a:rPr>
              <a:t>workflow_dispatch con un operationId</a:t>
            </a:r>
          </a:p>
        </p:txBody>
      </p:sp>
      <p:cxnSp>
        <p:nvCxnSpPr>
          <p:cNvPr id="5" name="Connector 4"/>
          <p:cNvCxnSpPr/>
          <p:nvPr/>
        </p:nvCxnSpPr>
        <p:spPr>
          <a:xfrm>
            <a:off x="1956815" y="1463040"/>
            <a:ext cx="146305" cy="0"/>
          </a:xfrm>
          <a:prstGeom prst="line">
            <a:avLst/>
          </a:prstGeom>
          <a:ln w="22225">
            <a:solidFill>
              <a:srgbClr val="8C959F"/>
            </a:solidFill>
            <a:tailEnd type="triangle" w="med" len="med"/>
          </a:ln>
        </p:spPr>
      </p:cxnSp>
      <p:sp>
        <p:nvSpPr>
          <p:cNvPr id="6" name="Rounded Rectangle 5"/>
          <p:cNvSpPr/>
          <p:nvPr/>
        </p:nvSpPr>
        <p:spPr>
          <a:xfrm>
            <a:off x="2112264" y="987552"/>
            <a:ext cx="1536192" cy="960120"/>
          </a:xfrm>
          <a:prstGeom prst="roundRect">
            <a:avLst>
              <a:gd name="adj" fmla="val 7619"/>
            </a:avLst>
          </a:prstGeom>
          <a:solidFill>
            <a:srgbClr val="CC850A"/>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Paso 1: plan</a:t>
            </a:r>
          </a:p>
          <a:p>
            <a:pPr algn="ctr" marL="0" indent="0">
              <a:spcAft>
                <a:spcPts val="200"/>
              </a:spcAft>
              <a:buNone/>
            </a:pPr>
            <a:r>
              <a:rPr sz="1200" b="0" i="0" lang="es-CL">
                <a:solidFill>
                  <a:srgbClr val="FFFFFF"/>
                </a:solidFill>
                <a:latin typeface="Inter"/>
                <a:ea typeface="Inter"/>
                <a:cs typeface="Inter"/>
              </a:rPr>
              <a:t>docs/propuestas-ia/&lt;op&gt;.md</a:t>
            </a:r>
          </a:p>
        </p:txBody>
      </p:sp>
      <p:cxnSp>
        <p:nvCxnSpPr>
          <p:cNvPr id="7" name="Connector 6"/>
          <p:cNvCxnSpPr/>
          <p:nvPr/>
        </p:nvCxnSpPr>
        <p:spPr>
          <a:xfrm>
            <a:off x="3657600" y="1463040"/>
            <a:ext cx="146304" cy="0"/>
          </a:xfrm>
          <a:prstGeom prst="line">
            <a:avLst/>
          </a:prstGeom>
          <a:ln w="22225">
            <a:solidFill>
              <a:srgbClr val="8C959F"/>
            </a:solidFill>
            <a:tailEnd type="triangle" w="med" len="med"/>
          </a:ln>
        </p:spPr>
      </p:cxnSp>
      <p:sp>
        <p:nvSpPr>
          <p:cNvPr id="8" name="Rounded Rectangle 7"/>
          <p:cNvSpPr/>
          <p:nvPr/>
        </p:nvSpPr>
        <p:spPr>
          <a:xfrm>
            <a:off x="3813048" y="987552"/>
            <a:ext cx="1536192" cy="960120"/>
          </a:xfrm>
          <a:prstGeom prst="roundRect">
            <a:avLst>
              <a:gd name="adj" fmla="val 7619"/>
            </a:avLst>
          </a:prstGeom>
          <a:solidFill>
            <a:srgbClr val="38761D"/>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Paso 2: tests</a:t>
            </a:r>
          </a:p>
          <a:p>
            <a:pPr algn="ctr" marL="0" indent="0">
              <a:spcAft>
                <a:spcPts val="200"/>
              </a:spcAft>
              <a:buNone/>
            </a:pPr>
            <a:r>
              <a:rPr sz="1200" b="0" i="0" lang="es-CL">
                <a:solidFill>
                  <a:srgbClr val="FFFFFF"/>
                </a:solidFill>
                <a:latin typeface="Inter"/>
                <a:ea typeface="Inter"/>
                <a:cs typeface="Inter"/>
              </a:rPr>
              <a:t>solo los casos nuevos</a:t>
            </a:r>
          </a:p>
        </p:txBody>
      </p:sp>
      <p:cxnSp>
        <p:nvCxnSpPr>
          <p:cNvPr id="9" name="Connector 8"/>
          <p:cNvCxnSpPr/>
          <p:nvPr/>
        </p:nvCxnSpPr>
        <p:spPr>
          <a:xfrm>
            <a:off x="5358383" y="1463040"/>
            <a:ext cx="146305" cy="0"/>
          </a:xfrm>
          <a:prstGeom prst="line">
            <a:avLst/>
          </a:prstGeom>
          <a:ln w="22225">
            <a:solidFill>
              <a:srgbClr val="8C959F"/>
            </a:solidFill>
            <a:tailEnd type="triangle" w="med" len="med"/>
          </a:ln>
        </p:spPr>
      </p:cxnSp>
      <p:sp>
        <p:nvSpPr>
          <p:cNvPr id="10" name="Rounded Rectangle 9"/>
          <p:cNvSpPr/>
          <p:nvPr/>
        </p:nvSpPr>
        <p:spPr>
          <a:xfrm>
            <a:off x="5513832" y="987552"/>
            <a:ext cx="1536192" cy="960120"/>
          </a:xfrm>
          <a:prstGeom prst="roundRect">
            <a:avLst>
              <a:gd name="adj" fmla="val 7619"/>
            </a:avLst>
          </a:prstGeom>
          <a:solidFill>
            <a:srgbClr val="634F7D"/>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Paso 3: verifica</a:t>
            </a:r>
          </a:p>
          <a:p>
            <a:pPr algn="ctr" marL="0" indent="0">
              <a:spcAft>
                <a:spcPts val="200"/>
              </a:spcAft>
              <a:buNone/>
            </a:pPr>
            <a:r>
              <a:rPr sz="1200" b="0" i="0" lang="es-CL">
                <a:solidFill>
                  <a:srgbClr val="FFFFFF"/>
                </a:solidFill>
                <a:latin typeface="Inter"/>
                <a:ea typeface="Inter"/>
                <a:cs typeface="Inter"/>
              </a:rPr>
              <a:t>typecheck y spec-trace</a:t>
            </a:r>
          </a:p>
        </p:txBody>
      </p:sp>
      <p:cxnSp>
        <p:nvCxnSpPr>
          <p:cNvPr id="11" name="Connector 10"/>
          <p:cNvCxnSpPr/>
          <p:nvPr/>
        </p:nvCxnSpPr>
        <p:spPr>
          <a:xfrm>
            <a:off x="7059168" y="1463040"/>
            <a:ext cx="146304" cy="0"/>
          </a:xfrm>
          <a:prstGeom prst="line">
            <a:avLst/>
          </a:prstGeom>
          <a:ln w="22225">
            <a:solidFill>
              <a:srgbClr val="8C959F"/>
            </a:solidFill>
            <a:tailEnd type="triangle" w="med" len="med"/>
          </a:ln>
        </p:spPr>
      </p:cxnSp>
      <p:sp>
        <p:nvSpPr>
          <p:cNvPr id="12" name="Rounded Rectangle 11"/>
          <p:cNvSpPr/>
          <p:nvPr/>
        </p:nvSpPr>
        <p:spPr>
          <a:xfrm>
            <a:off x="7214616" y="987552"/>
            <a:ext cx="1536192" cy="960120"/>
          </a:xfrm>
          <a:prstGeom prst="roundRect">
            <a:avLst>
              <a:gd name="adj" fmla="val 7619"/>
            </a:avLst>
          </a:prstGeom>
          <a:solidFill>
            <a:srgbClr val="980000"/>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PR en borrador</a:t>
            </a:r>
          </a:p>
          <a:p>
            <a:pPr algn="ctr" marL="0" indent="0">
              <a:spcAft>
                <a:spcPts val="200"/>
              </a:spcAft>
              <a:buNone/>
            </a:pPr>
            <a:r>
              <a:rPr sz="1200" b="0" i="0" lang="es-CL">
                <a:solidFill>
                  <a:srgbClr val="FFFFFF"/>
                </a:solidFill>
                <a:latin typeface="Inter"/>
                <a:ea typeface="Inter"/>
                <a:cs typeface="Inter"/>
              </a:rPr>
              <a:t>una persona aprueba el plan</a:t>
            </a:r>
          </a:p>
        </p:txBody>
      </p:sp>
      <p:sp>
        <p:nvSpPr>
          <p:cNvPr id="13" name="Rounded Rectangle 12"/>
          <p:cNvSpPr/>
          <p:nvPr/>
        </p:nvSpPr>
        <p:spPr>
          <a:xfrm>
            <a:off x="411480" y="2084831"/>
            <a:ext cx="8321040" cy="2487168"/>
          </a:xfrm>
          <a:prstGeom prst="roundRect">
            <a:avLst>
              <a:gd name="adj" fmla="val 2205"/>
            </a:avLst>
          </a:prstGeom>
          <a:solidFill>
            <a:srgbClr val="F6F8FA"/>
          </a:solidFill>
          <a:ln w="9525">
            <a:solidFill>
              <a:srgbClr val="D0D7DE"/>
            </a:solidFill>
          </a:ln>
        </p:spPr>
        <p:txBody>
          <a:bodyPr rtlCol="0" anchor="ctr" wrap="square" lIns="54864" rIns="54864" tIns="54864" bIns="54864"/>
          <a:lstStyle/>
          <a:p>
            <a:pPr algn="ctr"/>
          </a:p>
        </p:txBody>
      </p:sp>
      <p:sp>
        <p:nvSpPr>
          <p:cNvPr id="14" name="TextBox 13"/>
          <p:cNvSpPr txBox="1"/>
          <p:nvPr/>
        </p:nvSpPr>
        <p:spPr>
          <a:xfrm>
            <a:off x="521208" y="2130551"/>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.github/workflows/ai-generate-tests.yml (prompt, extracto)</a:t>
            </a:r>
          </a:p>
        </p:txBody>
      </p:sp>
      <p:sp>
        <p:nvSpPr>
          <p:cNvPr id="15" name="TextBox 14"/>
          <p:cNvSpPr txBox="1"/>
          <p:nvPr/>
        </p:nvSpPr>
        <p:spPr>
          <a:xfrm>
            <a:off x="521208" y="2395727"/>
            <a:ext cx="8101583" cy="2121408"/>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Paso 1. Plan. Crea docs/propuestas-ia/${{ inputs.operationId }}.md con una tabla:</a:t>
            </a:r>
          </a:p>
          <a:p>
            <a:pPr marL="0" indent="0">
              <a:lnSpc>
                <a:spcPct val="100000"/>
              </a:lnSpc>
              <a:spcAft>
                <a:spcPts val="0"/>
              </a:spcAft>
              <a:buNone/>
            </a:pPr>
            <a:r>
              <a:rPr sz="1100" b="0" i="0" lang="es-CL">
                <a:solidFill>
                  <a:srgbClr val="57606A"/>
                </a:solidFill>
                <a:latin typeface="Consolas"/>
                <a:ea typeface="Consolas"/>
                <a:cs typeface="Consolas"/>
              </a:rPr>
              <a:t>| Caso | Partición o valor límite | Respuesta esperada (código y code) | Capa | ID de regla |</a:t>
            </a:r>
          </a:p>
          <a:p>
            <a:pPr marL="0" indent="0">
              <a:lnSpc>
                <a:spcPct val="100000"/>
              </a:lnSpc>
              <a:spcAft>
                <a:spcPts val="0"/>
              </a:spcAft>
              <a:buNone/>
            </a:pPr>
            <a:r>
              <a:rPr sz="1100" b="0" i="0" lang="es-CL">
                <a:solidFill>
                  <a:srgbClr val="1F2328"/>
                </a:solidFill>
                <a:latin typeface="Consolas"/>
                <a:ea typeface="Consolas"/>
                <a:cs typeface="Consolas"/>
              </a:rPr>
              <a:t>Reglas del plan:</a:t>
            </a:r>
          </a:p>
          <a:p>
            <a:pPr marL="0" indent="0">
              <a:lnSpc>
                <a:spcPct val="100000"/>
              </a:lnSpc>
              <a:spcAft>
                <a:spcPts val="0"/>
              </a:spcAft>
              <a:buNone/>
            </a:pPr>
            <a:r>
              <a:rPr sz="1100" b="0" i="0" lang="es-CL">
                <a:solidFill>
                  <a:srgbClr val="1F2328"/>
                </a:solidFill>
                <a:latin typeface="Consolas"/>
                <a:ea typeface="Consolas"/>
                <a:cs typeface="Consolas"/>
              </a:rPr>
              <a:t>- Solo casos que pertenecen a la capa de contrato (HTTP real contra el OpenAPI).</a:t>
            </a:r>
          </a:p>
          <a:p>
            <a:pPr marL="0" indent="0">
              <a:lnSpc>
                <a:spcPct val="100000"/>
              </a:lnSpc>
              <a:spcAft>
                <a:spcPts val="0"/>
              </a:spcAft>
              <a:buNone/>
            </a:pPr>
            <a:r>
              <a:rPr sz="1100" b="0" i="0" lang="es-CL">
                <a:solidFill>
                  <a:srgbClr val="1F2328"/>
                </a:solidFill>
                <a:latin typeface="Consolas"/>
                <a:ea typeface="Consolas"/>
                <a:cs typeface="Consolas"/>
              </a:rPr>
              <a:t>  Si un caso se detecta en una capa más baja (unit), anótalo en una sección</a:t>
            </a:r>
          </a:p>
          <a:p>
            <a:pPr marL="0" indent="0">
              <a:lnSpc>
                <a:spcPct val="100000"/>
              </a:lnSpc>
              <a:spcAft>
                <a:spcPts val="0"/>
              </a:spcAft>
              <a:buNone/>
            </a:pPr>
            <a:r>
              <a:rPr sz="1100" b="0" i="0" lang="es-CL">
                <a:solidFill>
                  <a:srgbClr val="1F2328"/>
                </a:solidFill>
                <a:latin typeface="Consolas"/>
                <a:ea typeface="Consolas"/>
                <a:cs typeface="Consolas"/>
              </a:rPr>
              <a:t>  "Fuera de esta capa" y NO lo propongas como test de contrato (P4.1).</a:t>
            </a:r>
          </a:p>
          <a:p>
            <a:pPr marL="0" indent="0">
              <a:lnSpc>
                <a:spcPct val="100000"/>
              </a:lnSpc>
              <a:spcAft>
                <a:spcPts val="0"/>
              </a:spcAft>
              <a:buNone/>
            </a:pPr>
            <a:r>
              <a:rPr sz="1100" b="0" i="0" lang="es-CL">
                <a:solidFill>
                  <a:srgbClr val="1F2328"/>
                </a:solidFill>
                <a:latin typeface="Consolas"/>
                <a:ea typeface="Consolas"/>
                <a:cs typeface="Consolas"/>
              </a:rPr>
              <a:t>- Máximo 6 casos por regla. Una partición, un caso (P4.2).</a:t>
            </a:r>
          </a:p>
          <a:p>
            <a:pPr marL="0" indent="0">
              <a:lnSpc>
                <a:spcPct val="100000"/>
              </a:lnSpc>
              <a:spcAft>
                <a:spcPts val="0"/>
              </a:spcAft>
              <a:buNone/>
            </a:pPr>
            <a:r>
              <a:rPr sz="1100" b="0" i="0" lang="es-CL">
                <a:solidFill>
                  <a:srgbClr val="1F2328"/>
                </a:solidFill>
                <a:latin typeface="Consolas"/>
                <a:ea typeface="Consolas"/>
                <a:cs typeface="Consolas"/>
              </a:rPr>
              <a:t>- Marca los casos que ya están cubiertos por tests existentes y no los repitas.</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Paso 3. Verifica que compila con </a:t>
            </a:r>
            <a:r>
              <a:rPr sz="1100" b="0" i="0" lang="es-CL">
                <a:solidFill>
                  <a:srgbClr val="A31515"/>
                </a:solidFill>
                <a:latin typeface="Consolas"/>
                <a:ea typeface="Consolas"/>
                <a:cs typeface="Consolas"/>
              </a:rPr>
              <a:t>`npm run typecheck`</a:t>
            </a:r>
            <a:r>
              <a:rPr sz="1100" b="0" i="0" lang="es-CL">
                <a:solidFill>
                  <a:srgbClr val="1F2328"/>
                </a:solidFill>
                <a:latin typeface="Consolas"/>
                <a:ea typeface="Consolas"/>
                <a:cs typeface="Consolas"/>
              </a:rPr>
              <a:t> dentro de backend y que la</a:t>
            </a:r>
          </a:p>
          <a:p>
            <a:pPr marL="0" indent="0">
              <a:lnSpc>
                <a:spcPct val="100000"/>
              </a:lnSpc>
              <a:spcAft>
                <a:spcPts val="0"/>
              </a:spcAft>
              <a:buNone/>
            </a:pPr>
            <a:r>
              <a:rPr sz="1100" b="0" i="0" lang="es-CL">
                <a:solidFill>
                  <a:srgbClr val="1F2328"/>
                </a:solidFill>
                <a:latin typeface="Consolas"/>
                <a:ea typeface="Consolas"/>
                <a:cs typeface="Consolas"/>
              </a:rPr>
              <a:t>trazabilidad sigue en verde con </a:t>
            </a:r>
            <a:r>
              <a:rPr sz="1100" b="0" i="0" lang="es-CL">
                <a:solidFill>
                  <a:srgbClr val="A31515"/>
                </a:solidFill>
                <a:latin typeface="Consolas"/>
                <a:ea typeface="Consolas"/>
                <a:cs typeface="Consolas"/>
              </a:rPr>
              <a:t>`node tools/spec-trace.mjs`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No modifiques specs/ ni código de producción.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3</a:t>
            </a:r>
          </a:p>
          <a:p>
            <a:pPr algn="ctr">
              <a:spcAft>
                <a:spcPts val="1600"/>
              </a:spcAft>
            </a:pPr>
            <a:r>
              <a:rPr sz="3600" b="1" i="0" lang="es-CL">
                <a:solidFill>
                  <a:srgbClr val="4A86E8"/>
                </a:solidFill>
                <a:latin typeface="Bitter"/>
                <a:ea typeface="Bitter"/>
                <a:cs typeface="Bitter"/>
              </a:rPr>
              <a:t>El proyecto: Biblioteca UC</a:t>
            </a:r>
          </a:p>
          <a:p>
            <a:pPr algn="ctr">
              <a:spcAft>
                <a:spcPts val="1400"/>
              </a:spcAft>
            </a:pPr>
            <a:r>
              <a:rPr sz="1500" b="0" i="0" lang="es-CL">
                <a:solidFill>
                  <a:srgbClr val="57606A"/>
                </a:solidFill>
                <a:latin typeface="Inter"/>
                <a:ea typeface="Inter"/>
                <a:cs typeface="Inter"/>
              </a:rPr>
              <a:t>Catálogo de libros y préstamos. NestJS, Next.js y PostgreSQL en un monorepo.</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Mapa del monorepo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5029200" cy="3566160"/>
          </a:xfrm>
          <a:prstGeom prst="roundRect">
            <a:avLst>
              <a:gd name="adj" fmla="val 1538"/>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480974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github.com/UC-IIC-3143-Software-Development/full_stack_testing</a:t>
            </a:r>
          </a:p>
        </p:txBody>
      </p:sp>
      <p:sp>
        <p:nvSpPr>
          <p:cNvPr id="6" name="TextBox 5"/>
          <p:cNvSpPr txBox="1"/>
          <p:nvPr/>
        </p:nvSpPr>
        <p:spPr>
          <a:xfrm>
            <a:off x="521208" y="1298448"/>
            <a:ext cx="4809744" cy="3200400"/>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full_stack_testing/</a:t>
            </a:r>
          </a:p>
          <a:p>
            <a:pPr marL="0" indent="0">
              <a:lnSpc>
                <a:spcPct val="100000"/>
              </a:lnSpc>
              <a:spcAft>
                <a:spcPts val="0"/>
              </a:spcAft>
              <a:buNone/>
            </a:pPr>
            <a:r>
              <a:rPr sz="1100" b="0" i="0" lang="es-CL">
                <a:solidFill>
                  <a:srgbClr val="1F2328"/>
                </a:solidFill>
                <a:latin typeface="Consolas"/>
                <a:ea typeface="Consolas"/>
                <a:cs typeface="Consolas"/>
              </a:rPr>
              <a:t>├── specs/           fuente de verdad</a:t>
            </a:r>
          </a:p>
          <a:p>
            <a:pPr marL="0" indent="0">
              <a:lnSpc>
                <a:spcPct val="100000"/>
              </a:lnSpc>
              <a:spcAft>
                <a:spcPts val="0"/>
              </a:spcAft>
              <a:buNone/>
            </a:pPr>
            <a:r>
              <a:rPr sz="1100" b="0" i="0" lang="es-CL">
                <a:solidFill>
                  <a:srgbClr val="1F2328"/>
                </a:solidFill>
                <a:latin typeface="Consolas"/>
                <a:ea typeface="Consolas"/>
                <a:cs typeface="Consolas"/>
              </a:rPr>
              <a:t>│   ├── constitution.md</a:t>
            </a:r>
          </a:p>
          <a:p>
            <a:pPr marL="0" indent="0">
              <a:lnSpc>
                <a:spcPct val="100000"/>
              </a:lnSpc>
              <a:spcAft>
                <a:spcPts val="0"/>
              </a:spcAft>
              <a:buNone/>
            </a:pPr>
            <a:r>
              <a:rPr sz="1100" b="0" i="0" lang="es-CL">
                <a:solidFill>
                  <a:srgbClr val="1F2328"/>
                </a:solidFill>
                <a:latin typeface="Consolas"/>
                <a:ea typeface="Consolas"/>
                <a:cs typeface="Consolas"/>
              </a:rPr>
              <a:t>│   ├── architecture.md</a:t>
            </a:r>
          </a:p>
          <a:p>
            <a:pPr marL="0" indent="0">
              <a:lnSpc>
                <a:spcPct val="100000"/>
              </a:lnSpc>
              <a:spcAft>
                <a:spcPts val="0"/>
              </a:spcAft>
              <a:buNone/>
            </a:pPr>
            <a:r>
              <a:rPr sz="1100" b="0" i="0" lang="es-CL">
                <a:solidFill>
                  <a:srgbClr val="1F2328"/>
                </a:solidFill>
                <a:latin typeface="Consolas"/>
                <a:ea typeface="Consolas"/>
                <a:cs typeface="Consolas"/>
              </a:rPr>
              <a:t>│   ├── api/openapi.yaml</a:t>
            </a:r>
          </a:p>
          <a:p>
            <a:pPr marL="0" indent="0">
              <a:lnSpc>
                <a:spcPct val="100000"/>
              </a:lnSpc>
              <a:spcAft>
                <a:spcPts val="0"/>
              </a:spcAft>
              <a:buNone/>
            </a:pPr>
            <a:r>
              <a:rPr sz="1100" b="0" i="0" lang="es-CL">
                <a:solidFill>
                  <a:srgbClr val="1F2328"/>
                </a:solidFill>
                <a:latin typeface="Consolas"/>
                <a:ea typeface="Consolas"/>
                <a:cs typeface="Consolas"/>
              </a:rPr>
              <a:t>│   ├── features/    SPEC-LIB-01, SPEC-LIB-02</a:t>
            </a:r>
          </a:p>
          <a:p>
            <a:pPr marL="0" indent="0">
              <a:lnSpc>
                <a:spcPct val="100000"/>
              </a:lnSpc>
              <a:spcAft>
                <a:spcPts val="0"/>
              </a:spcAft>
              <a:buNone/>
            </a:pPr>
            <a:r>
              <a:rPr sz="1100" b="0" i="0" lang="es-CL">
                <a:solidFill>
                  <a:srgbClr val="1F2328"/>
                </a:solidFill>
                <a:latin typeface="Consolas"/>
                <a:ea typeface="Consolas"/>
                <a:cs typeface="Consolas"/>
              </a:rPr>
              <a:t>│   └── flows/       *.feature (Gherkin)</a:t>
            </a:r>
          </a:p>
          <a:p>
            <a:pPr marL="0" indent="0">
              <a:lnSpc>
                <a:spcPct val="100000"/>
              </a:lnSpc>
              <a:spcAft>
                <a:spcPts val="0"/>
              </a:spcAft>
              <a:buNone/>
            </a:pPr>
            <a:r>
              <a:rPr sz="1100" b="0" i="0" lang="es-CL">
                <a:solidFill>
                  <a:srgbClr val="1F2328"/>
                </a:solidFill>
                <a:latin typeface="Consolas"/>
                <a:ea typeface="Consolas"/>
                <a:cs typeface="Consolas"/>
              </a:rPr>
              <a:t>├── backend/         NestJS + TypeORM</a:t>
            </a:r>
          </a:p>
          <a:p>
            <a:pPr marL="0" indent="0">
              <a:lnSpc>
                <a:spcPct val="100000"/>
              </a:lnSpc>
              <a:spcAft>
                <a:spcPts val="0"/>
              </a:spcAft>
              <a:buNone/>
            </a:pPr>
            <a:r>
              <a:rPr sz="1100" b="0" i="0" lang="es-CL">
                <a:solidFill>
                  <a:srgbClr val="1F2328"/>
                </a:solidFill>
                <a:latin typeface="Consolas"/>
                <a:ea typeface="Consolas"/>
                <a:cs typeface="Consolas"/>
              </a:rPr>
              <a:t>├── frontend/        Next.js + MSW</a:t>
            </a:r>
          </a:p>
          <a:p>
            <a:pPr marL="0" indent="0">
              <a:lnSpc>
                <a:spcPct val="100000"/>
              </a:lnSpc>
              <a:spcAft>
                <a:spcPts val="0"/>
              </a:spcAft>
              <a:buNone/>
            </a:pPr>
            <a:r>
              <a:rPr sz="1100" b="0" i="0" lang="es-CL">
                <a:solidFill>
                  <a:srgbClr val="1F2328"/>
                </a:solidFill>
                <a:latin typeface="Consolas"/>
                <a:ea typeface="Consolas"/>
                <a:cs typeface="Consolas"/>
              </a:rPr>
              <a:t>├── tools/           spec-trace, evidencia</a:t>
            </a:r>
          </a:p>
          <a:p>
            <a:pPr marL="0" indent="0">
              <a:lnSpc>
                <a:spcPct val="100000"/>
              </a:lnSpc>
              <a:spcAft>
                <a:spcPts val="0"/>
              </a:spcAft>
              <a:buNone/>
            </a:pPr>
            <a:r>
              <a:rPr sz="1100" b="0" i="0" lang="es-CL">
                <a:solidFill>
                  <a:srgbClr val="1F2328"/>
                </a:solidFill>
                <a:latin typeface="Consolas"/>
                <a:ea typeface="Consolas"/>
                <a:cs typeface="Consolas"/>
              </a:rPr>
              <a:t>├── .github/         workflows de CI</a:t>
            </a:r>
          </a:p>
          <a:p>
            <a:pPr marL="0" indent="0">
              <a:lnSpc>
                <a:spcPct val="100000"/>
              </a:lnSpc>
              <a:spcAft>
                <a:spcPts val="0"/>
              </a:spcAft>
              <a:buNone/>
            </a:pPr>
            <a:r>
              <a:rPr sz="1100" b="0" i="0" lang="es-CL">
                <a:solidFill>
                  <a:srgbClr val="1F2328"/>
                </a:solidFill>
                <a:latin typeface="Consolas"/>
                <a:ea typeface="Consolas"/>
                <a:cs typeface="Consolas"/>
              </a:rPr>
              <a:t>├── clase-practica/  laboratorio</a:t>
            </a:r>
          </a:p>
          <a:p>
            <a:pPr marL="0" indent="0">
              <a:lnSpc>
                <a:spcPct val="100000"/>
              </a:lnSpc>
              <a:spcAft>
                <a:spcPts val="0"/>
              </a:spcAft>
              <a:buNone/>
            </a:pPr>
            <a:r>
              <a:rPr sz="1100" b="0" i="0" lang="es-CL">
                <a:solidFill>
                  <a:srgbClr val="1F2328"/>
                </a:solidFill>
                <a:latin typeface="Consolas"/>
                <a:ea typeface="Consolas"/>
                <a:cs typeface="Consolas"/>
              </a:rPr>
              <a:t>├── docs/            esta presentación</a:t>
            </a:r>
          </a:p>
          <a:p>
            <a:pPr marL="0" indent="0">
              <a:lnSpc>
                <a:spcPct val="100000"/>
              </a:lnSpc>
              <a:spcAft>
                <a:spcPts val="0"/>
              </a:spcAft>
              <a:buNone/>
            </a:pPr>
            <a:r>
              <a:rPr sz="1100" b="0" i="0" lang="es-CL">
                <a:solidFill>
                  <a:srgbClr val="1F2328"/>
                </a:solidFill>
                <a:latin typeface="Consolas"/>
                <a:ea typeface="Consolas"/>
                <a:cs typeface="Consolas"/>
              </a:rPr>
              <a:t>└── docker-compose.yml</a:t>
            </a:r>
          </a:p>
        </p:txBody>
      </p:sp>
      <p:sp>
        <p:nvSpPr>
          <p:cNvPr id="7" name="TextBox 6"/>
          <p:cNvSpPr txBox="1"/>
          <p:nvPr/>
        </p:nvSpPr>
        <p:spPr>
          <a:xfrm>
            <a:off x="5623560" y="987552"/>
            <a:ext cx="3108960" cy="27432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Stack</a:t>
            </a:r>
          </a:p>
        </p:txBody>
      </p:sp>
      <p:sp>
        <p:nvSpPr>
          <p:cNvPr id="8" name="Rounded Rectangle 7"/>
          <p:cNvSpPr/>
          <p:nvPr/>
        </p:nvSpPr>
        <p:spPr>
          <a:xfrm>
            <a:off x="5623560" y="1353312"/>
            <a:ext cx="1499616" cy="365760"/>
          </a:xfrm>
          <a:prstGeom prst="roundRect">
            <a:avLst>
              <a:gd name="adj" fmla="val 1500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NestJS</a:t>
            </a:r>
          </a:p>
        </p:txBody>
      </p:sp>
      <p:sp>
        <p:nvSpPr>
          <p:cNvPr id="9" name="Rounded Rectangle 8"/>
          <p:cNvSpPr/>
          <p:nvPr/>
        </p:nvSpPr>
        <p:spPr>
          <a:xfrm>
            <a:off x="7196328" y="1353312"/>
            <a:ext cx="1499616" cy="365760"/>
          </a:xfrm>
          <a:prstGeom prst="roundRect">
            <a:avLst>
              <a:gd name="adj" fmla="val 1500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PostgreSQL</a:t>
            </a:r>
          </a:p>
        </p:txBody>
      </p:sp>
      <p:sp>
        <p:nvSpPr>
          <p:cNvPr id="10" name="Rounded Rectangle 9"/>
          <p:cNvSpPr/>
          <p:nvPr/>
        </p:nvSpPr>
        <p:spPr>
          <a:xfrm>
            <a:off x="5623560" y="1810512"/>
            <a:ext cx="1499616" cy="365760"/>
          </a:xfrm>
          <a:prstGeom prst="roundRect">
            <a:avLst>
              <a:gd name="adj" fmla="val 1500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TypeORM</a:t>
            </a:r>
          </a:p>
        </p:txBody>
      </p:sp>
      <p:sp>
        <p:nvSpPr>
          <p:cNvPr id="11" name="Rounded Rectangle 10"/>
          <p:cNvSpPr/>
          <p:nvPr/>
        </p:nvSpPr>
        <p:spPr>
          <a:xfrm>
            <a:off x="7196328" y="1810512"/>
            <a:ext cx="1499616" cy="365760"/>
          </a:xfrm>
          <a:prstGeom prst="roundRect">
            <a:avLst>
              <a:gd name="adj" fmla="val 15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Next.js</a:t>
            </a:r>
          </a:p>
        </p:txBody>
      </p:sp>
      <p:sp>
        <p:nvSpPr>
          <p:cNvPr id="12" name="Rounded Rectangle 11"/>
          <p:cNvSpPr/>
          <p:nvPr/>
        </p:nvSpPr>
        <p:spPr>
          <a:xfrm>
            <a:off x="5623560" y="2267712"/>
            <a:ext cx="1499616" cy="365760"/>
          </a:xfrm>
          <a:prstGeom prst="roundRect">
            <a:avLst>
              <a:gd name="adj" fmla="val 15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React</a:t>
            </a:r>
          </a:p>
        </p:txBody>
      </p:sp>
      <p:sp>
        <p:nvSpPr>
          <p:cNvPr id="13" name="Rounded Rectangle 12"/>
          <p:cNvSpPr/>
          <p:nvPr/>
        </p:nvSpPr>
        <p:spPr>
          <a:xfrm>
            <a:off x="7196328" y="2267712"/>
            <a:ext cx="1499616" cy="365760"/>
          </a:xfrm>
          <a:prstGeom prst="roundRect">
            <a:avLst>
              <a:gd name="adj" fmla="val 15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MSW</a:t>
            </a:r>
          </a:p>
        </p:txBody>
      </p:sp>
      <p:sp>
        <p:nvSpPr>
          <p:cNvPr id="14" name="Rounded Rectangle 13"/>
          <p:cNvSpPr/>
          <p:nvPr/>
        </p:nvSpPr>
        <p:spPr>
          <a:xfrm>
            <a:off x="5623560" y="2724912"/>
            <a:ext cx="1499616" cy="365760"/>
          </a:xfrm>
          <a:prstGeom prst="roundRect">
            <a:avLst>
              <a:gd name="adj" fmla="val 15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Jest</a:t>
            </a:r>
          </a:p>
        </p:txBody>
      </p:sp>
      <p:sp>
        <p:nvSpPr>
          <p:cNvPr id="15" name="Rounded Rectangle 14"/>
          <p:cNvSpPr/>
          <p:nvPr/>
        </p:nvSpPr>
        <p:spPr>
          <a:xfrm>
            <a:off x="7196328" y="2724912"/>
            <a:ext cx="1499616" cy="365760"/>
          </a:xfrm>
          <a:prstGeom prst="roundRect">
            <a:avLst>
              <a:gd name="adj" fmla="val 15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Vitest</a:t>
            </a:r>
          </a:p>
        </p:txBody>
      </p:sp>
      <p:sp>
        <p:nvSpPr>
          <p:cNvPr id="16" name="Rounded Rectangle 15"/>
          <p:cNvSpPr/>
          <p:nvPr/>
        </p:nvSpPr>
        <p:spPr>
          <a:xfrm>
            <a:off x="5623560" y="3182112"/>
            <a:ext cx="1499616" cy="365760"/>
          </a:xfrm>
          <a:prstGeom prst="roundRect">
            <a:avLst>
              <a:gd name="adj" fmla="val 15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Playwright</a:t>
            </a:r>
          </a:p>
        </p:txBody>
      </p:sp>
      <p:sp>
        <p:nvSpPr>
          <p:cNvPr id="17" name="Rounded Rectangle 16"/>
          <p:cNvSpPr/>
          <p:nvPr/>
        </p:nvSpPr>
        <p:spPr>
          <a:xfrm>
            <a:off x="7196328" y="3182112"/>
            <a:ext cx="1499616" cy="365760"/>
          </a:xfrm>
          <a:prstGeom prst="roundRect">
            <a:avLst>
              <a:gd name="adj" fmla="val 15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Testcontainers</a:t>
            </a:r>
          </a:p>
        </p:txBody>
      </p:sp>
      <p:sp>
        <p:nvSpPr>
          <p:cNvPr id="18" name="Rounded Rectangle 17"/>
          <p:cNvSpPr/>
          <p:nvPr/>
        </p:nvSpPr>
        <p:spPr>
          <a:xfrm>
            <a:off x="5623560" y="3639312"/>
            <a:ext cx="1499616" cy="365760"/>
          </a:xfrm>
          <a:prstGeom prst="roundRect">
            <a:avLst>
              <a:gd name="adj" fmla="val 1500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Spectral</a:t>
            </a:r>
          </a:p>
        </p:txBody>
      </p:sp>
      <p:sp>
        <p:nvSpPr>
          <p:cNvPr id="19" name="Rounded Rectangle 18"/>
          <p:cNvSpPr/>
          <p:nvPr/>
        </p:nvSpPr>
        <p:spPr>
          <a:xfrm>
            <a:off x="7196328" y="3639312"/>
            <a:ext cx="1499616" cy="365760"/>
          </a:xfrm>
          <a:prstGeom prst="roundRect">
            <a:avLst>
              <a:gd name="adj" fmla="val 15000"/>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Semgrep</a:t>
            </a:r>
          </a:p>
        </p:txBody>
      </p:sp>
      <p:sp>
        <p:nvSpPr>
          <p:cNvPr id="20" name="Rounded Rectangle 19"/>
          <p:cNvSpPr/>
          <p:nvPr/>
        </p:nvSpPr>
        <p:spPr>
          <a:xfrm>
            <a:off x="5623560" y="4096512"/>
            <a:ext cx="1499616" cy="365760"/>
          </a:xfrm>
          <a:prstGeom prst="roundRect">
            <a:avLst>
              <a:gd name="adj" fmla="val 15000"/>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Trivy</a:t>
            </a:r>
          </a:p>
        </p:txBody>
      </p:sp>
      <p:sp>
        <p:nvSpPr>
          <p:cNvPr id="21" name="Rounded Rectangle 20"/>
          <p:cNvSpPr/>
          <p:nvPr/>
        </p:nvSpPr>
        <p:spPr>
          <a:xfrm>
            <a:off x="7196328" y="4096512"/>
            <a:ext cx="1499616" cy="365760"/>
          </a:xfrm>
          <a:prstGeom prst="roundRect">
            <a:avLst>
              <a:gd name="adj" fmla="val 15000"/>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OWASP ZAP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La app: Biblioteca UC</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pic>
        <p:nvPicPr>
          <p:cNvPr id="4" name="Picture 3" descr="Captura de pantalla del catálogo de la Biblioteca UC"/>
          <p:cNvPicPr>
            <a:picLocks noChangeAspect="1"/>
          </p:cNvPicPr>
          <p:nvPr/>
        </p:nvPicPr>
        <p:blipFill>
          <a:blip r:embed="rId2"/>
          <a:stretch>
            <a:fillRect/>
          </a:stretch>
        </p:blipFill>
        <p:spPr>
          <a:xfrm>
            <a:off x="411480" y="987552"/>
            <a:ext cx="4069080" cy="2543175"/>
          </a:xfrm>
          <a:prstGeom prst="rect">
            <a:avLst/>
          </a:prstGeom>
          <a:ln w="9525">
            <a:solidFill>
              <a:srgbClr val="D0D7DE"/>
            </a:solidFill>
          </a:ln>
        </p:spPr>
      </p:pic>
      <p:sp>
        <p:nvSpPr>
          <p:cNvPr id="5" name="TextBox 4"/>
          <p:cNvSpPr txBox="1"/>
          <p:nvPr/>
        </p:nvSpPr>
        <p:spPr>
          <a:xfrm>
            <a:off x="411480" y="3611880"/>
            <a:ext cx="4069080" cy="640080"/>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Catálogo: insignia según las copias (UI-CAT-2)</a:t>
            </a:r>
          </a:p>
          <a:p>
            <a:pPr algn="l" marL="0" indent="0">
              <a:spcAft>
                <a:spcPts val="0"/>
              </a:spcAft>
              <a:buNone/>
            </a:pPr>
            <a:r>
              <a:rPr sz="1200" b="0" i="0" lang="es-CL">
                <a:solidFill>
                  <a:srgbClr val="1F2328"/>
                </a:solidFill>
                <a:latin typeface="Inter"/>
                <a:ea typeface="Inter"/>
                <a:cs typeface="Inter"/>
              </a:rPr>
              <a:t>y botón deshabilitado si está agotado (UI-CAT-3).</a:t>
            </a:r>
          </a:p>
        </p:txBody>
      </p:sp>
      <p:pic>
        <p:nvPicPr>
          <p:cNvPr id="6" name="Picture 5" descr="Captura del error al superar el límite de préstamos"/>
          <p:cNvPicPr>
            <a:picLocks noChangeAspect="1"/>
          </p:cNvPicPr>
          <p:nvPr/>
        </p:nvPicPr>
        <p:blipFill>
          <a:blip r:embed="rId3"/>
          <a:stretch>
            <a:fillRect/>
          </a:stretch>
        </p:blipFill>
        <p:spPr>
          <a:xfrm>
            <a:off x="4663440" y="987552"/>
            <a:ext cx="4069080" cy="2543175"/>
          </a:xfrm>
          <a:prstGeom prst="rect">
            <a:avLst/>
          </a:prstGeom>
          <a:ln w="9525">
            <a:solidFill>
              <a:srgbClr val="D0D7DE"/>
            </a:solidFill>
          </a:ln>
        </p:spPr>
      </p:pic>
      <p:sp>
        <p:nvSpPr>
          <p:cNvPr id="7" name="TextBox 6"/>
          <p:cNvSpPr txBox="1"/>
          <p:nvPr/>
        </p:nvSpPr>
        <p:spPr>
          <a:xfrm>
            <a:off x="4663440" y="3611880"/>
            <a:ext cx="4069080" cy="640080"/>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Detalle del libro: el cuarto préstamo muestra</a:t>
            </a:r>
          </a:p>
          <a:p>
            <a:pPr algn="l" marL="0" indent="0">
              <a:spcAft>
                <a:spcPts val="0"/>
              </a:spcAft>
              <a:buNone/>
            </a:pPr>
            <a:r>
              <a:rPr sz="1200" b="0" i="0" lang="es-CL">
                <a:solidFill>
                  <a:srgbClr val="1F2328"/>
                </a:solidFill>
                <a:latin typeface="Inter"/>
                <a:ea typeface="Inter"/>
                <a:cs typeface="Inter"/>
              </a:rPr>
              <a:t>el mensaje de LOAN-R2 (UI-LOAN-4).</a:t>
            </a:r>
          </a:p>
        </p:txBody>
      </p:sp>
      <p:sp>
        <p:nvSpPr>
          <p:cNvPr id="8" name="caption"/>
          <p:cNvSpPr txBox="1"/>
          <p:nvPr/>
        </p:nvSpPr>
        <p:spPr>
          <a:xfrm>
            <a:off x="411480" y="4343400"/>
            <a:ext cx="8321040" cy="237744"/>
          </a:xfrm>
          <a:prstGeom prst="rect">
            <a:avLst/>
          </a:prstGeom>
          <a:noFill/>
        </p:spPr>
        <p:txBody>
          <a:bodyPr wrap="square" lIns="36576" rIns="36576" tIns="36576" bIns="36576" anchor="t"/>
          <a:lstStyle/>
          <a:p>
            <a:pPr algn="ctr" marL="0" indent="0">
              <a:spcAft>
                <a:spcPts val="400"/>
              </a:spcAft>
              <a:buNone/>
            </a:pPr>
            <a:r>
              <a:rPr sz="1000" b="0" i="0" lang="es-CL">
                <a:solidFill>
                  <a:srgbClr val="8C959F"/>
                </a:solidFill>
                <a:latin typeface="Inter"/>
                <a:ea typeface="Inter"/>
                <a:cs typeface="Inter"/>
              </a:rPr>
              <a:t>Capturas reales que toma Playwright en el pipeline (FLOW-CAT-01 y FLOW-PRE-03), con el mock server y el reloj fijo.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Arquitectura en capas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411480" y="960120"/>
            <a:ext cx="402336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Backend (NestJS)</a:t>
            </a:r>
          </a:p>
        </p:txBody>
      </p:sp>
      <p:sp>
        <p:nvSpPr>
          <p:cNvPr id="5" name="Rounded Rectangle 4"/>
          <p:cNvSpPr/>
          <p:nvPr/>
        </p:nvSpPr>
        <p:spPr>
          <a:xfrm>
            <a:off x="411480" y="1298448"/>
            <a:ext cx="2377440" cy="585216"/>
          </a:xfrm>
          <a:prstGeom prst="roundRect">
            <a:avLst>
              <a:gd name="adj" fmla="val 12500"/>
            </a:avLst>
          </a:prstGeom>
          <a:solidFill>
            <a:srgbClr val="47A1AD"/>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presentation</a:t>
            </a:r>
          </a:p>
          <a:p>
            <a:pPr algn="ctr" marL="0" indent="0">
              <a:spcAft>
                <a:spcPts val="0"/>
              </a:spcAft>
              <a:buNone/>
            </a:pPr>
            <a:r>
              <a:rPr sz="1200" b="0" i="0" lang="es-CL">
                <a:solidFill>
                  <a:srgbClr val="FFFFFF"/>
                </a:solidFill>
                <a:latin typeface="Inter"/>
                <a:ea typeface="Inter"/>
                <a:cs typeface="Inter"/>
              </a:rPr>
              <a:t>controllers y DTOs</a:t>
            </a:r>
          </a:p>
        </p:txBody>
      </p:sp>
      <p:sp>
        <p:nvSpPr>
          <p:cNvPr id="6" name="Rounded Rectangle 5"/>
          <p:cNvSpPr/>
          <p:nvPr/>
        </p:nvSpPr>
        <p:spPr>
          <a:xfrm>
            <a:off x="411480" y="2011680"/>
            <a:ext cx="2377440" cy="585216"/>
          </a:xfrm>
          <a:prstGeom prst="roundRect">
            <a:avLst>
              <a:gd name="adj" fmla="val 12500"/>
            </a:avLst>
          </a:prstGeom>
          <a:solidFill>
            <a:srgbClr val="003D4F"/>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application</a:t>
            </a:r>
          </a:p>
          <a:p>
            <a:pPr algn="ctr" marL="0" indent="0">
              <a:spcAft>
                <a:spcPts val="0"/>
              </a:spcAft>
              <a:buNone/>
            </a:pPr>
            <a:r>
              <a:rPr sz="1200" b="0" i="0" lang="es-CL">
                <a:solidFill>
                  <a:srgbClr val="FFFFFF"/>
                </a:solidFill>
                <a:latin typeface="Inter"/>
                <a:ea typeface="Inter"/>
                <a:cs typeface="Inter"/>
              </a:rPr>
              <a:t>casos de uso y puertos</a:t>
            </a:r>
          </a:p>
        </p:txBody>
      </p:sp>
      <p:sp>
        <p:nvSpPr>
          <p:cNvPr id="7" name="Rounded Rectangle 6"/>
          <p:cNvSpPr/>
          <p:nvPr/>
        </p:nvSpPr>
        <p:spPr>
          <a:xfrm>
            <a:off x="411480" y="2724912"/>
            <a:ext cx="2377440" cy="585216"/>
          </a:xfrm>
          <a:prstGeom prst="roundRect">
            <a:avLst>
              <a:gd name="adj" fmla="val 12500"/>
            </a:avLst>
          </a:prstGeom>
          <a:solidFill>
            <a:srgbClr val="38761D"/>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domain</a:t>
            </a:r>
          </a:p>
          <a:p>
            <a:pPr algn="ctr" marL="0" indent="0">
              <a:spcAft>
                <a:spcPts val="0"/>
              </a:spcAft>
              <a:buNone/>
            </a:pPr>
            <a:r>
              <a:rPr sz="1200" b="0" i="0" lang="es-CL">
                <a:solidFill>
                  <a:srgbClr val="FFFFFF"/>
                </a:solidFill>
                <a:latin typeface="Inter"/>
                <a:ea typeface="Inter"/>
                <a:cs typeface="Inter"/>
              </a:rPr>
              <a:t>reglas puras</a:t>
            </a:r>
          </a:p>
        </p:txBody>
      </p:sp>
      <p:sp>
        <p:nvSpPr>
          <p:cNvPr id="8" name="Rounded Rectangle 7"/>
          <p:cNvSpPr/>
          <p:nvPr/>
        </p:nvSpPr>
        <p:spPr>
          <a:xfrm>
            <a:off x="3017520" y="2011680"/>
            <a:ext cx="1417320" cy="1298448"/>
          </a:xfrm>
          <a:prstGeom prst="roundRect">
            <a:avLst>
              <a:gd name="adj" fmla="val 5633"/>
            </a:avLst>
          </a:prstGeom>
          <a:solidFill>
            <a:srgbClr val="CC850A"/>
          </a:solidFill>
          <a:ln>
            <a:noFill/>
          </a:ln>
        </p:spPr>
        <p:txBody>
          <a:bodyPr rtlCol="0" anchor="ctr" wrap="square" lIns="36576" rIns="36576" tIns="36576" bIns="36576"/>
          <a:lstStyle/>
          <a:p>
            <a:pPr algn="ctr" marL="0" indent="0">
              <a:spcAft>
                <a:spcPts val="0"/>
              </a:spcAft>
              <a:buNone/>
            </a:pPr>
            <a:r>
              <a:rPr sz="1200" b="1" i="0" lang="es-CL">
                <a:solidFill>
                  <a:srgbClr val="FFFFFF"/>
                </a:solidFill>
                <a:latin typeface="Inter"/>
                <a:ea typeface="Inter"/>
                <a:cs typeface="Inter"/>
              </a:rPr>
              <a:t>infrastructure</a:t>
            </a:r>
          </a:p>
          <a:p>
            <a:pPr algn="ctr" marL="0" indent="0">
              <a:spcAft>
                <a:spcPts val="0"/>
              </a:spcAft>
              <a:buNone/>
            </a:pPr>
            <a:r>
              <a:rPr sz="1200" b="0" i="0" lang="es-CL">
                <a:solidFill>
                  <a:srgbClr val="FFFFFF"/>
                </a:solidFill>
                <a:latin typeface="Inter"/>
                <a:ea typeface="Inter"/>
                <a:cs typeface="Inter"/>
              </a:rPr>
              <a:t>TypeORM y migraciones</a:t>
            </a:r>
          </a:p>
        </p:txBody>
      </p:sp>
      <p:cxnSp>
        <p:nvCxnSpPr>
          <p:cNvPr id="9" name="Connector 8"/>
          <p:cNvCxnSpPr/>
          <p:nvPr/>
        </p:nvCxnSpPr>
        <p:spPr>
          <a:xfrm>
            <a:off x="1600200" y="1892807"/>
            <a:ext cx="0" cy="109729"/>
          </a:xfrm>
          <a:prstGeom prst="line">
            <a:avLst/>
          </a:prstGeom>
          <a:ln w="19050">
            <a:solidFill>
              <a:srgbClr val="1F2328"/>
            </a:solidFill>
            <a:tailEnd type="triangle" w="med" len="med"/>
          </a:ln>
        </p:spPr>
      </p:cxnSp>
      <p:cxnSp>
        <p:nvCxnSpPr>
          <p:cNvPr id="10" name="Connector 9"/>
          <p:cNvCxnSpPr/>
          <p:nvPr/>
        </p:nvCxnSpPr>
        <p:spPr>
          <a:xfrm>
            <a:off x="1600200" y="2606040"/>
            <a:ext cx="0" cy="109728"/>
          </a:xfrm>
          <a:prstGeom prst="line">
            <a:avLst/>
          </a:prstGeom>
          <a:ln w="19050">
            <a:solidFill>
              <a:srgbClr val="1F2328"/>
            </a:solidFill>
            <a:tailEnd type="triangle" w="med" len="med"/>
          </a:ln>
        </p:spPr>
      </p:cxnSp>
      <p:cxnSp>
        <p:nvCxnSpPr>
          <p:cNvPr id="11" name="Connector 10"/>
          <p:cNvCxnSpPr/>
          <p:nvPr/>
        </p:nvCxnSpPr>
        <p:spPr>
          <a:xfrm flipH="1">
            <a:off x="2807208" y="3017520"/>
            <a:ext cx="192024" cy="0"/>
          </a:xfrm>
          <a:prstGeom prst="line">
            <a:avLst/>
          </a:prstGeom>
          <a:ln w="19050">
            <a:solidFill>
              <a:srgbClr val="1F2328"/>
            </a:solidFill>
            <a:tailEnd type="triangle" w="med" len="med"/>
          </a:ln>
        </p:spPr>
      </p:cxnSp>
      <p:cxnSp>
        <p:nvCxnSpPr>
          <p:cNvPr id="12" name="Connector 11"/>
          <p:cNvCxnSpPr/>
          <p:nvPr/>
        </p:nvCxnSpPr>
        <p:spPr>
          <a:xfrm flipH="1">
            <a:off x="2807208" y="2304288"/>
            <a:ext cx="192024" cy="0"/>
          </a:xfrm>
          <a:prstGeom prst="line">
            <a:avLst/>
          </a:prstGeom>
          <a:ln w="19050">
            <a:solidFill>
              <a:srgbClr val="1F2328"/>
            </a:solidFill>
            <a:tailEnd type="triangle" w="med" len="med"/>
          </a:ln>
        </p:spPr>
      </p:cxnSp>
      <p:sp>
        <p:nvSpPr>
          <p:cNvPr id="13" name="TextBox 12"/>
          <p:cNvSpPr txBox="1"/>
          <p:nvPr/>
        </p:nvSpPr>
        <p:spPr>
          <a:xfrm>
            <a:off x="411480" y="3456432"/>
            <a:ext cx="4069080" cy="1143000"/>
          </a:xfrm>
          <a:prstGeom prst="rect">
            <a:avLst/>
          </a:prstGeom>
          <a:noFill/>
        </p:spPr>
        <p:txBody>
          <a:bodyPr wrap="square" lIns="36576" rIns="36576" tIns="36576" bIns="36576" anchor="t"/>
          <a:lstStyle/>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ARCH-R1</a:t>
            </a:r>
            <a:r>
              <a:rPr sz="1200" b="0" i="0" lang="es-CL">
                <a:solidFill>
                  <a:srgbClr val="1F2328"/>
                </a:solidFill>
                <a:latin typeface="Inter"/>
                <a:ea typeface="Inter"/>
                <a:cs typeface="Inter"/>
              </a:rPr>
              <a:t> domain no importa Nest, TypeORM ni pg</a:t>
            </a:r>
          </a:p>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ARCH-R2</a:t>
            </a:r>
            <a:r>
              <a:rPr sz="1200" b="0" i="0" lang="es-CL">
                <a:solidFill>
                  <a:srgbClr val="1F2328"/>
                </a:solidFill>
                <a:latin typeface="Inter"/>
                <a:ea typeface="Inter"/>
                <a:cs typeface="Inter"/>
              </a:rPr>
              <a:t> application usa puertos, no adaptadores</a:t>
            </a:r>
          </a:p>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ARCH-R3</a:t>
            </a:r>
            <a:r>
              <a:rPr sz="1200" b="0" i="0" lang="es-CL">
                <a:solidFill>
                  <a:srgbClr val="1F2328"/>
                </a:solidFill>
                <a:latin typeface="Inter"/>
                <a:ea typeface="Inter"/>
                <a:cs typeface="Inter"/>
              </a:rPr>
              <a:t> presentation no toca repositorios</a:t>
            </a:r>
          </a:p>
        </p:txBody>
      </p:sp>
      <p:sp>
        <p:nvSpPr>
          <p:cNvPr id="14" name="TextBox 13"/>
          <p:cNvSpPr txBox="1"/>
          <p:nvPr/>
        </p:nvSpPr>
        <p:spPr>
          <a:xfrm>
            <a:off x="4709160" y="960120"/>
            <a:ext cx="4023360" cy="274320"/>
          </a:xfrm>
          <a:prstGeom prst="rect">
            <a:avLst/>
          </a:prstGeom>
          <a:noFill/>
        </p:spPr>
        <p:txBody>
          <a:bodyPr wrap="square" lIns="36576" rIns="36576" tIns="36576" bIns="36576" anchor="t"/>
          <a:lstStyle/>
          <a:p>
            <a:pPr algn="l" marL="0" indent="0">
              <a:spcAft>
                <a:spcPts val="400"/>
              </a:spcAft>
              <a:buNone/>
            </a:pPr>
            <a:r>
              <a:rPr sz="1300" b="1" i="0" lang="es-CL">
                <a:solidFill>
                  <a:srgbClr val="CC850A"/>
                </a:solidFill>
                <a:latin typeface="Inter"/>
                <a:ea typeface="Inter"/>
                <a:cs typeface="Inter"/>
              </a:rPr>
              <a:t>Frontend (Next.js)</a:t>
            </a:r>
          </a:p>
        </p:txBody>
      </p:sp>
      <p:sp>
        <p:nvSpPr>
          <p:cNvPr id="15" name="Rounded Rectangle 14"/>
          <p:cNvSpPr/>
          <p:nvPr/>
        </p:nvSpPr>
        <p:spPr>
          <a:xfrm>
            <a:off x="4709160" y="1298448"/>
            <a:ext cx="2240280" cy="402336"/>
          </a:xfrm>
          <a:prstGeom prst="roundRect">
            <a:avLst>
              <a:gd name="adj" fmla="val 18181"/>
            </a:avLst>
          </a:prstGeom>
          <a:solidFill>
            <a:srgbClr val="CC850A"/>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app (rutas)</a:t>
            </a:r>
          </a:p>
        </p:txBody>
      </p:sp>
      <p:sp>
        <p:nvSpPr>
          <p:cNvPr id="16" name="Rounded Rectangle 15"/>
          <p:cNvSpPr/>
          <p:nvPr/>
        </p:nvSpPr>
        <p:spPr>
          <a:xfrm>
            <a:off x="4709160" y="1828800"/>
            <a:ext cx="2240280" cy="402336"/>
          </a:xfrm>
          <a:prstGeom prst="roundRect">
            <a:avLst>
              <a:gd name="adj" fmla="val 18181"/>
            </a:avLst>
          </a:prstGeom>
          <a:solidFill>
            <a:srgbClr val="CC850A"/>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features/*/components</a:t>
            </a:r>
          </a:p>
        </p:txBody>
      </p:sp>
      <p:sp>
        <p:nvSpPr>
          <p:cNvPr id="17" name="Rounded Rectangle 16"/>
          <p:cNvSpPr/>
          <p:nvPr/>
        </p:nvSpPr>
        <p:spPr>
          <a:xfrm>
            <a:off x="4709160" y="2359152"/>
            <a:ext cx="2240280" cy="402336"/>
          </a:xfrm>
          <a:prstGeom prst="roundRect">
            <a:avLst>
              <a:gd name="adj" fmla="val 18181"/>
            </a:avLst>
          </a:prstGeom>
          <a:solidFill>
            <a:srgbClr val="B5651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features/*/hooks</a:t>
            </a:r>
          </a:p>
        </p:txBody>
      </p:sp>
      <p:sp>
        <p:nvSpPr>
          <p:cNvPr id="18" name="Rounded Rectangle 17"/>
          <p:cNvSpPr/>
          <p:nvPr/>
        </p:nvSpPr>
        <p:spPr>
          <a:xfrm>
            <a:off x="4709160" y="2889504"/>
            <a:ext cx="2240280" cy="402336"/>
          </a:xfrm>
          <a:prstGeom prst="roundRect">
            <a:avLst>
              <a:gd name="adj" fmla="val 18181"/>
            </a:avLst>
          </a:prstGeom>
          <a:solidFill>
            <a:srgbClr val="B5651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shared/api</a:t>
            </a:r>
          </a:p>
        </p:txBody>
      </p:sp>
      <p:cxnSp>
        <p:nvCxnSpPr>
          <p:cNvPr id="19" name="Connector 18"/>
          <p:cNvCxnSpPr/>
          <p:nvPr/>
        </p:nvCxnSpPr>
        <p:spPr>
          <a:xfrm>
            <a:off x="5824728" y="1709928"/>
            <a:ext cx="0" cy="109728"/>
          </a:xfrm>
          <a:prstGeom prst="line">
            <a:avLst/>
          </a:prstGeom>
          <a:ln w="19050">
            <a:solidFill>
              <a:srgbClr val="1F2328"/>
            </a:solidFill>
            <a:tailEnd type="triangle" w="med" len="med"/>
          </a:ln>
        </p:spPr>
      </p:cxnSp>
      <p:cxnSp>
        <p:nvCxnSpPr>
          <p:cNvPr id="20" name="Connector 19"/>
          <p:cNvCxnSpPr/>
          <p:nvPr/>
        </p:nvCxnSpPr>
        <p:spPr>
          <a:xfrm>
            <a:off x="5824728" y="2240280"/>
            <a:ext cx="0" cy="109728"/>
          </a:xfrm>
          <a:prstGeom prst="line">
            <a:avLst/>
          </a:prstGeom>
          <a:ln w="19050">
            <a:solidFill>
              <a:srgbClr val="1F2328"/>
            </a:solidFill>
            <a:tailEnd type="triangle" w="med" len="med"/>
          </a:ln>
        </p:spPr>
      </p:cxnSp>
      <p:cxnSp>
        <p:nvCxnSpPr>
          <p:cNvPr id="21" name="Connector 20"/>
          <p:cNvCxnSpPr/>
          <p:nvPr/>
        </p:nvCxnSpPr>
        <p:spPr>
          <a:xfrm>
            <a:off x="5824728" y="2770632"/>
            <a:ext cx="0" cy="109728"/>
          </a:xfrm>
          <a:prstGeom prst="line">
            <a:avLst/>
          </a:prstGeom>
          <a:ln w="19050">
            <a:solidFill>
              <a:srgbClr val="1F2328"/>
            </a:solidFill>
            <a:tailEnd type="triangle" w="med" len="med"/>
          </a:ln>
        </p:spPr>
      </p:cxnSp>
      <p:sp>
        <p:nvSpPr>
          <p:cNvPr id="22" name="Rounded Rectangle 21"/>
          <p:cNvSpPr/>
          <p:nvPr/>
        </p:nvSpPr>
        <p:spPr>
          <a:xfrm>
            <a:off x="7269480" y="1828800"/>
            <a:ext cx="1463040" cy="932688"/>
          </a:xfrm>
          <a:prstGeom prst="roundRect">
            <a:avLst>
              <a:gd name="adj" fmla="val 7843"/>
            </a:avLst>
          </a:prstGeom>
          <a:solidFill>
            <a:srgbClr val="38761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shared/domain</a:t>
            </a:r>
          </a:p>
          <a:p>
            <a:pPr algn="ctr" marL="0" indent="0">
              <a:spcAft>
                <a:spcPts val="0"/>
              </a:spcAft>
              <a:buNone/>
            </a:pPr>
            <a:r>
              <a:rPr sz="1200" b="0" i="0" lang="es-CL">
                <a:solidFill>
                  <a:srgbClr val="FFFFFF"/>
                </a:solidFill>
                <a:latin typeface="Inter"/>
                <a:ea typeface="Inter"/>
                <a:cs typeface="Inter"/>
              </a:rPr>
              <a:t>funciones puras</a:t>
            </a:r>
          </a:p>
        </p:txBody>
      </p:sp>
      <p:cxnSp>
        <p:nvCxnSpPr>
          <p:cNvPr id="23" name="Connector 22"/>
          <p:cNvCxnSpPr/>
          <p:nvPr/>
        </p:nvCxnSpPr>
        <p:spPr>
          <a:xfrm>
            <a:off x="6967728" y="2029968"/>
            <a:ext cx="283464" cy="146304"/>
          </a:xfrm>
          <a:prstGeom prst="line">
            <a:avLst/>
          </a:prstGeom>
          <a:ln w="19050">
            <a:solidFill>
              <a:srgbClr val="1F2328"/>
            </a:solidFill>
            <a:tailEnd type="triangle" w="med" len="med"/>
          </a:ln>
        </p:spPr>
      </p:cxnSp>
      <p:cxnSp>
        <p:nvCxnSpPr>
          <p:cNvPr id="24" name="Connector 23"/>
          <p:cNvCxnSpPr/>
          <p:nvPr/>
        </p:nvCxnSpPr>
        <p:spPr>
          <a:xfrm flipV="1">
            <a:off x="6967728" y="2432304"/>
            <a:ext cx="283464" cy="128016"/>
          </a:xfrm>
          <a:prstGeom prst="line">
            <a:avLst/>
          </a:prstGeom>
          <a:ln w="19050">
            <a:solidFill>
              <a:srgbClr val="1F2328"/>
            </a:solidFill>
            <a:tailEnd type="triangle" w="med" len="med"/>
          </a:ln>
        </p:spPr>
      </p:cxnSp>
      <p:sp>
        <p:nvSpPr>
          <p:cNvPr id="25" name="Rounded Rectangle 24"/>
          <p:cNvSpPr/>
          <p:nvPr/>
        </p:nvSpPr>
        <p:spPr>
          <a:xfrm>
            <a:off x="7269480" y="2889504"/>
            <a:ext cx="1463040" cy="402336"/>
          </a:xfrm>
          <a:prstGeom prst="roundRect">
            <a:avLst>
              <a:gd name="adj" fmla="val 18181"/>
            </a:avLst>
          </a:prstGeom>
          <a:solidFill>
            <a:srgbClr val="47A1A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mocks (MSW)</a:t>
            </a:r>
          </a:p>
        </p:txBody>
      </p:sp>
      <p:cxnSp>
        <p:nvCxnSpPr>
          <p:cNvPr id="26" name="Connector 25"/>
          <p:cNvCxnSpPr/>
          <p:nvPr/>
        </p:nvCxnSpPr>
        <p:spPr>
          <a:xfrm flipH="1">
            <a:off x="6967728" y="3090672"/>
            <a:ext cx="283464" cy="0"/>
          </a:xfrm>
          <a:prstGeom prst="line">
            <a:avLst/>
          </a:prstGeom>
          <a:ln w="19050">
            <a:solidFill>
              <a:srgbClr val="47A1AD"/>
            </a:solidFill>
            <a:prstDash val="dash"/>
            <a:tailEnd type="triangle" w="med" len="med"/>
          </a:ln>
        </p:spPr>
      </p:cxnSp>
      <p:sp>
        <p:nvSpPr>
          <p:cNvPr id="27" name="TextBox 26"/>
          <p:cNvSpPr txBox="1"/>
          <p:nvPr/>
        </p:nvSpPr>
        <p:spPr>
          <a:xfrm>
            <a:off x="4709160" y="3456432"/>
            <a:ext cx="4023360" cy="1143000"/>
          </a:xfrm>
          <a:prstGeom prst="rect">
            <a:avLst/>
          </a:prstGeom>
          <a:noFill/>
        </p:spPr>
        <p:txBody>
          <a:bodyPr wrap="square" lIns="36576" rIns="36576" tIns="36576" bIns="36576" anchor="t"/>
          <a:lstStyle/>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ARCH-R6</a:t>
            </a:r>
            <a:r>
              <a:rPr sz="1200" b="0" i="0" lang="es-CL">
                <a:solidFill>
                  <a:srgbClr val="1F2328"/>
                </a:solidFill>
                <a:latin typeface="Inter"/>
                <a:ea typeface="Inter"/>
                <a:cs typeface="Inter"/>
              </a:rPr>
              <a:t> shared/domain sin React ni API</a:t>
            </a:r>
          </a:p>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ARCH-R7</a:t>
            </a:r>
            <a:r>
              <a:rPr sz="1200" b="0" i="0" lang="es-CL">
                <a:solidFill>
                  <a:srgbClr val="1F2328"/>
                </a:solidFill>
                <a:latin typeface="Inter"/>
                <a:ea typeface="Inter"/>
                <a:cs typeface="Inter"/>
              </a:rPr>
              <a:t> componentes sin fetch directo</a:t>
            </a:r>
          </a:p>
          <a:p>
            <a:pPr algn="l" marL="182880" indent="-164592">
              <a:spcAft>
                <a:spcPts val="200"/>
              </a:spcAft>
              <a:buClr>
                <a:srgbClr val="F2617A"/>
              </a:buClr>
              <a:buSzPct val="100000"/>
              <a:buFont typeface="Arial"/>
              <a:buChar char="●"/>
            </a:pPr>
            <a:r>
              <a:rPr sz="1200" b="1" i="0" lang="es-CL">
                <a:solidFill>
                  <a:srgbClr val="1F2328"/>
                </a:solidFill>
                <a:latin typeface="Inter"/>
                <a:ea typeface="Inter"/>
                <a:cs typeface="Inter"/>
              </a:rPr>
              <a:t>ARCH-R8</a:t>
            </a:r>
            <a:r>
              <a:rPr sz="1200" b="0" i="0" lang="es-CL">
                <a:solidFill>
                  <a:srgbClr val="1F2328"/>
                </a:solidFill>
                <a:latin typeface="Inter"/>
                <a:ea typeface="Inter"/>
                <a:cs typeface="Inter"/>
              </a:rPr>
              <a:t> app no importa mocks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Test de arquitectura con dependency-cruiser</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4572000" cy="2103120"/>
          </a:xfrm>
          <a:prstGeom prst="roundRect">
            <a:avLst>
              <a:gd name="adj" fmla="val 2608"/>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435254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backend/.dependency-cruiser.cjs (extracto)</a:t>
            </a:r>
          </a:p>
        </p:txBody>
      </p:sp>
      <p:sp>
        <p:nvSpPr>
          <p:cNvPr id="6" name="TextBox 5"/>
          <p:cNvSpPr txBox="1"/>
          <p:nvPr/>
        </p:nvSpPr>
        <p:spPr>
          <a:xfrm>
            <a:off x="521208" y="1298448"/>
            <a:ext cx="4352544" cy="1737359"/>
          </a:xfrm>
          <a:prstGeom prst="rect">
            <a:avLst/>
          </a:prstGeom>
          <a:noFill/>
        </p:spPr>
        <p:txBody>
          <a:bodyPr wrap="none" lIns="0" rIns="0" tIns="0" bIns="0"/>
          <a:lstStyle/>
          <a:p>
            <a:pPr marL="0" indent="0">
              <a:lnSpc>
                <a:spcPct val="100000"/>
              </a:lnSpc>
              <a:spcAft>
                <a:spcPts val="0"/>
              </a:spcAft>
              <a:buNone/>
            </a:pP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LAYER = (layer) =&gt; </a:t>
            </a:r>
            <a:r>
              <a:rPr sz="1000" b="0" i="0" lang="es-CL">
                <a:solidFill>
                  <a:srgbClr val="A31515"/>
                </a:solidFill>
                <a:latin typeface="Consolas"/>
                <a:ea typeface="Consolas"/>
                <a:cs typeface="Consolas"/>
              </a:rPr>
              <a:t>`^src/[^/]+/${layer}/`</a:t>
            </a:r>
          </a:p>
          <a:p>
            <a:pPr marL="0" indent="0">
              <a:lnSpc>
                <a:spcPct val="100000"/>
              </a:lnSpc>
              <a:spcAft>
                <a:spcPts val="0"/>
              </a:spcAft>
              <a:buNone/>
            </a:pP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module.exports = {</a:t>
            </a:r>
          </a:p>
          <a:p>
            <a:pPr marL="0" indent="0">
              <a:lnSpc>
                <a:spcPct val="100000"/>
              </a:lnSpc>
              <a:spcAft>
                <a:spcPts val="0"/>
              </a:spcAft>
              <a:buNone/>
            </a:pPr>
            <a:r>
              <a:rPr sz="1000" b="0" i="0" lang="es-CL">
                <a:solidFill>
                  <a:srgbClr val="1F2328"/>
                </a:solidFill>
                <a:latin typeface="Consolas"/>
                <a:ea typeface="Consolas"/>
                <a:cs typeface="Consolas"/>
              </a:rPr>
              <a:t>  forbidden: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name: </a:t>
            </a:r>
            <a:r>
              <a:rPr sz="1000" b="0" i="0" lang="es-CL">
                <a:solidFill>
                  <a:srgbClr val="A31515"/>
                </a:solidFill>
                <a:latin typeface="Consolas"/>
                <a:ea typeface="Consolas"/>
                <a:cs typeface="Consolas"/>
              </a:rPr>
              <a:t>'ARCH-R1-dominio-puro'</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severity: </a:t>
            </a:r>
            <a:r>
              <a:rPr sz="1000" b="0" i="0" lang="es-CL">
                <a:solidFill>
                  <a:srgbClr val="A31515"/>
                </a:solidFill>
                <a:latin typeface="Consolas"/>
                <a:ea typeface="Consolas"/>
                <a:cs typeface="Consolas"/>
              </a:rPr>
              <a:t>'error'</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from</a:t>
            </a:r>
            <a:r>
              <a:rPr sz="1000" b="0" i="0" lang="es-CL">
                <a:solidFill>
                  <a:srgbClr val="1F2328"/>
                </a:solidFill>
                <a:latin typeface="Consolas"/>
                <a:ea typeface="Consolas"/>
                <a:cs typeface="Consolas"/>
              </a:rPr>
              <a:t>: { path: LAYER(</a:t>
            </a:r>
            <a:r>
              <a:rPr sz="1000" b="0" i="0" lang="es-CL">
                <a:solidFill>
                  <a:srgbClr val="A31515"/>
                </a:solidFill>
                <a:latin typeface="Consolas"/>
                <a:ea typeface="Consolas"/>
                <a:cs typeface="Consolas"/>
              </a:rPr>
              <a:t>'domain'</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to: { pathNot: LAYER(</a:t>
            </a:r>
            <a:r>
              <a:rPr sz="1000" b="0" i="0" lang="es-CL">
                <a:solidFill>
                  <a:srgbClr val="A31515"/>
                </a:solidFill>
                <a:latin typeface="Consolas"/>
                <a:ea typeface="Consolas"/>
                <a:cs typeface="Consolas"/>
              </a:rPr>
              <a:t>'domain'</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p>
        </p:txBody>
      </p:sp>
      <p:sp>
        <p:nvSpPr>
          <p:cNvPr id="7" name="Rounded Rectangle 6"/>
          <p:cNvSpPr/>
          <p:nvPr/>
        </p:nvSpPr>
        <p:spPr>
          <a:xfrm>
            <a:off x="5166360" y="987552"/>
            <a:ext cx="3566160" cy="2103120"/>
          </a:xfrm>
          <a:prstGeom prst="roundRect">
            <a:avLst>
              <a:gd name="adj" fmla="val 4347"/>
            </a:avLst>
          </a:prstGeom>
          <a:solidFill>
            <a:srgbClr val="EDF1F3"/>
          </a:solidFill>
          <a:ln>
            <a:noFill/>
          </a:ln>
        </p:spPr>
        <p:txBody>
          <a:bodyPr rtlCol="0" anchor="ctr" wrap="square" lIns="54864" rIns="54864" tIns="54864" bIns="54864"/>
          <a:lstStyle/>
          <a:p>
            <a:pPr algn="ctr"/>
          </a:p>
        </p:txBody>
      </p:sp>
      <p:sp>
        <p:nvSpPr>
          <p:cNvPr id="8" name="TextBox 7"/>
          <p:cNvSpPr txBox="1"/>
          <p:nvPr/>
        </p:nvSpPr>
        <p:spPr>
          <a:xfrm>
            <a:off x="5303520" y="1078992"/>
            <a:ext cx="329184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Por qué importa</a:t>
            </a:r>
          </a:p>
        </p:txBody>
      </p:sp>
      <p:sp>
        <p:nvSpPr>
          <p:cNvPr id="9" name="TextBox 8"/>
          <p:cNvSpPr txBox="1"/>
          <p:nvPr/>
        </p:nvSpPr>
        <p:spPr>
          <a:xfrm>
            <a:off x="5303520" y="1426464"/>
            <a:ext cx="3291840" cy="1600199"/>
          </a:xfrm>
          <a:prstGeom prst="rect">
            <a:avLst/>
          </a:prstGeom>
          <a:noFill/>
        </p:spPr>
        <p:txBody>
          <a:bodyPr wrap="square" lIns="36576" rIns="36576" tIns="36576" bIns="36576" anchor="t"/>
          <a:lstStyle/>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La IA importa lo que encuentra más cerca, no respeta capas por iniciativa propia.</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Una regla de la spec verificada en CI convierte la arquitectura en un test.</a:t>
            </a:r>
          </a:p>
        </p:txBody>
      </p:sp>
      <p:sp>
        <p:nvSpPr>
          <p:cNvPr id="10" name="Rounded Rectangle 9"/>
          <p:cNvSpPr/>
          <p:nvPr/>
        </p:nvSpPr>
        <p:spPr>
          <a:xfrm>
            <a:off x="411480" y="3218688"/>
            <a:ext cx="8321040" cy="1115568"/>
          </a:xfrm>
          <a:prstGeom prst="roundRect">
            <a:avLst>
              <a:gd name="adj" fmla="val 4918"/>
            </a:avLst>
          </a:prstGeom>
          <a:solidFill>
            <a:srgbClr val="F6F8FA"/>
          </a:solidFill>
          <a:ln w="9525">
            <a:solidFill>
              <a:srgbClr val="D0D7DE"/>
            </a:solidFill>
          </a:ln>
        </p:spPr>
        <p:txBody>
          <a:bodyPr rtlCol="0" anchor="ctr" wrap="square" lIns="54864" rIns="54864" tIns="54864" bIns="54864"/>
          <a:lstStyle/>
          <a:p>
            <a:pPr algn="ctr"/>
          </a:p>
        </p:txBody>
      </p:sp>
      <p:sp>
        <p:nvSpPr>
          <p:cNvPr id="11" name="TextBox 10"/>
          <p:cNvSpPr txBox="1"/>
          <p:nvPr/>
        </p:nvSpPr>
        <p:spPr>
          <a:xfrm>
            <a:off x="521208" y="3264408"/>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Salida real al importar @nestjs/common en el dominio</a:t>
            </a:r>
          </a:p>
        </p:txBody>
      </p:sp>
      <p:sp>
        <p:nvSpPr>
          <p:cNvPr id="12" name="TextBox 11"/>
          <p:cNvSpPr txBox="1"/>
          <p:nvPr/>
        </p:nvSpPr>
        <p:spPr>
          <a:xfrm>
            <a:off x="521208" y="3529584"/>
            <a:ext cx="8101583" cy="749808"/>
          </a:xfrm>
          <a:prstGeom prst="rect">
            <a:avLst/>
          </a:prstGeom>
          <a:noFill/>
        </p:spPr>
        <p:txBody>
          <a:bodyPr wrap="none" lIns="0" rIns="0" tIns="0" bIns="0"/>
          <a:lstStyle/>
          <a:p>
            <a:pPr marL="0" indent="0">
              <a:lnSpc>
                <a:spcPct val="100000"/>
              </a:lnSpc>
              <a:spcAft>
                <a:spcPts val="0"/>
              </a:spcAft>
              <a:buNone/>
            </a:pPr>
            <a:r>
              <a:rPr sz="1100" b="0" i="0" lang="es-CL">
                <a:solidFill>
                  <a:srgbClr val="8C959F"/>
                </a:solidFill>
                <a:latin typeface="Consolas"/>
                <a:ea typeface="Consolas"/>
                <a:cs typeface="Consolas"/>
              </a:rPr>
              <a:t>$ </a:t>
            </a:r>
            <a:r>
              <a:rPr sz="1100" b="0" i="0" lang="es-CL">
                <a:solidFill>
                  <a:srgbClr val="1F2328"/>
                </a:solidFill>
                <a:latin typeface="Consolas"/>
                <a:ea typeface="Consolas"/>
                <a:cs typeface="Consolas"/>
              </a:rPr>
              <a:t>npm run test:arch</a:t>
            </a:r>
          </a:p>
          <a:p>
            <a:pPr marL="0" indent="0">
              <a:lnSpc>
                <a:spcPct val="100000"/>
              </a:lnSpc>
              <a:spcAft>
                <a:spcPts val="0"/>
              </a:spcAft>
              <a:buNone/>
            </a:pPr>
            <a:r>
              <a:rPr sz="1100" b="1" i="0" lang="es-CL">
                <a:solidFill>
                  <a:srgbClr val="980000"/>
                </a:solidFill>
                <a:latin typeface="Consolas"/>
                <a:ea typeface="Consolas"/>
                <a:cs typeface="Consolas"/>
              </a:rPr>
              <a:t>  error ARCH-R1-dominio-puro: src/loans/domain/loan.ts → node_modules/@nestjs/common/index.js</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1" i="0" lang="es-CL">
                <a:solidFill>
                  <a:srgbClr val="980000"/>
                </a:solidFill>
                <a:latin typeface="Consolas"/>
                <a:ea typeface="Consolas"/>
                <a:cs typeface="Consolas"/>
              </a:rPr>
              <a:t>x 1 dependency violations (1 errors, 0 warnings). 68 modules, 170 dependencies cruised.</a:t>
            </a:r>
          </a:p>
        </p:txBody>
      </p:sp>
      <p:sp>
        <p:nvSpPr>
          <p:cNvPr id="13" name="caption"/>
          <p:cNvSpPr txBox="1"/>
          <p:nvPr/>
        </p:nvSpPr>
        <p:spPr>
          <a:xfrm>
            <a:off x="411480" y="4407408"/>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El libro lo llama architecture testing: ArchUnit en Java, p. 315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4</a:t>
            </a:r>
          </a:p>
          <a:p>
            <a:pPr algn="ctr">
              <a:spcAft>
                <a:spcPts val="1600"/>
              </a:spcAft>
            </a:pPr>
            <a:r>
              <a:rPr sz="3600" b="1" i="0" lang="es-CL">
                <a:solidFill>
                  <a:srgbClr val="4A86E8"/>
                </a:solidFill>
                <a:latin typeface="Bitter"/>
                <a:ea typeface="Bitter"/>
                <a:cs typeface="Bitter"/>
              </a:rPr>
              <a:t>Tipos de prueba, uno por uno</a:t>
            </a:r>
          </a:p>
          <a:p>
            <a:pPr algn="ctr">
              <a:spcAft>
                <a:spcPts val="1400"/>
              </a:spcAft>
            </a:pPr>
            <a:r>
              <a:rPr sz="1500" b="0" i="0" lang="es-CL">
                <a:solidFill>
                  <a:srgbClr val="57606A"/>
                </a:solidFill>
                <a:latin typeface="Inter"/>
                <a:ea typeface="Inter"/>
                <a:cs typeface="Inter"/>
              </a:rPr>
              <a:t>Qué es, qué detecta, con qué herramienta, dónde corre y un ejemplo real.</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Mapa de pruebas del proyecto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1325880" cy="713232"/>
          </a:xfrm>
          <a:prstGeom prst="roundRect">
            <a:avLst>
              <a:gd name="adj" fmla="val 10256"/>
            </a:avLst>
          </a:prstGeom>
          <a:solidFill>
            <a:srgbClr val="003D4F"/>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Backend</a:t>
            </a:r>
          </a:p>
          <a:p>
            <a:pPr algn="ctr" marL="0" indent="0">
              <a:spcAft>
                <a:spcPts val="0"/>
              </a:spcAft>
              <a:buNone/>
            </a:pPr>
            <a:r>
              <a:rPr sz="1200" b="0" i="0" lang="es-CL">
                <a:solidFill>
                  <a:srgbClr val="FFFFFF"/>
                </a:solidFill>
                <a:latin typeface="Inter"/>
                <a:ea typeface="Inter"/>
                <a:cs typeface="Inter"/>
              </a:rPr>
              <a:t>Jest</a:t>
            </a:r>
          </a:p>
        </p:txBody>
      </p:sp>
      <p:sp>
        <p:nvSpPr>
          <p:cNvPr id="5" name="Rounded Rectangle 4"/>
          <p:cNvSpPr/>
          <p:nvPr/>
        </p:nvSpPr>
        <p:spPr>
          <a:xfrm>
            <a:off x="1847088" y="987552"/>
            <a:ext cx="223418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6" name="TextBox 5"/>
          <p:cNvSpPr txBox="1"/>
          <p:nvPr/>
        </p:nvSpPr>
        <p:spPr>
          <a:xfrm>
            <a:off x="1901952" y="987552"/>
            <a:ext cx="658368"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003D4F"/>
                </a:solidFill>
                <a:latin typeface="Bitter"/>
                <a:ea typeface="Bitter"/>
                <a:cs typeface="Bitter"/>
              </a:rPr>
              <a:t>56</a:t>
            </a:r>
          </a:p>
        </p:txBody>
      </p:sp>
      <p:sp>
        <p:nvSpPr>
          <p:cNvPr id="7" name="TextBox 6"/>
          <p:cNvSpPr txBox="1"/>
          <p:nvPr/>
        </p:nvSpPr>
        <p:spPr>
          <a:xfrm>
            <a:off x="2560320" y="1033272"/>
            <a:ext cx="1484376"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Unit dominio y aplicación</a:t>
            </a:r>
          </a:p>
        </p:txBody>
      </p:sp>
      <p:sp>
        <p:nvSpPr>
          <p:cNvPr id="8" name="TextBox 7"/>
          <p:cNvSpPr txBox="1"/>
          <p:nvPr/>
        </p:nvSpPr>
        <p:spPr>
          <a:xfrm>
            <a:off x="2560320" y="1353312"/>
            <a:ext cx="1484376"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etapa 5</a:t>
            </a:r>
          </a:p>
        </p:txBody>
      </p:sp>
      <p:sp>
        <p:nvSpPr>
          <p:cNvPr id="9" name="Rounded Rectangle 8"/>
          <p:cNvSpPr/>
          <p:nvPr/>
        </p:nvSpPr>
        <p:spPr>
          <a:xfrm>
            <a:off x="4172712" y="987552"/>
            <a:ext cx="223418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10" name="TextBox 9"/>
          <p:cNvSpPr txBox="1"/>
          <p:nvPr/>
        </p:nvSpPr>
        <p:spPr>
          <a:xfrm>
            <a:off x="4227576" y="987552"/>
            <a:ext cx="658368"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003D4F"/>
                </a:solidFill>
                <a:latin typeface="Bitter"/>
                <a:ea typeface="Bitter"/>
                <a:cs typeface="Bitter"/>
              </a:rPr>
              <a:t>19</a:t>
            </a:r>
          </a:p>
        </p:txBody>
      </p:sp>
      <p:sp>
        <p:nvSpPr>
          <p:cNvPr id="11" name="TextBox 10"/>
          <p:cNvSpPr txBox="1"/>
          <p:nvPr/>
        </p:nvSpPr>
        <p:spPr>
          <a:xfrm>
            <a:off x="4885944" y="1033272"/>
            <a:ext cx="1484376"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Integración con PostgreSQL</a:t>
            </a:r>
          </a:p>
        </p:txBody>
      </p:sp>
      <p:sp>
        <p:nvSpPr>
          <p:cNvPr id="12" name="TextBox 11"/>
          <p:cNvSpPr txBox="1"/>
          <p:nvPr/>
        </p:nvSpPr>
        <p:spPr>
          <a:xfrm>
            <a:off x="4885944" y="1353312"/>
            <a:ext cx="1484376"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etapa 6</a:t>
            </a:r>
          </a:p>
        </p:txBody>
      </p:sp>
      <p:sp>
        <p:nvSpPr>
          <p:cNvPr id="13" name="Rounded Rectangle 12"/>
          <p:cNvSpPr/>
          <p:nvPr/>
        </p:nvSpPr>
        <p:spPr>
          <a:xfrm>
            <a:off x="6498336" y="987552"/>
            <a:ext cx="223418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14" name="TextBox 13"/>
          <p:cNvSpPr txBox="1"/>
          <p:nvPr/>
        </p:nvSpPr>
        <p:spPr>
          <a:xfrm>
            <a:off x="6553200" y="987552"/>
            <a:ext cx="658368"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003D4F"/>
                </a:solidFill>
                <a:latin typeface="Bitter"/>
                <a:ea typeface="Bitter"/>
                <a:cs typeface="Bitter"/>
              </a:rPr>
              <a:t>12</a:t>
            </a:r>
          </a:p>
        </p:txBody>
      </p:sp>
      <p:sp>
        <p:nvSpPr>
          <p:cNvPr id="15" name="TextBox 14"/>
          <p:cNvSpPr txBox="1"/>
          <p:nvPr/>
        </p:nvSpPr>
        <p:spPr>
          <a:xfrm>
            <a:off x="7211568" y="1033272"/>
            <a:ext cx="1484376"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Contrato del proveedor</a:t>
            </a:r>
          </a:p>
        </p:txBody>
      </p:sp>
      <p:sp>
        <p:nvSpPr>
          <p:cNvPr id="16" name="TextBox 15"/>
          <p:cNvSpPr txBox="1"/>
          <p:nvPr/>
        </p:nvSpPr>
        <p:spPr>
          <a:xfrm>
            <a:off x="7211568" y="1353312"/>
            <a:ext cx="1484376"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etapa 6</a:t>
            </a:r>
          </a:p>
        </p:txBody>
      </p:sp>
      <p:sp>
        <p:nvSpPr>
          <p:cNvPr id="17" name="Rounded Rectangle 16"/>
          <p:cNvSpPr/>
          <p:nvPr/>
        </p:nvSpPr>
        <p:spPr>
          <a:xfrm>
            <a:off x="411480" y="1810512"/>
            <a:ext cx="1325880" cy="713232"/>
          </a:xfrm>
          <a:prstGeom prst="roundRect">
            <a:avLst>
              <a:gd name="adj" fmla="val 10256"/>
            </a:avLst>
          </a:prstGeom>
          <a:solidFill>
            <a:srgbClr val="CC850A"/>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Frontend</a:t>
            </a:r>
          </a:p>
          <a:p>
            <a:pPr algn="ctr" marL="0" indent="0">
              <a:spcAft>
                <a:spcPts val="0"/>
              </a:spcAft>
              <a:buNone/>
            </a:pPr>
            <a:r>
              <a:rPr sz="1200" b="0" i="0" lang="es-CL">
                <a:solidFill>
                  <a:srgbClr val="FFFFFF"/>
                </a:solidFill>
                <a:latin typeface="Inter"/>
                <a:ea typeface="Inter"/>
                <a:cs typeface="Inter"/>
              </a:rPr>
              <a:t>Vitest</a:t>
            </a:r>
          </a:p>
        </p:txBody>
      </p:sp>
      <p:sp>
        <p:nvSpPr>
          <p:cNvPr id="18" name="Rounded Rectangle 17"/>
          <p:cNvSpPr/>
          <p:nvPr/>
        </p:nvSpPr>
        <p:spPr>
          <a:xfrm>
            <a:off x="1847088" y="1810512"/>
            <a:ext cx="3396996"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19" name="TextBox 18"/>
          <p:cNvSpPr txBox="1"/>
          <p:nvPr/>
        </p:nvSpPr>
        <p:spPr>
          <a:xfrm>
            <a:off x="1901952" y="1810512"/>
            <a:ext cx="658368"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CC850A"/>
                </a:solidFill>
                <a:latin typeface="Bitter"/>
                <a:ea typeface="Bitter"/>
                <a:cs typeface="Bitter"/>
              </a:rPr>
              <a:t>31</a:t>
            </a:r>
          </a:p>
        </p:txBody>
      </p:sp>
      <p:sp>
        <p:nvSpPr>
          <p:cNvPr id="20" name="TextBox 19"/>
          <p:cNvSpPr txBox="1"/>
          <p:nvPr/>
        </p:nvSpPr>
        <p:spPr>
          <a:xfrm>
            <a:off x="2560320" y="1856231"/>
            <a:ext cx="2647188"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Unit y componentes</a:t>
            </a:r>
          </a:p>
        </p:txBody>
      </p:sp>
      <p:sp>
        <p:nvSpPr>
          <p:cNvPr id="21" name="TextBox 20"/>
          <p:cNvSpPr txBox="1"/>
          <p:nvPr/>
        </p:nvSpPr>
        <p:spPr>
          <a:xfrm>
            <a:off x="2560320" y="2176272"/>
            <a:ext cx="2647188"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etapa 5</a:t>
            </a:r>
          </a:p>
        </p:txBody>
      </p:sp>
      <p:sp>
        <p:nvSpPr>
          <p:cNvPr id="22" name="Rounded Rectangle 21"/>
          <p:cNvSpPr/>
          <p:nvPr/>
        </p:nvSpPr>
        <p:spPr>
          <a:xfrm>
            <a:off x="5335524" y="1810512"/>
            <a:ext cx="3396996"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23" name="TextBox 22"/>
          <p:cNvSpPr txBox="1"/>
          <p:nvPr/>
        </p:nvSpPr>
        <p:spPr>
          <a:xfrm>
            <a:off x="5390388" y="1810512"/>
            <a:ext cx="658368"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CC850A"/>
                </a:solidFill>
                <a:latin typeface="Bitter"/>
                <a:ea typeface="Bitter"/>
                <a:cs typeface="Bitter"/>
              </a:rPr>
              <a:t>23</a:t>
            </a:r>
          </a:p>
        </p:txBody>
      </p:sp>
      <p:sp>
        <p:nvSpPr>
          <p:cNvPr id="24" name="TextBox 23"/>
          <p:cNvSpPr txBox="1"/>
          <p:nvPr/>
        </p:nvSpPr>
        <p:spPr>
          <a:xfrm>
            <a:off x="6048756" y="1856231"/>
            <a:ext cx="2647188"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Contrato de mocks MSW</a:t>
            </a:r>
          </a:p>
        </p:txBody>
      </p:sp>
      <p:sp>
        <p:nvSpPr>
          <p:cNvPr id="25" name="TextBox 24"/>
          <p:cNvSpPr txBox="1"/>
          <p:nvPr/>
        </p:nvSpPr>
        <p:spPr>
          <a:xfrm>
            <a:off x="6048756" y="2176272"/>
            <a:ext cx="2647188"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etapa 5</a:t>
            </a:r>
          </a:p>
        </p:txBody>
      </p:sp>
      <p:sp>
        <p:nvSpPr>
          <p:cNvPr id="26" name="Rounded Rectangle 25"/>
          <p:cNvSpPr/>
          <p:nvPr/>
        </p:nvSpPr>
        <p:spPr>
          <a:xfrm>
            <a:off x="411480" y="2633472"/>
            <a:ext cx="1325880" cy="713232"/>
          </a:xfrm>
          <a:prstGeom prst="roundRect">
            <a:avLst>
              <a:gd name="adj" fmla="val 10256"/>
            </a:avLst>
          </a:prstGeom>
          <a:solidFill>
            <a:srgbClr val="38761D"/>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Navegador</a:t>
            </a:r>
          </a:p>
          <a:p>
            <a:pPr algn="ctr" marL="0" indent="0">
              <a:spcAft>
                <a:spcPts val="0"/>
              </a:spcAft>
              <a:buNone/>
            </a:pPr>
            <a:r>
              <a:rPr sz="1200" b="0" i="0" lang="es-CL">
                <a:solidFill>
                  <a:srgbClr val="FFFFFF"/>
                </a:solidFill>
                <a:latin typeface="Inter"/>
                <a:ea typeface="Inter"/>
                <a:cs typeface="Inter"/>
              </a:rPr>
              <a:t>Playwright</a:t>
            </a:r>
          </a:p>
        </p:txBody>
      </p:sp>
      <p:sp>
        <p:nvSpPr>
          <p:cNvPr id="27" name="Rounded Rectangle 26"/>
          <p:cNvSpPr/>
          <p:nvPr/>
        </p:nvSpPr>
        <p:spPr>
          <a:xfrm>
            <a:off x="1847088" y="2633472"/>
            <a:ext cx="130393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28" name="TextBox 27"/>
          <p:cNvSpPr txBox="1"/>
          <p:nvPr/>
        </p:nvSpPr>
        <p:spPr>
          <a:xfrm>
            <a:off x="1901952" y="2633472"/>
            <a:ext cx="438912"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38761D"/>
                </a:solidFill>
                <a:latin typeface="Bitter"/>
                <a:ea typeface="Bitter"/>
                <a:cs typeface="Bitter"/>
              </a:rPr>
              <a:t>7</a:t>
            </a:r>
          </a:p>
        </p:txBody>
      </p:sp>
      <p:sp>
        <p:nvSpPr>
          <p:cNvPr id="29" name="TextBox 28"/>
          <p:cNvSpPr txBox="1"/>
          <p:nvPr/>
        </p:nvSpPr>
        <p:spPr>
          <a:xfrm>
            <a:off x="2340864" y="2679191"/>
            <a:ext cx="773582"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flujos</a:t>
            </a:r>
          </a:p>
        </p:txBody>
      </p:sp>
      <p:sp>
        <p:nvSpPr>
          <p:cNvPr id="30" name="TextBox 29"/>
          <p:cNvSpPr txBox="1"/>
          <p:nvPr/>
        </p:nvSpPr>
        <p:spPr>
          <a:xfrm>
            <a:off x="2340864" y="2999232"/>
            <a:ext cx="773582"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Gherkin</a:t>
            </a:r>
          </a:p>
        </p:txBody>
      </p:sp>
      <p:sp>
        <p:nvSpPr>
          <p:cNvPr id="31" name="Rounded Rectangle 30"/>
          <p:cNvSpPr/>
          <p:nvPr/>
        </p:nvSpPr>
        <p:spPr>
          <a:xfrm>
            <a:off x="3242462" y="2633472"/>
            <a:ext cx="130393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32" name="TextBox 31"/>
          <p:cNvSpPr txBox="1"/>
          <p:nvPr/>
        </p:nvSpPr>
        <p:spPr>
          <a:xfrm>
            <a:off x="3297326" y="2633472"/>
            <a:ext cx="438912"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38761D"/>
                </a:solidFill>
                <a:latin typeface="Bitter"/>
                <a:ea typeface="Bitter"/>
                <a:cs typeface="Bitter"/>
              </a:rPr>
              <a:t>6</a:t>
            </a:r>
          </a:p>
        </p:txBody>
      </p:sp>
      <p:sp>
        <p:nvSpPr>
          <p:cNvPr id="33" name="TextBox 32"/>
          <p:cNvSpPr txBox="1"/>
          <p:nvPr/>
        </p:nvSpPr>
        <p:spPr>
          <a:xfrm>
            <a:off x="3736238" y="2679191"/>
            <a:ext cx="773582"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estilo</a:t>
            </a:r>
          </a:p>
        </p:txBody>
      </p:sp>
      <p:sp>
        <p:nvSpPr>
          <p:cNvPr id="34" name="TextBox 33"/>
          <p:cNvSpPr txBox="1"/>
          <p:nvPr/>
        </p:nvSpPr>
        <p:spPr>
          <a:xfrm>
            <a:off x="3736238" y="2999232"/>
            <a:ext cx="773582"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color</a:t>
            </a:r>
          </a:p>
        </p:txBody>
      </p:sp>
      <p:sp>
        <p:nvSpPr>
          <p:cNvPr id="35" name="Rounded Rectangle 34"/>
          <p:cNvSpPr/>
          <p:nvPr/>
        </p:nvSpPr>
        <p:spPr>
          <a:xfrm>
            <a:off x="4637836" y="2633472"/>
            <a:ext cx="130393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36" name="TextBox 35"/>
          <p:cNvSpPr txBox="1"/>
          <p:nvPr/>
        </p:nvSpPr>
        <p:spPr>
          <a:xfrm>
            <a:off x="4692700" y="2633472"/>
            <a:ext cx="438912"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38761D"/>
                </a:solidFill>
                <a:latin typeface="Bitter"/>
                <a:ea typeface="Bitter"/>
                <a:cs typeface="Bitter"/>
              </a:rPr>
              <a:t>4</a:t>
            </a:r>
          </a:p>
        </p:txBody>
      </p:sp>
      <p:sp>
        <p:nvSpPr>
          <p:cNvPr id="37" name="TextBox 36"/>
          <p:cNvSpPr txBox="1"/>
          <p:nvPr/>
        </p:nvSpPr>
        <p:spPr>
          <a:xfrm>
            <a:off x="5131612" y="2679191"/>
            <a:ext cx="773582"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layout</a:t>
            </a:r>
          </a:p>
        </p:txBody>
      </p:sp>
      <p:sp>
        <p:nvSpPr>
          <p:cNvPr id="38" name="TextBox 37"/>
          <p:cNvSpPr txBox="1"/>
          <p:nvPr/>
        </p:nvSpPr>
        <p:spPr>
          <a:xfrm>
            <a:off x="5131612" y="2999232"/>
            <a:ext cx="773582"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cajas</a:t>
            </a:r>
          </a:p>
        </p:txBody>
      </p:sp>
      <p:sp>
        <p:nvSpPr>
          <p:cNvPr id="39" name="Rounded Rectangle 38"/>
          <p:cNvSpPr/>
          <p:nvPr/>
        </p:nvSpPr>
        <p:spPr>
          <a:xfrm>
            <a:off x="6033211" y="2633472"/>
            <a:ext cx="130393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40" name="TextBox 39"/>
          <p:cNvSpPr txBox="1"/>
          <p:nvPr/>
        </p:nvSpPr>
        <p:spPr>
          <a:xfrm>
            <a:off x="6088075" y="2633472"/>
            <a:ext cx="438912"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38761D"/>
                </a:solidFill>
                <a:latin typeface="Bitter"/>
                <a:ea typeface="Bitter"/>
                <a:cs typeface="Bitter"/>
              </a:rPr>
              <a:t>4</a:t>
            </a:r>
          </a:p>
        </p:txBody>
      </p:sp>
      <p:sp>
        <p:nvSpPr>
          <p:cNvPr id="41" name="TextBox 40"/>
          <p:cNvSpPr txBox="1"/>
          <p:nvPr/>
        </p:nvSpPr>
        <p:spPr>
          <a:xfrm>
            <a:off x="6526987" y="2679191"/>
            <a:ext cx="773582"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a11y</a:t>
            </a:r>
          </a:p>
        </p:txBody>
      </p:sp>
      <p:sp>
        <p:nvSpPr>
          <p:cNvPr id="42" name="TextBox 41"/>
          <p:cNvSpPr txBox="1"/>
          <p:nvPr/>
        </p:nvSpPr>
        <p:spPr>
          <a:xfrm>
            <a:off x="6526987" y="2999232"/>
            <a:ext cx="773582"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WCAG</a:t>
            </a:r>
          </a:p>
        </p:txBody>
      </p:sp>
      <p:sp>
        <p:nvSpPr>
          <p:cNvPr id="43" name="Rounded Rectangle 42"/>
          <p:cNvSpPr/>
          <p:nvPr/>
        </p:nvSpPr>
        <p:spPr>
          <a:xfrm>
            <a:off x="7428585" y="2633472"/>
            <a:ext cx="1303934"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44" name="TextBox 43"/>
          <p:cNvSpPr txBox="1"/>
          <p:nvPr/>
        </p:nvSpPr>
        <p:spPr>
          <a:xfrm>
            <a:off x="7483449" y="2633472"/>
            <a:ext cx="438912" cy="713232"/>
          </a:xfrm>
          <a:prstGeom prst="rect">
            <a:avLst/>
          </a:prstGeom>
          <a:noFill/>
        </p:spPr>
        <p:txBody>
          <a:bodyPr wrap="square" lIns="36576" rIns="36576" tIns="36576" bIns="36576" anchor="ctr"/>
          <a:lstStyle/>
          <a:p>
            <a:pPr algn="ctr" marL="0" indent="0">
              <a:spcAft>
                <a:spcPts val="400"/>
              </a:spcAft>
              <a:buNone/>
            </a:pPr>
            <a:r>
              <a:rPr sz="2200" b="1" i="0" lang="es-CL">
                <a:solidFill>
                  <a:srgbClr val="38761D"/>
                </a:solidFill>
                <a:latin typeface="Bitter"/>
                <a:ea typeface="Bitter"/>
                <a:cs typeface="Bitter"/>
              </a:rPr>
              <a:t>4</a:t>
            </a:r>
          </a:p>
        </p:txBody>
      </p:sp>
      <p:sp>
        <p:nvSpPr>
          <p:cNvPr id="45" name="TextBox 44"/>
          <p:cNvSpPr txBox="1"/>
          <p:nvPr/>
        </p:nvSpPr>
        <p:spPr>
          <a:xfrm>
            <a:off x="7922361" y="2679191"/>
            <a:ext cx="773582" cy="329184"/>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visual</a:t>
            </a:r>
          </a:p>
        </p:txBody>
      </p:sp>
      <p:sp>
        <p:nvSpPr>
          <p:cNvPr id="46" name="TextBox 45"/>
          <p:cNvSpPr txBox="1"/>
          <p:nvPr/>
        </p:nvSpPr>
        <p:spPr>
          <a:xfrm>
            <a:off x="7922361" y="2999232"/>
            <a:ext cx="773582" cy="292608"/>
          </a:xfrm>
          <a:prstGeom prst="rect">
            <a:avLst/>
          </a:prstGeom>
          <a:noFill/>
        </p:spPr>
        <p:txBody>
          <a:bodyPr wrap="square" lIns="36576" rIns="36576" tIns="36576" bIns="36576" anchor="ctr"/>
          <a:lstStyle/>
          <a:p>
            <a:pPr algn="l" marL="0" indent="0">
              <a:spcAft>
                <a:spcPts val="400"/>
              </a:spcAft>
              <a:buNone/>
            </a:pPr>
            <a:r>
              <a:rPr sz="1200" b="0" i="0" lang="es-CL">
                <a:solidFill>
                  <a:srgbClr val="57606A"/>
                </a:solidFill>
                <a:latin typeface="Inter"/>
                <a:ea typeface="Inter"/>
                <a:cs typeface="Inter"/>
              </a:rPr>
              <a:t>píxeles</a:t>
            </a:r>
          </a:p>
        </p:txBody>
      </p:sp>
      <p:sp>
        <p:nvSpPr>
          <p:cNvPr id="47" name="TextBox 46"/>
          <p:cNvSpPr txBox="1"/>
          <p:nvPr/>
        </p:nvSpPr>
        <p:spPr>
          <a:xfrm>
            <a:off x="1847088" y="3438144"/>
            <a:ext cx="6858000" cy="27432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Los 25 tests de Playwright corren en la etapa 7, contra Next y MSW.</a:t>
            </a:r>
          </a:p>
        </p:txBody>
      </p:sp>
      <p:sp>
        <p:nvSpPr>
          <p:cNvPr id="48" name="Rounded Rectangle 47"/>
          <p:cNvSpPr/>
          <p:nvPr/>
        </p:nvSpPr>
        <p:spPr>
          <a:xfrm>
            <a:off x="411480" y="3767328"/>
            <a:ext cx="1325880" cy="713232"/>
          </a:xfrm>
          <a:prstGeom prst="roundRect">
            <a:avLst>
              <a:gd name="adj" fmla="val 10256"/>
            </a:avLst>
          </a:prstGeom>
          <a:solidFill>
            <a:srgbClr val="634F7D"/>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Sistema</a:t>
            </a:r>
          </a:p>
          <a:p>
            <a:pPr algn="ctr" marL="0" indent="0">
              <a:spcAft>
                <a:spcPts val="0"/>
              </a:spcAft>
              <a:buNone/>
            </a:pPr>
            <a:r>
              <a:rPr sz="1200" b="0" i="0" lang="es-CL">
                <a:solidFill>
                  <a:srgbClr val="FFFFFF"/>
                </a:solidFill>
                <a:latin typeface="Inter"/>
                <a:ea typeface="Inter"/>
                <a:cs typeface="Inter"/>
              </a:rPr>
              <a:t>y transversal</a:t>
            </a:r>
          </a:p>
        </p:txBody>
      </p:sp>
      <p:sp>
        <p:nvSpPr>
          <p:cNvPr id="49" name="Rounded Rectangle 48"/>
          <p:cNvSpPr/>
          <p:nvPr/>
        </p:nvSpPr>
        <p:spPr>
          <a:xfrm>
            <a:off x="1847088" y="3767328"/>
            <a:ext cx="1303934" cy="713232"/>
          </a:xfrm>
          <a:prstGeom prst="roundRect">
            <a:avLst>
              <a:gd name="adj" fmla="val 10256"/>
            </a:avLst>
          </a:prstGeom>
          <a:solidFill>
            <a:srgbClr val="EDF1F3"/>
          </a:solidFill>
          <a:ln>
            <a:noFill/>
          </a:ln>
        </p:spPr>
        <p:txBody>
          <a:bodyPr rtlCol="0" anchor="ctr" wrap="square" lIns="18288" rIns="18288" tIns="18288" bIns="18288"/>
          <a:lstStyle/>
          <a:p>
            <a:pPr algn="ctr" marL="0" indent="0">
              <a:spcAft>
                <a:spcPts val="0"/>
              </a:spcAft>
              <a:buNone/>
            </a:pPr>
            <a:r>
              <a:rPr sz="1200" b="1" i="0" lang="es-CL">
                <a:solidFill>
                  <a:srgbClr val="1F2328"/>
                </a:solidFill>
                <a:latin typeface="Inter"/>
                <a:ea typeface="Inter"/>
                <a:cs typeface="Inter"/>
              </a:rPr>
              <a:t>Arquitectura</a:t>
            </a:r>
          </a:p>
          <a:p>
            <a:pPr algn="ctr" marL="0" indent="0">
              <a:spcAft>
                <a:spcPts val="0"/>
              </a:spcAft>
              <a:buNone/>
            </a:pPr>
            <a:r>
              <a:rPr sz="1200" b="0" i="0" lang="es-CL">
                <a:solidFill>
                  <a:srgbClr val="1F2328"/>
                </a:solidFill>
                <a:latin typeface="Inter"/>
                <a:ea typeface="Inter"/>
                <a:cs typeface="Inter"/>
              </a:rPr>
              <a:t>etapa 2</a:t>
            </a:r>
          </a:p>
        </p:txBody>
      </p:sp>
      <p:sp>
        <p:nvSpPr>
          <p:cNvPr id="50" name="Rounded Rectangle 49"/>
          <p:cNvSpPr/>
          <p:nvPr/>
        </p:nvSpPr>
        <p:spPr>
          <a:xfrm>
            <a:off x="3242462" y="3767328"/>
            <a:ext cx="1303934" cy="713232"/>
          </a:xfrm>
          <a:prstGeom prst="roundRect">
            <a:avLst>
              <a:gd name="adj" fmla="val 10256"/>
            </a:avLst>
          </a:prstGeom>
          <a:solidFill>
            <a:srgbClr val="EDF1F3"/>
          </a:solidFill>
          <a:ln>
            <a:noFill/>
          </a:ln>
        </p:spPr>
        <p:txBody>
          <a:bodyPr rtlCol="0" anchor="ctr" wrap="square" lIns="18288" rIns="18288" tIns="18288" bIns="18288"/>
          <a:lstStyle/>
          <a:p>
            <a:pPr algn="ctr" marL="0" indent="0">
              <a:spcAft>
                <a:spcPts val="0"/>
              </a:spcAft>
              <a:buNone/>
            </a:pPr>
            <a:r>
              <a:rPr sz="1200" b="1" i="0" lang="es-CL">
                <a:solidFill>
                  <a:srgbClr val="1F2328"/>
                </a:solidFill>
                <a:latin typeface="Inter"/>
                <a:ea typeface="Inter"/>
                <a:cs typeface="Inter"/>
              </a:rPr>
              <a:t>SAST y SCA</a:t>
            </a:r>
          </a:p>
          <a:p>
            <a:pPr algn="ctr" marL="0" indent="0">
              <a:spcAft>
                <a:spcPts val="0"/>
              </a:spcAft>
              <a:buNone/>
            </a:pPr>
            <a:r>
              <a:rPr sz="1200" b="0" i="0" lang="es-CL">
                <a:solidFill>
                  <a:srgbClr val="1F2328"/>
                </a:solidFill>
                <a:latin typeface="Inter"/>
                <a:ea typeface="Inter"/>
                <a:cs typeface="Inter"/>
              </a:rPr>
              <a:t>etapas 3 y 4</a:t>
            </a:r>
          </a:p>
        </p:txBody>
      </p:sp>
      <p:sp>
        <p:nvSpPr>
          <p:cNvPr id="51" name="Rounded Rectangle 50"/>
          <p:cNvSpPr/>
          <p:nvPr/>
        </p:nvSpPr>
        <p:spPr>
          <a:xfrm>
            <a:off x="4637836" y="3767328"/>
            <a:ext cx="1303934" cy="713232"/>
          </a:xfrm>
          <a:prstGeom prst="roundRect">
            <a:avLst>
              <a:gd name="adj" fmla="val 10256"/>
            </a:avLst>
          </a:prstGeom>
          <a:solidFill>
            <a:srgbClr val="EDF1F3"/>
          </a:solidFill>
          <a:ln>
            <a:noFill/>
          </a:ln>
        </p:spPr>
        <p:txBody>
          <a:bodyPr rtlCol="0" anchor="ctr" wrap="square" lIns="18288" rIns="18288" tIns="18288" bIns="18288"/>
          <a:lstStyle/>
          <a:p>
            <a:pPr algn="ctr" marL="0" indent="0">
              <a:spcAft>
                <a:spcPts val="0"/>
              </a:spcAft>
              <a:buNone/>
            </a:pPr>
            <a:r>
              <a:rPr sz="1200" b="1" i="0" lang="es-CL">
                <a:solidFill>
                  <a:srgbClr val="1F2328"/>
                </a:solidFill>
                <a:latin typeface="Inter"/>
                <a:ea typeface="Inter"/>
                <a:cs typeface="Inter"/>
              </a:rPr>
              <a:t>Stack real</a:t>
            </a:r>
          </a:p>
          <a:p>
            <a:pPr algn="ctr" marL="0" indent="0">
              <a:spcAft>
                <a:spcPts val="0"/>
              </a:spcAft>
              <a:buNone/>
            </a:pPr>
            <a:r>
              <a:rPr sz="1200" b="0" i="0" lang="es-CL">
                <a:solidFill>
                  <a:srgbClr val="1F2328"/>
                </a:solidFill>
                <a:latin typeface="Inter"/>
                <a:ea typeface="Inter"/>
                <a:cs typeface="Inter"/>
              </a:rPr>
              <a:t>etapa 9</a:t>
            </a:r>
          </a:p>
        </p:txBody>
      </p:sp>
      <p:sp>
        <p:nvSpPr>
          <p:cNvPr id="52" name="Rounded Rectangle 51"/>
          <p:cNvSpPr/>
          <p:nvPr/>
        </p:nvSpPr>
        <p:spPr>
          <a:xfrm>
            <a:off x="6033211" y="3767328"/>
            <a:ext cx="1303934" cy="713232"/>
          </a:xfrm>
          <a:prstGeom prst="roundRect">
            <a:avLst>
              <a:gd name="adj" fmla="val 10256"/>
            </a:avLst>
          </a:prstGeom>
          <a:solidFill>
            <a:srgbClr val="EDF1F3"/>
          </a:solidFill>
          <a:ln>
            <a:noFill/>
          </a:ln>
        </p:spPr>
        <p:txBody>
          <a:bodyPr rtlCol="0" anchor="ctr" wrap="square" lIns="18288" rIns="18288" tIns="18288" bIns="18288"/>
          <a:lstStyle/>
          <a:p>
            <a:pPr algn="ctr" marL="0" indent="0">
              <a:spcAft>
                <a:spcPts val="0"/>
              </a:spcAft>
              <a:buNone/>
            </a:pPr>
            <a:r>
              <a:rPr sz="1200" b="1" i="0" lang="es-CL">
                <a:solidFill>
                  <a:srgbClr val="1F2328"/>
                </a:solidFill>
                <a:latin typeface="Inter"/>
                <a:ea typeface="Inter"/>
                <a:cs typeface="Inter"/>
              </a:rPr>
              <a:t>DAST</a:t>
            </a:r>
          </a:p>
          <a:p>
            <a:pPr algn="ctr" marL="0" indent="0">
              <a:spcAft>
                <a:spcPts val="0"/>
              </a:spcAft>
              <a:buNone/>
            </a:pPr>
            <a:r>
              <a:rPr sz="1200" b="0" i="0" lang="es-CL">
                <a:solidFill>
                  <a:srgbClr val="1F2328"/>
                </a:solidFill>
                <a:latin typeface="Inter"/>
                <a:ea typeface="Inter"/>
                <a:cs typeface="Inter"/>
              </a:rPr>
              <a:t>etapa 9</a:t>
            </a:r>
          </a:p>
        </p:txBody>
      </p:sp>
      <p:sp>
        <p:nvSpPr>
          <p:cNvPr id="53" name="Rounded Rectangle 52"/>
          <p:cNvSpPr/>
          <p:nvPr/>
        </p:nvSpPr>
        <p:spPr>
          <a:xfrm>
            <a:off x="7428585" y="3767328"/>
            <a:ext cx="1303934" cy="713232"/>
          </a:xfrm>
          <a:prstGeom prst="roundRect">
            <a:avLst>
              <a:gd name="adj" fmla="val 10256"/>
            </a:avLst>
          </a:prstGeom>
          <a:solidFill>
            <a:srgbClr val="EDF1F3"/>
          </a:solidFill>
          <a:ln>
            <a:noFill/>
          </a:ln>
        </p:spPr>
        <p:txBody>
          <a:bodyPr rtlCol="0" anchor="ctr" wrap="square" lIns="18288" rIns="18288" tIns="18288" bIns="18288"/>
          <a:lstStyle/>
          <a:p>
            <a:pPr algn="ctr" marL="0" indent="0">
              <a:spcAft>
                <a:spcPts val="0"/>
              </a:spcAft>
              <a:buNone/>
            </a:pPr>
            <a:r>
              <a:rPr sz="1200" b="1" i="0" lang="es-CL">
                <a:solidFill>
                  <a:srgbClr val="1F2328"/>
                </a:solidFill>
                <a:latin typeface="Inter"/>
                <a:ea typeface="Inter"/>
                <a:cs typeface="Inter"/>
              </a:rPr>
              <a:t>Mutación</a:t>
            </a:r>
          </a:p>
          <a:p>
            <a:pPr algn="ctr" marL="0" indent="0">
              <a:spcAft>
                <a:spcPts val="0"/>
              </a:spcAft>
              <a:buNone/>
            </a:pPr>
            <a:r>
              <a:rPr sz="1200" b="0" i="0" lang="es-CL">
                <a:solidFill>
                  <a:srgbClr val="1F2328"/>
                </a:solidFill>
                <a:latin typeface="Inter"/>
                <a:ea typeface="Inter"/>
                <a:cs typeface="Inter"/>
              </a:rPr>
              <a:t>nightly</a:t>
            </a:r>
          </a:p>
        </p:txBody>
      </p:sp>
      <p:sp>
        <p:nvSpPr>
          <p:cNvPr id="54" name="caption"/>
          <p:cNvSpPr txBox="1"/>
          <p:nvPr/>
        </p:nvSpPr>
        <p:spPr>
          <a:xfrm>
            <a:off x="411480" y="4553712"/>
            <a:ext cx="832104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166 tests automatizados: 87 del backend, 54 de Vitest y 25 de Playwright. La etapa es la del pipeline (Parte 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Dobles de prueba: cuándo usar cada uno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987552"/>
          <a:ext cx="5394960" cy="2286000"/>
        </p:xfrm>
        <a:graphic>
          <a:graphicData uri="http://schemas.openxmlformats.org/drawingml/2006/table">
            <a:tbl>
              <a:tblPr firstRow="0" bandRow="0">
                <a:tableStyleId>{5C22544A-7EE6-4342-B048-85BDC9FD1C3A}</a:tableStyleId>
              </a:tblPr>
              <a:tblGrid>
                <a:gridCol w="822960"/>
                <a:gridCol w="2011680"/>
                <a:gridCol w="2560320"/>
              </a:tblGrid>
              <a:tr h="457200">
                <a:tc>
                  <a:txBody>
                    <a:bodyPr wrap="square"/>
                    <a:lstStyle/>
                    <a:p>
                      <a:pPr algn="l" marL="0" indent="0">
                        <a:spcAft>
                          <a:spcPts val="0"/>
                        </a:spcAft>
                        <a:buNone/>
                      </a:pPr>
                      <a:r>
                        <a:rPr sz="1200" b="1" i="0" lang="es-CL">
                          <a:solidFill>
                            <a:srgbClr val="FFFFFF"/>
                          </a:solidFill>
                          <a:latin typeface="Inter"/>
                          <a:ea typeface="Inter"/>
                          <a:cs typeface="Inter"/>
                        </a:rPr>
                        <a:t>Doble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Qué es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En este proyecto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Dummy</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Se pasa pero no se usa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Casi nunca hace falta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Stub</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Respuestas fijas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server.use() de MSW en un test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Fake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Implementación real y simple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InMemoryLoanRepository, FixedClock</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Mock</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Verifica una interacción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Solo con justificación escrita (P4.3)</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bl>
          </a:graphicData>
        </a:graphic>
      </p:graphicFrame>
      <p:sp>
        <p:nvSpPr>
          <p:cNvPr id="5" name="Rounded Rectangle 4"/>
          <p:cNvSpPr/>
          <p:nvPr/>
        </p:nvSpPr>
        <p:spPr>
          <a:xfrm>
            <a:off x="5989320" y="987552"/>
            <a:ext cx="2743200" cy="3520440"/>
          </a:xfrm>
          <a:prstGeom prst="roundRect">
            <a:avLst>
              <a:gd name="adj" fmla="val 3333"/>
            </a:avLst>
          </a:prstGeom>
          <a:solidFill>
            <a:srgbClr val="DCE9F7"/>
          </a:solidFill>
          <a:ln>
            <a:noFill/>
          </a:ln>
        </p:spPr>
        <p:txBody>
          <a:bodyPr rtlCol="0" anchor="ctr" wrap="square" lIns="54864" rIns="54864" tIns="54864" bIns="54864"/>
          <a:lstStyle/>
          <a:p>
            <a:pPr algn="ctr"/>
          </a:p>
        </p:txBody>
      </p:sp>
      <p:sp>
        <p:nvSpPr>
          <p:cNvPr id="6" name="TextBox 5"/>
          <p:cNvSpPr txBox="1"/>
          <p:nvPr/>
        </p:nvSpPr>
        <p:spPr>
          <a:xfrm>
            <a:off x="6126480" y="1078992"/>
            <a:ext cx="246888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Fakes que no mienten</a:t>
            </a:r>
          </a:p>
        </p:txBody>
      </p:sp>
      <p:sp>
        <p:nvSpPr>
          <p:cNvPr id="7" name="TextBox 6"/>
          <p:cNvSpPr txBox="1"/>
          <p:nvPr/>
        </p:nvSpPr>
        <p:spPr>
          <a:xfrm>
            <a:off x="6126480" y="1426464"/>
            <a:ext cx="2468880" cy="3017520"/>
          </a:xfrm>
          <a:prstGeom prst="rect">
            <a:avLst/>
          </a:prstGeom>
          <a:noFill/>
        </p:spPr>
        <p:txBody>
          <a:bodyPr wrap="square" lIns="36576" rIns="36576" tIns="36576" bIns="36576" anchor="t"/>
          <a:lstStyle/>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Un fake puede alejarse del repositorio real y dar falsos verdes.</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Solución: </a:t>
            </a:r>
            <a:r>
              <a:rPr sz="1200" b="1" i="0" lang="es-CL">
                <a:solidFill>
                  <a:srgbClr val="1F2328"/>
                </a:solidFill>
                <a:latin typeface="Inter"/>
                <a:ea typeface="Inter"/>
                <a:cs typeface="Inter"/>
              </a:rPr>
              <a:t>la misma suite de contrato</a:t>
            </a:r>
            <a:r>
              <a:rPr sz="1200" b="0" i="0" lang="es-CL">
                <a:solidFill>
                  <a:srgbClr val="1F2328"/>
                </a:solidFill>
                <a:latin typeface="Inter"/>
                <a:ea typeface="Inter"/>
                <a:cs typeface="Inter"/>
              </a:rPr>
              <a:t> del puerto corre contra el fake y contra PostgreSQL.</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Si el fake miente, la suite lo delata.</a:t>
            </a:r>
          </a:p>
        </p:txBody>
      </p:sp>
      <p:sp>
        <p:nvSpPr>
          <p:cNvPr id="8" name="TextBox 7"/>
          <p:cNvSpPr txBox="1"/>
          <p:nvPr/>
        </p:nvSpPr>
        <p:spPr>
          <a:xfrm>
            <a:off x="411480" y="3520440"/>
            <a:ext cx="5394960" cy="1005840"/>
          </a:xfrm>
          <a:prstGeom prst="rect">
            <a:avLst/>
          </a:prstGeom>
          <a:noFill/>
        </p:spPr>
        <p:txBody>
          <a:bodyPr wrap="square" lIns="36576" rIns="36576" tIns="36576" bIns="36576" anchor="t"/>
          <a:lstStyle/>
          <a:p>
            <a:pPr algn="l" marL="182880" indent="-164592">
              <a:spcAft>
                <a:spcPts val="500"/>
              </a:spcAft>
              <a:buClr>
                <a:srgbClr val="F2617A"/>
              </a:buClr>
              <a:buSzPct val="100000"/>
              <a:buFont typeface="Arial"/>
              <a:buChar char="●"/>
            </a:pPr>
            <a:r>
              <a:rPr sz="1200" b="0" i="0" lang="es-CL">
                <a:solidFill>
                  <a:srgbClr val="1F2328"/>
                </a:solidFill>
                <a:latin typeface="Inter"/>
                <a:ea typeface="Inter"/>
                <a:cs typeface="Inter"/>
              </a:rPr>
              <a:t>Un mock prueba </a:t>
            </a:r>
            <a:r>
              <a:rPr sz="1200" b="1" i="0" lang="es-CL">
                <a:solidFill>
                  <a:srgbClr val="1F2328"/>
                </a:solidFill>
                <a:latin typeface="Inter"/>
                <a:ea typeface="Inter"/>
                <a:cs typeface="Inter"/>
              </a:rPr>
              <a:t>cómo</a:t>
            </a:r>
            <a:r>
              <a:rPr sz="1200" b="0" i="0" lang="es-CL">
                <a:solidFill>
                  <a:srgbClr val="1F2328"/>
                </a:solidFill>
                <a:latin typeface="Inter"/>
                <a:ea typeface="Inter"/>
                <a:cs typeface="Inter"/>
              </a:rPr>
              <a:t> se hizo algo. Un fake prueba </a:t>
            </a:r>
            <a:r>
              <a:rPr sz="1200" b="1" i="0" lang="es-CL">
                <a:solidFill>
                  <a:srgbClr val="1F2328"/>
                </a:solidFill>
                <a:latin typeface="Inter"/>
                <a:ea typeface="Inter"/>
                <a:cs typeface="Inter"/>
              </a:rPr>
              <a:t>qué</a:t>
            </a:r>
            <a:r>
              <a:rPr sz="1200" b="0" i="0" lang="es-CL">
                <a:solidFill>
                  <a:srgbClr val="1F2328"/>
                </a:solidFill>
                <a:latin typeface="Inter"/>
                <a:ea typeface="Inter"/>
                <a:cs typeface="Inter"/>
              </a:rPr>
              <a:t> resultó.</a:t>
            </a:r>
          </a:p>
          <a:p>
            <a:pPr algn="l" marL="182880" indent="-164592">
              <a:spcAft>
                <a:spcPts val="500"/>
              </a:spcAft>
              <a:buClr>
                <a:srgbClr val="F2617A"/>
              </a:buClr>
              <a:buSzPct val="100000"/>
              <a:buFont typeface="Arial"/>
              <a:buChar char="●"/>
            </a:pPr>
            <a:r>
              <a:rPr sz="1200" b="0" i="0" lang="es-CL">
                <a:solidFill>
                  <a:srgbClr val="1F2328"/>
                </a:solidFill>
                <a:latin typeface="Inter"/>
                <a:ea typeface="Inter"/>
                <a:cs typeface="Inter"/>
              </a:rPr>
              <a:t>Los tests con mocks se rompen al refactorizar aunque el comportamiento siga igual.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Unitarias de dominio, sin mocks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Reglas puras del dominio, sin framework ni base de datos.</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Errores en particiones y valores límite del ISBN.</a:t>
            </a:r>
          </a:p>
        </p:txBody>
      </p:sp>
      <p:sp>
        <p:nvSpPr>
          <p:cNvPr id="8" name="Rounded Rectangle 7"/>
          <p:cNvSpPr/>
          <p:nvPr/>
        </p:nvSpPr>
        <p:spPr>
          <a:xfrm>
            <a:off x="411480" y="146304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Jest con ts-jest. Objetos reales y oráculos literales.</a:t>
            </a:r>
          </a:p>
        </p:txBody>
      </p:sp>
      <p:sp>
        <p:nvSpPr>
          <p:cNvPr id="10" name="Rounded Rectangle 9"/>
          <p:cNvSpPr/>
          <p:nvPr/>
        </p:nvSpPr>
        <p:spPr>
          <a:xfrm>
            <a:off x="4617720" y="146304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5, en cada PR. Milisegundos.</a:t>
            </a:r>
          </a:p>
        </p:txBody>
      </p:sp>
      <p:sp>
        <p:nvSpPr>
          <p:cNvPr id="12" name="Rounded Rectangle 11"/>
          <p:cNvSpPr/>
          <p:nvPr/>
        </p:nvSpPr>
        <p:spPr>
          <a:xfrm>
            <a:off x="411480" y="1965960"/>
            <a:ext cx="8321040" cy="2606039"/>
          </a:xfrm>
          <a:prstGeom prst="roundRect">
            <a:avLst>
              <a:gd name="adj" fmla="val 2105"/>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01168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backend/src/books/domain/isbn.spec.ts (extracto)</a:t>
            </a:r>
          </a:p>
        </p:txBody>
      </p:sp>
      <p:sp>
        <p:nvSpPr>
          <p:cNvPr id="14" name="TextBox 13"/>
          <p:cNvSpPr txBox="1"/>
          <p:nvPr/>
        </p:nvSpPr>
        <p:spPr>
          <a:xfrm>
            <a:off x="521208" y="2276856"/>
            <a:ext cx="8101583" cy="2240279"/>
          </a:xfrm>
          <a:prstGeom prst="rect">
            <a:avLst/>
          </a:prstGeom>
          <a:noFill/>
        </p:spPr>
        <p:txBody>
          <a:bodyPr wrap="none" lIns="0" rIns="0" tIns="0" bIns="0"/>
          <a:lstStyle/>
          <a:p>
            <a:pPr marL="0" indent="0">
              <a:lnSpc>
                <a:spcPct val="100000"/>
              </a:lnSpc>
              <a:spcAft>
                <a:spcPts val="0"/>
              </a:spcAft>
              <a:buNone/>
            </a:pP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invalidIsbn = { code: </a:t>
            </a:r>
            <a:r>
              <a:rPr sz="1100" b="0" i="0" lang="es-CL">
                <a:solidFill>
                  <a:srgbClr val="A31515"/>
                </a:solidFill>
                <a:latin typeface="Consolas"/>
                <a:ea typeface="Consolas"/>
                <a:cs typeface="Consolas"/>
              </a:rPr>
              <a:t>'VALIDATION_ERROR'</a:t>
            </a:r>
            <a:r>
              <a:rPr sz="1100" b="0" i="0" lang="es-CL">
                <a:solidFill>
                  <a:srgbClr val="1F2328"/>
                </a:solidFill>
                <a:latin typeface="Consolas"/>
                <a:ea typeface="Consolas"/>
                <a:cs typeface="Consolas"/>
              </a:rPr>
              <a:t>, field: </a:t>
            </a:r>
            <a:r>
              <a:rPr sz="1100" b="0" i="0" lang="es-CL">
                <a:solidFill>
                  <a:srgbClr val="A31515"/>
                </a:solidFill>
                <a:latin typeface="Consolas"/>
                <a:ea typeface="Consolas"/>
                <a:cs typeface="Consolas"/>
              </a:rPr>
              <a:t>'isbn'</a:t>
            </a:r>
            <a:r>
              <a:rPr sz="1100" b="0" i="0" lang="es-CL">
                <a:solidFill>
                  <a:srgbClr val="1F2328"/>
                </a:solidFill>
                <a:latin typeface="Consolas"/>
                <a:ea typeface="Consolas"/>
                <a:cs typeface="Consolas"/>
              </a:rPr>
              <a:t>, message: </a:t>
            </a:r>
            <a:r>
              <a:rPr sz="1100" b="0" i="0" lang="es-CL">
                <a:solidFill>
                  <a:srgbClr val="A31515"/>
                </a:solidFill>
                <a:latin typeface="Consolas"/>
                <a:ea typeface="Consolas"/>
                <a:cs typeface="Consolas"/>
              </a:rPr>
              <a:t>'El ISBN no es válido'</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795E26"/>
                </a:solidFill>
                <a:latin typeface="Consolas"/>
                <a:ea typeface="Consolas"/>
                <a:cs typeface="Consolas"/>
              </a:rPr>
              <a:t>describe</a:t>
            </a:r>
            <a:r>
              <a:rPr sz="1100" b="0" i="0" lang="es-CL">
                <a:solidFill>
                  <a:srgbClr val="1F2328"/>
                </a:solidFill>
                <a:latin typeface="Consolas"/>
                <a:ea typeface="Consolas"/>
                <a:cs typeface="Consolas"/>
              </a:rPr>
              <a:t>(</a:t>
            </a:r>
            <a:r>
              <a:rPr sz="1100" b="0" i="0" lang="es-CL">
                <a:solidFill>
                  <a:srgbClr val="A31515"/>
                </a:solidFill>
                <a:latin typeface="Consolas"/>
                <a:ea typeface="Consolas"/>
                <a:cs typeface="Consolas"/>
              </a:rPr>
              <a:t>'Isbn'</a:t>
            </a:r>
            <a:r>
              <a:rPr sz="1100" b="0" i="0" lang="es-CL">
                <a:solidFill>
                  <a:srgbClr val="1F2328"/>
                </a:solidFill>
                <a:latin typeface="Consolas"/>
                <a:ea typeface="Consolas"/>
                <a:cs typeface="Consolas"/>
              </a:rPr>
              <a:t>,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it</a:t>
            </a:r>
            <a:r>
              <a:rPr sz="1100" b="0" i="0" lang="es-CL">
                <a:solidFill>
                  <a:srgbClr val="1F2328"/>
                </a:solidFill>
                <a:latin typeface="Consolas"/>
                <a:ea typeface="Consolas"/>
                <a:cs typeface="Consolas"/>
              </a:rPr>
              <a:t>(</a:t>
            </a:r>
            <a:r>
              <a:rPr sz="1100" b="0" i="0" lang="es-CL">
                <a:solidFill>
                  <a:srgbClr val="A31515"/>
                </a:solidFill>
                <a:latin typeface="Consolas"/>
                <a:ea typeface="Consolas"/>
                <a:cs typeface="Consolas"/>
              </a:rPr>
              <a:t>'</a:t>
            </a:r>
            <a:r>
              <a:rPr sz="1100" b="1" i="0" lang="es-CL">
                <a:solidFill>
                  <a:srgbClr val="9900FF"/>
                </a:solidFill>
                <a:latin typeface="Consolas"/>
                <a:ea typeface="Consolas"/>
                <a:cs typeface="Consolas"/>
              </a:rPr>
              <a:t>[BOOK-R1]</a:t>
            </a:r>
            <a:r>
              <a:rPr sz="1100" b="0" i="0" lang="es-CL">
                <a:solidFill>
                  <a:srgbClr val="A31515"/>
                </a:solidFill>
                <a:latin typeface="Consolas"/>
                <a:ea typeface="Consolas"/>
                <a:cs typeface="Consolas"/>
              </a:rPr>
              <a:t> normaliza quitando guiones y espacios'</a:t>
            </a:r>
            <a:r>
              <a:rPr sz="1100" b="0" i="0" lang="es-CL">
                <a:solidFill>
                  <a:srgbClr val="1F2328"/>
                </a:solidFill>
                <a:latin typeface="Consolas"/>
                <a:ea typeface="Consolas"/>
                <a:cs typeface="Consolas"/>
              </a:rPr>
              <a:t>,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(Isbn.create(</a:t>
            </a:r>
            <a:r>
              <a:rPr sz="1100" b="0" i="0" lang="es-CL">
                <a:solidFill>
                  <a:srgbClr val="A31515"/>
                </a:solidFill>
                <a:latin typeface="Consolas"/>
                <a:ea typeface="Consolas"/>
                <a:cs typeface="Consolas"/>
              </a:rPr>
              <a:t>'978-84-376 0494-7'</a:t>
            </a:r>
            <a:r>
              <a:rPr sz="1100" b="0" i="0" lang="es-CL">
                <a:solidFill>
                  <a:srgbClr val="1F2328"/>
                </a:solidFill>
                <a:latin typeface="Consolas"/>
                <a:ea typeface="Consolas"/>
                <a:cs typeface="Consolas"/>
              </a:rPr>
              <a:t>).value).toBe(</a:t>
            </a:r>
            <a:r>
              <a:rPr sz="1100" b="0" i="0" lang="es-CL">
                <a:solidFill>
                  <a:srgbClr val="A31515"/>
                </a:solidFill>
                <a:latin typeface="Consolas"/>
                <a:ea typeface="Consolas"/>
                <a:cs typeface="Consolas"/>
              </a:rPr>
              <a:t>'9788437604947'</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it</a:t>
            </a:r>
            <a:r>
              <a:rPr sz="1100" b="0" i="0" lang="es-CL">
                <a:solidFill>
                  <a:srgbClr val="1F2328"/>
                </a:solidFill>
                <a:latin typeface="Consolas"/>
                <a:ea typeface="Consolas"/>
                <a:cs typeface="Consolas"/>
              </a:rPr>
              <a:t>(</a:t>
            </a:r>
            <a:r>
              <a:rPr sz="1100" b="0" i="0" lang="es-CL">
                <a:solidFill>
                  <a:srgbClr val="A31515"/>
                </a:solidFill>
                <a:latin typeface="Consolas"/>
                <a:ea typeface="Consolas"/>
                <a:cs typeface="Consolas"/>
              </a:rPr>
              <a:t>'</a:t>
            </a:r>
            <a:r>
              <a:rPr sz="1100" b="1" i="0" lang="es-CL">
                <a:solidFill>
                  <a:srgbClr val="9900FF"/>
                </a:solidFill>
                <a:latin typeface="Consolas"/>
                <a:ea typeface="Consolas"/>
                <a:cs typeface="Consolas"/>
              </a:rPr>
              <a:t>[BOOK-R1]</a:t>
            </a:r>
            <a:r>
              <a:rPr sz="1100" b="0" i="0" lang="es-CL">
                <a:solidFill>
                  <a:srgbClr val="A31515"/>
                </a:solidFill>
                <a:latin typeface="Consolas"/>
                <a:ea typeface="Consolas"/>
                <a:cs typeface="Consolas"/>
              </a:rPr>
              <a:t> rechaza un dígito verificador incorrecto'</a:t>
            </a:r>
            <a:r>
              <a:rPr sz="1100" b="0" i="0" lang="es-CL">
                <a:solidFill>
                  <a:srgbClr val="1F2328"/>
                </a:solidFill>
                <a:latin typeface="Consolas"/>
                <a:ea typeface="Consolas"/>
                <a:cs typeface="Consolas"/>
              </a:rPr>
              <a:t>,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(thrownBy(() =&gt; Isbn.create(</a:t>
            </a:r>
            <a:r>
              <a:rPr sz="1100" b="0" i="0" lang="es-CL">
                <a:solidFill>
                  <a:srgbClr val="A31515"/>
                </a:solidFill>
                <a:latin typeface="Consolas"/>
                <a:ea typeface="Consolas"/>
                <a:cs typeface="Consolas"/>
              </a:rPr>
              <a:t>'978-0-00-000000-1'</a:t>
            </a:r>
            <a:r>
              <a:rPr sz="1100" b="0" i="0" lang="es-CL">
                <a:solidFill>
                  <a:srgbClr val="1F2328"/>
                </a:solidFill>
                <a:latin typeface="Consolas"/>
                <a:ea typeface="Consolas"/>
                <a:cs typeface="Consolas"/>
              </a:rPr>
              <a:t>))).toMatchObject(invalidIsbn)</a:t>
            </a:r>
          </a:p>
          <a:p>
            <a:pPr marL="0" indent="0">
              <a:lnSpc>
                <a:spcPct val="100000"/>
              </a:lnSpc>
              <a:spcAft>
                <a:spcPts val="0"/>
              </a:spcAft>
              <a:buNone/>
            </a:pPr>
            <a:r>
              <a:rPr sz="1100" b="0" i="0" lang="es-CL">
                <a:solidFill>
                  <a:srgbClr val="1F2328"/>
                </a:solidFill>
                <a:latin typeface="Consolas"/>
                <a:ea typeface="Consolas"/>
                <a:cs typeface="Consolas"/>
              </a:rPr>
              <a:t>  })</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tests micro, p. 66 a 72. Buenos tests, p. 107.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Unitarias de aplicación con fakes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Un caso de uso completo con repositorios en memoria y reloj fijo.</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Orquestación incorrecta: no descontar la copia.</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Jest con fakes: InMemory*Repository y FixedClock.</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5, en cada PR.</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backend/src/loans/application/create-loan.spec.ts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000" b="0" i="0" lang="es-CL">
                <a:solidFill>
                  <a:srgbClr val="795E26"/>
                </a:solidFill>
                <a:latin typeface="Consolas"/>
                <a:ea typeface="Consolas"/>
                <a:cs typeface="Consolas"/>
              </a:rPr>
              <a:t>it</a:t>
            </a:r>
            <a:r>
              <a:rPr sz="1000" b="0" i="0" lang="es-CL">
                <a:solidFill>
                  <a:srgbClr val="1F2328"/>
                </a:solidFill>
                <a:latin typeface="Consolas"/>
                <a:ea typeface="Consolas"/>
                <a:cs typeface="Consolas"/>
              </a:rPr>
              <a:t>(</a:t>
            </a:r>
            <a:r>
              <a:rPr sz="1000" b="0" i="0" lang="es-CL">
                <a:solidFill>
                  <a:srgbClr val="A31515"/>
                </a:solidFill>
                <a:latin typeface="Consolas"/>
                <a:ea typeface="Consolas"/>
                <a:cs typeface="Consolas"/>
              </a:rPr>
              <a:t>'</a:t>
            </a:r>
            <a:r>
              <a:rPr sz="1000" b="1" i="0" lang="es-CL">
                <a:solidFill>
                  <a:srgbClr val="9900FF"/>
                </a:solidFill>
                <a:latin typeface="Consolas"/>
                <a:ea typeface="Consolas"/>
                <a:cs typeface="Consolas"/>
              </a:rPr>
              <a:t>[LOAN-R2]</a:t>
            </a:r>
            <a:r>
              <a:rPr sz="1000" b="0" i="0" lang="es-CL">
                <a:solidFill>
                  <a:srgbClr val="A31515"/>
                </a:solidFill>
                <a:latin typeface="Consolas"/>
                <a:ea typeface="Consolas"/>
                <a:cs typeface="Consolas"/>
              </a:rPr>
              <a:t> rechaza el cuarto préstamo y no descuenta copias'</a:t>
            </a: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async</a:t>
            </a:r>
            <a:r>
              <a:rPr sz="1000" b="0" i="0" lang="es-CL">
                <a:solidFill>
                  <a:srgbClr val="1F2328"/>
                </a:solidFill>
                <a:latin typeface="Consolas"/>
                <a:ea typeface="Consolas"/>
                <a:cs typeface="Consolas"/>
              </a:rPr>
              <a:t> () =&gt;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 app, books, cienAnos } =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appWithBooks()</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for</a:t>
            </a: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book </a:t>
            </a:r>
            <a:r>
              <a:rPr sz="1000" b="0" i="0" lang="es-CL">
                <a:solidFill>
                  <a:srgbClr val="0000FF"/>
                </a:solidFill>
                <a:latin typeface="Consolas"/>
                <a:ea typeface="Consolas"/>
                <a:cs typeface="Consolas"/>
              </a:rPr>
              <a:t>of</a:t>
            </a:r>
            <a:r>
              <a:rPr sz="1000" b="0" i="0" lang="es-CL">
                <a:solidFill>
                  <a:srgbClr val="1F2328"/>
                </a:solidFill>
                <a:latin typeface="Consolas"/>
                <a:ea typeface="Consolas"/>
                <a:cs typeface="Consolas"/>
              </a:rPr>
              <a:t> books.slice(</a:t>
            </a:r>
            <a:r>
              <a:rPr sz="1000" b="0" i="0" lang="es-CL">
                <a:solidFill>
                  <a:srgbClr val="098658"/>
                </a:solidFill>
                <a:latin typeface="Consolas"/>
                <a:ea typeface="Consolas"/>
                <a:cs typeface="Consolas"/>
              </a:rPr>
              <a:t>1</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app.createLoan.execute({ bookId: book.id, borrowerEmail: </a:t>
            </a:r>
            <a:r>
              <a:rPr sz="1000" b="0" i="0" lang="es-CL">
                <a:solidFill>
                  <a:srgbClr val="A31515"/>
                </a:solidFill>
                <a:latin typeface="Consolas"/>
                <a:ea typeface="Consolas"/>
                <a:cs typeface="Consolas"/>
              </a:rPr>
              <a:t>'beto@uc.cl'</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error =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rejectionOf(</a:t>
            </a:r>
          </a:p>
          <a:p>
            <a:pPr marL="0" indent="0">
              <a:lnSpc>
                <a:spcPct val="100000"/>
              </a:lnSpc>
              <a:spcAft>
                <a:spcPts val="0"/>
              </a:spcAft>
              <a:buNone/>
            </a:pPr>
            <a:r>
              <a:rPr sz="1000" b="0" i="0" lang="es-CL">
                <a:solidFill>
                  <a:srgbClr val="1F2328"/>
                </a:solidFill>
                <a:latin typeface="Consolas"/>
                <a:ea typeface="Consolas"/>
                <a:cs typeface="Consolas"/>
              </a:rPr>
              <a:t>    app.createLoan.execute({ bookId: cienAnos.id, borrowerEmail: </a:t>
            </a:r>
            <a:r>
              <a:rPr sz="1000" b="0" i="0" lang="es-CL">
                <a:solidFill>
                  <a:srgbClr val="A31515"/>
                </a:solidFill>
                <a:latin typeface="Consolas"/>
                <a:ea typeface="Consolas"/>
                <a:cs typeface="Consolas"/>
              </a:rPr>
              <a:t>'beto@uc.cl'</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(error).toBeInstanceOf(LoanLimitReachedError)</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app.books.findById(cienAnos.id))?.availableCopies).toBe(</a:t>
            </a:r>
            <a:r>
              <a:rPr sz="1000" b="0" i="0" lang="es-CL">
                <a:solidFill>
                  <a:srgbClr val="098658"/>
                </a:solidFill>
                <a:latin typeface="Consolas"/>
                <a:ea typeface="Consolas"/>
                <a:cs typeface="Consolas"/>
              </a:rPr>
              <a:t>3</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dobles de prueba y aislamiento, cap. 3. Fakes en backend/test/fakes.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Integración con Testcontainers y PostgreSQL</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05840"/>
            <a:ext cx="1280160" cy="274320"/>
          </a:xfrm>
          <a:prstGeom prst="roundRect">
            <a:avLst>
              <a:gd name="adj" fmla="val 2000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411480" y="129844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Repositorios TypeORM contra un PostgreSQL real en Docker.</a:t>
            </a:r>
          </a:p>
        </p:txBody>
      </p:sp>
      <p:sp>
        <p:nvSpPr>
          <p:cNvPr id="6" name="Rounded Rectangle 5"/>
          <p:cNvSpPr/>
          <p:nvPr/>
        </p:nvSpPr>
        <p:spPr>
          <a:xfrm>
            <a:off x="411480" y="1828800"/>
            <a:ext cx="1280160" cy="274320"/>
          </a:xfrm>
          <a:prstGeom prst="roundRect">
            <a:avLst>
              <a:gd name="adj" fmla="val 20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411480" y="212140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SQL incorrecto, migraciones rotas, restricciones que faltan.</a:t>
            </a:r>
          </a:p>
        </p:txBody>
      </p:sp>
      <p:sp>
        <p:nvSpPr>
          <p:cNvPr id="8" name="Rounded Rectangle 7"/>
          <p:cNvSpPr/>
          <p:nvPr/>
        </p:nvSpPr>
        <p:spPr>
          <a:xfrm>
            <a:off x="411480" y="2651760"/>
            <a:ext cx="1280160" cy="274320"/>
          </a:xfrm>
          <a:prstGeom prst="roundRect">
            <a:avLst>
              <a:gd name="adj" fmla="val 20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411480" y="294436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Testcontainers (PostgreSQL 17) y Jest.</a:t>
            </a:r>
          </a:p>
        </p:txBody>
      </p:sp>
      <p:sp>
        <p:nvSpPr>
          <p:cNvPr id="10" name="Rounded Rectangle 9"/>
          <p:cNvSpPr/>
          <p:nvPr/>
        </p:nvSpPr>
        <p:spPr>
          <a:xfrm>
            <a:off x="411480" y="3474720"/>
            <a:ext cx="1280160" cy="274320"/>
          </a:xfrm>
          <a:prstGeom prst="roundRect">
            <a:avLst>
              <a:gd name="adj" fmla="val 2000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411480" y="376732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6. Necesita Docker en el runner.</a:t>
            </a:r>
          </a:p>
        </p:txBody>
      </p:sp>
      <p:sp>
        <p:nvSpPr>
          <p:cNvPr id="12" name="Rounded Rectangle 11"/>
          <p:cNvSpPr/>
          <p:nvPr/>
        </p:nvSpPr>
        <p:spPr>
          <a:xfrm>
            <a:off x="3337559" y="1005840"/>
            <a:ext cx="5394960" cy="1525741"/>
          </a:xfrm>
          <a:prstGeom prst="roundRect">
            <a:avLst>
              <a:gd name="adj" fmla="val 3595"/>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3447287" y="1051560"/>
            <a:ext cx="517550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test/support/postgres-global-setup.ts</a:t>
            </a:r>
          </a:p>
        </p:txBody>
      </p:sp>
      <p:sp>
        <p:nvSpPr>
          <p:cNvPr id="14" name="TextBox 13"/>
          <p:cNvSpPr txBox="1"/>
          <p:nvPr/>
        </p:nvSpPr>
        <p:spPr>
          <a:xfrm>
            <a:off x="3447287" y="1316736"/>
            <a:ext cx="5175504" cy="1159981"/>
          </a:xfrm>
          <a:prstGeom prst="rect">
            <a:avLst/>
          </a:prstGeom>
          <a:noFill/>
        </p:spPr>
        <p:txBody>
          <a:bodyPr wrap="none" lIns="0" rIns="0" tIns="0" bIns="0"/>
          <a:lstStyle/>
          <a:p>
            <a:pPr marL="0" indent="0">
              <a:lnSpc>
                <a:spcPct val="100000"/>
              </a:lnSpc>
              <a:spcAft>
                <a:spcPts val="0"/>
              </a:spcAft>
              <a:buNone/>
            </a:pPr>
            <a:r>
              <a:rPr sz="1050" b="0" i="0" lang="es-CL">
                <a:solidFill>
                  <a:srgbClr val="0000FF"/>
                </a:solidFill>
                <a:latin typeface="Consolas"/>
                <a:ea typeface="Consolas"/>
                <a:cs typeface="Consolas"/>
              </a:rPr>
              <a:t>const</a:t>
            </a:r>
            <a:r>
              <a:rPr sz="1050" b="0" i="0" lang="es-CL">
                <a:solidFill>
                  <a:srgbClr val="1F2328"/>
                </a:solidFill>
                <a:latin typeface="Consolas"/>
                <a:ea typeface="Consolas"/>
                <a:cs typeface="Consolas"/>
              </a:rPr>
              <a:t> container =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new</a:t>
            </a:r>
            <a:r>
              <a:rPr sz="1050" b="0" i="0" lang="es-CL">
                <a:solidFill>
                  <a:srgbClr val="1F2328"/>
                </a:solidFill>
                <a:latin typeface="Consolas"/>
                <a:ea typeface="Consolas"/>
                <a:cs typeface="Consolas"/>
              </a:rPr>
              <a:t> PostgreSqlContainer(POSTGRES_IMAGE)</a:t>
            </a:r>
          </a:p>
          <a:p>
            <a:pPr marL="0" indent="0">
              <a:lnSpc>
                <a:spcPct val="100000"/>
              </a:lnSpc>
              <a:spcAft>
                <a:spcPts val="0"/>
              </a:spcAft>
              <a:buNone/>
            </a:pPr>
            <a:r>
              <a:rPr sz="1050" b="0" i="0" lang="es-CL">
                <a:solidFill>
                  <a:srgbClr val="1F2328"/>
                </a:solidFill>
                <a:latin typeface="Consolas"/>
                <a:ea typeface="Consolas"/>
                <a:cs typeface="Consolas"/>
              </a:rPr>
              <a:t>  .withDatabase(</a:t>
            </a:r>
            <a:r>
              <a:rPr sz="1050" b="0" i="0" lang="es-CL">
                <a:solidFill>
                  <a:srgbClr val="A31515"/>
                </a:solidFill>
                <a:latin typeface="Consolas"/>
                <a:ea typeface="Consolas"/>
                <a:cs typeface="Consolas"/>
              </a:rPr>
              <a:t>'biblioteca'</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.withUsername(</a:t>
            </a:r>
            <a:r>
              <a:rPr sz="1050" b="0" i="0" lang="es-CL">
                <a:solidFill>
                  <a:srgbClr val="A31515"/>
                </a:solidFill>
                <a:latin typeface="Consolas"/>
                <a:ea typeface="Consolas"/>
                <a:cs typeface="Consolas"/>
              </a:rPr>
              <a:t>'biblioteca'</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.withPassword(</a:t>
            </a:r>
            <a:r>
              <a:rPr sz="1050" b="0" i="0" lang="es-CL">
                <a:solidFill>
                  <a:srgbClr val="A31515"/>
                </a:solidFill>
                <a:latin typeface="Consolas"/>
                <a:ea typeface="Consolas"/>
                <a:cs typeface="Consolas"/>
              </a:rPr>
              <a:t>'biblioteca'</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.start()</a:t>
            </a:r>
          </a:p>
          <a:p>
            <a:pPr marL="0" indent="0">
              <a:lnSpc>
                <a:spcPct val="100000"/>
              </a:lnSpc>
              <a:spcAft>
                <a:spcPts val="0"/>
              </a:spcAft>
              <a:buNone/>
            </a:pPr>
            <a:r>
              <a:rPr sz="1050" b="0" i="0" lang="es-CL">
                <a:solidFill>
                  <a:srgbClr val="1F2328"/>
                </a:solidFill>
                <a:latin typeface="Consolas"/>
                <a:ea typeface="Consolas"/>
                <a:cs typeface="Consolas"/>
              </a:rPr>
              <a:t>process.env.DATABASE_URL = container.getConnectionUri()</a:t>
            </a:r>
          </a:p>
        </p:txBody>
      </p:sp>
      <p:sp>
        <p:nvSpPr>
          <p:cNvPr id="15" name="Rounded Rectangle 14"/>
          <p:cNvSpPr/>
          <p:nvPr/>
        </p:nvSpPr>
        <p:spPr>
          <a:xfrm>
            <a:off x="3337559" y="2641309"/>
            <a:ext cx="5394960" cy="1912402"/>
          </a:xfrm>
          <a:prstGeom prst="roundRect">
            <a:avLst>
              <a:gd name="adj" fmla="val 2868"/>
            </a:avLst>
          </a:prstGeom>
          <a:solidFill>
            <a:srgbClr val="F6F8FA"/>
          </a:solidFill>
          <a:ln w="9525">
            <a:solidFill>
              <a:srgbClr val="D0D7DE"/>
            </a:solidFill>
          </a:ln>
        </p:spPr>
        <p:txBody>
          <a:bodyPr rtlCol="0" anchor="ctr" wrap="square" lIns="54864" rIns="54864" tIns="54864" bIns="54864"/>
          <a:lstStyle/>
          <a:p>
            <a:pPr algn="ctr"/>
          </a:p>
        </p:txBody>
      </p:sp>
      <p:sp>
        <p:nvSpPr>
          <p:cNvPr id="16" name="TextBox 15"/>
          <p:cNvSpPr txBox="1"/>
          <p:nvPr/>
        </p:nvSpPr>
        <p:spPr>
          <a:xfrm>
            <a:off x="3447287" y="2687029"/>
            <a:ext cx="517550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src/loans/infrastructure/loan.repository.int-spec.ts</a:t>
            </a:r>
          </a:p>
        </p:txBody>
      </p:sp>
      <p:sp>
        <p:nvSpPr>
          <p:cNvPr id="17" name="TextBox 16"/>
          <p:cNvSpPr txBox="1"/>
          <p:nvPr/>
        </p:nvSpPr>
        <p:spPr>
          <a:xfrm>
            <a:off x="3447287" y="2952205"/>
            <a:ext cx="5175504" cy="1546642"/>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loanRepositoryContract(</a:t>
            </a:r>
            <a:r>
              <a:rPr sz="1100" b="0" i="0" lang="es-CL">
                <a:solidFill>
                  <a:srgbClr val="A31515"/>
                </a:solidFill>
                <a:latin typeface="Consolas"/>
                <a:ea typeface="Consolas"/>
                <a:cs typeface="Consolas"/>
              </a:rPr>
              <a:t>'PostgreSQL'</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async</a:t>
            </a:r>
            <a:r>
              <a:rPr sz="1100" b="0" i="0" lang="es-CL">
                <a:solidFill>
                  <a:srgbClr val="1F2328"/>
                </a:solidFill>
                <a:latin typeface="Consolas"/>
                <a:ea typeface="Consolas"/>
                <a:cs typeface="Consolas"/>
              </a:rPr>
              <a:t>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truncateAll(dataSource)</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unitOfWork = </a:t>
            </a:r>
            <a:r>
              <a:rPr sz="1100" b="0" i="0" lang="es-CL">
                <a:solidFill>
                  <a:srgbClr val="0000FF"/>
                </a:solidFill>
                <a:latin typeface="Consolas"/>
                <a:ea typeface="Consolas"/>
                <a:cs typeface="Consolas"/>
              </a:rPr>
              <a:t>new</a:t>
            </a:r>
            <a:r>
              <a:rPr sz="1100" b="0" i="0" lang="es-CL">
                <a:solidFill>
                  <a:srgbClr val="1F2328"/>
                </a:solidFill>
                <a:latin typeface="Consolas"/>
                <a:ea typeface="Consolas"/>
                <a:cs typeface="Consolas"/>
              </a:rPr>
              <a:t> TypeOrmUnitOfWork(dataSource)</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return</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books: </a:t>
            </a:r>
            <a:r>
              <a:rPr sz="1100" b="0" i="0" lang="es-CL">
                <a:solidFill>
                  <a:srgbClr val="0000FF"/>
                </a:solidFill>
                <a:latin typeface="Consolas"/>
                <a:ea typeface="Consolas"/>
                <a:cs typeface="Consolas"/>
              </a:rPr>
              <a:t>new</a:t>
            </a:r>
            <a:r>
              <a:rPr sz="1100" b="0" i="0" lang="es-CL">
                <a:solidFill>
                  <a:srgbClr val="1F2328"/>
                </a:solidFill>
                <a:latin typeface="Consolas"/>
                <a:ea typeface="Consolas"/>
                <a:cs typeface="Consolas"/>
              </a:rPr>
              <a:t> TypeOrmBookRepository(unitOfWork),</a:t>
            </a:r>
          </a:p>
          <a:p>
            <a:pPr marL="0" indent="0">
              <a:lnSpc>
                <a:spcPct val="100000"/>
              </a:lnSpc>
              <a:spcAft>
                <a:spcPts val="0"/>
              </a:spcAft>
              <a:buNone/>
            </a:pPr>
            <a:r>
              <a:rPr sz="1100" b="0" i="0" lang="es-CL">
                <a:solidFill>
                  <a:srgbClr val="1F2328"/>
                </a:solidFill>
                <a:latin typeface="Consolas"/>
                <a:ea typeface="Consolas"/>
                <a:cs typeface="Consolas"/>
              </a:rPr>
              <a:t>    loans: </a:t>
            </a:r>
            <a:r>
              <a:rPr sz="1100" b="0" i="0" lang="es-CL">
                <a:solidFill>
                  <a:srgbClr val="0000FF"/>
                </a:solidFill>
                <a:latin typeface="Consolas"/>
                <a:ea typeface="Consolas"/>
                <a:cs typeface="Consolas"/>
              </a:rPr>
              <a:t>new</a:t>
            </a:r>
            <a:r>
              <a:rPr sz="1100" b="0" i="0" lang="es-CL">
                <a:solidFill>
                  <a:srgbClr val="1F2328"/>
                </a:solidFill>
                <a:latin typeface="Consolas"/>
                <a:ea typeface="Consolas"/>
                <a:cs typeface="Consolas"/>
              </a:rPr>
              <a:t> TypeOrmLoanRepository(unitOfWork),</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a:t>
            </a:r>
          </a:p>
        </p:txBody>
      </p:sp>
      <p:sp>
        <p:nvSpPr>
          <p:cNvPr id="18"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Testcontainers, p. 179. Data testing, cap. 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Data testing: lo que solo la base de datos garantiza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05840"/>
            <a:ext cx="1463040" cy="960120"/>
          </a:xfrm>
          <a:prstGeom prst="roundRect">
            <a:avLst>
              <a:gd name="adj" fmla="val 7619"/>
            </a:avLst>
          </a:prstGeom>
          <a:solidFill>
            <a:srgbClr val="003D4F"/>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Migraciones</a:t>
            </a:r>
          </a:p>
        </p:txBody>
      </p:sp>
      <p:sp>
        <p:nvSpPr>
          <p:cNvPr id="5" name="TextBox 4"/>
          <p:cNvSpPr txBox="1"/>
          <p:nvPr/>
        </p:nvSpPr>
        <p:spPr>
          <a:xfrm>
            <a:off x="1993392" y="1005840"/>
            <a:ext cx="2606040" cy="96012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Corren de verdad en cada test de integración: una migración rota falla en el PR.</a:t>
            </a:r>
          </a:p>
        </p:txBody>
      </p:sp>
      <p:sp>
        <p:nvSpPr>
          <p:cNvPr id="6" name="Rounded Rectangle 5"/>
          <p:cNvSpPr/>
          <p:nvPr/>
        </p:nvSpPr>
        <p:spPr>
          <a:xfrm>
            <a:off x="411480" y="2148840"/>
            <a:ext cx="1463040" cy="960120"/>
          </a:xfrm>
          <a:prstGeom prst="roundRect">
            <a:avLst>
              <a:gd name="adj" fmla="val 7619"/>
            </a:avLst>
          </a:prstGeom>
          <a:solidFill>
            <a:srgbClr val="CC850A"/>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Restricciones</a:t>
            </a:r>
          </a:p>
        </p:txBody>
      </p:sp>
      <p:sp>
        <p:nvSpPr>
          <p:cNvPr id="7" name="TextBox 6"/>
          <p:cNvSpPr txBox="1"/>
          <p:nvPr/>
        </p:nvSpPr>
        <p:spPr>
          <a:xfrm>
            <a:off x="1993392" y="2148840"/>
            <a:ext cx="2606040" cy="96012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CHECK de copias (BOOK-R4) e índice único de ISBN (BOOK-R2).</a:t>
            </a:r>
          </a:p>
        </p:txBody>
      </p:sp>
      <p:sp>
        <p:nvSpPr>
          <p:cNvPr id="8" name="Rounded Rectangle 7"/>
          <p:cNvSpPr/>
          <p:nvPr/>
        </p:nvSpPr>
        <p:spPr>
          <a:xfrm>
            <a:off x="411480" y="3291840"/>
            <a:ext cx="1463040" cy="960120"/>
          </a:xfrm>
          <a:prstGeom prst="roundRect">
            <a:avLst>
              <a:gd name="adj" fmla="val 7619"/>
            </a:avLst>
          </a:prstGeom>
          <a:solidFill>
            <a:srgbClr val="980000"/>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Concurrencia</a:t>
            </a:r>
          </a:p>
        </p:txBody>
      </p:sp>
      <p:sp>
        <p:nvSpPr>
          <p:cNvPr id="9" name="TextBox 8"/>
          <p:cNvSpPr txBox="1"/>
          <p:nvPr/>
        </p:nvSpPr>
        <p:spPr>
          <a:xfrm>
            <a:off x="1993392" y="3291840"/>
            <a:ext cx="2606040" cy="96012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Cinco solicitudes por la última copia: exactamente una gana (LOAN-R1).</a:t>
            </a:r>
          </a:p>
        </p:txBody>
      </p:sp>
      <p:sp>
        <p:nvSpPr>
          <p:cNvPr id="10" name="TextBox 9"/>
          <p:cNvSpPr txBox="1"/>
          <p:nvPr/>
        </p:nvSpPr>
        <p:spPr>
          <a:xfrm>
            <a:off x="4754880" y="960120"/>
            <a:ext cx="3977639" cy="274320"/>
          </a:xfrm>
          <a:prstGeom prst="rect">
            <a:avLst/>
          </a:prstGeom>
          <a:noFill/>
        </p:spPr>
        <p:txBody>
          <a:bodyPr wrap="square" lIns="36576" rIns="36576" tIns="36576" bIns="36576" anchor="t"/>
          <a:lstStyle/>
          <a:p>
            <a:pPr algn="ctr" marL="0" indent="0">
              <a:spcAft>
                <a:spcPts val="400"/>
              </a:spcAft>
              <a:buNone/>
            </a:pPr>
            <a:r>
              <a:rPr sz="1200" b="1" i="0" lang="es-CL">
                <a:solidFill>
                  <a:srgbClr val="1F2328"/>
                </a:solidFill>
                <a:latin typeface="Inter"/>
                <a:ea typeface="Inter"/>
                <a:cs typeface="Inter"/>
              </a:rPr>
              <a:t>La última copia de La casa de los espíritus</a:t>
            </a:r>
          </a:p>
        </p:txBody>
      </p:sp>
      <p:sp>
        <p:nvSpPr>
          <p:cNvPr id="11" name="Rounded Rectangle 10"/>
          <p:cNvSpPr/>
          <p:nvPr/>
        </p:nvSpPr>
        <p:spPr>
          <a:xfrm>
            <a:off x="6309360" y="1481328"/>
            <a:ext cx="2423160" cy="1554480"/>
          </a:xfrm>
          <a:prstGeom prst="roundRect">
            <a:avLst>
              <a:gd name="adj" fmla="val 4705"/>
            </a:avLst>
          </a:prstGeom>
          <a:solidFill>
            <a:srgbClr val="003D4F"/>
          </a:solidFill>
          <a:ln>
            <a:noFill/>
          </a:ln>
        </p:spPr>
        <p:txBody>
          <a:bodyPr rtlCol="0" anchor="t" wrap="square" lIns="73152" rIns="73152" tIns="73152" bIns="73152"/>
          <a:lstStyle/>
          <a:p>
            <a:pPr algn="ctr" marL="0" indent="0">
              <a:spcAft>
                <a:spcPts val="200"/>
              </a:spcAft>
              <a:buNone/>
            </a:pPr>
            <a:r>
              <a:rPr sz="1200" b="1" i="0" lang="es-CL">
                <a:solidFill>
                  <a:srgbClr val="FFFFFF"/>
                </a:solidFill>
                <a:latin typeface="Inter"/>
                <a:ea typeface="Inter"/>
                <a:cs typeface="Inter"/>
              </a:rPr>
              <a:t>PostgreSQL</a:t>
            </a:r>
          </a:p>
        </p:txBody>
      </p:sp>
      <p:sp>
        <p:nvSpPr>
          <p:cNvPr id="12" name="TextBox 11"/>
          <p:cNvSpPr txBox="1"/>
          <p:nvPr/>
        </p:nvSpPr>
        <p:spPr>
          <a:xfrm>
            <a:off x="6382512" y="1865376"/>
            <a:ext cx="2286000" cy="1097280"/>
          </a:xfrm>
          <a:prstGeom prst="rect">
            <a:avLst/>
          </a:prstGeom>
          <a:noFill/>
        </p:spPr>
        <p:txBody>
          <a:bodyPr wrap="square" lIns="36576" rIns="36576" tIns="36576" bIns="36576" anchor="t"/>
          <a:lstStyle/>
          <a:p>
            <a:pPr algn="l" marL="0" indent="0">
              <a:spcAft>
                <a:spcPts val="0"/>
              </a:spcAft>
              <a:buNone/>
            </a:pPr>
            <a:r>
              <a:rPr sz="1000" b="0" i="0" lang="es-CL">
                <a:solidFill>
                  <a:srgbClr val="FFFFFF"/>
                </a:solidFill>
                <a:latin typeface="Consolas"/>
                <a:ea typeface="Consolas"/>
                <a:cs typeface="Consolas"/>
              </a:rPr>
              <a:t>UPDATE books</a:t>
            </a:r>
          </a:p>
          <a:p>
            <a:pPr algn="l" marL="0" indent="0">
              <a:spcAft>
                <a:spcPts val="0"/>
              </a:spcAft>
              <a:buNone/>
            </a:pPr>
            <a:r>
              <a:rPr sz="1000" b="0" i="0" lang="es-CL">
                <a:solidFill>
                  <a:srgbClr val="FFFFFF"/>
                </a:solidFill>
                <a:latin typeface="Consolas"/>
                <a:ea typeface="Consolas"/>
                <a:cs typeface="Consolas"/>
              </a:rPr>
              <a:t>SET available_copies =</a:t>
            </a:r>
          </a:p>
          <a:p>
            <a:pPr algn="l" marL="0" indent="0">
              <a:spcAft>
                <a:spcPts val="0"/>
              </a:spcAft>
              <a:buNone/>
            </a:pPr>
            <a:r>
              <a:rPr sz="1000" b="0" i="0" lang="es-CL">
                <a:solidFill>
                  <a:srgbClr val="FFFFFF"/>
                </a:solidFill>
                <a:latin typeface="Consolas"/>
                <a:ea typeface="Consolas"/>
                <a:cs typeface="Consolas"/>
              </a:rPr>
              <a:t>available_copies - 1</a:t>
            </a:r>
          </a:p>
          <a:p>
            <a:pPr algn="l" marL="0" indent="0">
              <a:spcAft>
                <a:spcPts val="0"/>
              </a:spcAft>
              <a:buNone/>
            </a:pPr>
            <a:r>
              <a:rPr sz="1000" b="0" i="0" lang="es-CL">
                <a:solidFill>
                  <a:srgbClr val="FFFFFF"/>
                </a:solidFill>
                <a:latin typeface="Consolas"/>
                <a:ea typeface="Consolas"/>
                <a:cs typeface="Consolas"/>
              </a:rPr>
              <a:t>WHERE id = :bookId</a:t>
            </a:r>
          </a:p>
          <a:p>
            <a:pPr algn="l" marL="0" indent="0">
              <a:spcAft>
                <a:spcPts val="0"/>
              </a:spcAft>
              <a:buNone/>
            </a:pPr>
            <a:r>
              <a:rPr sz="1000" b="0" i="0" lang="es-CL">
                <a:solidFill>
                  <a:srgbClr val="FFFFFF"/>
                </a:solidFill>
                <a:latin typeface="Consolas"/>
                <a:ea typeface="Consolas"/>
                <a:cs typeface="Consolas"/>
              </a:rPr>
              <a:t>AND available_copies &gt; 0</a:t>
            </a:r>
          </a:p>
        </p:txBody>
      </p:sp>
      <p:sp>
        <p:nvSpPr>
          <p:cNvPr id="13" name="Rounded Rectangle 12"/>
          <p:cNvSpPr/>
          <p:nvPr/>
        </p:nvSpPr>
        <p:spPr>
          <a:xfrm>
            <a:off x="4754880" y="1325880"/>
            <a:ext cx="1097280" cy="329184"/>
          </a:xfrm>
          <a:prstGeom prst="roundRect">
            <a:avLst>
              <a:gd name="adj" fmla="val 22222"/>
            </a:avLst>
          </a:prstGeom>
          <a:solidFill>
            <a:srgbClr val="47A1AD"/>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ana@uc.cl</a:t>
            </a:r>
          </a:p>
        </p:txBody>
      </p:sp>
      <p:cxnSp>
        <p:nvCxnSpPr>
          <p:cNvPr id="14" name="Connector 13"/>
          <p:cNvCxnSpPr/>
          <p:nvPr/>
        </p:nvCxnSpPr>
        <p:spPr>
          <a:xfrm>
            <a:off x="5870448" y="1490472"/>
            <a:ext cx="420624" cy="265176"/>
          </a:xfrm>
          <a:prstGeom prst="line">
            <a:avLst/>
          </a:prstGeom>
          <a:ln w="22225">
            <a:solidFill>
              <a:srgbClr val="38761D"/>
            </a:solidFill>
            <a:tailEnd type="triangle" w="med" len="med"/>
          </a:ln>
        </p:spPr>
      </p:cxnSp>
      <p:sp>
        <p:nvSpPr>
          <p:cNvPr id="15" name="Rounded Rectangle 14"/>
          <p:cNvSpPr/>
          <p:nvPr/>
        </p:nvSpPr>
        <p:spPr>
          <a:xfrm>
            <a:off x="4754880" y="1728216"/>
            <a:ext cx="1097280" cy="329184"/>
          </a:xfrm>
          <a:prstGeom prst="roundRect">
            <a:avLst>
              <a:gd name="adj" fmla="val 22222"/>
            </a:avLst>
          </a:prstGeom>
          <a:solidFill>
            <a:srgbClr val="47A1AD"/>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beto@uc.cl</a:t>
            </a:r>
          </a:p>
        </p:txBody>
      </p:sp>
      <p:cxnSp>
        <p:nvCxnSpPr>
          <p:cNvPr id="16" name="Connector 15"/>
          <p:cNvCxnSpPr/>
          <p:nvPr/>
        </p:nvCxnSpPr>
        <p:spPr>
          <a:xfrm>
            <a:off x="5870448" y="1892807"/>
            <a:ext cx="420624" cy="109729"/>
          </a:xfrm>
          <a:prstGeom prst="line">
            <a:avLst/>
          </a:prstGeom>
          <a:ln w="22225">
            <a:solidFill>
              <a:srgbClr val="980000"/>
            </a:solidFill>
            <a:tailEnd type="triangle" w="med" len="med"/>
          </a:ln>
        </p:spPr>
      </p:cxnSp>
      <p:sp>
        <p:nvSpPr>
          <p:cNvPr id="17" name="Rounded Rectangle 16"/>
          <p:cNvSpPr/>
          <p:nvPr/>
        </p:nvSpPr>
        <p:spPr>
          <a:xfrm>
            <a:off x="4754880" y="2130552"/>
            <a:ext cx="1097280" cy="329184"/>
          </a:xfrm>
          <a:prstGeom prst="roundRect">
            <a:avLst>
              <a:gd name="adj" fmla="val 22222"/>
            </a:avLst>
          </a:prstGeom>
          <a:solidFill>
            <a:srgbClr val="47A1AD"/>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carla@uc.cl</a:t>
            </a:r>
          </a:p>
        </p:txBody>
      </p:sp>
      <p:cxnSp>
        <p:nvCxnSpPr>
          <p:cNvPr id="18" name="Connector 17"/>
          <p:cNvCxnSpPr/>
          <p:nvPr/>
        </p:nvCxnSpPr>
        <p:spPr>
          <a:xfrm flipV="1">
            <a:off x="5870448" y="2249424"/>
            <a:ext cx="420624" cy="45720"/>
          </a:xfrm>
          <a:prstGeom prst="line">
            <a:avLst/>
          </a:prstGeom>
          <a:ln w="22225">
            <a:solidFill>
              <a:srgbClr val="980000"/>
            </a:solidFill>
            <a:tailEnd type="triangle" w="med" len="med"/>
          </a:ln>
        </p:spPr>
      </p:cxnSp>
      <p:sp>
        <p:nvSpPr>
          <p:cNvPr id="19" name="Rounded Rectangle 18"/>
          <p:cNvSpPr/>
          <p:nvPr/>
        </p:nvSpPr>
        <p:spPr>
          <a:xfrm>
            <a:off x="4754880" y="2532888"/>
            <a:ext cx="1097280" cy="329184"/>
          </a:xfrm>
          <a:prstGeom prst="roundRect">
            <a:avLst>
              <a:gd name="adj" fmla="val 22222"/>
            </a:avLst>
          </a:prstGeom>
          <a:solidFill>
            <a:srgbClr val="47A1AD"/>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diego@uc.cl</a:t>
            </a:r>
          </a:p>
        </p:txBody>
      </p:sp>
      <p:cxnSp>
        <p:nvCxnSpPr>
          <p:cNvPr id="20" name="Connector 19"/>
          <p:cNvCxnSpPr/>
          <p:nvPr/>
        </p:nvCxnSpPr>
        <p:spPr>
          <a:xfrm flipV="1">
            <a:off x="5870448" y="2496312"/>
            <a:ext cx="420624" cy="201168"/>
          </a:xfrm>
          <a:prstGeom prst="line">
            <a:avLst/>
          </a:prstGeom>
          <a:ln w="22225">
            <a:solidFill>
              <a:srgbClr val="980000"/>
            </a:solidFill>
            <a:tailEnd type="triangle" w="med" len="med"/>
          </a:ln>
        </p:spPr>
      </p:cxnSp>
      <p:sp>
        <p:nvSpPr>
          <p:cNvPr id="21" name="Rounded Rectangle 20"/>
          <p:cNvSpPr/>
          <p:nvPr/>
        </p:nvSpPr>
        <p:spPr>
          <a:xfrm>
            <a:off x="4754880" y="2935224"/>
            <a:ext cx="1097280" cy="329184"/>
          </a:xfrm>
          <a:prstGeom prst="roundRect">
            <a:avLst>
              <a:gd name="adj" fmla="val 22222"/>
            </a:avLst>
          </a:prstGeom>
          <a:solidFill>
            <a:srgbClr val="47A1AD"/>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eva@uc.cl</a:t>
            </a:r>
          </a:p>
        </p:txBody>
      </p:sp>
      <p:cxnSp>
        <p:nvCxnSpPr>
          <p:cNvPr id="22" name="Connector 21"/>
          <p:cNvCxnSpPr/>
          <p:nvPr/>
        </p:nvCxnSpPr>
        <p:spPr>
          <a:xfrm flipV="1">
            <a:off x="5870448" y="2743200"/>
            <a:ext cx="420624" cy="356616"/>
          </a:xfrm>
          <a:prstGeom prst="line">
            <a:avLst/>
          </a:prstGeom>
          <a:ln w="22225">
            <a:solidFill>
              <a:srgbClr val="980000"/>
            </a:solidFill>
            <a:tailEnd type="triangle" w="med" len="med"/>
          </a:ln>
        </p:spPr>
      </p:cxnSp>
      <p:sp>
        <p:nvSpPr>
          <p:cNvPr id="23" name="TextBox 22"/>
          <p:cNvSpPr txBox="1"/>
          <p:nvPr/>
        </p:nvSpPr>
        <p:spPr>
          <a:xfrm>
            <a:off x="4754880" y="3429000"/>
            <a:ext cx="3977639" cy="274320"/>
          </a:xfrm>
          <a:prstGeom prst="rect">
            <a:avLst/>
          </a:prstGeom>
          <a:noFill/>
        </p:spPr>
        <p:txBody>
          <a:bodyPr wrap="square" lIns="36576" rIns="36576" tIns="36576" bIns="36576" anchor="t"/>
          <a:lstStyle/>
          <a:p>
            <a:pPr algn="ctr" marL="0" indent="0">
              <a:spcAft>
                <a:spcPts val="400"/>
              </a:spcAft>
              <a:buNone/>
            </a:pPr>
            <a:r>
              <a:rPr sz="1200" b="1" i="0" lang="es-CL">
                <a:solidFill>
                  <a:srgbClr val="38761D"/>
                </a:solidFill>
                <a:latin typeface="Inter"/>
                <a:ea typeface="Inter"/>
                <a:cs typeface="Inter"/>
              </a:rPr>
              <a:t>1 × 201 Created</a:t>
            </a:r>
            <a:r>
              <a:rPr sz="1200" b="0" i="0" lang="es-CL">
                <a:solidFill>
                  <a:srgbClr val="1F2328"/>
                </a:solidFill>
                <a:latin typeface="Inter"/>
                <a:ea typeface="Inter"/>
                <a:cs typeface="Inter"/>
              </a:rPr>
              <a:t>    </a:t>
            </a:r>
            <a:r>
              <a:rPr sz="1200" b="1" i="0" lang="es-CL">
                <a:solidFill>
                  <a:srgbClr val="980000"/>
                </a:solidFill>
                <a:latin typeface="Inter"/>
                <a:ea typeface="Inter"/>
                <a:cs typeface="Inter"/>
              </a:rPr>
              <a:t>4 × 409 NO_COPIES_AVAILABLE</a:t>
            </a:r>
          </a:p>
        </p:txBody>
      </p:sp>
      <p:sp>
        <p:nvSpPr>
          <p:cNvPr id="24" name="TextBox 23"/>
          <p:cNvSpPr txBox="1"/>
          <p:nvPr/>
        </p:nvSpPr>
        <p:spPr>
          <a:xfrm>
            <a:off x="4754880" y="3749039"/>
            <a:ext cx="3977639" cy="77724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Una transacción aparte bloquea la fila para que las cinco compitan de verdad. Un fake en memoria nunca tiene esta carrera.</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Contrato bidireccional: un OpenAPI, dos lados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Document 3"/>
          <p:cNvSpPr/>
          <p:nvPr/>
        </p:nvSpPr>
        <p:spPr>
          <a:xfrm>
            <a:off x="3520440" y="1600200"/>
            <a:ext cx="2103120" cy="1097280"/>
          </a:xfrm>
          <a:prstGeom prst="flowChartDocument">
            <a:avLst/>
          </a:prstGeom>
          <a:solidFill>
            <a:srgbClr val="003D4F"/>
          </a:solidFill>
          <a:ln>
            <a:noFill/>
          </a:ln>
        </p:spPr>
        <p:txBody>
          <a:bodyPr rtlCol="0" anchor="ctr" wrap="square" lIns="54864" rIns="54864" tIns="54864" bIns="54864"/>
          <a:lstStyle/>
          <a:p>
            <a:pPr algn="ctr" marL="0" indent="0">
              <a:spcAft>
                <a:spcPts val="0"/>
              </a:spcAft>
              <a:buNone/>
            </a:pPr>
            <a:r>
              <a:rPr sz="1300" b="1" i="0" lang="es-CL">
                <a:solidFill>
                  <a:srgbClr val="FFFFFF"/>
                </a:solidFill>
                <a:latin typeface="Inter"/>
                <a:ea typeface="Inter"/>
                <a:cs typeface="Inter"/>
              </a:rPr>
              <a:t>openapi.yaml</a:t>
            </a:r>
          </a:p>
          <a:p>
            <a:pPr algn="ctr" marL="0" indent="0">
              <a:spcAft>
                <a:spcPts val="0"/>
              </a:spcAft>
              <a:buNone/>
            </a:pPr>
            <a:r>
              <a:rPr sz="1300" b="0" i="0" lang="es-CL">
                <a:solidFill>
                  <a:srgbClr val="FFFFFF"/>
                </a:solidFill>
                <a:latin typeface="Inter"/>
                <a:ea typeface="Inter"/>
                <a:cs typeface="Inter"/>
              </a:rPr>
              <a:t>fuente de verdad</a:t>
            </a:r>
          </a:p>
        </p:txBody>
      </p:sp>
      <p:sp>
        <p:nvSpPr>
          <p:cNvPr id="5" name="Rounded Rectangle 4"/>
          <p:cNvSpPr/>
          <p:nvPr/>
        </p:nvSpPr>
        <p:spPr>
          <a:xfrm>
            <a:off x="411480" y="1143000"/>
            <a:ext cx="2926080" cy="2057400"/>
          </a:xfrm>
          <a:prstGeom prst="roundRect">
            <a:avLst>
              <a:gd name="adj" fmla="val 4444"/>
            </a:avLst>
          </a:prstGeom>
          <a:solidFill>
            <a:srgbClr val="EDF1F3"/>
          </a:solidFill>
          <a:ln>
            <a:noFill/>
          </a:ln>
        </p:spPr>
        <p:txBody>
          <a:bodyPr rtlCol="0" anchor="ctr" wrap="square" lIns="54864" rIns="54864" tIns="54864" bIns="54864"/>
          <a:lstStyle/>
          <a:p>
            <a:pPr algn="ctr"/>
          </a:p>
        </p:txBody>
      </p:sp>
      <p:sp>
        <p:nvSpPr>
          <p:cNvPr id="6" name="TextBox 5"/>
          <p:cNvSpPr txBox="1"/>
          <p:nvPr/>
        </p:nvSpPr>
        <p:spPr>
          <a:xfrm>
            <a:off x="548640" y="1234440"/>
            <a:ext cx="265176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Proveedor (backend)</a:t>
            </a:r>
          </a:p>
        </p:txBody>
      </p:sp>
      <p:sp>
        <p:nvSpPr>
          <p:cNvPr id="7" name="TextBox 6"/>
          <p:cNvSpPr txBox="1"/>
          <p:nvPr/>
        </p:nvSpPr>
        <p:spPr>
          <a:xfrm>
            <a:off x="548640" y="1581912"/>
            <a:ext cx="2651760" cy="1554480"/>
          </a:xfrm>
          <a:prstGeom prst="rect">
            <a:avLst/>
          </a:prstGeom>
          <a:noFill/>
        </p:spPr>
        <p:txBody>
          <a:bodyPr wrap="square" lIns="36576" rIns="36576" tIns="36576" bIns="36576" anchor="t"/>
          <a:lstStyle/>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supertest llama al controller real</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PostgreSQL en Testcontainers</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Cada respuesta se valida con el schema</a:t>
            </a:r>
          </a:p>
        </p:txBody>
      </p:sp>
      <p:sp>
        <p:nvSpPr>
          <p:cNvPr id="8" name="Rounded Rectangle 7"/>
          <p:cNvSpPr/>
          <p:nvPr/>
        </p:nvSpPr>
        <p:spPr>
          <a:xfrm>
            <a:off x="5806440" y="1143000"/>
            <a:ext cx="2926080" cy="2057400"/>
          </a:xfrm>
          <a:prstGeom prst="roundRect">
            <a:avLst>
              <a:gd name="adj" fmla="val 4444"/>
            </a:avLst>
          </a:prstGeom>
          <a:solidFill>
            <a:srgbClr val="EDF1F3"/>
          </a:solidFill>
          <a:ln>
            <a:noFill/>
          </a:ln>
        </p:spPr>
        <p:txBody>
          <a:bodyPr rtlCol="0" anchor="ctr" wrap="square" lIns="54864" rIns="54864" tIns="54864" bIns="54864"/>
          <a:lstStyle/>
          <a:p>
            <a:pPr algn="ctr"/>
          </a:p>
        </p:txBody>
      </p:sp>
      <p:sp>
        <p:nvSpPr>
          <p:cNvPr id="9" name="TextBox 8"/>
          <p:cNvSpPr txBox="1"/>
          <p:nvPr/>
        </p:nvSpPr>
        <p:spPr>
          <a:xfrm>
            <a:off x="5943600" y="1234440"/>
            <a:ext cx="2651760" cy="274320"/>
          </a:xfrm>
          <a:prstGeom prst="rect">
            <a:avLst/>
          </a:prstGeom>
          <a:noFill/>
        </p:spPr>
        <p:txBody>
          <a:bodyPr wrap="square" lIns="36576" rIns="36576" tIns="36576" bIns="36576" anchor="t"/>
          <a:lstStyle/>
          <a:p>
            <a:pPr algn="l" marL="0" indent="0">
              <a:spcAft>
                <a:spcPts val="400"/>
              </a:spcAft>
              <a:buNone/>
            </a:pPr>
            <a:r>
              <a:rPr sz="1300" b="1" i="0" lang="es-CL">
                <a:solidFill>
                  <a:srgbClr val="CC850A"/>
                </a:solidFill>
                <a:latin typeface="Inter"/>
                <a:ea typeface="Inter"/>
                <a:cs typeface="Inter"/>
              </a:rPr>
              <a:t>Consumidor (frontend)</a:t>
            </a:r>
          </a:p>
        </p:txBody>
      </p:sp>
      <p:sp>
        <p:nvSpPr>
          <p:cNvPr id="10" name="TextBox 9"/>
          <p:cNvSpPr txBox="1"/>
          <p:nvPr/>
        </p:nvSpPr>
        <p:spPr>
          <a:xfrm>
            <a:off x="5943600" y="1581912"/>
            <a:ext cx="2651760" cy="1554480"/>
          </a:xfrm>
          <a:prstGeom prst="rect">
            <a:avLst/>
          </a:prstGeom>
          <a:noFill/>
        </p:spPr>
        <p:txBody>
          <a:bodyPr wrap="square" lIns="36576" rIns="36576" tIns="36576" bIns="36576" anchor="t"/>
          <a:lstStyle/>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Los handlers MSW devuelven datos</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Cada respuesta mock se valida con el schema</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Si el mock miente, falla test:contract</a:t>
            </a:r>
          </a:p>
        </p:txBody>
      </p:sp>
      <p:cxnSp>
        <p:nvCxnSpPr>
          <p:cNvPr id="11" name="Connector 10"/>
          <p:cNvCxnSpPr/>
          <p:nvPr/>
        </p:nvCxnSpPr>
        <p:spPr>
          <a:xfrm>
            <a:off x="3355848" y="2148840"/>
            <a:ext cx="146304" cy="0"/>
          </a:xfrm>
          <a:prstGeom prst="line">
            <a:avLst/>
          </a:prstGeom>
          <a:ln w="25400">
            <a:solidFill>
              <a:srgbClr val="1F2328"/>
            </a:solidFill>
            <a:headEnd type="triangle" w="med" len="med"/>
            <a:tailEnd type="triangle" w="med" len="med"/>
          </a:ln>
        </p:spPr>
      </p:cxnSp>
      <p:cxnSp>
        <p:nvCxnSpPr>
          <p:cNvPr id="12" name="Connector 11"/>
          <p:cNvCxnSpPr/>
          <p:nvPr/>
        </p:nvCxnSpPr>
        <p:spPr>
          <a:xfrm>
            <a:off x="5641848" y="2148840"/>
            <a:ext cx="146304" cy="0"/>
          </a:xfrm>
          <a:prstGeom prst="line">
            <a:avLst/>
          </a:prstGeom>
          <a:ln w="25400">
            <a:solidFill>
              <a:srgbClr val="1F2328"/>
            </a:solidFill>
            <a:headEnd type="triangle" w="med" len="med"/>
            <a:tailEnd type="triangle" w="med" len="med"/>
          </a:ln>
        </p:spPr>
      </p:cxnSp>
      <p:sp>
        <p:nvSpPr>
          <p:cNvPr id="13" name="Rounded Rectangle 12"/>
          <p:cNvSpPr/>
          <p:nvPr/>
        </p:nvSpPr>
        <p:spPr>
          <a:xfrm>
            <a:off x="411480" y="3401568"/>
            <a:ext cx="8321040" cy="1097280"/>
          </a:xfrm>
          <a:prstGeom prst="roundRect">
            <a:avLst>
              <a:gd name="adj" fmla="val 8333"/>
            </a:avLst>
          </a:prstGeom>
          <a:solidFill>
            <a:srgbClr val="DCE9F7"/>
          </a:solidFill>
          <a:ln>
            <a:noFill/>
          </a:ln>
        </p:spPr>
        <p:txBody>
          <a:bodyPr rtlCol="0" anchor="ctr" wrap="square" lIns="54864" rIns="54864" tIns="54864" bIns="54864"/>
          <a:lstStyle/>
          <a:p>
            <a:pPr algn="ctr"/>
          </a:p>
        </p:txBody>
      </p:sp>
      <p:sp>
        <p:nvSpPr>
          <p:cNvPr id="14" name="TextBox 13"/>
          <p:cNvSpPr txBox="1"/>
          <p:nvPr/>
        </p:nvSpPr>
        <p:spPr>
          <a:xfrm>
            <a:off x="594360" y="3456432"/>
            <a:ext cx="7955279" cy="1005840"/>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¿Y Pact?</a:t>
            </a:r>
            <a:r>
              <a:rPr sz="1200" b="0" i="0" lang="es-CL">
                <a:solidFill>
                  <a:srgbClr val="1F2328"/>
                </a:solidFill>
                <a:latin typeface="Inter"/>
                <a:ea typeface="Inter"/>
                <a:cs typeface="Inter"/>
              </a:rPr>
              <a:t> Pact hace contratos consumer-driven: cada consumidor publica lo que necesita y el proveedor lo verifica (p. 107). Conviene con muchos servicios y equipos. Aquí hay un solo consumidor, así que basta validar ambos lados contra el mismo OpenAPI.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Contrato del proveedor: supertest y OpenAPI</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05840"/>
            <a:ext cx="1280160" cy="274320"/>
          </a:xfrm>
          <a:prstGeom prst="roundRect">
            <a:avLst>
              <a:gd name="adj" fmla="val 2000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411480" y="129844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HTTP real, del controller a PostgreSQL, contra el OpenAPI.</a:t>
            </a:r>
          </a:p>
        </p:txBody>
      </p:sp>
      <p:sp>
        <p:nvSpPr>
          <p:cNvPr id="6" name="Rounded Rectangle 5"/>
          <p:cNvSpPr/>
          <p:nvPr/>
        </p:nvSpPr>
        <p:spPr>
          <a:xfrm>
            <a:off x="411480" y="1828800"/>
            <a:ext cx="1280160" cy="274320"/>
          </a:xfrm>
          <a:prstGeom prst="roundRect">
            <a:avLst>
              <a:gd name="adj" fmla="val 2000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411480" y="2121408"/>
            <a:ext cx="2743199"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Campos que faltan o sobran, status y errores sin problem+json.</a:t>
            </a:r>
          </a:p>
        </p:txBody>
      </p:sp>
      <p:sp>
        <p:nvSpPr>
          <p:cNvPr id="8" name="Rounded Rectangle 7"/>
          <p:cNvSpPr/>
          <p:nvPr/>
        </p:nvSpPr>
        <p:spPr>
          <a:xfrm>
            <a:off x="411480" y="2834640"/>
            <a:ext cx="1280160" cy="274320"/>
          </a:xfrm>
          <a:prstGeom prst="roundRect">
            <a:avLst>
              <a:gd name="adj" fmla="val 20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411480" y="312724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supertest, Testcontainers y Ajv con el OpenAPI.</a:t>
            </a:r>
          </a:p>
        </p:txBody>
      </p:sp>
      <p:sp>
        <p:nvSpPr>
          <p:cNvPr id="10" name="Rounded Rectangle 9"/>
          <p:cNvSpPr/>
          <p:nvPr/>
        </p:nvSpPr>
        <p:spPr>
          <a:xfrm>
            <a:off x="411480" y="3657600"/>
            <a:ext cx="1280160" cy="274320"/>
          </a:xfrm>
          <a:prstGeom prst="roundRect">
            <a:avLst>
              <a:gd name="adj" fmla="val 2000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411480" y="3950208"/>
            <a:ext cx="2743199"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6. Deja la cobertura del contrato en un JSON.</a:t>
            </a:r>
          </a:p>
        </p:txBody>
      </p:sp>
      <p:sp>
        <p:nvSpPr>
          <p:cNvPr id="12" name="Rounded Rectangle 11"/>
          <p:cNvSpPr/>
          <p:nvPr/>
        </p:nvSpPr>
        <p:spPr>
          <a:xfrm>
            <a:off x="3337559" y="1005840"/>
            <a:ext cx="5394960" cy="3547872"/>
          </a:xfrm>
          <a:prstGeom prst="roundRect">
            <a:avLst>
              <a:gd name="adj" fmla="val 1546"/>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3447287" y="1051560"/>
            <a:ext cx="517550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backend/test/contract/loans.contract.spec.ts (extracto)</a:t>
            </a:r>
          </a:p>
        </p:txBody>
      </p:sp>
      <p:sp>
        <p:nvSpPr>
          <p:cNvPr id="14" name="TextBox 13"/>
          <p:cNvSpPr txBox="1"/>
          <p:nvPr/>
        </p:nvSpPr>
        <p:spPr>
          <a:xfrm>
            <a:off x="3447287" y="1316736"/>
            <a:ext cx="5175504" cy="3182112"/>
          </a:xfrm>
          <a:prstGeom prst="rect">
            <a:avLst/>
          </a:prstGeom>
          <a:noFill/>
        </p:spPr>
        <p:txBody>
          <a:bodyPr wrap="none" lIns="0" rIns="0" tIns="0" bIns="0"/>
          <a:lstStyle/>
          <a:p>
            <a:pPr marL="0" indent="0">
              <a:lnSpc>
                <a:spcPct val="100000"/>
              </a:lnSpc>
              <a:spcAft>
                <a:spcPts val="0"/>
              </a:spcAft>
              <a:buNone/>
            </a:pP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loan =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a:t>
            </a:r>
            <a:r>
              <a:rPr sz="1000" b="0" i="0" lang="es-CL">
                <a:solidFill>
                  <a:srgbClr val="795E26"/>
                </a:solidFill>
                <a:latin typeface="Consolas"/>
                <a:ea typeface="Consolas"/>
                <a:cs typeface="Consolas"/>
              </a:rPr>
              <a:t>request</a:t>
            </a:r>
            <a:r>
              <a:rPr sz="1000" b="0" i="0" lang="es-CL">
                <a:solidFill>
                  <a:srgbClr val="1F2328"/>
                </a:solidFill>
                <a:latin typeface="Consolas"/>
                <a:ea typeface="Consolas"/>
                <a:cs typeface="Consolas"/>
              </a:rPr>
              <a:t>(running.http)</a:t>
            </a:r>
          </a:p>
          <a:p>
            <a:pPr marL="0" indent="0">
              <a:lnSpc>
                <a:spcPct val="100000"/>
              </a:lnSpc>
              <a:spcAft>
                <a:spcPts val="0"/>
              </a:spcAft>
              <a:buNone/>
            </a:pPr>
            <a:r>
              <a:rPr sz="1000" b="0" i="0" lang="es-CL">
                <a:solidFill>
                  <a:srgbClr val="1F2328"/>
                </a:solidFill>
                <a:latin typeface="Consolas"/>
                <a:ea typeface="Consolas"/>
                <a:cs typeface="Consolas"/>
              </a:rPr>
              <a:t>  .post(</a:t>
            </a:r>
            <a:r>
              <a:rPr sz="1000" b="0" i="0" lang="es-CL">
                <a:solidFill>
                  <a:srgbClr val="A31515"/>
                </a:solidFill>
                <a:latin typeface="Consolas"/>
                <a:ea typeface="Consolas"/>
                <a:cs typeface="Consolas"/>
              </a:rPr>
              <a:t>'/api/loans'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.send({ bookId: book.id, borrowerEmail: </a:t>
            </a:r>
            <a:r>
              <a:rPr sz="1000" b="0" i="0" lang="es-CL">
                <a:solidFill>
                  <a:srgbClr val="A31515"/>
                </a:solidFill>
                <a:latin typeface="Consolas"/>
                <a:ea typeface="Consolas"/>
                <a:cs typeface="Consolas"/>
              </a:rPr>
              <a:t>'Ana@UC.cl'</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expectToMatchContract(loan, </a:t>
            </a:r>
            <a:r>
              <a:rPr sz="1000" b="0" i="0" lang="es-CL">
                <a:solidFill>
                  <a:srgbClr val="A31515"/>
                </a:solidFill>
                <a:latin typeface="Consolas"/>
                <a:ea typeface="Consolas"/>
                <a:cs typeface="Consolas"/>
              </a:rPr>
              <a:t>'createLoan'</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(loan.status).toBe(</a:t>
            </a:r>
            <a:r>
              <a:rPr sz="1000" b="0" i="0" lang="es-CL">
                <a:solidFill>
                  <a:srgbClr val="098658"/>
                </a:solidFill>
                <a:latin typeface="Consolas"/>
                <a:ea typeface="Consolas"/>
                <a:cs typeface="Consolas"/>
              </a:rPr>
              <a:t>201</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(loan.body).toMatchObject({</a:t>
            </a:r>
          </a:p>
          <a:p>
            <a:pPr marL="0" indent="0">
              <a:lnSpc>
                <a:spcPct val="100000"/>
              </a:lnSpc>
              <a:spcAft>
                <a:spcPts val="0"/>
              </a:spcAft>
              <a:buNone/>
            </a:pPr>
            <a:r>
              <a:rPr sz="1000" b="0" i="0" lang="es-CL">
                <a:solidFill>
                  <a:srgbClr val="1F2328"/>
                </a:solidFill>
                <a:latin typeface="Consolas"/>
                <a:ea typeface="Consolas"/>
                <a:cs typeface="Consolas"/>
              </a:rPr>
              <a:t>  bookId: book.id,</a:t>
            </a:r>
          </a:p>
          <a:p>
            <a:pPr marL="0" indent="0">
              <a:lnSpc>
                <a:spcPct val="100000"/>
              </a:lnSpc>
              <a:spcAft>
                <a:spcPts val="0"/>
              </a:spcAft>
              <a:buNone/>
            </a:pPr>
            <a:r>
              <a:rPr sz="1000" b="0" i="0" lang="es-CL">
                <a:solidFill>
                  <a:srgbClr val="1F2328"/>
                </a:solidFill>
                <a:latin typeface="Consolas"/>
                <a:ea typeface="Consolas"/>
                <a:cs typeface="Consolas"/>
              </a:rPr>
              <a:t>  bookTitle: </a:t>
            </a:r>
            <a:r>
              <a:rPr sz="1000" b="0" i="0" lang="es-CL">
                <a:solidFill>
                  <a:srgbClr val="A31515"/>
                </a:solidFill>
                <a:latin typeface="Consolas"/>
                <a:ea typeface="Consolas"/>
                <a:cs typeface="Consolas"/>
              </a:rPr>
              <a:t>'La casa de los espíritus'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borrowerEmail: </a:t>
            </a:r>
            <a:r>
              <a:rPr sz="1000" b="0" i="0" lang="es-CL">
                <a:solidFill>
                  <a:srgbClr val="A31515"/>
                </a:solidFill>
                <a:latin typeface="Consolas"/>
                <a:ea typeface="Consolas"/>
                <a:cs typeface="Consolas"/>
              </a:rPr>
              <a:t>'ana@uc.cl'</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loanedAt: </a:t>
            </a:r>
            <a:r>
              <a:rPr sz="1000" b="0" i="0" lang="es-CL">
                <a:solidFill>
                  <a:srgbClr val="A31515"/>
                </a:solidFill>
                <a:latin typeface="Consolas"/>
                <a:ea typeface="Consolas"/>
                <a:cs typeface="Consolas"/>
              </a:rPr>
              <a:t>'2026-03-02T12:00:00.000Z'</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dueAt: </a:t>
            </a:r>
            <a:r>
              <a:rPr sz="1000" b="0" i="0" lang="es-CL">
                <a:solidFill>
                  <a:srgbClr val="A31515"/>
                </a:solidFill>
                <a:latin typeface="Consolas"/>
                <a:ea typeface="Consolas"/>
                <a:cs typeface="Consolas"/>
              </a:rPr>
              <a:t>'2026-03-16T12:00:00.000Z'</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returnedAt: </a:t>
            </a:r>
            <a:r>
              <a:rPr sz="1000" b="0" i="0" lang="es-CL">
                <a:solidFill>
                  <a:srgbClr val="0000FF"/>
                </a:solidFill>
                <a:latin typeface="Consolas"/>
                <a:ea typeface="Consolas"/>
                <a:cs typeface="Consolas"/>
              </a:rPr>
              <a:t>null</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status: </a:t>
            </a:r>
            <a:r>
              <a:rPr sz="1000" b="0" i="0" lang="es-CL">
                <a:solidFill>
                  <a:srgbClr val="A31515"/>
                </a:solidFill>
                <a:latin typeface="Consolas"/>
                <a:ea typeface="Consolas"/>
                <a:cs typeface="Consolas"/>
              </a:rPr>
              <a:t>'ACTIVE'</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exhausted =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a:t>
            </a:r>
            <a:r>
              <a:rPr sz="1000" b="0" i="0" lang="es-CL">
                <a:solidFill>
                  <a:srgbClr val="795E26"/>
                </a:solidFill>
                <a:latin typeface="Consolas"/>
                <a:ea typeface="Consolas"/>
                <a:cs typeface="Consolas"/>
              </a:rPr>
              <a:t>request</a:t>
            </a:r>
            <a:r>
              <a:rPr sz="1000" b="0" i="0" lang="es-CL">
                <a:solidFill>
                  <a:srgbClr val="1F2328"/>
                </a:solidFill>
                <a:latin typeface="Consolas"/>
                <a:ea typeface="Consolas"/>
                <a:cs typeface="Consolas"/>
              </a:rPr>
              <a:t>(running.http)</a:t>
            </a:r>
          </a:p>
          <a:p>
            <a:pPr marL="0" indent="0">
              <a:lnSpc>
                <a:spcPct val="100000"/>
              </a:lnSpc>
              <a:spcAft>
                <a:spcPts val="0"/>
              </a:spcAft>
              <a:buNone/>
            </a:pPr>
            <a:r>
              <a:rPr sz="1000" b="0" i="0" lang="es-CL">
                <a:solidFill>
                  <a:srgbClr val="1F2328"/>
                </a:solidFill>
                <a:latin typeface="Consolas"/>
                <a:ea typeface="Consolas"/>
                <a:cs typeface="Consolas"/>
              </a:rPr>
              <a:t>  .post(</a:t>
            </a:r>
            <a:r>
              <a:rPr sz="1000" b="0" i="0" lang="es-CL">
                <a:solidFill>
                  <a:srgbClr val="A31515"/>
                </a:solidFill>
                <a:latin typeface="Consolas"/>
                <a:ea typeface="Consolas"/>
                <a:cs typeface="Consolas"/>
              </a:rPr>
              <a:t>'/api/loans'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.send({ bookId: book.id, borrowerEmail: </a:t>
            </a:r>
            <a:r>
              <a:rPr sz="1000" b="0" i="0" lang="es-CL">
                <a:solidFill>
                  <a:srgbClr val="A31515"/>
                </a:solidFill>
                <a:latin typeface="Consolas"/>
                <a:ea typeface="Consolas"/>
                <a:cs typeface="Consolas"/>
              </a:rPr>
              <a:t>'beto@uc.cl'</a:t>
            </a: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expectToMatchContract(exhausted, </a:t>
            </a:r>
            <a:r>
              <a:rPr sz="1000" b="0" i="0" lang="es-CL">
                <a:solidFill>
                  <a:srgbClr val="A31515"/>
                </a:solidFill>
                <a:latin typeface="Consolas"/>
                <a:ea typeface="Consolas"/>
                <a:cs typeface="Consolas"/>
              </a:rPr>
              <a:t>'createLoan'</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(exhausted.status).toBe(</a:t>
            </a:r>
            <a:r>
              <a:rPr sz="1000" b="0" i="0" lang="es-CL">
                <a:solidFill>
                  <a:srgbClr val="098658"/>
                </a:solidFill>
                <a:latin typeface="Consolas"/>
                <a:ea typeface="Consolas"/>
                <a:cs typeface="Consolas"/>
              </a:rPr>
              <a:t>409</a:t>
            </a:r>
            <a:r>
              <a:rPr sz="10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contract tests y service tests, p. 68 a 72 y 107.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Fuzzing de API desde el contrato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Genera requests a partir del OpenAPI: valores límite, tipos raros, strings enormes.</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Errores 500 y respuestas que no cumplen el schema o los headers.</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Schemathesis: property based testing sobre el OpenAPI.</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9, contra el stack levantado con Docker.</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.github/workflows/ci.yml, job sistema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100" b="0" i="0" lang="es-CL">
                <a:solidFill>
                  <a:srgbClr val="0451A5"/>
                </a:solidFill>
                <a:latin typeface="Consolas"/>
                <a:ea typeface="Consolas"/>
                <a:cs typeface="Consolas"/>
              </a:rPr>
              <a:t>- name</a:t>
            </a:r>
            <a:r>
              <a:rPr sz="1100" b="0" i="0" lang="es-CL">
                <a:solidFill>
                  <a:srgbClr val="1F2328"/>
                </a:solidFill>
                <a:latin typeface="Consolas"/>
                <a:ea typeface="Consolas"/>
                <a:cs typeface="Consolas"/>
              </a:rPr>
              <a:t>: Schemathesis (property based testing desde el OpenAPI)</a:t>
            </a:r>
          </a:p>
          <a:p>
            <a:pPr marL="0" indent="0">
              <a:lnSpc>
                <a:spcPct val="100000"/>
              </a:lnSpc>
              <a:spcAft>
                <a:spcPts val="0"/>
              </a:spcAft>
              <a:buNone/>
            </a:pPr>
            <a:r>
              <a:rPr sz="1100" b="0" i="0" lang="es-CL">
                <a:solidFill>
                  <a:srgbClr val="0451A5"/>
                </a:solidFill>
                <a:latin typeface="Consolas"/>
                <a:ea typeface="Consolas"/>
                <a:cs typeface="Consolas"/>
              </a:rPr>
              <a:t>  if</a:t>
            </a:r>
            <a:r>
              <a:rPr sz="1100" b="0" i="0" lang="es-CL">
                <a:solidFill>
                  <a:srgbClr val="1F2328"/>
                </a:solidFill>
                <a:latin typeface="Consolas"/>
                <a:ea typeface="Consolas"/>
                <a:cs typeface="Consolas"/>
              </a:rPr>
              <a:t>: ${{ !cancelled() &amp;&amp; steps.stack.outcome == </a:t>
            </a:r>
            <a:r>
              <a:rPr sz="1100" b="0" i="0" lang="es-CL">
                <a:solidFill>
                  <a:srgbClr val="A31515"/>
                </a:solidFill>
                <a:latin typeface="Consolas"/>
                <a:ea typeface="Consolas"/>
                <a:cs typeface="Consolas"/>
              </a:rPr>
              <a:t>'success'</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0451A5"/>
                </a:solidFill>
                <a:latin typeface="Consolas"/>
                <a:ea typeface="Consolas"/>
                <a:cs typeface="Consolas"/>
              </a:rPr>
              <a:t>  run</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schemathesis/schemathesis:stable run /specs/openapi.yaml \</a:t>
            </a:r>
          </a:p>
          <a:p>
            <a:pPr marL="0" indent="0">
              <a:lnSpc>
                <a:spcPct val="100000"/>
              </a:lnSpc>
              <a:spcAft>
                <a:spcPts val="0"/>
              </a:spcAft>
              <a:buNone/>
            </a:pPr>
            <a:r>
              <a:rPr sz="1100" b="0" i="0" lang="es-CL">
                <a:solidFill>
                  <a:srgbClr val="1F2328"/>
                </a:solidFill>
                <a:latin typeface="Consolas"/>
                <a:ea typeface="Consolas"/>
                <a:cs typeface="Consolas"/>
              </a:rPr>
              <a:t>      --url http://localhost:</a:t>
            </a:r>
            <a:r>
              <a:rPr sz="1100" b="0" i="0" lang="es-CL">
                <a:solidFill>
                  <a:srgbClr val="098658"/>
                </a:solidFill>
                <a:latin typeface="Consolas"/>
                <a:ea typeface="Consolas"/>
                <a:cs typeface="Consolas"/>
              </a:rPr>
              <a:t>3001</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--checks not_a_server_error,status_code_conformance,content_type_conformance,... \</a:t>
            </a:r>
          </a:p>
          <a:p>
            <a:pPr marL="0" indent="0">
              <a:lnSpc>
                <a:spcPct val="100000"/>
              </a:lnSpc>
              <a:spcAft>
                <a:spcPts val="0"/>
              </a:spcAft>
              <a:buNone/>
            </a:pPr>
            <a:r>
              <a:rPr sz="1100" b="0" i="0" lang="es-CL">
                <a:solidFill>
                  <a:srgbClr val="1F2328"/>
                </a:solidFill>
                <a:latin typeface="Consolas"/>
                <a:ea typeface="Consolas"/>
                <a:cs typeface="Consolas"/>
              </a:rPr>
              <a:t>      --phases examples,coverage,fuzzing \</a:t>
            </a:r>
          </a:p>
          <a:p>
            <a:pPr marL="0" indent="0">
              <a:lnSpc>
                <a:spcPct val="100000"/>
              </a:lnSpc>
              <a:spcAft>
                <a:spcPts val="0"/>
              </a:spcAft>
              <a:buNone/>
            </a:pPr>
            <a:r>
              <a:rPr sz="1100" b="0" i="0" lang="es-CL">
                <a:solidFill>
                  <a:srgbClr val="1F2328"/>
                </a:solidFill>
                <a:latin typeface="Consolas"/>
                <a:ea typeface="Consolas"/>
                <a:cs typeface="Consolas"/>
              </a:rPr>
              <a:t>      --max-examples </a:t>
            </a:r>
            <a:r>
              <a:rPr sz="1100" b="0" i="0" lang="es-CL">
                <a:solidFill>
                  <a:srgbClr val="098658"/>
                </a:solidFill>
                <a:latin typeface="Consolas"/>
                <a:ea typeface="Consolas"/>
                <a:cs typeface="Consolas"/>
              </a:rPr>
              <a:t>50</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--generation-database none \</a:t>
            </a:r>
          </a:p>
          <a:p>
            <a:pPr marL="0" indent="0">
              <a:lnSpc>
                <a:spcPct val="100000"/>
              </a:lnSpc>
              <a:spcAft>
                <a:spcPts val="0"/>
              </a:spcAft>
              <a:buNone/>
            </a:pPr>
            <a:r>
              <a:rPr sz="1100" b="0" i="0" lang="es-CL">
                <a:solidFill>
                  <a:srgbClr val="1F2328"/>
                </a:solidFill>
                <a:latin typeface="Consolas"/>
                <a:ea typeface="Consolas"/>
                <a:cs typeface="Consolas"/>
              </a:rPr>
              <a:t>      --report junit --report-junit-path /reports/junit.xml \</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tests generados desde specs, cap. 3. Seguridad de APIs, cap. 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Mock server: el frontend se prueba sin backend</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60120"/>
            <a:ext cx="1508760" cy="640080"/>
          </a:xfrm>
          <a:prstGeom prst="roundRect">
            <a:avLst>
              <a:gd name="adj" fmla="val 11428"/>
            </a:avLst>
          </a:prstGeom>
          <a:solidFill>
            <a:srgbClr val="CC850A"/>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Next.js</a:t>
            </a:r>
          </a:p>
          <a:p>
            <a:pPr algn="ctr" marL="0" indent="0">
              <a:spcAft>
                <a:spcPts val="0"/>
              </a:spcAft>
              <a:buNone/>
            </a:pPr>
            <a:r>
              <a:rPr sz="1200" b="0" i="0" lang="es-CL">
                <a:solidFill>
                  <a:srgbClr val="FFFFFF"/>
                </a:solidFill>
                <a:latin typeface="Inter"/>
                <a:ea typeface="Inter"/>
                <a:cs typeface="Inter"/>
              </a:rPr>
              <a:t>componentes</a:t>
            </a:r>
          </a:p>
        </p:txBody>
      </p:sp>
      <p:sp>
        <p:nvSpPr>
          <p:cNvPr id="5" name="Rounded Rectangle 4"/>
          <p:cNvSpPr/>
          <p:nvPr/>
        </p:nvSpPr>
        <p:spPr>
          <a:xfrm>
            <a:off x="2194560" y="960120"/>
            <a:ext cx="1508760" cy="640080"/>
          </a:xfrm>
          <a:prstGeom prst="roundRect">
            <a:avLst>
              <a:gd name="adj" fmla="val 11428"/>
            </a:avLst>
          </a:prstGeom>
          <a:solidFill>
            <a:srgbClr val="47A1AD"/>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MSW</a:t>
            </a:r>
          </a:p>
          <a:p>
            <a:pPr algn="ctr" marL="0" indent="0">
              <a:spcAft>
                <a:spcPts val="0"/>
              </a:spcAft>
              <a:buNone/>
            </a:pPr>
            <a:r>
              <a:rPr sz="1200" b="0" i="0" lang="es-CL">
                <a:solidFill>
                  <a:srgbClr val="FFFFFF"/>
                </a:solidFill>
                <a:latin typeface="Inter"/>
                <a:ea typeface="Inter"/>
                <a:cs typeface="Inter"/>
              </a:rPr>
              <a:t>intercepta /api</a:t>
            </a:r>
          </a:p>
        </p:txBody>
      </p:sp>
      <p:cxnSp>
        <p:nvCxnSpPr>
          <p:cNvPr id="6" name="Connector 5"/>
          <p:cNvCxnSpPr/>
          <p:nvPr/>
        </p:nvCxnSpPr>
        <p:spPr>
          <a:xfrm>
            <a:off x="1938528" y="1280160"/>
            <a:ext cx="237744" cy="0"/>
          </a:xfrm>
          <a:prstGeom prst="line">
            <a:avLst/>
          </a:prstGeom>
          <a:ln w="25400">
            <a:solidFill>
              <a:srgbClr val="1F2328"/>
            </a:solidFill>
            <a:tailEnd type="triangle" w="med" len="med"/>
          </a:ln>
        </p:spPr>
      </p:cxnSp>
      <p:sp>
        <p:nvSpPr>
          <p:cNvPr id="7" name="Rounded Rectangle 6"/>
          <p:cNvSpPr/>
          <p:nvPr/>
        </p:nvSpPr>
        <p:spPr>
          <a:xfrm>
            <a:off x="411480" y="1673352"/>
            <a:ext cx="3291840" cy="329184"/>
          </a:xfrm>
          <a:prstGeom prst="roundRect">
            <a:avLst>
              <a:gd name="adj" fmla="val 22222"/>
            </a:avLst>
          </a:prstGeom>
          <a:solidFill>
            <a:srgbClr val="E4E7EC"/>
          </a:solidFill>
          <a:ln>
            <a:noFill/>
          </a:ln>
        </p:spPr>
        <p:txBody>
          <a:bodyPr rtlCol="0" anchor="ctr" wrap="square" lIns="54864" rIns="54864" tIns="54864" bIns="54864"/>
          <a:lstStyle/>
          <a:p>
            <a:pPr algn="ctr" marL="0" indent="0">
              <a:spcAft>
                <a:spcPts val="200"/>
              </a:spcAft>
              <a:buNone/>
            </a:pPr>
            <a:r>
              <a:rPr sz="1200" b="1" i="0" lang="es-CL">
                <a:solidFill>
                  <a:srgbClr val="57606A"/>
                </a:solidFill>
                <a:latin typeface="Inter"/>
                <a:ea typeface="Inter"/>
                <a:cs typeface="Inter"/>
              </a:rPr>
              <a:t>Backend: no hace falta</a:t>
            </a:r>
          </a:p>
        </p:txBody>
      </p:sp>
      <p:sp>
        <p:nvSpPr>
          <p:cNvPr id="8" name="TextBox 7"/>
          <p:cNvSpPr txBox="1"/>
          <p:nvPr/>
        </p:nvSpPr>
        <p:spPr>
          <a:xfrm>
            <a:off x="3931920" y="932688"/>
            <a:ext cx="4800600" cy="1188720"/>
          </a:xfrm>
          <a:prstGeom prst="rect">
            <a:avLst/>
          </a:prstGeom>
          <a:noFill/>
        </p:spPr>
        <p:txBody>
          <a:bodyPr wrap="square" lIns="36576" rIns="36576" tIns="36576" bIns="36576" anchor="t"/>
          <a:lstStyle/>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Intercepta en el navegador (Service Worker) y en Node.</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Los mismos handlers sirven para componentes, E2E y desarrollo.</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Se activa con </a:t>
            </a:r>
            <a:r>
              <a:rPr sz="1200" b="0" i="0" lang="es-CL">
                <a:solidFill>
                  <a:srgbClr val="A31515"/>
                </a:solidFill>
                <a:latin typeface="Consolas"/>
                <a:ea typeface="Consolas"/>
                <a:cs typeface="Consolas"/>
              </a:rPr>
              <a:t>NEXT_PUBLIC_API_MOCKING</a:t>
            </a:r>
            <a:r>
              <a:rPr sz="1200" b="0" i="0" lang="es-CL">
                <a:solidFill>
                  <a:srgbClr val="1F2328"/>
                </a:solidFill>
                <a:latin typeface="Inter"/>
                <a:ea typeface="Inter"/>
                <a:cs typeface="Inter"/>
              </a:rPr>
              <a:t> y valida contra el OpenAPI.</a:t>
            </a:r>
          </a:p>
        </p:txBody>
      </p:sp>
      <p:sp>
        <p:nvSpPr>
          <p:cNvPr id="9" name="Rounded Rectangle 8"/>
          <p:cNvSpPr/>
          <p:nvPr/>
        </p:nvSpPr>
        <p:spPr>
          <a:xfrm>
            <a:off x="411480" y="2157984"/>
            <a:ext cx="8321040" cy="2432304"/>
          </a:xfrm>
          <a:prstGeom prst="roundRect">
            <a:avLst>
              <a:gd name="adj" fmla="val 2255"/>
            </a:avLst>
          </a:prstGeom>
          <a:solidFill>
            <a:srgbClr val="F6F8FA"/>
          </a:solidFill>
          <a:ln w="9525">
            <a:solidFill>
              <a:srgbClr val="D0D7DE"/>
            </a:solidFill>
          </a:ln>
        </p:spPr>
        <p:txBody>
          <a:bodyPr rtlCol="0" anchor="ctr" wrap="square" lIns="54864" rIns="54864" tIns="54864" bIns="54864"/>
          <a:lstStyle/>
          <a:p>
            <a:pPr algn="ctr"/>
          </a:p>
        </p:txBody>
      </p:sp>
      <p:sp>
        <p:nvSpPr>
          <p:cNvPr id="10" name="TextBox 9"/>
          <p:cNvSpPr txBox="1"/>
          <p:nvPr/>
        </p:nvSpPr>
        <p:spPr>
          <a:xfrm>
            <a:off x="521208" y="2203703"/>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frontend/src/mocks/handlers.ts (extracto)</a:t>
            </a:r>
          </a:p>
        </p:txBody>
      </p:sp>
      <p:sp>
        <p:nvSpPr>
          <p:cNvPr id="11" name="TextBox 10"/>
          <p:cNvSpPr txBox="1"/>
          <p:nvPr/>
        </p:nvSpPr>
        <p:spPr>
          <a:xfrm>
            <a:off x="521208" y="2468879"/>
            <a:ext cx="8101583" cy="2066543"/>
          </a:xfrm>
          <a:prstGeom prst="rect">
            <a:avLst/>
          </a:prstGeom>
          <a:noFill/>
        </p:spPr>
        <p:txBody>
          <a:bodyPr wrap="none" lIns="0" rIns="0" tIns="0" bIns="0"/>
          <a:lstStyle/>
          <a:p>
            <a:pPr marL="0" indent="0">
              <a:lnSpc>
                <a:spcPct val="100000"/>
              </a:lnSpc>
              <a:spcAft>
                <a:spcPts val="0"/>
              </a:spcAft>
              <a:buNone/>
            </a:pPr>
            <a:r>
              <a:rPr sz="1000" b="0" i="0" lang="es-CL">
                <a:solidFill>
                  <a:srgbClr val="1F2328"/>
                </a:solidFill>
                <a:latin typeface="Consolas"/>
                <a:ea typeface="Consolas"/>
                <a:cs typeface="Consolas"/>
              </a:rPr>
              <a:t>http.post(</a:t>
            </a:r>
            <a:r>
              <a:rPr sz="1000" b="0" i="0" lang="es-CL">
                <a:solidFill>
                  <a:srgbClr val="A31515"/>
                </a:solidFill>
                <a:latin typeface="Consolas"/>
                <a:ea typeface="Consolas"/>
                <a:cs typeface="Consolas"/>
              </a:rPr>
              <a:t>'*/api/loans'</a:t>
            </a: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async</a:t>
            </a:r>
            <a:r>
              <a:rPr sz="1000" b="0" i="0" lang="es-CL">
                <a:solidFill>
                  <a:srgbClr val="1F2328"/>
                </a:solidFill>
                <a:latin typeface="Consolas"/>
                <a:ea typeface="Consolas"/>
                <a:cs typeface="Consolas"/>
              </a:rPr>
              <a:t> ({ </a:t>
            </a:r>
            <a:r>
              <a:rPr sz="1000" b="0" i="0" lang="es-CL">
                <a:solidFill>
                  <a:srgbClr val="795E26"/>
                </a:solidFill>
                <a:latin typeface="Consolas"/>
                <a:ea typeface="Consolas"/>
                <a:cs typeface="Consolas"/>
              </a:rPr>
              <a:t>request</a:t>
            </a:r>
            <a:r>
              <a:rPr sz="1000" b="0" i="0" lang="es-CL">
                <a:solidFill>
                  <a:srgbClr val="1F2328"/>
                </a:solidFill>
                <a:latin typeface="Consolas"/>
                <a:ea typeface="Consolas"/>
                <a:cs typeface="Consolas"/>
              </a:rPr>
              <a:t> }) =&gt; {</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if</a:t>
            </a:r>
            <a:r>
              <a:rPr sz="1000" b="0" i="0" lang="es-CL">
                <a:solidFill>
                  <a:srgbClr val="1F2328"/>
                </a:solidFill>
                <a:latin typeface="Consolas"/>
                <a:ea typeface="Consolas"/>
                <a:cs typeface="Consolas"/>
              </a:rPr>
              <a:t> (!book) </a:t>
            </a:r>
            <a:r>
              <a:rPr sz="1000" b="0" i="0" lang="es-CL">
                <a:solidFill>
                  <a:srgbClr val="AF00DB"/>
                </a:solidFill>
                <a:latin typeface="Consolas"/>
                <a:ea typeface="Consolas"/>
                <a:cs typeface="Consolas"/>
              </a:rPr>
              <a:t>return</a:t>
            </a:r>
            <a:r>
              <a:rPr sz="1000" b="0" i="0" lang="es-CL">
                <a:solidFill>
                  <a:srgbClr val="1F2328"/>
                </a:solidFill>
                <a:latin typeface="Consolas"/>
                <a:ea typeface="Consolas"/>
                <a:cs typeface="Consolas"/>
              </a:rPr>
              <a:t> problem(</a:t>
            </a:r>
            <a:r>
              <a:rPr sz="1000" b="0" i="0" lang="es-CL">
                <a:solidFill>
                  <a:srgbClr val="098658"/>
                </a:solidFill>
                <a:latin typeface="Consolas"/>
                <a:ea typeface="Consolas"/>
                <a:cs typeface="Consolas"/>
              </a:rPr>
              <a:t>404</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'BOOK_NOT_FOUND'</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'No existe el libro solicitado'</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const</a:t>
            </a:r>
            <a:r>
              <a:rPr sz="1000" b="0" i="0" lang="es-CL">
                <a:solidFill>
                  <a:srgbClr val="1F2328"/>
                </a:solidFill>
                <a:latin typeface="Consolas"/>
                <a:ea typeface="Consolas"/>
                <a:cs typeface="Consolas"/>
              </a:rPr>
              <a:t> notReturned = state.loans.filter(</a:t>
            </a:r>
          </a:p>
          <a:p>
            <a:pPr marL="0" indent="0">
              <a:lnSpc>
                <a:spcPct val="100000"/>
              </a:lnSpc>
              <a:spcAft>
                <a:spcPts val="0"/>
              </a:spcAft>
              <a:buNone/>
            </a:pPr>
            <a:r>
              <a:rPr sz="1000" b="0" i="0" lang="es-CL">
                <a:solidFill>
                  <a:srgbClr val="1F2328"/>
                </a:solidFill>
                <a:latin typeface="Consolas"/>
                <a:ea typeface="Consolas"/>
                <a:cs typeface="Consolas"/>
              </a:rPr>
              <a:t>    (l) =&gt; l.borrowerEmail === email &amp;&amp; l.returnedAt === </a:t>
            </a:r>
            <a:r>
              <a:rPr sz="1000" b="0" i="0" lang="es-CL">
                <a:solidFill>
                  <a:srgbClr val="0000FF"/>
                </a:solidFill>
                <a:latin typeface="Consolas"/>
                <a:ea typeface="Consolas"/>
                <a:cs typeface="Consolas"/>
              </a:rPr>
              <a:t>null</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if</a:t>
            </a:r>
            <a:r>
              <a:rPr sz="1000" b="0" i="0" lang="es-CL">
                <a:solidFill>
                  <a:srgbClr val="1F2328"/>
                </a:solidFill>
                <a:latin typeface="Consolas"/>
                <a:ea typeface="Consolas"/>
                <a:cs typeface="Consolas"/>
              </a:rPr>
              <a:t> (notReturned.some((l) =&gt; l.bookId === bookId))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return</a:t>
            </a:r>
            <a:r>
              <a:rPr sz="1000" b="0" i="0" lang="es-CL">
                <a:solidFill>
                  <a:srgbClr val="1F2328"/>
                </a:solidFill>
                <a:latin typeface="Consolas"/>
                <a:ea typeface="Consolas"/>
                <a:cs typeface="Consolas"/>
              </a:rPr>
              <a:t> problem(</a:t>
            </a:r>
            <a:r>
              <a:rPr sz="1000" b="0" i="0" lang="es-CL">
                <a:solidFill>
                  <a:srgbClr val="098658"/>
                </a:solidFill>
                <a:latin typeface="Consolas"/>
                <a:ea typeface="Consolas"/>
                <a:cs typeface="Consolas"/>
              </a:rPr>
              <a:t>409</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'DUPLICATE_LOAN'</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`${email} ya tiene prestado este libro`</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if</a:t>
            </a:r>
            <a:r>
              <a:rPr sz="1000" b="0" i="0" lang="es-CL">
                <a:solidFill>
                  <a:srgbClr val="1F2328"/>
                </a:solidFill>
                <a:latin typeface="Consolas"/>
                <a:ea typeface="Consolas"/>
                <a:cs typeface="Consolas"/>
              </a:rPr>
              <a:t> (notReturned.length &gt;= MAX_ACTIVE_LOANS) {</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return</a:t>
            </a:r>
            <a:r>
              <a:rPr sz="1000" b="0" i="0" lang="es-CL">
                <a:solidFill>
                  <a:srgbClr val="1F2328"/>
                </a:solidFill>
                <a:latin typeface="Consolas"/>
                <a:ea typeface="Consolas"/>
                <a:cs typeface="Consolas"/>
              </a:rPr>
              <a:t> problem(</a:t>
            </a:r>
            <a:r>
              <a:rPr sz="1000" b="0" i="0" lang="es-CL">
                <a:solidFill>
                  <a:srgbClr val="098658"/>
                </a:solidFill>
                <a:latin typeface="Consolas"/>
                <a:ea typeface="Consolas"/>
                <a:cs typeface="Consolas"/>
              </a:rPr>
              <a:t>409</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'LOAN_LIMIT_REACHED'</a:t>
            </a: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`${email} ya tiene 3 préstamos activos`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Componentes con Vitest, Testing Library y MSW</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Renderiza un componente en jsdom y lo usa como persona: escribe, hace clic y lee.</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Estados de UI incorrectos: errores mal mostrados, botones habilitados de más.</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Vitest, Testing Library y user-event. server.use() cambia el mock en un test.</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5 del frontend. Segundos, sin navegador.</a:t>
            </a:r>
          </a:p>
        </p:txBody>
      </p:sp>
      <p:sp>
        <p:nvSpPr>
          <p:cNvPr id="12" name="Rounded Rectangle 11"/>
          <p:cNvSpPr/>
          <p:nvPr/>
        </p:nvSpPr>
        <p:spPr>
          <a:xfrm>
            <a:off x="411480" y="2331720"/>
            <a:ext cx="8321040" cy="2240279"/>
          </a:xfrm>
          <a:prstGeom prst="roundRect">
            <a:avLst>
              <a:gd name="adj" fmla="val 2448"/>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37744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frontend/src/features/loans/components/BorrowForm.test.tsx (extracto)</a:t>
            </a:r>
          </a:p>
        </p:txBody>
      </p:sp>
      <p:sp>
        <p:nvSpPr>
          <p:cNvPr id="14" name="TextBox 13"/>
          <p:cNvSpPr txBox="1"/>
          <p:nvPr/>
        </p:nvSpPr>
        <p:spPr>
          <a:xfrm>
            <a:off x="521208" y="2642616"/>
            <a:ext cx="8101583" cy="1874519"/>
          </a:xfrm>
          <a:prstGeom prst="rect">
            <a:avLst/>
          </a:prstGeom>
          <a:noFill/>
        </p:spPr>
        <p:txBody>
          <a:bodyPr wrap="none" lIns="0" rIns="0" tIns="0" bIns="0"/>
          <a:lstStyle/>
          <a:p>
            <a:pPr marL="0" indent="0">
              <a:lnSpc>
                <a:spcPct val="100000"/>
              </a:lnSpc>
              <a:spcAft>
                <a:spcPts val="0"/>
              </a:spcAft>
              <a:buNone/>
            </a:pPr>
            <a:r>
              <a:rPr sz="1000" b="0" i="0" lang="es-CL">
                <a:solidFill>
                  <a:srgbClr val="795E26"/>
                </a:solidFill>
                <a:latin typeface="Consolas"/>
                <a:ea typeface="Consolas"/>
                <a:cs typeface="Consolas"/>
              </a:rPr>
              <a:t>it</a:t>
            </a:r>
            <a:r>
              <a:rPr sz="1000" b="0" i="0" lang="es-CL">
                <a:solidFill>
                  <a:srgbClr val="1F2328"/>
                </a:solidFill>
                <a:latin typeface="Consolas"/>
                <a:ea typeface="Consolas"/>
                <a:cs typeface="Consolas"/>
              </a:rPr>
              <a:t>(</a:t>
            </a:r>
            <a:r>
              <a:rPr sz="1000" b="0" i="0" lang="es-CL">
                <a:solidFill>
                  <a:srgbClr val="A31515"/>
                </a:solidFill>
                <a:latin typeface="Consolas"/>
                <a:ea typeface="Consolas"/>
                <a:cs typeface="Consolas"/>
              </a:rPr>
              <a:t>'</a:t>
            </a:r>
            <a:r>
              <a:rPr sz="1000" b="1" i="0" lang="es-CL">
                <a:solidFill>
                  <a:srgbClr val="9900FF"/>
                </a:solidFill>
                <a:latin typeface="Consolas"/>
                <a:ea typeface="Consolas"/>
                <a:cs typeface="Consolas"/>
              </a:rPr>
              <a:t>[UI-LOAN-4]</a:t>
            </a:r>
            <a:r>
              <a:rPr sz="1000" b="0" i="0" lang="es-CL">
                <a:solidFill>
                  <a:srgbClr val="A31515"/>
                </a:solidFill>
                <a:latin typeface="Consolas"/>
                <a:ea typeface="Consolas"/>
                <a:cs typeface="Consolas"/>
              </a:rPr>
              <a:t> LOAN_LIMIT_REACHED muestra "Alcanzaste el máximo de 3 préstamos activos"'</a:t>
            </a:r>
            <a:r>
              <a:rPr sz="1000" b="0" i="0" lang="es-CL">
                <a:solidFill>
                  <a:srgbClr val="1F2328"/>
                </a:solidFill>
                <a:latin typeface="Consolas"/>
                <a:ea typeface="Consolas"/>
                <a:cs typeface="Consolas"/>
              </a:rPr>
              <a:t>, </a:t>
            </a:r>
            <a:r>
              <a:rPr sz="1000" b="0" i="0" lang="es-CL">
                <a:solidFill>
                  <a:srgbClr val="0000FF"/>
                </a:solidFill>
                <a:latin typeface="Consolas"/>
                <a:ea typeface="Consolas"/>
                <a:cs typeface="Consolas"/>
              </a:rPr>
              <a:t>async</a:t>
            </a:r>
            <a:r>
              <a:rPr sz="1000" b="0" i="0" lang="es-CL">
                <a:solidFill>
                  <a:srgbClr val="1F2328"/>
                </a:solidFill>
                <a:latin typeface="Consolas"/>
                <a:ea typeface="Consolas"/>
                <a:cs typeface="Consolas"/>
              </a:rPr>
              <a:t> () =&gt; {</a:t>
            </a:r>
          </a:p>
          <a:p>
            <a:pPr marL="0" indent="0">
              <a:lnSpc>
                <a:spcPct val="100000"/>
              </a:lnSpc>
              <a:spcAft>
                <a:spcPts val="0"/>
              </a:spcAft>
              <a:buNone/>
            </a:pPr>
            <a:r>
              <a:rPr sz="1000" b="0" i="0" lang="es-CL">
                <a:solidFill>
                  <a:srgbClr val="1F2328"/>
                </a:solidFill>
                <a:latin typeface="Consolas"/>
                <a:ea typeface="Consolas"/>
                <a:cs typeface="Consolas"/>
              </a:rPr>
              <a:t>  respondWithConflict(</a:t>
            </a:r>
            <a:r>
              <a:rPr sz="1000" b="0" i="0" lang="es-CL">
                <a:solidFill>
                  <a:srgbClr val="A31515"/>
                </a:solidFill>
                <a:latin typeface="Consolas"/>
                <a:ea typeface="Consolas"/>
                <a:cs typeface="Consolas"/>
              </a:rPr>
              <a:t>'LOAN_LIMIT_REACHED'</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borrow()</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795E26"/>
                </a:solidFill>
                <a:latin typeface="Consolas"/>
                <a:ea typeface="Consolas"/>
                <a:cs typeface="Consolas"/>
              </a:rPr>
              <a:t>expect</a:t>
            </a:r>
            <a:r>
              <a:rPr sz="1000" b="0" i="0" lang="es-CL">
                <a:solidFill>
                  <a:srgbClr val="1F2328"/>
                </a:solidFill>
                <a:latin typeface="Consolas"/>
                <a:ea typeface="Consolas"/>
                <a:cs typeface="Consolas"/>
              </a:rPr>
              <a:t>(</a:t>
            </a:r>
            <a:r>
              <a:rPr sz="1000" b="0" i="0" lang="es-CL">
                <a:solidFill>
                  <a:srgbClr val="AF00DB"/>
                </a:solidFill>
                <a:latin typeface="Consolas"/>
                <a:ea typeface="Consolas"/>
                <a:cs typeface="Consolas"/>
              </a:rPr>
              <a:t>await</a:t>
            </a:r>
            <a:r>
              <a:rPr sz="1000" b="0" i="0" lang="es-CL">
                <a:solidFill>
                  <a:srgbClr val="1F2328"/>
                </a:solidFill>
                <a:latin typeface="Consolas"/>
                <a:ea typeface="Consolas"/>
                <a:cs typeface="Consolas"/>
              </a:rPr>
              <a:t> screen.findByRole(</a:t>
            </a:r>
            <a:r>
              <a:rPr sz="1000" b="0" i="0" lang="es-CL">
                <a:solidFill>
                  <a:srgbClr val="A31515"/>
                </a:solidFill>
                <a:latin typeface="Consolas"/>
                <a:ea typeface="Consolas"/>
                <a:cs typeface="Consolas"/>
              </a:rPr>
              <a:t>'alert'</a:t>
            </a:r>
            <a:r>
              <a:rPr sz="1000" b="0" i="0" lang="es-CL">
                <a:solidFill>
                  <a:srgbClr val="1F2328"/>
                </a:solidFill>
                <a:latin typeface="Consolas"/>
                <a:ea typeface="Consolas"/>
                <a:cs typeface="Consolas"/>
              </a:rPr>
              <a:t>)).toHaveTextContent(</a:t>
            </a:r>
          </a:p>
          <a:p>
            <a:pPr marL="0" indent="0">
              <a:lnSpc>
                <a:spcPct val="100000"/>
              </a:lnSpc>
              <a:spcAft>
                <a:spcPts val="0"/>
              </a:spcAft>
              <a:buNone/>
            </a:pPr>
            <a:r>
              <a:rPr sz="1000" b="0" i="0" lang="es-CL">
                <a:solidFill>
                  <a:srgbClr val="1F2328"/>
                </a:solidFill>
                <a:latin typeface="Consolas"/>
                <a:ea typeface="Consolas"/>
                <a:cs typeface="Consolas"/>
              </a:rPr>
              <a:t>    </a:t>
            </a:r>
            <a:r>
              <a:rPr sz="1000" b="0" i="0" lang="es-CL">
                <a:solidFill>
                  <a:srgbClr val="A31515"/>
                </a:solidFill>
                <a:latin typeface="Consolas"/>
                <a:ea typeface="Consolas"/>
                <a:cs typeface="Consolas"/>
              </a:rPr>
              <a:t>'Alcanzaste el máximo de 3 préstamos activos'</a:t>
            </a:r>
            <a:r>
              <a:rPr sz="1000" b="0" i="0" lang="es-CL">
                <a:solidFill>
                  <a:srgbClr val="1F2328"/>
                </a:solidFill>
                <a:latin typeface="Consolas"/>
                <a:ea typeface="Consolas"/>
                <a:cs typeface="Consolas"/>
              </a:rPr>
              <a:t>,</a:t>
            </a:r>
          </a:p>
          <a:p>
            <a:pPr marL="0" indent="0">
              <a:lnSpc>
                <a:spcPct val="100000"/>
              </a:lnSpc>
              <a:spcAft>
                <a:spcPts val="0"/>
              </a:spcAft>
              <a:buNone/>
            </a:pPr>
            <a:r>
              <a:rPr sz="1000" b="0" i="0" lang="es-CL">
                <a:solidFill>
                  <a:srgbClr val="1F2328"/>
                </a:solidFill>
                <a:latin typeface="Consolas"/>
                <a:ea typeface="Consolas"/>
                <a:cs typeface="Consolas"/>
              </a:rPr>
              <a:t>  )</a:t>
            </a:r>
          </a:p>
          <a:p>
            <a:pPr marL="0" indent="0">
              <a:lnSpc>
                <a:spcPct val="100000"/>
              </a:lnSpc>
              <a:spcAft>
                <a:spcPts val="0"/>
              </a:spcAft>
              <a:buNone/>
            </a:pPr>
            <a:r>
              <a:rPr sz="10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estrategia de testing frontend, p. 187.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E2E de flujos con Playwright</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Un navegador real recorre el flujo completo del usuario, escrito en Gherkin.</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Integración entre páginas, rutas y estado: lo que unit no ve.</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Playwright con playwright-bdd, contra Next y MSW.</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7. Los @smoke también en la etapa 9, contra el stack real.</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frontend/playwright.config.ts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100" b="0" i="0" lang="es-CL">
                <a:solidFill>
                  <a:srgbClr val="008000"/>
                </a:solidFill>
                <a:latin typeface="Consolas"/>
                <a:ea typeface="Consolas"/>
                <a:cs typeface="Consolas"/>
              </a:rPr>
              <a:t>// Los flujos de specs/flows/*.feature se convierten en tests (npx bddgen): la spec ES el test.</a:t>
            </a:r>
          </a:p>
          <a:p>
            <a:pPr marL="0" indent="0">
              <a:lnSpc>
                <a:spcPct val="100000"/>
              </a:lnSpc>
              <a:spcAft>
                <a:spcPts val="0"/>
              </a:spcAft>
              <a:buNone/>
            </a:pP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flowsDir = defineBddConfig({</a:t>
            </a:r>
          </a:p>
          <a:p>
            <a:pPr marL="0" indent="0">
              <a:lnSpc>
                <a:spcPct val="100000"/>
              </a:lnSpc>
              <a:spcAft>
                <a:spcPts val="0"/>
              </a:spcAft>
              <a:buNone/>
            </a:pPr>
            <a:r>
              <a:rPr sz="1100" b="0" i="0" lang="es-CL">
                <a:solidFill>
                  <a:srgbClr val="1F2328"/>
                </a:solidFill>
                <a:latin typeface="Consolas"/>
                <a:ea typeface="Consolas"/>
                <a:cs typeface="Consolas"/>
              </a:rPr>
              <a:t>  features: </a:t>
            </a:r>
            <a:r>
              <a:rPr sz="1100" b="0" i="0" lang="es-CL">
                <a:solidFill>
                  <a:srgbClr val="A31515"/>
                </a:solidFill>
                <a:latin typeface="Consolas"/>
                <a:ea typeface="Consolas"/>
                <a:cs typeface="Consolas"/>
              </a:rPr>
              <a:t>'../specs/flows/*.feature'</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featuresRoot: </a:t>
            </a:r>
            <a:r>
              <a:rPr sz="1100" b="0" i="0" lang="es-CL">
                <a:solidFill>
                  <a:srgbClr val="A31515"/>
                </a:solidFill>
                <a:latin typeface="Consolas"/>
                <a:ea typeface="Consolas"/>
                <a:cs typeface="Consolas"/>
              </a:rPr>
              <a:t>'../specs/flows'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steps: [</a:t>
            </a:r>
            <a:r>
              <a:rPr sz="1100" b="0" i="0" lang="es-CL">
                <a:solidFill>
                  <a:srgbClr val="A31515"/>
                </a:solidFill>
                <a:latin typeface="Consolas"/>
                <a:ea typeface="Consolas"/>
                <a:cs typeface="Consolas"/>
              </a:rPr>
              <a:t>'tests/e2e/fixtures.ts'</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'tests/e2e/steps/*.ts'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outputDir: </a:t>
            </a:r>
            <a:r>
              <a:rPr sz="1100" b="0" i="0" lang="es-CL">
                <a:solidFill>
                  <a:srgbClr val="A31515"/>
                </a:solidFill>
                <a:latin typeface="Consolas"/>
                <a:ea typeface="Consolas"/>
                <a:cs typeface="Consolas"/>
              </a:rPr>
              <a:t>'.features-gen'</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language: </a:t>
            </a:r>
            <a:r>
              <a:rPr sz="1100" b="0" i="0" lang="es-CL">
                <a:solidFill>
                  <a:srgbClr val="A31515"/>
                </a:solidFill>
                <a:latin typeface="Consolas"/>
                <a:ea typeface="Consolas"/>
                <a:cs typeface="Consolas"/>
              </a:rPr>
              <a:t>'es'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missingSteps: </a:t>
            </a:r>
            <a:r>
              <a:rPr sz="1100" b="0" i="0" lang="es-CL">
                <a:solidFill>
                  <a:srgbClr val="A31515"/>
                </a:solidFill>
                <a:latin typeface="Consolas"/>
                <a:ea typeface="Consolas"/>
                <a:cs typeface="Consolas"/>
              </a:rPr>
              <a:t>'fail-on-gen'</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UI tests y Playwright, p. 71 y 83 a 95.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Visual regression con capturas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Compara una captura actual con una referencia aprobada, píxel a píxel.</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Cambios visuales no intencionales: espaciado, fuentes, elementos que faltan.</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Playwright toHaveScreenshot con tolerancia de 1 por ciento.</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7, con datos y reloj fijos. Solo en Linux.</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frontend/tests/visual/catalog.visual.spec.ts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050" b="0" i="0" lang="es-CL">
                <a:solidFill>
                  <a:srgbClr val="008000"/>
                </a:solidFill>
                <a:latin typeface="Consolas"/>
                <a:ea typeface="Consolas"/>
                <a:cs typeface="Consolas"/>
              </a:rPr>
              <a:t>// Regresión visual: compara contra imágenes de referencia generadas en Linux dentro de la</a:t>
            </a:r>
          </a:p>
          <a:p>
            <a:pPr marL="0" indent="0">
              <a:lnSpc>
                <a:spcPct val="100000"/>
              </a:lnSpc>
              <a:spcAft>
                <a:spcPts val="0"/>
              </a:spcAft>
              <a:buNone/>
            </a:pPr>
            <a:r>
              <a:rPr sz="1050" b="0" i="0" lang="es-CL">
                <a:solidFill>
                  <a:srgbClr val="008000"/>
                </a:solidFill>
                <a:latin typeface="Consolas"/>
                <a:ea typeface="Consolas"/>
                <a:cs typeface="Consolas"/>
              </a:rPr>
              <a:t>// imagen Docker de Playwright (fuentes y render idénticos a CI). En macOS se omiten.</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795E26"/>
                </a:solidFill>
                <a:latin typeface="Consolas"/>
                <a:ea typeface="Consolas"/>
                <a:cs typeface="Consolas"/>
              </a:rPr>
              <a:t>test</a:t>
            </a:r>
            <a:r>
              <a:rPr sz="1050" b="0" i="0" lang="es-CL">
                <a:solidFill>
                  <a:srgbClr val="1F2328"/>
                </a:solidFill>
                <a:latin typeface="Consolas"/>
                <a:ea typeface="Consolas"/>
                <a:cs typeface="Consolas"/>
              </a:rPr>
              <a:t>(</a:t>
            </a:r>
            <a:r>
              <a:rPr sz="1050" b="0" i="0" lang="es-CL">
                <a:solidFill>
                  <a:srgbClr val="A31515"/>
                </a:solidFill>
                <a:latin typeface="Consolas"/>
                <a:ea typeface="Consolas"/>
                <a:cs typeface="Consolas"/>
              </a:rPr>
              <a:t>'</a:t>
            </a:r>
            <a:r>
              <a:rPr sz="1050" b="1" i="0" lang="es-CL">
                <a:solidFill>
                  <a:srgbClr val="9900FF"/>
                </a:solidFill>
                <a:latin typeface="Consolas"/>
                <a:ea typeface="Consolas"/>
                <a:cs typeface="Consolas"/>
              </a:rPr>
              <a:t>[UI-CAT-4]</a:t>
            </a:r>
            <a:r>
              <a:rPr sz="1050" b="0" i="0" lang="es-CL">
                <a:solidFill>
                  <a:srgbClr val="A31515"/>
                </a:solidFill>
                <a:latin typeface="Consolas"/>
                <a:ea typeface="Consolas"/>
                <a:cs typeface="Consolas"/>
              </a:rPr>
              <a:t> catálogo completo en escritorio'</a:t>
            </a: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async</a:t>
            </a:r>
            <a:r>
              <a:rPr sz="1050" b="0" i="0" lang="es-CL">
                <a:solidFill>
                  <a:srgbClr val="1F2328"/>
                </a:solidFill>
                <a:latin typeface="Consolas"/>
                <a:ea typeface="Consolas"/>
                <a:cs typeface="Consolas"/>
              </a:rPr>
              <a:t> ({ page }) =&gt; {</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openCatalog(page)</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a:t>
            </a:r>
            <a:r>
              <a:rPr sz="1050" b="0" i="0" lang="es-CL">
                <a:solidFill>
                  <a:srgbClr val="795E26"/>
                </a:solidFill>
                <a:latin typeface="Consolas"/>
                <a:ea typeface="Consolas"/>
                <a:cs typeface="Consolas"/>
              </a:rPr>
              <a:t>expect</a:t>
            </a:r>
            <a:r>
              <a:rPr sz="1050" b="0" i="0" lang="es-CL">
                <a:solidFill>
                  <a:srgbClr val="1F2328"/>
                </a:solidFill>
                <a:latin typeface="Consolas"/>
                <a:ea typeface="Consolas"/>
                <a:cs typeface="Consolas"/>
              </a:rPr>
              <a:t>(page).toHaveScreenshot(</a:t>
            </a:r>
            <a:r>
              <a:rPr sz="1050" b="0" i="0" lang="es-CL">
                <a:solidFill>
                  <a:srgbClr val="A31515"/>
                </a:solidFill>
                <a:latin typeface="Consolas"/>
                <a:ea typeface="Consolas"/>
                <a:cs typeface="Consolas"/>
              </a:rPr>
              <a:t>'catalogo-escritorio.png'</a:t>
            </a:r>
            <a:r>
              <a:rPr sz="1050" b="0" i="0" lang="es-CL">
                <a:solidFill>
                  <a:srgbClr val="1F2328"/>
                </a:solidFill>
                <a:latin typeface="Consolas"/>
                <a:ea typeface="Consolas"/>
                <a:cs typeface="Consolas"/>
              </a:rPr>
              <a:t>, { fullPage: </a:t>
            </a:r>
            <a:r>
              <a:rPr sz="1050" b="0" i="0" lang="es-CL">
                <a:solidFill>
                  <a:srgbClr val="0000FF"/>
                </a:solidFill>
                <a:latin typeface="Consolas"/>
                <a:ea typeface="Consolas"/>
                <a:cs typeface="Consolas"/>
              </a:rPr>
              <a:t>true</a:t>
            </a:r>
            <a:r>
              <a:rPr sz="1050" b="0" i="0" lang="es-CL">
                <a:solidFill>
                  <a:srgbClr val="1F2328"/>
                </a:solidFill>
                <a:latin typeface="Consolas"/>
                <a:ea typeface="Consolas"/>
                <a:cs typeface="Consolas"/>
              </a:rPr>
              <a:t> })</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795E26"/>
                </a:solidFill>
                <a:latin typeface="Consolas"/>
                <a:ea typeface="Consolas"/>
                <a:cs typeface="Consolas"/>
              </a:rPr>
              <a:t>test</a:t>
            </a:r>
            <a:r>
              <a:rPr sz="1050" b="0" i="0" lang="es-CL">
                <a:solidFill>
                  <a:srgbClr val="1F2328"/>
                </a:solidFill>
                <a:latin typeface="Consolas"/>
                <a:ea typeface="Consolas"/>
                <a:cs typeface="Consolas"/>
              </a:rPr>
              <a:t>(</a:t>
            </a:r>
            <a:r>
              <a:rPr sz="1050" b="0" i="0" lang="es-CL">
                <a:solidFill>
                  <a:srgbClr val="A31515"/>
                </a:solidFill>
                <a:latin typeface="Consolas"/>
                <a:ea typeface="Consolas"/>
                <a:cs typeface="Consolas"/>
              </a:rPr>
              <a:t>'</a:t>
            </a:r>
            <a:r>
              <a:rPr sz="1050" b="1" i="0" lang="es-CL">
                <a:solidFill>
                  <a:srgbClr val="9900FF"/>
                </a:solidFill>
                <a:latin typeface="Consolas"/>
                <a:ea typeface="Consolas"/>
                <a:cs typeface="Consolas"/>
              </a:rPr>
              <a:t>[UI-CAT-2]</a:t>
            </a:r>
            <a:r>
              <a:rPr sz="1050" b="0" i="0" lang="es-CL">
                <a:solidFill>
                  <a:srgbClr val="A31515"/>
                </a:solidFill>
                <a:latin typeface="Consolas"/>
                <a:ea typeface="Consolas"/>
                <a:cs typeface="Consolas"/>
              </a:rPr>
              <a:t> tarjeta de un libro agotado'</a:t>
            </a: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async</a:t>
            </a:r>
            <a:r>
              <a:rPr sz="1050" b="0" i="0" lang="es-CL">
                <a:solidFill>
                  <a:srgbClr val="1F2328"/>
                </a:solidFill>
                <a:latin typeface="Consolas"/>
                <a:ea typeface="Consolas"/>
                <a:cs typeface="Consolas"/>
              </a:rPr>
              <a:t> ({ page }) =&gt; {</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openCatalog(page)</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a:t>
            </a:r>
            <a:r>
              <a:rPr sz="1050" b="0" i="0" lang="es-CL">
                <a:solidFill>
                  <a:srgbClr val="795E26"/>
                </a:solidFill>
                <a:latin typeface="Consolas"/>
                <a:ea typeface="Consolas"/>
                <a:cs typeface="Consolas"/>
              </a:rPr>
              <a:t>expect</a:t>
            </a:r>
            <a:r>
              <a:rPr sz="1050" b="0" i="0" lang="es-CL">
                <a:solidFill>
                  <a:srgbClr val="1F2328"/>
                </a:solidFill>
                <a:latin typeface="Consolas"/>
                <a:ea typeface="Consolas"/>
                <a:cs typeface="Consolas"/>
              </a:rPr>
              <a:t>(bookCard(page, </a:t>
            </a:r>
            <a:r>
              <a:rPr sz="1050" b="0" i="0" lang="es-CL">
                <a:solidFill>
                  <a:srgbClr val="A31515"/>
                </a:solidFill>
                <a:latin typeface="Consolas"/>
                <a:ea typeface="Consolas"/>
                <a:cs typeface="Consolas"/>
              </a:rPr>
              <a:t>'La casa de los espíritus'</a:t>
            </a:r>
            <a:r>
              <a:rPr sz="1050" b="0" i="0" lang="es-CL">
                <a:solidFill>
                  <a:srgbClr val="1F2328"/>
                </a:solidFill>
                <a:latin typeface="Consolas"/>
                <a:ea typeface="Consolas"/>
                <a:cs typeface="Consolas"/>
              </a:rPr>
              <a:t>)).toHaveScreenshot(</a:t>
            </a:r>
            <a:r>
              <a:rPr sz="1050" b="0" i="0" lang="es-CL">
                <a:solidFill>
                  <a:srgbClr val="A31515"/>
                </a:solidFill>
                <a:latin typeface="Consolas"/>
                <a:ea typeface="Consolas"/>
                <a:cs typeface="Consolas"/>
              </a:rPr>
              <a:t>'tarjeta-agotada.png'</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visual testing, cap. 6, p. 183 y 195.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Capturas de referencia: siempre en la imagen de CI</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4069080" cy="1783080"/>
          </a:xfrm>
          <a:prstGeom prst="roundRect">
            <a:avLst>
              <a:gd name="adj" fmla="val 5128"/>
            </a:avLst>
          </a:prstGeom>
          <a:solidFill>
            <a:srgbClr val="EDF1F3"/>
          </a:solidFill>
          <a:ln>
            <a:noFill/>
          </a:ln>
        </p:spPr>
        <p:txBody>
          <a:bodyPr rtlCol="0" anchor="ctr" wrap="square" lIns="54864" rIns="54864" tIns="54864" bIns="54864"/>
          <a:lstStyle/>
          <a:p>
            <a:pPr algn="ctr"/>
          </a:p>
        </p:txBody>
      </p:sp>
      <p:sp>
        <p:nvSpPr>
          <p:cNvPr id="5" name="TextBox 4"/>
          <p:cNvSpPr txBox="1"/>
          <p:nvPr/>
        </p:nvSpPr>
        <p:spPr>
          <a:xfrm>
            <a:off x="548640" y="1042415"/>
            <a:ext cx="3840480" cy="274320"/>
          </a:xfrm>
          <a:prstGeom prst="rect">
            <a:avLst/>
          </a:prstGeom>
          <a:noFill/>
        </p:spPr>
        <p:txBody>
          <a:bodyPr wrap="square" lIns="36576" rIns="36576" tIns="36576" bIns="36576" anchor="t"/>
          <a:lstStyle/>
          <a:p>
            <a:pPr algn="l" marL="0" indent="0">
              <a:spcAft>
                <a:spcPts val="400"/>
              </a:spcAft>
              <a:buNone/>
            </a:pPr>
            <a:r>
              <a:rPr sz="1300" b="1" i="0" lang="es-CL">
                <a:solidFill>
                  <a:srgbClr val="980000"/>
                </a:solidFill>
                <a:latin typeface="Inter"/>
                <a:ea typeface="Inter"/>
                <a:cs typeface="Inter"/>
              </a:rPr>
              <a:t>¿Por qué no en tu computador?</a:t>
            </a:r>
          </a:p>
        </p:txBody>
      </p:sp>
      <p:sp>
        <p:nvSpPr>
          <p:cNvPr id="6" name="TextBox 5"/>
          <p:cNvSpPr txBox="1"/>
          <p:nvPr/>
        </p:nvSpPr>
        <p:spPr>
          <a:xfrm>
            <a:off x="548640" y="1371600"/>
            <a:ext cx="3840480" cy="1371600"/>
          </a:xfrm>
          <a:prstGeom prst="rect">
            <a:avLst/>
          </a:prstGeom>
          <a:noFill/>
        </p:spPr>
        <p:txBody>
          <a:bodyPr wrap="square" lIns="36576" rIns="36576" tIns="36576" bIns="36576" anchor="t"/>
          <a:lstStyle/>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Fuentes, antialiasing y navegador cambian según el sistema: la misma página da otros píxeles.</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Una referencia hecha en macOS falla en CI aunque nada cambió.</a:t>
            </a:r>
          </a:p>
          <a:p>
            <a:pPr algn="l" marL="182880" indent="-164592">
              <a:spcAft>
                <a:spcPts val="300"/>
              </a:spcAft>
              <a:buClr>
                <a:srgbClr val="F2617A"/>
              </a:buClr>
              <a:buSzPct val="100000"/>
              <a:buFont typeface="Arial"/>
              <a:buChar char="●"/>
            </a:pPr>
            <a:r>
              <a:rPr sz="1200" b="0" i="0" lang="es-CL">
                <a:solidFill>
                  <a:srgbClr val="1F2328"/>
                </a:solidFill>
                <a:latin typeface="Inter"/>
                <a:ea typeface="Inter"/>
                <a:cs typeface="Inter"/>
              </a:rPr>
              <a:t>Por eso en otro sistema se omiten: </a:t>
            </a:r>
            <a:r>
              <a:rPr sz="1200" b="0" i="0" lang="es-CL">
                <a:solidFill>
                  <a:srgbClr val="A31515"/>
                </a:solidFill>
                <a:latin typeface="Consolas"/>
                <a:ea typeface="Consolas"/>
                <a:cs typeface="Consolas"/>
              </a:rPr>
              <a:t>ignoreSnapshots</a:t>
            </a:r>
            <a:r>
              <a:rPr sz="1200" b="0" i="0" lang="es-CL">
                <a:solidFill>
                  <a:srgbClr val="1F2328"/>
                </a:solidFill>
                <a:latin typeface="Inter"/>
                <a:ea typeface="Inter"/>
                <a:cs typeface="Inter"/>
              </a:rPr>
              <a:t> fuera de Linux.</a:t>
            </a:r>
          </a:p>
        </p:txBody>
      </p:sp>
      <p:sp>
        <p:nvSpPr>
          <p:cNvPr id="7" name="Rounded Rectangle 6"/>
          <p:cNvSpPr/>
          <p:nvPr/>
        </p:nvSpPr>
        <p:spPr>
          <a:xfrm>
            <a:off x="4663440" y="987552"/>
            <a:ext cx="4069080" cy="566928"/>
          </a:xfrm>
          <a:prstGeom prst="roundRect">
            <a:avLst>
              <a:gd name="adj" fmla="val 12903"/>
            </a:avLst>
          </a:prstGeom>
          <a:solidFill>
            <a:srgbClr val="003D4F"/>
          </a:solidFill>
          <a:ln>
            <a:noFill/>
          </a:ln>
        </p:spPr>
        <p:txBody>
          <a:bodyPr rtlCol="0" anchor="ctr" wrap="square" lIns="54864" rIns="54864" tIns="54864" bIns="54864"/>
          <a:lstStyle/>
          <a:p>
            <a:pPr algn="ctr" marL="0" indent="0">
              <a:spcAft>
                <a:spcPts val="0"/>
              </a:spcAft>
              <a:buNone/>
            </a:pPr>
            <a:r>
              <a:rPr sz="1200" b="1" i="0" lang="es-CL">
                <a:solidFill>
                  <a:srgbClr val="FFFFFF"/>
                </a:solidFill>
                <a:latin typeface="Inter"/>
                <a:ea typeface="Inter"/>
                <a:cs typeface="Inter"/>
              </a:rPr>
              <a:t>Imagen Docker de Playwright</a:t>
            </a:r>
          </a:p>
          <a:p>
            <a:pPr algn="ctr" marL="0" indent="0">
              <a:spcAft>
                <a:spcPts val="0"/>
              </a:spcAft>
              <a:buNone/>
            </a:pPr>
            <a:r>
              <a:rPr sz="1200" b="0" i="0" lang="es-CL">
                <a:solidFill>
                  <a:srgbClr val="FFFFFF"/>
                </a:solidFill>
                <a:latin typeface="Inter"/>
                <a:ea typeface="Inter"/>
                <a:cs typeface="Inter"/>
              </a:rPr>
              <a:t>playwright:v1.64.1-noble, fijada por digest</a:t>
            </a:r>
          </a:p>
        </p:txBody>
      </p:sp>
      <p:cxnSp>
        <p:nvCxnSpPr>
          <p:cNvPr id="8" name="Connector 7"/>
          <p:cNvCxnSpPr/>
          <p:nvPr/>
        </p:nvCxnSpPr>
        <p:spPr>
          <a:xfrm>
            <a:off x="5641848" y="1572768"/>
            <a:ext cx="0" cy="329184"/>
          </a:xfrm>
          <a:prstGeom prst="line">
            <a:avLst/>
          </a:prstGeom>
          <a:ln w="22225">
            <a:solidFill>
              <a:srgbClr val="8C959F"/>
            </a:solidFill>
            <a:tailEnd type="triangle" w="med" len="med"/>
          </a:ln>
        </p:spPr>
      </p:cxnSp>
      <p:sp>
        <p:nvSpPr>
          <p:cNvPr id="9" name="Rounded Rectangle 8"/>
          <p:cNvSpPr/>
          <p:nvPr/>
        </p:nvSpPr>
        <p:spPr>
          <a:xfrm>
            <a:off x="4663440" y="1920240"/>
            <a:ext cx="1965960" cy="566928"/>
          </a:xfrm>
          <a:prstGeom prst="roundRect">
            <a:avLst>
              <a:gd name="adj" fmla="val 12903"/>
            </a:avLst>
          </a:prstGeom>
          <a:solidFill>
            <a:srgbClr val="38761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Etapa 7 del CI</a:t>
            </a:r>
          </a:p>
          <a:p>
            <a:pPr algn="ctr" marL="0" indent="0">
              <a:spcAft>
                <a:spcPts val="0"/>
              </a:spcAft>
              <a:buNone/>
            </a:pPr>
            <a:r>
              <a:rPr sz="1200" b="0" i="0" lang="es-CL">
                <a:solidFill>
                  <a:srgbClr val="FFFFFF"/>
                </a:solidFill>
                <a:latin typeface="Inter"/>
                <a:ea typeface="Inter"/>
                <a:cs typeface="Inter"/>
              </a:rPr>
              <a:t>compara las capturas</a:t>
            </a:r>
          </a:p>
        </p:txBody>
      </p:sp>
      <p:cxnSp>
        <p:nvCxnSpPr>
          <p:cNvPr id="10" name="Connector 9"/>
          <p:cNvCxnSpPr/>
          <p:nvPr/>
        </p:nvCxnSpPr>
        <p:spPr>
          <a:xfrm>
            <a:off x="7744967" y="1572768"/>
            <a:ext cx="0" cy="329184"/>
          </a:xfrm>
          <a:prstGeom prst="line">
            <a:avLst/>
          </a:prstGeom>
          <a:ln w="22225">
            <a:solidFill>
              <a:srgbClr val="8C959F"/>
            </a:solidFill>
            <a:tailEnd type="triangle" w="med" len="med"/>
          </a:ln>
        </p:spPr>
      </p:cxnSp>
      <p:sp>
        <p:nvSpPr>
          <p:cNvPr id="11" name="Rounded Rectangle 10"/>
          <p:cNvSpPr/>
          <p:nvPr/>
        </p:nvSpPr>
        <p:spPr>
          <a:xfrm>
            <a:off x="6766559" y="1920240"/>
            <a:ext cx="1965960" cy="566928"/>
          </a:xfrm>
          <a:prstGeom prst="roundRect">
            <a:avLst>
              <a:gd name="adj" fmla="val 12903"/>
            </a:avLst>
          </a:prstGeom>
          <a:solidFill>
            <a:srgbClr val="634F7D"/>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visual-baselines.yml</a:t>
            </a:r>
          </a:p>
          <a:p>
            <a:pPr algn="ctr" marL="0" indent="0">
              <a:spcAft>
                <a:spcPts val="0"/>
              </a:spcAft>
              <a:buNone/>
            </a:pPr>
            <a:r>
              <a:rPr sz="1200" b="0" i="0" lang="es-CL">
                <a:solidFill>
                  <a:srgbClr val="FFFFFF"/>
                </a:solidFill>
                <a:latin typeface="Inter"/>
                <a:ea typeface="Inter"/>
                <a:cs typeface="Inter"/>
              </a:rPr>
              <a:t>genera y commitea</a:t>
            </a:r>
          </a:p>
        </p:txBody>
      </p:sp>
      <p:sp>
        <p:nvSpPr>
          <p:cNvPr id="12" name="TextBox 11"/>
          <p:cNvSpPr txBox="1"/>
          <p:nvPr/>
        </p:nvSpPr>
        <p:spPr>
          <a:xfrm>
            <a:off x="4663440" y="2542032"/>
            <a:ext cx="40690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Mismo sistema, mismas fuentes, mismo navegador.</a:t>
            </a:r>
          </a:p>
        </p:txBody>
      </p:sp>
      <p:sp>
        <p:nvSpPr>
          <p:cNvPr id="13" name="TextBox 12"/>
          <p:cNvSpPr txBox="1"/>
          <p:nvPr/>
        </p:nvSpPr>
        <p:spPr>
          <a:xfrm>
            <a:off x="411480" y="2907792"/>
            <a:ext cx="406908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Cuando cambias la UI a propósito</a:t>
            </a:r>
          </a:p>
        </p:txBody>
      </p:sp>
      <p:sp>
        <p:nvSpPr>
          <p:cNvPr id="14" name="Oval 13"/>
          <p:cNvSpPr/>
          <p:nvPr/>
        </p:nvSpPr>
        <p:spPr>
          <a:xfrm>
            <a:off x="411480" y="3264408"/>
            <a:ext cx="256032" cy="256032"/>
          </a:xfrm>
          <a:prstGeom prst="ellipse">
            <a:avLst/>
          </a:prstGeom>
          <a:solidFill>
            <a:srgbClr val="003D4F"/>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15" name="TextBox 14"/>
          <p:cNvSpPr txBox="1"/>
          <p:nvPr/>
        </p:nvSpPr>
        <p:spPr>
          <a:xfrm>
            <a:off x="749808" y="3227832"/>
            <a:ext cx="3749039" cy="329184"/>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La etapa 7 falla: es lo esperado.</a:t>
            </a:r>
          </a:p>
        </p:txBody>
      </p:sp>
      <p:sp>
        <p:nvSpPr>
          <p:cNvPr id="16" name="Oval 15"/>
          <p:cNvSpPr/>
          <p:nvPr/>
        </p:nvSpPr>
        <p:spPr>
          <a:xfrm>
            <a:off x="411480" y="3602736"/>
            <a:ext cx="256032" cy="256032"/>
          </a:xfrm>
          <a:prstGeom prst="ellipse">
            <a:avLst/>
          </a:prstGeom>
          <a:solidFill>
            <a:srgbClr val="003D4F"/>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17" name="TextBox 16"/>
          <p:cNvSpPr txBox="1"/>
          <p:nvPr/>
        </p:nvSpPr>
        <p:spPr>
          <a:xfrm>
            <a:off x="749808" y="3566160"/>
            <a:ext cx="3749039" cy="329184"/>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Corres el workflow a mano sobre tu rama.</a:t>
            </a:r>
          </a:p>
        </p:txBody>
      </p:sp>
      <p:sp>
        <p:nvSpPr>
          <p:cNvPr id="18" name="Oval 17"/>
          <p:cNvSpPr/>
          <p:nvPr/>
        </p:nvSpPr>
        <p:spPr>
          <a:xfrm>
            <a:off x="411480" y="3941063"/>
            <a:ext cx="256032" cy="256032"/>
          </a:xfrm>
          <a:prstGeom prst="ellipse">
            <a:avLst/>
          </a:prstGeom>
          <a:solidFill>
            <a:srgbClr val="003D4F"/>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19" name="TextBox 18"/>
          <p:cNvSpPr txBox="1"/>
          <p:nvPr/>
        </p:nvSpPr>
        <p:spPr>
          <a:xfrm>
            <a:off x="749808" y="3904488"/>
            <a:ext cx="3749039" cy="329184"/>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Regenera y commitea las capturas.</a:t>
            </a:r>
          </a:p>
        </p:txBody>
      </p:sp>
      <p:sp>
        <p:nvSpPr>
          <p:cNvPr id="20" name="Oval 19"/>
          <p:cNvSpPr/>
          <p:nvPr/>
        </p:nvSpPr>
        <p:spPr>
          <a:xfrm>
            <a:off x="411480" y="4279392"/>
            <a:ext cx="256032" cy="256032"/>
          </a:xfrm>
          <a:prstGeom prst="ellipse">
            <a:avLst/>
          </a:prstGeom>
          <a:solidFill>
            <a:srgbClr val="003D4F"/>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4</a:t>
            </a:r>
          </a:p>
        </p:txBody>
      </p:sp>
      <p:sp>
        <p:nvSpPr>
          <p:cNvPr id="21" name="TextBox 20"/>
          <p:cNvSpPr txBox="1"/>
          <p:nvPr/>
        </p:nvSpPr>
        <p:spPr>
          <a:xfrm>
            <a:off x="749808" y="4242816"/>
            <a:ext cx="3749039" cy="329184"/>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Revisas los PNG en el PR y relanzas el CI.</a:t>
            </a:r>
          </a:p>
        </p:txBody>
      </p:sp>
      <p:sp>
        <p:nvSpPr>
          <p:cNvPr id="22" name="Rounded Rectangle 21"/>
          <p:cNvSpPr/>
          <p:nvPr/>
        </p:nvSpPr>
        <p:spPr>
          <a:xfrm>
            <a:off x="4663440" y="2907792"/>
            <a:ext cx="4069080" cy="1664208"/>
          </a:xfrm>
          <a:prstGeom prst="roundRect">
            <a:avLst>
              <a:gd name="adj" fmla="val 3296"/>
            </a:avLst>
          </a:prstGeom>
          <a:solidFill>
            <a:srgbClr val="F6F8FA"/>
          </a:solidFill>
          <a:ln w="9525">
            <a:solidFill>
              <a:srgbClr val="D0D7DE"/>
            </a:solidFill>
          </a:ln>
        </p:spPr>
        <p:txBody>
          <a:bodyPr rtlCol="0" anchor="ctr" wrap="square" lIns="54864" rIns="54864" tIns="54864" bIns="54864"/>
          <a:lstStyle/>
          <a:p>
            <a:pPr algn="ctr"/>
          </a:p>
        </p:txBody>
      </p:sp>
      <p:sp>
        <p:nvSpPr>
          <p:cNvPr id="23" name="TextBox 22"/>
          <p:cNvSpPr txBox="1"/>
          <p:nvPr/>
        </p:nvSpPr>
        <p:spPr>
          <a:xfrm>
            <a:off x="4773168" y="2953512"/>
            <a:ext cx="384962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.github/workflows/visual-baselines.yml</a:t>
            </a:r>
          </a:p>
        </p:txBody>
      </p:sp>
      <p:sp>
        <p:nvSpPr>
          <p:cNvPr id="24" name="TextBox 23"/>
          <p:cNvSpPr txBox="1"/>
          <p:nvPr/>
        </p:nvSpPr>
        <p:spPr>
          <a:xfrm>
            <a:off x="4773168" y="3218688"/>
            <a:ext cx="3849624" cy="1298448"/>
          </a:xfrm>
          <a:prstGeom prst="rect">
            <a:avLst/>
          </a:prstGeom>
          <a:noFill/>
        </p:spPr>
        <p:txBody>
          <a:bodyPr wrap="none" lIns="0" rIns="0" tIns="0" bIns="0"/>
          <a:lstStyle/>
          <a:p>
            <a:pPr marL="0" indent="0">
              <a:lnSpc>
                <a:spcPct val="100000"/>
              </a:lnSpc>
              <a:spcAft>
                <a:spcPts val="0"/>
              </a:spcAft>
              <a:buNone/>
            </a:pPr>
            <a:r>
              <a:rPr sz="1050" b="0" i="0" lang="es-CL">
                <a:solidFill>
                  <a:srgbClr val="0451A5"/>
                </a:solidFill>
                <a:latin typeface="Consolas"/>
                <a:ea typeface="Consolas"/>
                <a:cs typeface="Consolas"/>
              </a:rPr>
              <a:t>on</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0451A5"/>
                </a:solidFill>
                <a:latin typeface="Consolas"/>
                <a:ea typeface="Consolas"/>
                <a:cs typeface="Consolas"/>
              </a:rPr>
              <a:t>  push</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0451A5"/>
                </a:solidFill>
                <a:latin typeface="Consolas"/>
                <a:ea typeface="Consolas"/>
                <a:cs typeface="Consolas"/>
              </a:rPr>
              <a:t>    branches</a:t>
            </a:r>
            <a:r>
              <a:rPr sz="1050" b="0" i="0" lang="es-CL">
                <a:solidFill>
                  <a:srgbClr val="1F2328"/>
                </a:solidFill>
                <a:latin typeface="Consolas"/>
                <a:ea typeface="Consolas"/>
                <a:cs typeface="Consolas"/>
              </a:rPr>
              <a:t>: [main]</a:t>
            </a:r>
          </a:p>
          <a:p>
            <a:pPr marL="0" indent="0">
              <a:lnSpc>
                <a:spcPct val="100000"/>
              </a:lnSpc>
              <a:spcAft>
                <a:spcPts val="0"/>
              </a:spcAft>
              <a:buNone/>
            </a:pPr>
            <a:r>
              <a:rPr sz="1050" b="0" i="0" lang="es-CL">
                <a:solidFill>
                  <a:srgbClr val="0451A5"/>
                </a:solidFill>
                <a:latin typeface="Consolas"/>
                <a:ea typeface="Consolas"/>
                <a:cs typeface="Consolas"/>
              </a:rPr>
              <a:t>    paths</a:t>
            </a: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1F2328"/>
                </a:solidFill>
                <a:latin typeface="Consolas"/>
                <a:ea typeface="Consolas"/>
                <a:cs typeface="Consolas"/>
              </a:rPr>
              <a:t>      - </a:t>
            </a:r>
            <a:r>
              <a:rPr sz="1050" b="0" i="0" lang="es-CL">
                <a:solidFill>
                  <a:srgbClr val="A31515"/>
                </a:solidFill>
                <a:latin typeface="Consolas"/>
                <a:ea typeface="Consolas"/>
                <a:cs typeface="Consolas"/>
              </a:rPr>
              <a:t>'frontend/tests/visual/**'</a:t>
            </a:r>
          </a:p>
          <a:p>
            <a:pPr marL="0" indent="0">
              <a:lnSpc>
                <a:spcPct val="100000"/>
              </a:lnSpc>
              <a:spcAft>
                <a:spcPts val="0"/>
              </a:spcAft>
              <a:buNone/>
            </a:pPr>
            <a:r>
              <a:rPr sz="1050" b="0" i="0" lang="es-CL">
                <a:solidFill>
                  <a:srgbClr val="1F2328"/>
                </a:solidFill>
                <a:latin typeface="Consolas"/>
                <a:ea typeface="Consolas"/>
                <a:cs typeface="Consolas"/>
              </a:rPr>
              <a:t>      - </a:t>
            </a:r>
            <a:r>
              <a:rPr sz="1050" b="0" i="0" lang="es-CL">
                <a:solidFill>
                  <a:srgbClr val="A31515"/>
                </a:solidFill>
                <a:latin typeface="Consolas"/>
                <a:ea typeface="Consolas"/>
                <a:cs typeface="Consolas"/>
              </a:rPr>
              <a:t>'.github/workflows/visual-baselines.yml'</a:t>
            </a:r>
          </a:p>
          <a:p>
            <a:pPr marL="0" indent="0">
              <a:lnSpc>
                <a:spcPct val="100000"/>
              </a:lnSpc>
              <a:spcAft>
                <a:spcPts val="0"/>
              </a:spcAft>
              <a:buNone/>
            </a:pPr>
            <a:r>
              <a:rPr sz="1050" b="0" i="0" lang="es-CL">
                <a:solidFill>
                  <a:srgbClr val="0451A5"/>
                </a:solidFill>
                <a:latin typeface="Consolas"/>
                <a:ea typeface="Consolas"/>
                <a:cs typeface="Consolas"/>
              </a:rPr>
              <a:t>  workflow_dispatch</a:t>
            </a:r>
            <a:r>
              <a:rPr sz="1050" b="0" i="0" lang="es-CL">
                <a:solidFill>
                  <a:srgbClr val="1F2328"/>
                </a:solidFill>
                <a:latin typeface="Consolas"/>
                <a:ea typeface="Consolas"/>
                <a:cs typeface="Consolas"/>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Estilos y posición: cambió el color, se movió la insignia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3291840" cy="1051560"/>
          </a:xfrm>
          <a:prstGeom prst="roundRect">
            <a:avLst>
              <a:gd name="adj" fmla="val 6956"/>
            </a:avLst>
          </a:prstGeom>
          <a:solidFill>
            <a:srgbClr val="FFFFFF"/>
          </a:solidFill>
          <a:ln w="15875">
            <a:solidFill>
              <a:srgbClr val="D0D7DE"/>
            </a:solidFill>
          </a:ln>
        </p:spPr>
        <p:txBody>
          <a:bodyPr rtlCol="0" anchor="ctr" wrap="square" lIns="54864" rIns="54864" tIns="54864" bIns="54864"/>
          <a:lstStyle/>
          <a:p>
            <a:pPr algn="ctr"/>
          </a:p>
        </p:txBody>
      </p:sp>
      <p:sp>
        <p:nvSpPr>
          <p:cNvPr id="5" name="TextBox 4"/>
          <p:cNvSpPr txBox="1"/>
          <p:nvPr/>
        </p:nvSpPr>
        <p:spPr>
          <a:xfrm>
            <a:off x="530352" y="1060704"/>
            <a:ext cx="2011680" cy="45720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La casa de los espíritus</a:t>
            </a:r>
          </a:p>
        </p:txBody>
      </p:sp>
      <p:sp>
        <p:nvSpPr>
          <p:cNvPr id="6" name="Rounded Rectangle 5"/>
          <p:cNvSpPr/>
          <p:nvPr/>
        </p:nvSpPr>
        <p:spPr>
          <a:xfrm>
            <a:off x="2697480" y="1078992"/>
            <a:ext cx="896112" cy="292608"/>
          </a:xfrm>
          <a:prstGeom prst="roundRect">
            <a:avLst>
              <a:gd name="adj" fmla="val 25000"/>
            </a:avLst>
          </a:prstGeom>
          <a:solidFill>
            <a:srgbClr val="B42318"/>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Agotado</a:t>
            </a:r>
          </a:p>
        </p:txBody>
      </p:sp>
      <p:sp>
        <p:nvSpPr>
          <p:cNvPr id="7" name="Rounded Rectangle 6"/>
          <p:cNvSpPr/>
          <p:nvPr/>
        </p:nvSpPr>
        <p:spPr>
          <a:xfrm>
            <a:off x="530352" y="1591056"/>
            <a:ext cx="1417320" cy="329184"/>
          </a:xfrm>
          <a:prstGeom prst="roundRect">
            <a:avLst>
              <a:gd name="adj" fmla="val 22222"/>
            </a:avLst>
          </a:prstGeom>
          <a:solidFill>
            <a:srgbClr val="E4E7EC"/>
          </a:solidFill>
          <a:ln>
            <a:noFill/>
          </a:ln>
        </p:spPr>
        <p:txBody>
          <a:bodyPr rtlCol="0" anchor="ctr" wrap="square" lIns="18288" rIns="18288" tIns="18288" bIns="18288"/>
          <a:lstStyle/>
          <a:p>
            <a:pPr algn="ctr" marL="0" indent="0">
              <a:spcAft>
                <a:spcPts val="200"/>
              </a:spcAft>
              <a:buNone/>
            </a:pPr>
            <a:r>
              <a:rPr sz="1200" b="1" i="0" lang="es-CL">
                <a:solidFill>
                  <a:srgbClr val="57606A"/>
                </a:solidFill>
                <a:latin typeface="Inter"/>
                <a:ea typeface="Inter"/>
                <a:cs typeface="Inter"/>
              </a:rPr>
              <a:t>Pedir prestado</a:t>
            </a:r>
          </a:p>
        </p:txBody>
      </p:sp>
      <p:cxnSp>
        <p:nvCxnSpPr>
          <p:cNvPr id="8" name="Connector 7"/>
          <p:cNvCxnSpPr/>
          <p:nvPr/>
        </p:nvCxnSpPr>
        <p:spPr>
          <a:xfrm>
            <a:off x="3657600" y="987552"/>
            <a:ext cx="0" cy="91440"/>
          </a:xfrm>
          <a:prstGeom prst="line">
            <a:avLst/>
          </a:prstGeom>
          <a:ln w="15875">
            <a:solidFill>
              <a:srgbClr val="9900FF"/>
            </a:solidFill>
            <a:headEnd type="triangle" w="med" len="med"/>
            <a:tailEnd type="triangle" w="med" len="med"/>
          </a:ln>
        </p:spPr>
      </p:cxnSp>
      <p:sp>
        <p:nvSpPr>
          <p:cNvPr id="9" name="TextBox 8"/>
          <p:cNvSpPr txBox="1"/>
          <p:nvPr/>
        </p:nvSpPr>
        <p:spPr>
          <a:xfrm>
            <a:off x="3767328" y="914400"/>
            <a:ext cx="914400" cy="237744"/>
          </a:xfrm>
          <a:prstGeom prst="rect">
            <a:avLst/>
          </a:prstGeom>
          <a:noFill/>
        </p:spPr>
        <p:txBody>
          <a:bodyPr wrap="square" lIns="36576" rIns="36576" tIns="36576" bIns="36576" anchor="t"/>
          <a:lstStyle/>
          <a:p>
            <a:pPr algn="l" marL="0" indent="0">
              <a:spcAft>
                <a:spcPts val="400"/>
              </a:spcAft>
              <a:buNone/>
            </a:pPr>
            <a:r>
              <a:rPr sz="1200" b="1" i="0" lang="es-CL">
                <a:solidFill>
                  <a:srgbClr val="9900FF"/>
                </a:solidFill>
                <a:latin typeface="Inter"/>
                <a:ea typeface="Inter"/>
                <a:cs typeface="Inter"/>
              </a:rPr>
              <a:t>≤ 32 px</a:t>
            </a:r>
          </a:p>
        </p:txBody>
      </p:sp>
      <p:sp>
        <p:nvSpPr>
          <p:cNvPr id="10" name="TextBox 9"/>
          <p:cNvSpPr txBox="1"/>
          <p:nvPr/>
        </p:nvSpPr>
        <p:spPr>
          <a:xfrm>
            <a:off x="3977639" y="1234440"/>
            <a:ext cx="4754880" cy="868680"/>
          </a:xfrm>
          <a:prstGeom prst="rect">
            <a:avLst/>
          </a:prstGeom>
          <a:noFill/>
        </p:spPr>
        <p:txBody>
          <a:bodyPr wrap="square" lIns="36576" rIns="36576" tIns="36576" bIns="36576" anchor="t"/>
          <a:lstStyle/>
          <a:p>
            <a:pPr algn="l" marL="182880" indent="-164592">
              <a:spcAft>
                <a:spcPts val="300"/>
              </a:spcAft>
              <a:buClr>
                <a:srgbClr val="F2617A"/>
              </a:buClr>
              <a:buSzPct val="100000"/>
              <a:buFont typeface="Arial"/>
              <a:buChar char="●"/>
            </a:pPr>
            <a:r>
              <a:rPr sz="1200" b="1" i="0" lang="es-CL">
                <a:solidFill>
                  <a:srgbClr val="1F2328"/>
                </a:solidFill>
                <a:latin typeface="Inter"/>
                <a:ea typeface="Inter"/>
                <a:cs typeface="Inter"/>
              </a:rPr>
              <a:t>toHaveCSS</a:t>
            </a:r>
            <a:r>
              <a:rPr sz="1200" b="0" i="0" lang="es-CL">
                <a:solidFill>
                  <a:srgbClr val="1F2328"/>
                </a:solidFill>
                <a:latin typeface="Inter"/>
                <a:ea typeface="Inter"/>
                <a:cs typeface="Inter"/>
              </a:rPr>
              <a:t> fija el color del token de diseño (UI-CAT-2).</a:t>
            </a:r>
          </a:p>
          <a:p>
            <a:pPr algn="l" marL="182880" indent="-164592">
              <a:spcAft>
                <a:spcPts val="300"/>
              </a:spcAft>
              <a:buClr>
                <a:srgbClr val="F2617A"/>
              </a:buClr>
              <a:buSzPct val="100000"/>
              <a:buFont typeface="Arial"/>
              <a:buChar char="●"/>
            </a:pPr>
            <a:r>
              <a:rPr sz="1200" b="1" i="0" lang="es-CL">
                <a:solidFill>
                  <a:srgbClr val="1F2328"/>
                </a:solidFill>
                <a:latin typeface="Inter"/>
                <a:ea typeface="Inter"/>
                <a:cs typeface="Inter"/>
              </a:rPr>
              <a:t>boundingBox</a:t>
            </a:r>
            <a:r>
              <a:rPr sz="1200" b="0" i="0" lang="es-CL">
                <a:solidFill>
                  <a:srgbClr val="1F2328"/>
                </a:solidFill>
                <a:latin typeface="Inter"/>
                <a:ea typeface="Inter"/>
                <a:cs typeface="Inter"/>
              </a:rPr>
              <a:t> fija la posición: la insignia arriba a la derecha (UI-CAT-4).</a:t>
            </a:r>
          </a:p>
        </p:txBody>
      </p:sp>
      <p:sp>
        <p:nvSpPr>
          <p:cNvPr id="11" name="Rounded Rectangle 10"/>
          <p:cNvSpPr/>
          <p:nvPr/>
        </p:nvSpPr>
        <p:spPr>
          <a:xfrm>
            <a:off x="411480" y="2176272"/>
            <a:ext cx="8321040" cy="1143000"/>
          </a:xfrm>
          <a:prstGeom prst="roundRect">
            <a:avLst>
              <a:gd name="adj" fmla="val 4800"/>
            </a:avLst>
          </a:prstGeom>
          <a:solidFill>
            <a:srgbClr val="F6F8FA"/>
          </a:solidFill>
          <a:ln w="9525">
            <a:solidFill>
              <a:srgbClr val="D0D7DE"/>
            </a:solidFill>
          </a:ln>
        </p:spPr>
        <p:txBody>
          <a:bodyPr rtlCol="0" anchor="ctr" wrap="square" lIns="54864" rIns="54864" tIns="54864" bIns="54864"/>
          <a:lstStyle/>
          <a:p>
            <a:pPr algn="ctr"/>
          </a:p>
        </p:txBody>
      </p:sp>
      <p:sp>
        <p:nvSpPr>
          <p:cNvPr id="12" name="TextBox 11"/>
          <p:cNvSpPr txBox="1"/>
          <p:nvPr/>
        </p:nvSpPr>
        <p:spPr>
          <a:xfrm>
            <a:off x="521208" y="2221991"/>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frontend/tests/style/catalog.style.spec.ts (extracto)</a:t>
            </a:r>
          </a:p>
        </p:txBody>
      </p:sp>
      <p:sp>
        <p:nvSpPr>
          <p:cNvPr id="13" name="TextBox 12"/>
          <p:cNvSpPr txBox="1"/>
          <p:nvPr/>
        </p:nvSpPr>
        <p:spPr>
          <a:xfrm>
            <a:off x="521208" y="2487168"/>
            <a:ext cx="8101583" cy="777240"/>
          </a:xfrm>
          <a:prstGeom prst="rect">
            <a:avLst/>
          </a:prstGeom>
          <a:noFill/>
        </p:spPr>
        <p:txBody>
          <a:bodyPr wrap="none" lIns="0" rIns="0" tIns="0" bIns="0"/>
          <a:lstStyle/>
          <a:p>
            <a:pPr marL="0" indent="0">
              <a:lnSpc>
                <a:spcPct val="100000"/>
              </a:lnSpc>
              <a:spcAft>
                <a:spcPts val="0"/>
              </a:spcAft>
              <a:buNone/>
            </a:pPr>
            <a:r>
              <a:rPr sz="1100" b="0" i="0" lang="es-CL">
                <a:solidFill>
                  <a:srgbClr val="795E26"/>
                </a:solidFill>
                <a:latin typeface="Consolas"/>
                <a:ea typeface="Consolas"/>
                <a:cs typeface="Consolas"/>
              </a:rPr>
              <a:t>test</a:t>
            </a:r>
            <a:r>
              <a:rPr sz="1100" b="0" i="0" lang="es-CL">
                <a:solidFill>
                  <a:srgbClr val="1F2328"/>
                </a:solidFill>
                <a:latin typeface="Consolas"/>
                <a:ea typeface="Consolas"/>
                <a:cs typeface="Consolas"/>
              </a:rPr>
              <a:t>(</a:t>
            </a:r>
            <a:r>
              <a:rPr sz="1100" b="0" i="0" lang="es-CL">
                <a:solidFill>
                  <a:srgbClr val="A31515"/>
                </a:solidFill>
                <a:latin typeface="Consolas"/>
                <a:ea typeface="Consolas"/>
                <a:cs typeface="Consolas"/>
              </a:rPr>
              <a:t>'</a:t>
            </a:r>
            <a:r>
              <a:rPr sz="1100" b="1" i="0" lang="es-CL">
                <a:solidFill>
                  <a:srgbClr val="9900FF"/>
                </a:solidFill>
                <a:latin typeface="Consolas"/>
                <a:ea typeface="Consolas"/>
                <a:cs typeface="Consolas"/>
              </a:rPr>
              <a:t>[UI-CAT-2]</a:t>
            </a:r>
            <a:r>
              <a:rPr sz="1100" b="0" i="0" lang="es-CL">
                <a:solidFill>
                  <a:srgbClr val="A31515"/>
                </a:solidFill>
                <a:latin typeface="Consolas"/>
                <a:ea typeface="Consolas"/>
                <a:cs typeface="Consolas"/>
              </a:rPr>
              <a:t> la insignia "Agotado" es roja --color-danger (#B42318)'</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async</a:t>
            </a:r>
            <a:r>
              <a:rPr sz="1100" b="0" i="0" lang="es-CL">
                <a:solidFill>
                  <a:srgbClr val="1F2328"/>
                </a:solidFill>
                <a:latin typeface="Consolas"/>
                <a:ea typeface="Consolas"/>
                <a:cs typeface="Consolas"/>
              </a:rPr>
              <a:t> ({ page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badge = availabilityBadge(page, </a:t>
            </a:r>
            <a:r>
              <a:rPr sz="1100" b="0" i="0" lang="es-CL">
                <a:solidFill>
                  <a:srgbClr val="A31515"/>
                </a:solidFill>
                <a:latin typeface="Consolas"/>
                <a:ea typeface="Consolas"/>
                <a:cs typeface="Consolas"/>
              </a:rPr>
              <a:t>'La casa de los espíritus'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(badge).toHaveText(</a:t>
            </a:r>
            <a:r>
              <a:rPr sz="1100" b="0" i="0" lang="es-CL">
                <a:solidFill>
                  <a:srgbClr val="A31515"/>
                </a:solidFill>
                <a:latin typeface="Consolas"/>
                <a:ea typeface="Consolas"/>
                <a:cs typeface="Consolas"/>
              </a:rPr>
              <a:t>'Agotado'</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(badge).toHaveCSS(</a:t>
            </a:r>
            <a:r>
              <a:rPr sz="1100" b="0" i="0" lang="es-CL">
                <a:solidFill>
                  <a:srgbClr val="A31515"/>
                </a:solidFill>
                <a:latin typeface="Consolas"/>
                <a:ea typeface="Consolas"/>
                <a:cs typeface="Consolas"/>
              </a:rPr>
              <a:t>'background-color'</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'rgb(180, 35, 24)'</a:t>
            </a:r>
            <a:r>
              <a:rPr sz="1100" b="0" i="0" lang="es-CL">
                <a:solidFill>
                  <a:srgbClr val="1F2328"/>
                </a:solidFill>
                <a:latin typeface="Consolas"/>
                <a:ea typeface="Consolas"/>
                <a:cs typeface="Consolas"/>
              </a:rPr>
              <a:t>)</a:t>
            </a:r>
          </a:p>
        </p:txBody>
      </p:sp>
      <p:sp>
        <p:nvSpPr>
          <p:cNvPr id="14" name="Rounded Rectangle 13"/>
          <p:cNvSpPr/>
          <p:nvPr/>
        </p:nvSpPr>
        <p:spPr>
          <a:xfrm>
            <a:off x="411480" y="3410712"/>
            <a:ext cx="8321040" cy="1161288"/>
          </a:xfrm>
          <a:prstGeom prst="roundRect">
            <a:avLst>
              <a:gd name="adj" fmla="val 4724"/>
            </a:avLst>
          </a:prstGeom>
          <a:solidFill>
            <a:srgbClr val="F6F8FA"/>
          </a:solidFill>
          <a:ln w="9525">
            <a:solidFill>
              <a:srgbClr val="D0D7DE"/>
            </a:solidFill>
          </a:ln>
        </p:spPr>
        <p:txBody>
          <a:bodyPr rtlCol="0" anchor="ctr" wrap="square" lIns="54864" rIns="54864" tIns="54864" bIns="54864"/>
          <a:lstStyle/>
          <a:p>
            <a:pPr algn="ctr"/>
          </a:p>
        </p:txBody>
      </p:sp>
      <p:sp>
        <p:nvSpPr>
          <p:cNvPr id="15" name="TextBox 14"/>
          <p:cNvSpPr txBox="1"/>
          <p:nvPr/>
        </p:nvSpPr>
        <p:spPr>
          <a:xfrm>
            <a:off x="521208" y="3456432"/>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frontend/tests/layout/catalog.layout.spec.ts (extracto)</a:t>
            </a:r>
          </a:p>
        </p:txBody>
      </p:sp>
      <p:sp>
        <p:nvSpPr>
          <p:cNvPr id="16" name="TextBox 15"/>
          <p:cNvSpPr txBox="1"/>
          <p:nvPr/>
        </p:nvSpPr>
        <p:spPr>
          <a:xfrm>
            <a:off x="521208" y="3721608"/>
            <a:ext cx="8101583" cy="795527"/>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[card] =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boxes(page.getByRole(</a:t>
            </a:r>
            <a:r>
              <a:rPr sz="1100" b="0" i="0" lang="es-CL">
                <a:solidFill>
                  <a:srgbClr val="A31515"/>
                </a:solidFill>
                <a:latin typeface="Consolas"/>
                <a:ea typeface="Consolas"/>
                <a:cs typeface="Consolas"/>
              </a:rPr>
              <a:t>'article'</a:t>
            </a:r>
            <a:r>
              <a:rPr sz="1100" b="0" i="0" lang="es-CL">
                <a:solidFill>
                  <a:srgbClr val="1F2328"/>
                </a:solidFill>
                <a:latin typeface="Consolas"/>
                <a:ea typeface="Consolas"/>
                <a:cs typeface="Consolas"/>
              </a:rPr>
              <a:t>, { name: title, exact: </a:t>
            </a:r>
            <a:r>
              <a:rPr sz="1100" b="0" i="0" lang="es-CL">
                <a:solidFill>
                  <a:srgbClr val="0000FF"/>
                </a:solidFill>
                <a:latin typeface="Consolas"/>
                <a:ea typeface="Consolas"/>
                <a:cs typeface="Consolas"/>
              </a:rPr>
              <a:t>true</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[badge] =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boxes(availabilityBadge(page, title))</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gapRight = card.x + card.width - (badge.x + badge.width)</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(gapRight, </a:t>
            </a:r>
            <a:r>
              <a:rPr sz="1100" b="0" i="0" lang="es-CL">
                <a:solidFill>
                  <a:srgbClr val="A31515"/>
                </a:solidFill>
                <a:latin typeface="Consolas"/>
                <a:ea typeface="Consolas"/>
                <a:cs typeface="Consolas"/>
              </a:rPr>
              <a:t>`${title}: distancia al borde derecho`</a:t>
            </a:r>
            <a:r>
              <a:rPr sz="1100" b="0" i="0" lang="es-CL">
                <a:solidFill>
                  <a:srgbClr val="1F2328"/>
                </a:solidFill>
                <a:latin typeface="Consolas"/>
                <a:ea typeface="Consolas"/>
                <a:cs typeface="Consolas"/>
              </a:rPr>
              <a:t>).toBeLessThanOrEqual(</a:t>
            </a:r>
            <a:r>
              <a:rPr sz="1100" b="0" i="0" lang="es-CL">
                <a:solidFill>
                  <a:srgbClr val="098658"/>
                </a:solidFill>
                <a:latin typeface="Consolas"/>
                <a:ea typeface="Consolas"/>
                <a:cs typeface="Consolas"/>
              </a:rPr>
              <a:t>32</a:t>
            </a:r>
            <a:r>
              <a:rPr sz="1100" b="0" i="0" lang="es-CL">
                <a:solidFill>
                  <a:srgbClr val="1F2328"/>
                </a:solidFill>
                <a:latin typeface="Consolas"/>
                <a:ea typeface="Consolas"/>
                <a:cs typeface="Consolas"/>
              </a:rPr>
              <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Accesibilidad</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Audita la página contra reglas WCAG: contraste, etiquetas, roles.</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Inputs sin label, contraste insuficiente, roles inválidos.</a:t>
            </a:r>
          </a:p>
        </p:txBody>
      </p:sp>
      <p:sp>
        <p:nvSpPr>
          <p:cNvPr id="8" name="Rounded Rectangle 7"/>
          <p:cNvSpPr/>
          <p:nvPr/>
        </p:nvSpPr>
        <p:spPr>
          <a:xfrm>
            <a:off x="411480" y="146304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axe-core con @axe-core/playwright. Lighthouse en la etapa 9.</a:t>
            </a:r>
          </a:p>
        </p:txBody>
      </p:sp>
      <p:sp>
        <p:nvSpPr>
          <p:cNvPr id="10" name="Rounded Rectangle 9"/>
          <p:cNvSpPr/>
          <p:nvPr/>
        </p:nvSpPr>
        <p:spPr>
          <a:xfrm>
            <a:off x="4617720" y="146304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7, junto a los E2E con mock server.</a:t>
            </a:r>
          </a:p>
        </p:txBody>
      </p:sp>
      <p:sp>
        <p:nvSpPr>
          <p:cNvPr id="12" name="Rounded Rectangle 11"/>
          <p:cNvSpPr/>
          <p:nvPr/>
        </p:nvSpPr>
        <p:spPr>
          <a:xfrm>
            <a:off x="411480" y="1965960"/>
            <a:ext cx="8321040" cy="2606039"/>
          </a:xfrm>
          <a:prstGeom prst="roundRect">
            <a:avLst>
              <a:gd name="adj" fmla="val 2105"/>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01168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frontend/tests/a11y/pages.a11y.spec.ts (extracto)</a:t>
            </a:r>
          </a:p>
        </p:txBody>
      </p:sp>
      <p:sp>
        <p:nvSpPr>
          <p:cNvPr id="14" name="TextBox 13"/>
          <p:cNvSpPr txBox="1"/>
          <p:nvPr/>
        </p:nvSpPr>
        <p:spPr>
          <a:xfrm>
            <a:off x="521208" y="2276856"/>
            <a:ext cx="8101583" cy="2240279"/>
          </a:xfrm>
          <a:prstGeom prst="rect">
            <a:avLst/>
          </a:prstGeom>
          <a:noFill/>
        </p:spPr>
        <p:txBody>
          <a:bodyPr wrap="none" lIns="0" rIns="0" tIns="0" bIns="0"/>
          <a:lstStyle/>
          <a:p>
            <a:pPr marL="0" indent="0">
              <a:lnSpc>
                <a:spcPct val="100000"/>
              </a:lnSpc>
              <a:spcAft>
                <a:spcPts val="0"/>
              </a:spcAft>
              <a:buNone/>
            </a:pPr>
            <a:r>
              <a:rPr sz="1100" b="0" i="0" lang="es-CL">
                <a:solidFill>
                  <a:srgbClr val="0000FF"/>
                </a:solidFill>
                <a:latin typeface="Consolas"/>
                <a:ea typeface="Consolas"/>
                <a:cs typeface="Consolas"/>
              </a:rPr>
              <a:t>async</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function</a:t>
            </a:r>
            <a:r>
              <a:rPr sz="1100" b="0" i="0" lang="es-CL">
                <a:solidFill>
                  <a:srgbClr val="1F2328"/>
                </a:solidFill>
                <a:latin typeface="Consolas"/>
                <a:ea typeface="Consolas"/>
                <a:cs typeface="Consolas"/>
              </a:rPr>
              <a:t> expectNoViolations(page: Page)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results =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new</a:t>
            </a:r>
            <a:r>
              <a:rPr sz="1100" b="0" i="0" lang="es-CL">
                <a:solidFill>
                  <a:srgbClr val="1F2328"/>
                </a:solidFill>
                <a:latin typeface="Consolas"/>
                <a:ea typeface="Consolas"/>
                <a:cs typeface="Consolas"/>
              </a:rPr>
              <a:t> AxeBuilder({ page })</a:t>
            </a:r>
          </a:p>
          <a:p>
            <a:pPr marL="0" indent="0">
              <a:lnSpc>
                <a:spcPct val="100000"/>
              </a:lnSpc>
              <a:spcAft>
                <a:spcPts val="0"/>
              </a:spcAft>
              <a:buNone/>
            </a:pPr>
            <a:r>
              <a:rPr sz="1100" b="0" i="0" lang="es-CL">
                <a:solidFill>
                  <a:srgbClr val="1F2328"/>
                </a:solidFill>
                <a:latin typeface="Consolas"/>
                <a:ea typeface="Consolas"/>
                <a:cs typeface="Consolas"/>
              </a:rPr>
              <a:t>    .withTags([</a:t>
            </a:r>
            <a:r>
              <a:rPr sz="1100" b="0" i="0" lang="es-CL">
                <a:solidFill>
                  <a:srgbClr val="A31515"/>
                </a:solidFill>
                <a:latin typeface="Consolas"/>
                <a:ea typeface="Consolas"/>
                <a:cs typeface="Consolas"/>
              </a:rPr>
              <a:t>'wcag2a'</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'wcag2aa'</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'wcag21a'</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'wcag21aa'</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.analyze()</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summary = results.violations.map((v) =&gt; </a:t>
            </a:r>
            <a:r>
              <a:rPr sz="1100" b="0" i="0" lang="es-CL">
                <a:solidFill>
                  <a:srgbClr val="A31515"/>
                </a:solidFill>
                <a:latin typeface="Consolas"/>
                <a:ea typeface="Consolas"/>
                <a:cs typeface="Consolas"/>
              </a:rPr>
              <a:t>`${v.id}: ${v.help} (${v.nodes.length})`</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795E26"/>
                </a:solidFill>
                <a:latin typeface="Consolas"/>
                <a:ea typeface="Consolas"/>
                <a:cs typeface="Consolas"/>
              </a:rPr>
              <a:t>expect</a:t>
            </a:r>
            <a:r>
              <a:rPr sz="1100" b="0" i="0" lang="es-CL">
                <a:solidFill>
                  <a:srgbClr val="1F2328"/>
                </a:solidFill>
                <a:latin typeface="Consolas"/>
                <a:ea typeface="Consolas"/>
                <a:cs typeface="Consolas"/>
              </a:rPr>
              <a:t>(summary).toEqual([])</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795E26"/>
                </a:solidFill>
                <a:latin typeface="Consolas"/>
                <a:ea typeface="Consolas"/>
                <a:cs typeface="Consolas"/>
              </a:rPr>
              <a:t>test</a:t>
            </a:r>
            <a:r>
              <a:rPr sz="1100" b="0" i="0" lang="es-CL">
                <a:solidFill>
                  <a:srgbClr val="1F2328"/>
                </a:solidFill>
                <a:latin typeface="Consolas"/>
                <a:ea typeface="Consolas"/>
                <a:cs typeface="Consolas"/>
              </a:rPr>
              <a:t>(</a:t>
            </a:r>
            <a:r>
              <a:rPr sz="1100" b="0" i="0" lang="es-CL">
                <a:solidFill>
                  <a:srgbClr val="A31515"/>
                </a:solidFill>
                <a:latin typeface="Consolas"/>
                <a:ea typeface="Consolas"/>
                <a:cs typeface="Consolas"/>
              </a:rPr>
              <a:t>'</a:t>
            </a:r>
            <a:r>
              <a:rPr sz="1100" b="1" i="0" lang="es-CL">
                <a:solidFill>
                  <a:srgbClr val="9900FF"/>
                </a:solidFill>
                <a:latin typeface="Consolas"/>
                <a:ea typeface="Consolas"/>
                <a:cs typeface="Consolas"/>
              </a:rPr>
              <a:t>[UI-CAT-1]</a:t>
            </a:r>
            <a:r>
              <a:rPr sz="1100" b="0" i="0" lang="es-CL">
                <a:solidFill>
                  <a:srgbClr val="A31515"/>
                </a:solidFill>
                <a:latin typeface="Consolas"/>
                <a:ea typeface="Consolas"/>
                <a:cs typeface="Consolas"/>
              </a:rPr>
              <a:t> el catálogo no tiene violaciones WCAG A/AA'</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async</a:t>
            </a:r>
            <a:r>
              <a:rPr sz="1100" b="0" i="0" lang="es-CL">
                <a:solidFill>
                  <a:srgbClr val="1F2328"/>
                </a:solidFill>
                <a:latin typeface="Consolas"/>
                <a:ea typeface="Consolas"/>
                <a:cs typeface="Consolas"/>
              </a:rPr>
              <a:t> ({ page }) =&gt;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openCatalog(page)</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F00DB"/>
                </a:solidFill>
                <a:latin typeface="Consolas"/>
                <a:ea typeface="Consolas"/>
                <a:cs typeface="Consolas"/>
              </a:rPr>
              <a:t>await</a:t>
            </a:r>
            <a:r>
              <a:rPr sz="1100" b="0" i="0" lang="es-CL">
                <a:solidFill>
                  <a:srgbClr val="1F2328"/>
                </a:solidFill>
                <a:latin typeface="Consolas"/>
                <a:ea typeface="Consolas"/>
                <a:cs typeface="Consolas"/>
              </a:rPr>
              <a:t> expectNoViolations(page)</a:t>
            </a:r>
          </a:p>
          <a:p>
            <a:pPr marL="0" indent="0">
              <a:lnSpc>
                <a:spcPct val="100000"/>
              </a:lnSpc>
              <a:spcAft>
                <a:spcPts val="0"/>
              </a:spcAft>
              <a:buNone/>
            </a:pPr>
            <a:r>
              <a:rPr sz="11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cap. 9: Lighthouse p. 295, axe-core p. 297, Pa11y p. 302.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Performance</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Latencia de la API bajo una carga chica y tiempos de carga del frontend.</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Regresiones gruesas: una consulta sin índice, un N+1.</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k6 para la API y Lighthouse CI para el frontend.</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9, contra el stack real. La carga de verdad, en otro ambiente.</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tools/perf/k6-smoke.js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100" b="0" i="0" lang="es-CL">
                <a:solidFill>
                  <a:srgbClr val="008000"/>
                </a:solidFill>
                <a:latin typeface="Consolas"/>
                <a:ea typeface="Consolas"/>
                <a:cs typeface="Consolas"/>
              </a:rPr>
              <a:t>// No es una prueba de carga: son 5 usuarios virtuales durante 20 segundos contra</a:t>
            </a:r>
          </a:p>
          <a:p>
            <a:pPr marL="0" indent="0">
              <a:lnSpc>
                <a:spcPct val="100000"/>
              </a:lnSpc>
              <a:spcAft>
                <a:spcPts val="0"/>
              </a:spcAft>
              <a:buNone/>
            </a:pPr>
            <a:r>
              <a:rPr sz="1100" b="0" i="0" lang="es-CL">
                <a:solidFill>
                  <a:srgbClr val="008000"/>
                </a:solidFill>
                <a:latin typeface="Consolas"/>
                <a:ea typeface="Consolas"/>
                <a:cs typeface="Consolas"/>
              </a:rPr>
              <a:t>// el stack real. Sirve para detectar regresiones gruesas (una consulta sin índice,</a:t>
            </a:r>
          </a:p>
          <a:p>
            <a:pPr marL="0" indent="0">
              <a:lnSpc>
                <a:spcPct val="100000"/>
              </a:lnSpc>
              <a:spcAft>
                <a:spcPts val="0"/>
              </a:spcAft>
              <a:buNone/>
            </a:pPr>
            <a:r>
              <a:rPr sz="1100" b="0" i="0" lang="es-CL">
                <a:solidFill>
                  <a:srgbClr val="008000"/>
                </a:solidFill>
                <a:latin typeface="Consolas"/>
                <a:ea typeface="Consolas"/>
                <a:cs typeface="Consolas"/>
              </a:rPr>
              <a:t>// un N+1) antes de integrar.</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AF00DB"/>
                </a:solidFill>
                <a:latin typeface="Consolas"/>
                <a:ea typeface="Consolas"/>
                <a:cs typeface="Consolas"/>
              </a:rPr>
              <a:t>export</a:t>
            </a:r>
            <a:r>
              <a:rPr sz="1100" b="0" i="0" lang="es-CL">
                <a:solidFill>
                  <a:srgbClr val="1F2328"/>
                </a:solidFill>
                <a:latin typeface="Consolas"/>
                <a:ea typeface="Consolas"/>
                <a:cs typeface="Consolas"/>
              </a:rPr>
              <a:t> </a:t>
            </a: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options = {</a:t>
            </a:r>
          </a:p>
          <a:p>
            <a:pPr marL="0" indent="0">
              <a:lnSpc>
                <a:spcPct val="100000"/>
              </a:lnSpc>
              <a:spcAft>
                <a:spcPts val="0"/>
              </a:spcAft>
              <a:buNone/>
            </a:pPr>
            <a:r>
              <a:rPr sz="1100" b="0" i="0" lang="es-CL">
                <a:solidFill>
                  <a:srgbClr val="1F2328"/>
                </a:solidFill>
                <a:latin typeface="Consolas"/>
                <a:ea typeface="Consolas"/>
                <a:cs typeface="Consolas"/>
              </a:rPr>
              <a:t>  vus: </a:t>
            </a:r>
            <a:r>
              <a:rPr sz="1100" b="0" i="0" lang="es-CL">
                <a:solidFill>
                  <a:srgbClr val="098658"/>
                </a:solidFill>
                <a:latin typeface="Consolas"/>
                <a:ea typeface="Consolas"/>
                <a:cs typeface="Consolas"/>
              </a:rPr>
              <a:t>5</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duration: </a:t>
            </a:r>
            <a:r>
              <a:rPr sz="1100" b="0" i="0" lang="es-CL">
                <a:solidFill>
                  <a:srgbClr val="A31515"/>
                </a:solidFill>
                <a:latin typeface="Consolas"/>
                <a:ea typeface="Consolas"/>
                <a:cs typeface="Consolas"/>
              </a:rPr>
              <a:t>'20s'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thresholds: {</a:t>
            </a:r>
          </a:p>
          <a:p>
            <a:pPr marL="0" indent="0">
              <a:lnSpc>
                <a:spcPct val="100000"/>
              </a:lnSpc>
              <a:spcAft>
                <a:spcPts val="0"/>
              </a:spcAft>
              <a:buNone/>
            </a:pPr>
            <a:r>
              <a:rPr sz="1100" b="0" i="0" lang="es-CL">
                <a:solidFill>
                  <a:srgbClr val="1F2328"/>
                </a:solidFill>
                <a:latin typeface="Consolas"/>
                <a:ea typeface="Consolas"/>
                <a:cs typeface="Consolas"/>
              </a:rPr>
              <a:t>    http_req_duration: [</a:t>
            </a:r>
            <a:r>
              <a:rPr sz="1100" b="0" i="0" lang="es-CL">
                <a:solidFill>
                  <a:srgbClr val="A31515"/>
                </a:solidFill>
                <a:latin typeface="Consolas"/>
                <a:ea typeface="Consolas"/>
                <a:cs typeface="Consolas"/>
              </a:rPr>
              <a:t>'p(95)&lt;500'</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http_req_failed: [</a:t>
            </a:r>
            <a:r>
              <a:rPr sz="1100" b="0" i="0" lang="es-CL">
                <a:solidFill>
                  <a:srgbClr val="A31515"/>
                </a:solidFill>
                <a:latin typeface="Consolas"/>
                <a:ea typeface="Consolas"/>
                <a:cs typeface="Consolas"/>
              </a:rPr>
              <a:t>'rate&lt;0.01'</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cap. 8: JMeter p. 254, Gatling p. 261, Lighthouse p. 270.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Mutation testing: de noche, no en cada PR</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Introduce bugs pequeños (mutantes) y revisa si algún test falla.</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Tests que no verifican nada, valores límite sin cubrir.</a:t>
            </a:r>
          </a:p>
        </p:txBody>
      </p:sp>
      <p:sp>
        <p:nvSpPr>
          <p:cNvPr id="8" name="Rounded Rectangle 7"/>
          <p:cNvSpPr/>
          <p:nvPr/>
        </p:nvSpPr>
        <p:spPr>
          <a:xfrm>
            <a:off x="411480" y="146304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Stryker con Jest en el backend y Vitest en el frontend.</a:t>
            </a:r>
          </a:p>
        </p:txBody>
      </p:sp>
      <p:sp>
        <p:nvSpPr>
          <p:cNvPr id="10" name="Rounded Rectangle 9"/>
          <p:cNvSpPr/>
          <p:nvPr/>
        </p:nvSpPr>
        <p:spPr>
          <a:xfrm>
            <a:off x="4617720" y="146304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42646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Nightly: mejora los tests, no bloquea PR.</a:t>
            </a:r>
          </a:p>
        </p:txBody>
      </p:sp>
      <p:sp>
        <p:nvSpPr>
          <p:cNvPr id="12" name="Rounded Rectangle 11"/>
          <p:cNvSpPr/>
          <p:nvPr/>
        </p:nvSpPr>
        <p:spPr>
          <a:xfrm>
            <a:off x="411480" y="1965960"/>
            <a:ext cx="8321040" cy="1777593"/>
          </a:xfrm>
          <a:prstGeom prst="roundRect">
            <a:avLst>
              <a:gd name="adj" fmla="val 3086"/>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01168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backend/stryker.config.mjs (extracto)</a:t>
            </a:r>
          </a:p>
        </p:txBody>
      </p:sp>
      <p:sp>
        <p:nvSpPr>
          <p:cNvPr id="14" name="TextBox 13"/>
          <p:cNvSpPr txBox="1"/>
          <p:nvPr/>
        </p:nvSpPr>
        <p:spPr>
          <a:xfrm>
            <a:off x="521208" y="2276856"/>
            <a:ext cx="8101583" cy="1411833"/>
          </a:xfrm>
          <a:prstGeom prst="rect">
            <a:avLst/>
          </a:prstGeom>
          <a:noFill/>
        </p:spPr>
        <p:txBody>
          <a:bodyPr wrap="none" lIns="0" rIns="0" tIns="0" bIns="0"/>
          <a:lstStyle/>
          <a:p>
            <a:pPr marL="0" indent="0">
              <a:lnSpc>
                <a:spcPct val="100000"/>
              </a:lnSpc>
              <a:spcAft>
                <a:spcPts val="0"/>
              </a:spcAft>
              <a:buNone/>
            </a:pPr>
            <a:r>
              <a:rPr sz="1100" b="0" i="0" lang="es-CL">
                <a:solidFill>
                  <a:srgbClr val="0000FF"/>
                </a:solidFill>
                <a:latin typeface="Consolas"/>
                <a:ea typeface="Consolas"/>
                <a:cs typeface="Consolas"/>
              </a:rPr>
              <a:t>const</a:t>
            </a:r>
            <a:r>
              <a:rPr sz="1100" b="0" i="0" lang="es-CL">
                <a:solidFill>
                  <a:srgbClr val="1F2328"/>
                </a:solidFill>
                <a:latin typeface="Consolas"/>
                <a:ea typeface="Consolas"/>
                <a:cs typeface="Consolas"/>
              </a:rPr>
              <a:t> config =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testRunner: </a:t>
            </a:r>
            <a:r>
              <a:rPr sz="1100" b="0" i="0" lang="es-CL">
                <a:solidFill>
                  <a:srgbClr val="A31515"/>
                </a:solidFill>
                <a:latin typeface="Consolas"/>
                <a:ea typeface="Consolas"/>
                <a:cs typeface="Consolas"/>
              </a:rPr>
              <a:t>'jest'</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jest: { configFile: </a:t>
            </a:r>
            <a:r>
              <a:rPr sz="1100" b="0" i="0" lang="es-CL">
                <a:solidFill>
                  <a:srgbClr val="A31515"/>
                </a:solidFill>
                <a:latin typeface="Consolas"/>
                <a:ea typeface="Consolas"/>
                <a:cs typeface="Consolas"/>
              </a:rPr>
              <a:t>'jest.unit.config.js'</a:t>
            </a:r>
            <a:r>
              <a:rPr sz="1100" b="0" i="0" lang="es-CL">
                <a:solidFill>
                  <a:srgbClr val="1F2328"/>
                </a:solidFill>
                <a:latin typeface="Consolas"/>
                <a:ea typeface="Consolas"/>
                <a:cs typeface="Consolas"/>
              </a:rPr>
              <a:t>, enableFindRelatedTests: </a:t>
            </a:r>
            <a:r>
              <a:rPr sz="1100" b="0" i="0" lang="es-CL">
                <a:solidFill>
                  <a:srgbClr val="0000FF"/>
                </a:solidFill>
                <a:latin typeface="Consolas"/>
                <a:ea typeface="Consolas"/>
                <a:cs typeface="Consolas"/>
              </a:rPr>
              <a:t>true</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mutate: [</a:t>
            </a:r>
            <a:r>
              <a:rPr sz="1100" b="0" i="0" lang="es-CL">
                <a:solidFill>
                  <a:srgbClr val="A31515"/>
                </a:solidFill>
                <a:latin typeface="Consolas"/>
                <a:ea typeface="Consolas"/>
                <a:cs typeface="Consolas"/>
              </a:rPr>
              <a:t>'src/**/domain/**/*.ts'</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'src/**/application/**/*.ts'</a:t>
            </a: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'!src/**/*.spec.ts'</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coverageAnalysis: </a:t>
            </a:r>
            <a:r>
              <a:rPr sz="1100" b="0" i="0" lang="es-CL">
                <a:solidFill>
                  <a:srgbClr val="A31515"/>
                </a:solidFill>
                <a:latin typeface="Consolas"/>
                <a:ea typeface="Consolas"/>
                <a:cs typeface="Consolas"/>
              </a:rPr>
              <a:t>'perTest'</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thresholds: { high: </a:t>
            </a:r>
            <a:r>
              <a:rPr sz="1100" b="0" i="0" lang="es-CL">
                <a:solidFill>
                  <a:srgbClr val="098658"/>
                </a:solidFill>
                <a:latin typeface="Consolas"/>
                <a:ea typeface="Consolas"/>
                <a:cs typeface="Consolas"/>
              </a:rPr>
              <a:t>85</a:t>
            </a:r>
            <a:r>
              <a:rPr sz="1100" b="0" i="0" lang="es-CL">
                <a:solidFill>
                  <a:srgbClr val="1F2328"/>
                </a:solidFill>
                <a:latin typeface="Consolas"/>
                <a:ea typeface="Consolas"/>
                <a:cs typeface="Consolas"/>
              </a:rPr>
              <a:t>, low: </a:t>
            </a:r>
            <a:r>
              <a:rPr sz="1100" b="0" i="0" lang="es-CL">
                <a:solidFill>
                  <a:srgbClr val="098658"/>
                </a:solidFill>
                <a:latin typeface="Consolas"/>
                <a:ea typeface="Consolas"/>
                <a:cs typeface="Consolas"/>
              </a:rPr>
              <a:t>70</a:t>
            </a:r>
            <a:r>
              <a:rPr sz="1100" b="0" i="0" lang="es-CL">
                <a:solidFill>
                  <a:srgbClr val="1F2328"/>
                </a:solidFill>
                <a:latin typeface="Consolas"/>
                <a:ea typeface="Consolas"/>
                <a:cs typeface="Consolas"/>
              </a:rPr>
              <a:t>, break: </a:t>
            </a:r>
            <a:r>
              <a:rPr sz="1100" b="0" i="0" lang="es-CL">
                <a:solidFill>
                  <a:srgbClr val="098658"/>
                </a:solidFill>
                <a:latin typeface="Consolas"/>
                <a:ea typeface="Consolas"/>
                <a:cs typeface="Consolas"/>
              </a:rPr>
              <a:t>60</a:t>
            </a:r>
            <a:r>
              <a:rPr sz="1100" b="0" i="0" lang="es-CL">
                <a:solidFill>
                  <a:srgbClr val="1F2328"/>
                </a:solidFill>
                <a:latin typeface="Consolas"/>
                <a:ea typeface="Consolas"/>
                <a:cs typeface="Consolas"/>
              </a:rPr>
              <a:t> },</a:t>
            </a:r>
          </a:p>
        </p:txBody>
      </p:sp>
      <p:sp>
        <p:nvSpPr>
          <p:cNvPr id="15" name="Rounded Rectangle 14"/>
          <p:cNvSpPr/>
          <p:nvPr/>
        </p:nvSpPr>
        <p:spPr>
          <a:xfrm>
            <a:off x="411480" y="3853281"/>
            <a:ext cx="8321040" cy="718718"/>
          </a:xfrm>
          <a:prstGeom prst="roundRect">
            <a:avLst>
              <a:gd name="adj" fmla="val 7633"/>
            </a:avLst>
          </a:prstGeom>
          <a:solidFill>
            <a:srgbClr val="F6F8FA"/>
          </a:solidFill>
          <a:ln w="9525">
            <a:solidFill>
              <a:srgbClr val="D0D7DE"/>
            </a:solidFill>
          </a:ln>
        </p:spPr>
        <p:txBody>
          <a:bodyPr rtlCol="0" anchor="ctr" wrap="square" lIns="54864" rIns="54864" tIns="54864" bIns="54864"/>
          <a:lstStyle/>
          <a:p>
            <a:pPr algn="ctr"/>
          </a:p>
        </p:txBody>
      </p:sp>
      <p:sp>
        <p:nvSpPr>
          <p:cNvPr id="16" name="TextBox 15"/>
          <p:cNvSpPr txBox="1"/>
          <p:nvPr/>
        </p:nvSpPr>
        <p:spPr>
          <a:xfrm>
            <a:off x="521208" y="3899001"/>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backend/src/books/domain/isbn.spec.ts: lo que encontró Stryker</a:t>
            </a:r>
          </a:p>
        </p:txBody>
      </p:sp>
      <p:sp>
        <p:nvSpPr>
          <p:cNvPr id="17" name="TextBox 16"/>
          <p:cNvSpPr txBox="1"/>
          <p:nvPr/>
        </p:nvSpPr>
        <p:spPr>
          <a:xfrm>
            <a:off x="521208" y="4164177"/>
            <a:ext cx="8101583" cy="352958"/>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8000"/>
                </a:solidFill>
                <a:latin typeface="Consolas"/>
                <a:ea typeface="Consolas"/>
                <a:cs typeface="Consolas"/>
              </a:rPr>
              <a:t>// Los dos casos de 14 dígitos contienen un ISBN válido al inicio o al final. Los agregamos</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08000"/>
                </a:solidFill>
                <a:latin typeface="Consolas"/>
                <a:ea typeface="Consolas"/>
                <a:cs typeface="Consolas"/>
              </a:rPr>
              <a:t>// porque Stryker mostró que sin ellos nadie notaba si se borraba el ^ o el $ de la regex.</a:t>
            </a:r>
          </a:p>
        </p:txBody>
      </p:sp>
      <p:sp>
        <p:nvSpPr>
          <p:cNvPr id="18"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code coverage y mutation testing, p. 116 y 117.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Revisión de código con IA basada en las specs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Un agente revisa el diff contra la constitución, la arquitectura y los SPEC.md.</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Tests sin ID o en la capa equivocada, mocks, capas cruzadas.</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Claude Code Action en GitHub Actions.</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En cada PR listo para revisión. Solo comenta.</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.github/workflows/ai-review.yml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100" b="0" i="0" lang="es-CL">
                <a:solidFill>
                  <a:srgbClr val="0451A5"/>
                </a:solidFill>
                <a:latin typeface="Consolas"/>
                <a:ea typeface="Consolas"/>
                <a:cs typeface="Consolas"/>
              </a:rPr>
              <a:t>- name</a:t>
            </a:r>
            <a:r>
              <a:rPr sz="1100" b="0" i="0" lang="es-CL">
                <a:solidFill>
                  <a:srgbClr val="1F2328"/>
                </a:solidFill>
                <a:latin typeface="Consolas"/>
                <a:ea typeface="Consolas"/>
                <a:cs typeface="Consolas"/>
              </a:rPr>
              <a:t>: Revisar el PR con Claude</a:t>
            </a:r>
          </a:p>
          <a:p>
            <a:pPr marL="0" indent="0">
              <a:lnSpc>
                <a:spcPct val="100000"/>
              </a:lnSpc>
              <a:spcAft>
                <a:spcPts val="0"/>
              </a:spcAft>
              <a:buNone/>
            </a:pPr>
            <a:r>
              <a:rPr sz="1100" b="0" i="0" lang="es-CL">
                <a:solidFill>
                  <a:srgbClr val="0451A5"/>
                </a:solidFill>
                <a:latin typeface="Consolas"/>
                <a:ea typeface="Consolas"/>
                <a:cs typeface="Consolas"/>
              </a:rPr>
              <a:t>  if</a:t>
            </a:r>
            <a:r>
              <a:rPr sz="1100" b="0" i="0" lang="es-CL">
                <a:solidFill>
                  <a:srgbClr val="1F2328"/>
                </a:solidFill>
                <a:latin typeface="Consolas"/>
                <a:ea typeface="Consolas"/>
                <a:cs typeface="Consolas"/>
              </a:rPr>
              <a:t>: env.HAS_ANTHROPIC_KEY == </a:t>
            </a:r>
            <a:r>
              <a:rPr sz="1100" b="0" i="0" lang="es-CL">
                <a:solidFill>
                  <a:srgbClr val="A31515"/>
                </a:solidFill>
                <a:latin typeface="Consolas"/>
                <a:ea typeface="Consolas"/>
                <a:cs typeface="Consolas"/>
              </a:rPr>
              <a:t>'true'</a:t>
            </a:r>
          </a:p>
          <a:p>
            <a:pPr marL="0" indent="0">
              <a:lnSpc>
                <a:spcPct val="100000"/>
              </a:lnSpc>
              <a:spcAft>
                <a:spcPts val="0"/>
              </a:spcAft>
              <a:buNone/>
            </a:pPr>
            <a:r>
              <a:rPr sz="1100" b="0" i="0" lang="es-CL">
                <a:solidFill>
                  <a:srgbClr val="0451A5"/>
                </a:solidFill>
                <a:latin typeface="Consolas"/>
                <a:ea typeface="Consolas"/>
                <a:cs typeface="Consolas"/>
              </a:rPr>
              <a:t>  uses</a:t>
            </a:r>
            <a:r>
              <a:rPr sz="1100" b="0" i="0" lang="es-CL">
                <a:solidFill>
                  <a:srgbClr val="1F2328"/>
                </a:solidFill>
                <a:latin typeface="Consolas"/>
                <a:ea typeface="Consolas"/>
                <a:cs typeface="Consolas"/>
              </a:rPr>
              <a:t>: anthropics/claude-code-action@925afb53776cf1a2b738c6bdbed37b4d4000ef13 </a:t>
            </a:r>
            <a:r>
              <a:rPr sz="1100" b="0" i="0" lang="es-CL">
                <a:solidFill>
                  <a:srgbClr val="008000"/>
                </a:solidFill>
                <a:latin typeface="Consolas"/>
                <a:ea typeface="Consolas"/>
                <a:cs typeface="Consolas"/>
              </a:rPr>
              <a:t># v1.0.262</a:t>
            </a:r>
          </a:p>
          <a:p>
            <a:pPr marL="0" indent="0">
              <a:lnSpc>
                <a:spcPct val="100000"/>
              </a:lnSpc>
              <a:spcAft>
                <a:spcPts val="0"/>
              </a:spcAft>
              <a:buNone/>
            </a:pPr>
            <a:r>
              <a:rPr sz="1100" b="0" i="0" lang="es-CL">
                <a:solidFill>
                  <a:srgbClr val="0451A5"/>
                </a:solidFill>
                <a:latin typeface="Consolas"/>
                <a:ea typeface="Consolas"/>
                <a:cs typeface="Consolas"/>
              </a:rPr>
              <a:t>  with</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0451A5"/>
                </a:solidFill>
                <a:latin typeface="Consolas"/>
                <a:ea typeface="Consolas"/>
                <a:cs typeface="Consolas"/>
              </a:rPr>
              <a:t>    anthropic_api_key</a:t>
            </a:r>
            <a:r>
              <a:rPr sz="1100" b="0" i="0" lang="es-CL">
                <a:solidFill>
                  <a:srgbClr val="1F2328"/>
                </a:solidFill>
                <a:latin typeface="Consolas"/>
                <a:ea typeface="Consolas"/>
                <a:cs typeface="Consolas"/>
              </a:rPr>
              <a:t>: ${{ secrets.ANTHROPIC_API_KEY }}</a:t>
            </a:r>
          </a:p>
          <a:p>
            <a:pPr marL="0" indent="0">
              <a:lnSpc>
                <a:spcPct val="100000"/>
              </a:lnSpc>
              <a:spcAft>
                <a:spcPts val="0"/>
              </a:spcAft>
              <a:buNone/>
            </a:pPr>
            <a:r>
              <a:rPr sz="1100" b="0" i="0" lang="es-CL">
                <a:solidFill>
                  <a:srgbClr val="0451A5"/>
                </a:solidFill>
                <a:latin typeface="Consolas"/>
                <a:ea typeface="Consolas"/>
                <a:cs typeface="Consolas"/>
              </a:rPr>
              <a:t>    github_token</a:t>
            </a:r>
            <a:r>
              <a:rPr sz="1100" b="0" i="0" lang="es-CL">
                <a:solidFill>
                  <a:srgbClr val="1F2328"/>
                </a:solidFill>
                <a:latin typeface="Consolas"/>
                <a:ea typeface="Consolas"/>
                <a:cs typeface="Consolas"/>
              </a:rPr>
              <a:t>: ${{ github.token }}</a:t>
            </a:r>
          </a:p>
          <a:p>
            <a:pPr marL="0" indent="0">
              <a:lnSpc>
                <a:spcPct val="100000"/>
              </a:lnSpc>
              <a:spcAft>
                <a:spcPts val="0"/>
              </a:spcAft>
              <a:buNone/>
            </a:pPr>
            <a:r>
              <a:rPr sz="1100" b="0" i="0" lang="es-CL">
                <a:solidFill>
                  <a:srgbClr val="0451A5"/>
                </a:solidFill>
                <a:latin typeface="Consolas"/>
                <a:ea typeface="Consolas"/>
                <a:cs typeface="Consolas"/>
              </a:rPr>
              <a:t>    prompt</a:t>
            </a: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98658"/>
                </a:solidFill>
                <a:latin typeface="Consolas"/>
                <a:ea typeface="Consolas"/>
                <a:cs typeface="Consolas"/>
              </a:rPr>
              <a:t>2</a:t>
            </a:r>
            <a:r>
              <a:rPr sz="1100" b="0" i="0" lang="es-CL">
                <a:solidFill>
                  <a:srgbClr val="1F2328"/>
                </a:solidFill>
                <a:latin typeface="Consolas"/>
                <a:ea typeface="Consolas"/>
                <a:cs typeface="Consolas"/>
              </a:rPr>
              <a:t>. Obtén el diff con `gh pr diff` y revisa SOLO lo que cambió.</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098658"/>
                </a:solidFill>
                <a:latin typeface="Consolas"/>
                <a:ea typeface="Consolas"/>
                <a:cs typeface="Consolas"/>
              </a:rPr>
              <a:t>5</a:t>
            </a:r>
            <a:r>
              <a:rPr sz="1100" b="0" i="0" lang="es-CL">
                <a:solidFill>
                  <a:srgbClr val="1F2328"/>
                </a:solidFill>
                <a:latin typeface="Consolas"/>
                <a:ea typeface="Consolas"/>
                <a:cs typeface="Consolas"/>
              </a:rPr>
              <a:t>. Al final deja UN comentario de resumen con `gh pr comment` que tenga:</a:t>
            </a:r>
          </a:p>
          <a:p>
            <a:pPr marL="0" indent="0">
              <a:lnSpc>
                <a:spcPct val="100000"/>
              </a:lnSpc>
              <a:spcAft>
                <a:spcPts val="0"/>
              </a:spcAft>
              <a:buNone/>
            </a:pPr>
            <a:r>
              <a:rPr sz="1100" b="0" i="0" lang="es-CL">
                <a:solidFill>
                  <a:srgbClr val="1F2328"/>
                </a:solidFill>
                <a:latin typeface="Consolas"/>
                <a:ea typeface="Consolas"/>
                <a:cs typeface="Consolas"/>
              </a:rPr>
              <a:t>         veredicto (aprobar, aprobar con cambios menores o pedir cambios), reglas de spec</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reviewer agent y LLM as the judge, p. 103. Claude en Actions, p. 139.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5</a:t>
            </a:r>
          </a:p>
          <a:p>
            <a:pPr algn="ctr">
              <a:spcAft>
                <a:spcPts val="1600"/>
              </a:spcAft>
            </a:pPr>
            <a:r>
              <a:rPr sz="3600" b="1" i="0" lang="es-CL">
                <a:solidFill>
                  <a:srgbClr val="4A86E8"/>
                </a:solidFill>
                <a:latin typeface="Bitter"/>
                <a:ea typeface="Bitter"/>
                <a:cs typeface="Bitter"/>
              </a:rPr>
              <a:t>DevSecOps y CI</a:t>
            </a:r>
          </a:p>
          <a:p>
            <a:pPr algn="ctr">
              <a:spcAft>
                <a:spcPts val="1400"/>
              </a:spcAft>
            </a:pPr>
            <a:r>
              <a:rPr sz="1500" b="0" i="0" lang="es-CL">
                <a:solidFill>
                  <a:srgbClr val="57606A"/>
                </a:solidFill>
                <a:latin typeface="Inter"/>
                <a:ea typeface="Inter"/>
                <a:cs typeface="Inter"/>
              </a:rPr>
              <a:t>Seguridad en cada etapa, ramas cortas y un pipeline que explica sus decisiones.</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DevSecOps: seguridad en todo el ciclo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Oval 3"/>
          <p:cNvSpPr/>
          <p:nvPr/>
        </p:nvSpPr>
        <p:spPr>
          <a:xfrm>
            <a:off x="1188719" y="1508760"/>
            <a:ext cx="3200400" cy="2103120"/>
          </a:xfrm>
          <a:prstGeom prst="ellipse">
            <a:avLst/>
          </a:prstGeom>
          <a:noFill/>
          <a:ln w="88900">
            <a:solidFill>
              <a:srgbClr val="003D4F"/>
            </a:solidFill>
          </a:ln>
        </p:spPr>
        <p:txBody>
          <a:bodyPr rtlCol="0" anchor="ctr" wrap="square" lIns="54864" rIns="54864" tIns="54864" bIns="54864"/>
          <a:lstStyle/>
          <a:p>
            <a:pPr algn="ctr"/>
          </a:p>
        </p:txBody>
      </p:sp>
      <p:sp>
        <p:nvSpPr>
          <p:cNvPr id="5" name="Oval 4"/>
          <p:cNvSpPr/>
          <p:nvPr/>
        </p:nvSpPr>
        <p:spPr>
          <a:xfrm>
            <a:off x="4754880" y="1508760"/>
            <a:ext cx="3200400" cy="2103120"/>
          </a:xfrm>
          <a:prstGeom prst="ellipse">
            <a:avLst/>
          </a:prstGeom>
          <a:noFill/>
          <a:ln w="88900">
            <a:solidFill>
              <a:srgbClr val="CC850A"/>
            </a:solidFill>
          </a:ln>
        </p:spPr>
        <p:txBody>
          <a:bodyPr rtlCol="0" anchor="ctr" wrap="square" lIns="54864" rIns="54864" tIns="54864" bIns="54864"/>
          <a:lstStyle/>
          <a:p>
            <a:pPr algn="ctr"/>
          </a:p>
        </p:txBody>
      </p:sp>
      <p:sp>
        <p:nvSpPr>
          <p:cNvPr id="6" name="Oval 5"/>
          <p:cNvSpPr/>
          <p:nvPr/>
        </p:nvSpPr>
        <p:spPr>
          <a:xfrm>
            <a:off x="4114800" y="2176272"/>
            <a:ext cx="914400" cy="768096"/>
          </a:xfrm>
          <a:prstGeom prst="ellipse">
            <a:avLst/>
          </a:prstGeom>
          <a:solidFill>
            <a:srgbClr val="980000"/>
          </a:solidFill>
          <a:ln>
            <a:noFill/>
          </a:ln>
        </p:spPr>
        <p:txBody>
          <a:bodyPr rtlCol="0" anchor="ctr" wrap="square" lIns="54864" rIns="54864" tIns="54864" bIns="54864"/>
          <a:lstStyle/>
          <a:p>
            <a:pPr algn="ctr" marL="0" indent="0">
              <a:spcAft>
                <a:spcPts val="200"/>
              </a:spcAft>
              <a:buNone/>
            </a:pPr>
            <a:r>
              <a:rPr sz="1600" b="1" i="0" lang="es-CL">
                <a:solidFill>
                  <a:srgbClr val="FFFFFF"/>
                </a:solidFill>
                <a:latin typeface="Inter"/>
                <a:ea typeface="Inter"/>
                <a:cs typeface="Inter"/>
              </a:rPr>
              <a:t>Sec</a:t>
            </a:r>
          </a:p>
        </p:txBody>
      </p:sp>
      <p:sp>
        <p:nvSpPr>
          <p:cNvPr id="7" name="Rounded Rectangle 6"/>
          <p:cNvSpPr/>
          <p:nvPr/>
        </p:nvSpPr>
        <p:spPr>
          <a:xfrm>
            <a:off x="2240279" y="1316736"/>
            <a:ext cx="1097280" cy="384048"/>
          </a:xfrm>
          <a:prstGeom prst="roundRect">
            <a:avLst>
              <a:gd name="adj" fmla="val 19047"/>
            </a:avLst>
          </a:prstGeom>
          <a:solidFill>
            <a:srgbClr val="FFFFFF"/>
          </a:solidFill>
          <a:ln w="25400">
            <a:solidFill>
              <a:srgbClr val="003D4F"/>
            </a:solidFill>
          </a:ln>
        </p:spPr>
        <p:txBody>
          <a:bodyPr rtlCol="0" anchor="ctr" wrap="square" lIns="54864" rIns="54864" tIns="54864" bIns="54864"/>
          <a:lstStyle/>
          <a:p>
            <a:pPr algn="ctr" marL="0" indent="0">
              <a:spcAft>
                <a:spcPts val="200"/>
              </a:spcAft>
              <a:buNone/>
            </a:pPr>
            <a:r>
              <a:rPr sz="1200" b="1" i="0" lang="es-CL">
                <a:solidFill>
                  <a:srgbClr val="003D4F"/>
                </a:solidFill>
                <a:latin typeface="Inter"/>
                <a:ea typeface="Inter"/>
                <a:cs typeface="Inter"/>
              </a:rPr>
              <a:t>Plan</a:t>
            </a:r>
          </a:p>
        </p:txBody>
      </p:sp>
      <p:sp>
        <p:nvSpPr>
          <p:cNvPr id="8" name="Rounded Rectangle 7"/>
          <p:cNvSpPr/>
          <p:nvPr/>
        </p:nvSpPr>
        <p:spPr>
          <a:xfrm>
            <a:off x="640080" y="1956815"/>
            <a:ext cx="1097280" cy="384048"/>
          </a:xfrm>
          <a:prstGeom prst="roundRect">
            <a:avLst>
              <a:gd name="adj" fmla="val 19047"/>
            </a:avLst>
          </a:prstGeom>
          <a:solidFill>
            <a:srgbClr val="FFFFFF"/>
          </a:solidFill>
          <a:ln w="25400">
            <a:solidFill>
              <a:srgbClr val="003D4F"/>
            </a:solidFill>
          </a:ln>
        </p:spPr>
        <p:txBody>
          <a:bodyPr rtlCol="0" anchor="ctr" wrap="square" lIns="54864" rIns="54864" tIns="54864" bIns="54864"/>
          <a:lstStyle/>
          <a:p>
            <a:pPr algn="ctr" marL="0" indent="0">
              <a:spcAft>
                <a:spcPts val="200"/>
              </a:spcAft>
              <a:buNone/>
            </a:pPr>
            <a:r>
              <a:rPr sz="1200" b="1" i="0" lang="es-CL">
                <a:solidFill>
                  <a:srgbClr val="003D4F"/>
                </a:solidFill>
                <a:latin typeface="Inter"/>
                <a:ea typeface="Inter"/>
                <a:cs typeface="Inter"/>
              </a:rPr>
              <a:t>Code</a:t>
            </a:r>
          </a:p>
        </p:txBody>
      </p:sp>
      <p:sp>
        <p:nvSpPr>
          <p:cNvPr id="9" name="Rounded Rectangle 8"/>
          <p:cNvSpPr/>
          <p:nvPr/>
        </p:nvSpPr>
        <p:spPr>
          <a:xfrm>
            <a:off x="640080" y="2779776"/>
            <a:ext cx="1097280" cy="384048"/>
          </a:xfrm>
          <a:prstGeom prst="roundRect">
            <a:avLst>
              <a:gd name="adj" fmla="val 19047"/>
            </a:avLst>
          </a:prstGeom>
          <a:solidFill>
            <a:srgbClr val="FFFFFF"/>
          </a:solidFill>
          <a:ln w="25400">
            <a:solidFill>
              <a:srgbClr val="003D4F"/>
            </a:solidFill>
          </a:ln>
        </p:spPr>
        <p:txBody>
          <a:bodyPr rtlCol="0" anchor="ctr" wrap="square" lIns="54864" rIns="54864" tIns="54864" bIns="54864"/>
          <a:lstStyle/>
          <a:p>
            <a:pPr algn="ctr" marL="0" indent="0">
              <a:spcAft>
                <a:spcPts val="200"/>
              </a:spcAft>
              <a:buNone/>
            </a:pPr>
            <a:r>
              <a:rPr sz="1200" b="1" i="0" lang="es-CL">
                <a:solidFill>
                  <a:srgbClr val="003D4F"/>
                </a:solidFill>
                <a:latin typeface="Inter"/>
                <a:ea typeface="Inter"/>
                <a:cs typeface="Inter"/>
              </a:rPr>
              <a:t>Build</a:t>
            </a:r>
          </a:p>
        </p:txBody>
      </p:sp>
      <p:sp>
        <p:nvSpPr>
          <p:cNvPr id="10" name="Rounded Rectangle 9"/>
          <p:cNvSpPr/>
          <p:nvPr/>
        </p:nvSpPr>
        <p:spPr>
          <a:xfrm>
            <a:off x="2240279" y="3419856"/>
            <a:ext cx="1097280" cy="384048"/>
          </a:xfrm>
          <a:prstGeom prst="roundRect">
            <a:avLst>
              <a:gd name="adj" fmla="val 19047"/>
            </a:avLst>
          </a:prstGeom>
          <a:solidFill>
            <a:srgbClr val="FFFFFF"/>
          </a:solidFill>
          <a:ln w="25400">
            <a:solidFill>
              <a:srgbClr val="003D4F"/>
            </a:solidFill>
          </a:ln>
        </p:spPr>
        <p:txBody>
          <a:bodyPr rtlCol="0" anchor="ctr" wrap="square" lIns="54864" rIns="54864" tIns="54864" bIns="54864"/>
          <a:lstStyle/>
          <a:p>
            <a:pPr algn="ctr" marL="0" indent="0">
              <a:spcAft>
                <a:spcPts val="200"/>
              </a:spcAft>
              <a:buNone/>
            </a:pPr>
            <a:r>
              <a:rPr sz="1200" b="1" i="0" lang="es-CL">
                <a:solidFill>
                  <a:srgbClr val="003D4F"/>
                </a:solidFill>
                <a:latin typeface="Inter"/>
                <a:ea typeface="Inter"/>
                <a:cs typeface="Inter"/>
              </a:rPr>
              <a:t>Test</a:t>
            </a:r>
          </a:p>
        </p:txBody>
      </p:sp>
      <p:sp>
        <p:nvSpPr>
          <p:cNvPr id="11" name="Rounded Rectangle 10"/>
          <p:cNvSpPr/>
          <p:nvPr/>
        </p:nvSpPr>
        <p:spPr>
          <a:xfrm>
            <a:off x="5806440" y="1316736"/>
            <a:ext cx="1097280" cy="384048"/>
          </a:xfrm>
          <a:prstGeom prst="roundRect">
            <a:avLst>
              <a:gd name="adj" fmla="val 19047"/>
            </a:avLst>
          </a:prstGeom>
          <a:solidFill>
            <a:srgbClr val="FFFFFF"/>
          </a:solidFill>
          <a:ln w="25400">
            <a:solidFill>
              <a:srgbClr val="CC850A"/>
            </a:solidFill>
          </a:ln>
        </p:spPr>
        <p:txBody>
          <a:bodyPr rtlCol="0" anchor="ctr" wrap="square" lIns="54864" rIns="54864" tIns="54864" bIns="54864"/>
          <a:lstStyle/>
          <a:p>
            <a:pPr algn="ctr" marL="0" indent="0">
              <a:spcAft>
                <a:spcPts val="200"/>
              </a:spcAft>
              <a:buNone/>
            </a:pPr>
            <a:r>
              <a:rPr sz="1200" b="1" i="0" lang="es-CL">
                <a:solidFill>
                  <a:srgbClr val="CC850A"/>
                </a:solidFill>
                <a:latin typeface="Inter"/>
                <a:ea typeface="Inter"/>
                <a:cs typeface="Inter"/>
              </a:rPr>
              <a:t>Release</a:t>
            </a:r>
          </a:p>
        </p:txBody>
      </p:sp>
      <p:sp>
        <p:nvSpPr>
          <p:cNvPr id="12" name="Rounded Rectangle 11"/>
          <p:cNvSpPr/>
          <p:nvPr/>
        </p:nvSpPr>
        <p:spPr>
          <a:xfrm>
            <a:off x="7406640" y="1956815"/>
            <a:ext cx="1097280" cy="384048"/>
          </a:xfrm>
          <a:prstGeom prst="roundRect">
            <a:avLst>
              <a:gd name="adj" fmla="val 19047"/>
            </a:avLst>
          </a:prstGeom>
          <a:solidFill>
            <a:srgbClr val="FFFFFF"/>
          </a:solidFill>
          <a:ln w="25400">
            <a:solidFill>
              <a:srgbClr val="CC850A"/>
            </a:solidFill>
          </a:ln>
        </p:spPr>
        <p:txBody>
          <a:bodyPr rtlCol="0" anchor="ctr" wrap="square" lIns="54864" rIns="54864" tIns="54864" bIns="54864"/>
          <a:lstStyle/>
          <a:p>
            <a:pPr algn="ctr" marL="0" indent="0">
              <a:spcAft>
                <a:spcPts val="200"/>
              </a:spcAft>
              <a:buNone/>
            </a:pPr>
            <a:r>
              <a:rPr sz="1200" b="1" i="0" lang="es-CL">
                <a:solidFill>
                  <a:srgbClr val="CC850A"/>
                </a:solidFill>
                <a:latin typeface="Inter"/>
                <a:ea typeface="Inter"/>
                <a:cs typeface="Inter"/>
              </a:rPr>
              <a:t>Deploy</a:t>
            </a:r>
          </a:p>
        </p:txBody>
      </p:sp>
      <p:sp>
        <p:nvSpPr>
          <p:cNvPr id="13" name="Rounded Rectangle 12"/>
          <p:cNvSpPr/>
          <p:nvPr/>
        </p:nvSpPr>
        <p:spPr>
          <a:xfrm>
            <a:off x="7406640" y="2779776"/>
            <a:ext cx="1097280" cy="384048"/>
          </a:xfrm>
          <a:prstGeom prst="roundRect">
            <a:avLst>
              <a:gd name="adj" fmla="val 19047"/>
            </a:avLst>
          </a:prstGeom>
          <a:solidFill>
            <a:srgbClr val="FFFFFF"/>
          </a:solidFill>
          <a:ln w="25400">
            <a:solidFill>
              <a:srgbClr val="CC850A"/>
            </a:solidFill>
          </a:ln>
        </p:spPr>
        <p:txBody>
          <a:bodyPr rtlCol="0" anchor="ctr" wrap="square" lIns="54864" rIns="54864" tIns="54864" bIns="54864"/>
          <a:lstStyle/>
          <a:p>
            <a:pPr algn="ctr" marL="0" indent="0">
              <a:spcAft>
                <a:spcPts val="200"/>
              </a:spcAft>
              <a:buNone/>
            </a:pPr>
            <a:r>
              <a:rPr sz="1200" b="1" i="0" lang="es-CL">
                <a:solidFill>
                  <a:srgbClr val="CC850A"/>
                </a:solidFill>
                <a:latin typeface="Inter"/>
                <a:ea typeface="Inter"/>
                <a:cs typeface="Inter"/>
              </a:rPr>
              <a:t>Operate</a:t>
            </a:r>
          </a:p>
        </p:txBody>
      </p:sp>
      <p:sp>
        <p:nvSpPr>
          <p:cNvPr id="14" name="Rounded Rectangle 13"/>
          <p:cNvSpPr/>
          <p:nvPr/>
        </p:nvSpPr>
        <p:spPr>
          <a:xfrm>
            <a:off x="5806440" y="3419856"/>
            <a:ext cx="1097280" cy="384048"/>
          </a:xfrm>
          <a:prstGeom prst="roundRect">
            <a:avLst>
              <a:gd name="adj" fmla="val 19047"/>
            </a:avLst>
          </a:prstGeom>
          <a:solidFill>
            <a:srgbClr val="FFFFFF"/>
          </a:solidFill>
          <a:ln w="25400">
            <a:solidFill>
              <a:srgbClr val="CC850A"/>
            </a:solidFill>
          </a:ln>
        </p:spPr>
        <p:txBody>
          <a:bodyPr rtlCol="0" anchor="ctr" wrap="square" lIns="54864" rIns="54864" tIns="54864" bIns="54864"/>
          <a:lstStyle/>
          <a:p>
            <a:pPr algn="ctr" marL="0" indent="0">
              <a:spcAft>
                <a:spcPts val="200"/>
              </a:spcAft>
              <a:buNone/>
            </a:pPr>
            <a:r>
              <a:rPr sz="1200" b="1" i="0" lang="es-CL">
                <a:solidFill>
                  <a:srgbClr val="CC850A"/>
                </a:solidFill>
                <a:latin typeface="Inter"/>
                <a:ea typeface="Inter"/>
                <a:cs typeface="Inter"/>
              </a:rPr>
              <a:t>Monitor</a:t>
            </a:r>
          </a:p>
        </p:txBody>
      </p:sp>
      <p:sp>
        <p:nvSpPr>
          <p:cNvPr id="15" name="TextBox 14"/>
          <p:cNvSpPr txBox="1"/>
          <p:nvPr/>
        </p:nvSpPr>
        <p:spPr>
          <a:xfrm>
            <a:off x="2057400" y="2377439"/>
            <a:ext cx="1463040" cy="365760"/>
          </a:xfrm>
          <a:prstGeom prst="rect">
            <a:avLst/>
          </a:prstGeom>
          <a:noFill/>
        </p:spPr>
        <p:txBody>
          <a:bodyPr wrap="square" lIns="36576" rIns="36576" tIns="36576" bIns="36576" anchor="ctr"/>
          <a:lstStyle/>
          <a:p>
            <a:pPr algn="ctr" marL="0" indent="0">
              <a:spcAft>
                <a:spcPts val="400"/>
              </a:spcAft>
              <a:buNone/>
            </a:pPr>
            <a:r>
              <a:rPr sz="1600" b="1" i="0" lang="es-CL">
                <a:solidFill>
                  <a:srgbClr val="003D4F"/>
                </a:solidFill>
                <a:latin typeface="Inter"/>
                <a:ea typeface="Inter"/>
                <a:cs typeface="Inter"/>
              </a:rPr>
              <a:t>Dev</a:t>
            </a:r>
          </a:p>
        </p:txBody>
      </p:sp>
      <p:sp>
        <p:nvSpPr>
          <p:cNvPr id="16" name="TextBox 15"/>
          <p:cNvSpPr txBox="1"/>
          <p:nvPr/>
        </p:nvSpPr>
        <p:spPr>
          <a:xfrm>
            <a:off x="5623560" y="2377439"/>
            <a:ext cx="1463040" cy="365760"/>
          </a:xfrm>
          <a:prstGeom prst="rect">
            <a:avLst/>
          </a:prstGeom>
          <a:noFill/>
        </p:spPr>
        <p:txBody>
          <a:bodyPr wrap="square" lIns="36576" rIns="36576" tIns="36576" bIns="36576" anchor="ctr"/>
          <a:lstStyle/>
          <a:p>
            <a:pPr algn="ctr" marL="0" indent="0">
              <a:spcAft>
                <a:spcPts val="400"/>
              </a:spcAft>
              <a:buNone/>
            </a:pPr>
            <a:r>
              <a:rPr sz="1600" b="1" i="0" lang="es-CL">
                <a:solidFill>
                  <a:srgbClr val="CC850A"/>
                </a:solidFill>
                <a:latin typeface="Inter"/>
                <a:ea typeface="Inter"/>
                <a:cs typeface="Inter"/>
              </a:rPr>
              <a:t>Ops</a:t>
            </a:r>
          </a:p>
        </p:txBody>
      </p:sp>
      <p:sp>
        <p:nvSpPr>
          <p:cNvPr id="17" name="TextBox 16"/>
          <p:cNvSpPr txBox="1"/>
          <p:nvPr/>
        </p:nvSpPr>
        <p:spPr>
          <a:xfrm>
            <a:off x="411480" y="4005072"/>
            <a:ext cx="8321040" cy="548640"/>
          </a:xfrm>
          <a:prstGeom prst="rect">
            <a:avLst/>
          </a:prstGeom>
          <a:noFill/>
        </p:spPr>
        <p:txBody>
          <a:bodyPr wrap="square" lIns="36576" rIns="36576" tIns="36576" bIns="36576" anchor="t"/>
          <a:lstStyle/>
          <a:p>
            <a:pPr algn="ctr" marL="0" indent="0">
              <a:spcAft>
                <a:spcPts val="400"/>
              </a:spcAft>
              <a:buNone/>
            </a:pPr>
            <a:r>
              <a:rPr sz="1300" b="0" i="0" lang="es-CL">
                <a:solidFill>
                  <a:srgbClr val="57606A"/>
                </a:solidFill>
                <a:latin typeface="Inter"/>
                <a:ea typeface="Inter"/>
                <a:cs typeface="Inter"/>
              </a:rPr>
              <a:t>Cada etapa tiene un control de seguridad automático. La seguridad deja de ser una revisión al final y pasa a ser parte del flujo.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Qué control de seguridad va en cada etapa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987552"/>
          <a:ext cx="8321040" cy="3456432"/>
        </p:xfrm>
        <a:graphic>
          <a:graphicData uri="http://schemas.openxmlformats.org/drawingml/2006/table">
            <a:tbl>
              <a:tblPr firstRow="0" bandRow="0">
                <a:tableStyleId>{5C22544A-7EE6-4342-B048-85BDC9FD1C3A}</a:tableStyleId>
              </a:tblPr>
              <a:tblGrid>
                <a:gridCol w="960120"/>
                <a:gridCol w="3886200"/>
                <a:gridCol w="3474720"/>
              </a:tblGrid>
              <a:tr h="384048">
                <a:tc>
                  <a:txBody>
                    <a:bodyPr wrap="square"/>
                    <a:lstStyle/>
                    <a:p>
                      <a:pPr algn="l" marL="0" indent="0">
                        <a:spcAft>
                          <a:spcPts val="0"/>
                        </a:spcAft>
                        <a:buNone/>
                      </a:pPr>
                      <a:r>
                        <a:rPr sz="1200" b="1" i="0" lang="es-CL">
                          <a:solidFill>
                            <a:srgbClr val="FFFFFF"/>
                          </a:solidFill>
                          <a:latin typeface="Inter"/>
                          <a:ea typeface="Inter"/>
                          <a:cs typeface="Inter"/>
                        </a:rPr>
                        <a:t>Etapa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Control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En este repo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Plan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Modelado de amenazas (STRIDE, p. 213)</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Specs con reglas y códigos de error</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Code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Secretos antes del commit (Talisman, p. 238)</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Hook pre-commit con gitleaks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Build</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SAST y análisis de dependencias (SCA)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Semgrep, CodeQL, npm audit, Trivy fs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Test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DAST y fuzzing contra la app corriendo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OWASP ZAP, Schemathesis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Release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Escaneo de imagen y SBOM</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Trivy image, SBOM CycloneDX</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Deploy</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Dockerfile y workflows como código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hadolint, actionlint, zizmor</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Operate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Mínimo privilegio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USER node, permissions: {} por job</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84048">
                <a:tc>
                  <a:txBody>
                    <a:bodyPr wrap="square"/>
                    <a:lstStyle/>
                    <a:p>
                      <a:pPr algn="l" marL="0" indent="0">
                        <a:spcAft>
                          <a:spcPts val="0"/>
                        </a:spcAft>
                        <a:buNone/>
                      </a:pPr>
                      <a:r>
                        <a:rPr sz="1200" b="1" i="0" lang="es-CL">
                          <a:solidFill>
                            <a:srgbClr val="1F2328"/>
                          </a:solidFill>
                          <a:latin typeface="Inter"/>
                          <a:ea typeface="Inter"/>
                          <a:cs typeface="Inter"/>
                        </a:rPr>
                        <a:t>Monitor</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CVE nuevas en lo ya integrado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Dependabot semanal (no hay CD)</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Shift left: mover las pruebas al inicio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cxnSp>
        <p:nvCxnSpPr>
          <p:cNvPr id="4" name="Connector 3"/>
          <p:cNvCxnSpPr/>
          <p:nvPr/>
        </p:nvCxnSpPr>
        <p:spPr>
          <a:xfrm>
            <a:off x="731520" y="3977639"/>
            <a:ext cx="4389120" cy="0"/>
          </a:xfrm>
          <a:prstGeom prst="line">
            <a:avLst/>
          </a:prstGeom>
          <a:ln w="19050">
            <a:solidFill>
              <a:srgbClr val="1F2328"/>
            </a:solidFill>
            <a:tailEnd type="triangle" w="med" len="med"/>
          </a:ln>
        </p:spPr>
      </p:cxnSp>
      <p:cxnSp>
        <p:nvCxnSpPr>
          <p:cNvPr id="5" name="Connector 4"/>
          <p:cNvCxnSpPr/>
          <p:nvPr/>
        </p:nvCxnSpPr>
        <p:spPr>
          <a:xfrm flipV="1">
            <a:off x="731520" y="1143000"/>
            <a:ext cx="0" cy="2834639"/>
          </a:xfrm>
          <a:prstGeom prst="line">
            <a:avLst/>
          </a:prstGeom>
          <a:ln w="19050">
            <a:solidFill>
              <a:srgbClr val="1F2328"/>
            </a:solidFill>
            <a:tailEnd type="triangle" w="med" len="med"/>
          </a:ln>
        </p:spPr>
      </p:cxnSp>
      <p:sp>
        <p:nvSpPr>
          <p:cNvPr id="6" name="TextBox 5"/>
          <p:cNvSpPr txBox="1"/>
          <p:nvPr/>
        </p:nvSpPr>
        <p:spPr>
          <a:xfrm>
            <a:off x="685800" y="4041648"/>
            <a:ext cx="10972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Requisitos</a:t>
            </a:r>
          </a:p>
        </p:txBody>
      </p:sp>
      <p:sp>
        <p:nvSpPr>
          <p:cNvPr id="7" name="TextBox 6"/>
          <p:cNvSpPr txBox="1"/>
          <p:nvPr/>
        </p:nvSpPr>
        <p:spPr>
          <a:xfrm>
            <a:off x="1554480" y="4041648"/>
            <a:ext cx="10972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Diseño</a:t>
            </a:r>
          </a:p>
        </p:txBody>
      </p:sp>
      <p:sp>
        <p:nvSpPr>
          <p:cNvPr id="8" name="TextBox 7"/>
          <p:cNvSpPr txBox="1"/>
          <p:nvPr/>
        </p:nvSpPr>
        <p:spPr>
          <a:xfrm>
            <a:off x="2423160" y="4041648"/>
            <a:ext cx="10972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Código</a:t>
            </a:r>
          </a:p>
        </p:txBody>
      </p:sp>
      <p:sp>
        <p:nvSpPr>
          <p:cNvPr id="9" name="TextBox 8"/>
          <p:cNvSpPr txBox="1"/>
          <p:nvPr/>
        </p:nvSpPr>
        <p:spPr>
          <a:xfrm>
            <a:off x="3291839" y="4041648"/>
            <a:ext cx="10972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Test</a:t>
            </a:r>
          </a:p>
        </p:txBody>
      </p:sp>
      <p:sp>
        <p:nvSpPr>
          <p:cNvPr id="10" name="TextBox 9"/>
          <p:cNvSpPr txBox="1"/>
          <p:nvPr/>
        </p:nvSpPr>
        <p:spPr>
          <a:xfrm>
            <a:off x="4160520" y="4041648"/>
            <a:ext cx="1097280" cy="27432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Producción</a:t>
            </a:r>
          </a:p>
        </p:txBody>
      </p:sp>
      <p:sp>
        <p:nvSpPr>
          <p:cNvPr id="11" name="TextBox 10"/>
          <p:cNvSpPr txBox="1"/>
          <p:nvPr/>
        </p:nvSpPr>
        <p:spPr>
          <a:xfrm>
            <a:off x="182880" y="1097280"/>
            <a:ext cx="548640" cy="27432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Costo</a:t>
            </a:r>
          </a:p>
        </p:txBody>
      </p:sp>
      <p:sp>
        <p:nvSpPr>
          <p:cNvPr id="12" name="Rectangle 11"/>
          <p:cNvSpPr/>
          <p:nvPr/>
        </p:nvSpPr>
        <p:spPr>
          <a:xfrm>
            <a:off x="960120" y="3730752"/>
            <a:ext cx="548640" cy="228600"/>
          </a:xfrm>
          <a:prstGeom prst="rect">
            <a:avLst/>
          </a:prstGeom>
          <a:solidFill>
            <a:srgbClr val="38761D"/>
          </a:solidFill>
          <a:ln>
            <a:noFill/>
          </a:ln>
        </p:spPr>
        <p:txBody>
          <a:bodyPr rtlCol="0" anchor="ctr" wrap="square" lIns="54864" rIns="54864" tIns="54864" bIns="54864"/>
          <a:lstStyle/>
          <a:p>
            <a:pPr algn="ctr"/>
          </a:p>
        </p:txBody>
      </p:sp>
      <p:sp>
        <p:nvSpPr>
          <p:cNvPr id="13" name="Rectangle 12"/>
          <p:cNvSpPr/>
          <p:nvPr/>
        </p:nvSpPr>
        <p:spPr>
          <a:xfrm>
            <a:off x="1828800" y="3547872"/>
            <a:ext cx="548640" cy="411480"/>
          </a:xfrm>
          <a:prstGeom prst="rect">
            <a:avLst/>
          </a:prstGeom>
          <a:solidFill>
            <a:srgbClr val="38761D"/>
          </a:solidFill>
          <a:ln>
            <a:noFill/>
          </a:ln>
        </p:spPr>
        <p:txBody>
          <a:bodyPr rtlCol="0" anchor="ctr" wrap="square" lIns="54864" rIns="54864" tIns="54864" bIns="54864"/>
          <a:lstStyle/>
          <a:p>
            <a:pPr algn="ctr"/>
          </a:p>
        </p:txBody>
      </p:sp>
      <p:sp>
        <p:nvSpPr>
          <p:cNvPr id="14" name="Rectangle 13"/>
          <p:cNvSpPr/>
          <p:nvPr/>
        </p:nvSpPr>
        <p:spPr>
          <a:xfrm>
            <a:off x="2697480" y="3227832"/>
            <a:ext cx="548640" cy="731520"/>
          </a:xfrm>
          <a:prstGeom prst="rect">
            <a:avLst/>
          </a:prstGeom>
          <a:solidFill>
            <a:srgbClr val="38761D"/>
          </a:solidFill>
          <a:ln>
            <a:noFill/>
          </a:ln>
        </p:spPr>
        <p:txBody>
          <a:bodyPr rtlCol="0" anchor="ctr" wrap="square" lIns="54864" rIns="54864" tIns="54864" bIns="54864"/>
          <a:lstStyle/>
          <a:p>
            <a:pPr algn="ctr"/>
          </a:p>
        </p:txBody>
      </p:sp>
      <p:sp>
        <p:nvSpPr>
          <p:cNvPr id="15" name="Rectangle 14"/>
          <p:cNvSpPr/>
          <p:nvPr/>
        </p:nvSpPr>
        <p:spPr>
          <a:xfrm>
            <a:off x="3566159" y="2587752"/>
            <a:ext cx="548640" cy="1371600"/>
          </a:xfrm>
          <a:prstGeom prst="rect">
            <a:avLst/>
          </a:prstGeom>
          <a:solidFill>
            <a:srgbClr val="CC850A"/>
          </a:solidFill>
          <a:ln>
            <a:noFill/>
          </a:ln>
        </p:spPr>
        <p:txBody>
          <a:bodyPr rtlCol="0" anchor="ctr" wrap="square" lIns="54864" rIns="54864" tIns="54864" bIns="54864"/>
          <a:lstStyle/>
          <a:p>
            <a:pPr algn="ctr"/>
          </a:p>
        </p:txBody>
      </p:sp>
      <p:sp>
        <p:nvSpPr>
          <p:cNvPr id="16" name="Rectangle 15"/>
          <p:cNvSpPr/>
          <p:nvPr/>
        </p:nvSpPr>
        <p:spPr>
          <a:xfrm>
            <a:off x="4434840" y="1444752"/>
            <a:ext cx="548640" cy="2514600"/>
          </a:xfrm>
          <a:prstGeom prst="rect">
            <a:avLst/>
          </a:prstGeom>
          <a:solidFill>
            <a:srgbClr val="980000"/>
          </a:solidFill>
          <a:ln>
            <a:noFill/>
          </a:ln>
        </p:spPr>
        <p:txBody>
          <a:bodyPr rtlCol="0" anchor="ctr" wrap="square" lIns="54864" rIns="54864" tIns="54864" bIns="54864"/>
          <a:lstStyle/>
          <a:p>
            <a:pPr algn="ctr"/>
          </a:p>
        </p:txBody>
      </p:sp>
      <p:cxnSp>
        <p:nvCxnSpPr>
          <p:cNvPr id="17" name="Connector 16"/>
          <p:cNvCxnSpPr/>
          <p:nvPr/>
        </p:nvCxnSpPr>
        <p:spPr>
          <a:xfrm flipH="1">
            <a:off x="1828800" y="1417320"/>
            <a:ext cx="2651760" cy="0"/>
          </a:xfrm>
          <a:prstGeom prst="line">
            <a:avLst/>
          </a:prstGeom>
          <a:ln w="38100">
            <a:solidFill>
              <a:srgbClr val="9900FF"/>
            </a:solidFill>
            <a:tailEnd type="triangle" w="med" len="med"/>
          </a:ln>
        </p:spPr>
      </p:cxnSp>
      <p:sp>
        <p:nvSpPr>
          <p:cNvPr id="18" name="TextBox 17"/>
          <p:cNvSpPr txBox="1"/>
          <p:nvPr/>
        </p:nvSpPr>
        <p:spPr>
          <a:xfrm>
            <a:off x="1828800" y="1051560"/>
            <a:ext cx="2651760" cy="292608"/>
          </a:xfrm>
          <a:prstGeom prst="rect">
            <a:avLst/>
          </a:prstGeom>
          <a:noFill/>
        </p:spPr>
        <p:txBody>
          <a:bodyPr wrap="square" lIns="36576" rIns="36576" tIns="36576" bIns="36576" anchor="t"/>
          <a:lstStyle/>
          <a:p>
            <a:pPr algn="ctr" marL="0" indent="0">
              <a:spcAft>
                <a:spcPts val="400"/>
              </a:spcAft>
              <a:buNone/>
            </a:pPr>
            <a:r>
              <a:rPr sz="1400" b="1" i="0" lang="es-CL">
                <a:solidFill>
                  <a:srgbClr val="9900FF"/>
                </a:solidFill>
                <a:latin typeface="Inter"/>
                <a:ea typeface="Inter"/>
                <a:cs typeface="Inter"/>
              </a:rPr>
              <a:t>shift left</a:t>
            </a:r>
          </a:p>
        </p:txBody>
      </p:sp>
      <p:sp>
        <p:nvSpPr>
          <p:cNvPr id="19" name="Rounded Rectangle 18"/>
          <p:cNvSpPr/>
          <p:nvPr/>
        </p:nvSpPr>
        <p:spPr>
          <a:xfrm>
            <a:off x="5486400" y="1005840"/>
            <a:ext cx="3246120" cy="3429000"/>
          </a:xfrm>
          <a:prstGeom prst="roundRect">
            <a:avLst>
              <a:gd name="adj" fmla="val 2816"/>
            </a:avLst>
          </a:prstGeom>
          <a:solidFill>
            <a:srgbClr val="EDF1F3"/>
          </a:solidFill>
          <a:ln>
            <a:noFill/>
          </a:ln>
        </p:spPr>
        <p:txBody>
          <a:bodyPr rtlCol="0" anchor="ctr" wrap="square" lIns="54864" rIns="54864" tIns="54864" bIns="54864"/>
          <a:lstStyle/>
          <a:p>
            <a:pPr algn="ctr"/>
          </a:p>
        </p:txBody>
      </p:sp>
      <p:sp>
        <p:nvSpPr>
          <p:cNvPr id="20" name="TextBox 19"/>
          <p:cNvSpPr txBox="1"/>
          <p:nvPr/>
        </p:nvSpPr>
        <p:spPr>
          <a:xfrm>
            <a:off x="5623560" y="1097280"/>
            <a:ext cx="297180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En el día a día</a:t>
            </a:r>
          </a:p>
        </p:txBody>
      </p:sp>
      <p:sp>
        <p:nvSpPr>
          <p:cNvPr id="21" name="TextBox 20"/>
          <p:cNvSpPr txBox="1"/>
          <p:nvPr/>
        </p:nvSpPr>
        <p:spPr>
          <a:xfrm>
            <a:off x="5623560" y="1444752"/>
            <a:ext cx="2971800" cy="2926080"/>
          </a:xfrm>
          <a:prstGeom prst="rect">
            <a:avLst/>
          </a:prstGeom>
          <a:noFill/>
        </p:spPr>
        <p:txBody>
          <a:bodyPr wrap="square" lIns="36576" rIns="36576" tIns="36576" bIns="36576" anchor="t"/>
          <a:lstStyle/>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Kickoff de la historia con los tres amigos: negocio, desarrollo y testing.</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La IA como </a:t>
            </a:r>
            <a:r>
              <a:rPr sz="1200" b="1" i="0" lang="es-CL">
                <a:solidFill>
                  <a:srgbClr val="1F2328"/>
                </a:solidFill>
                <a:latin typeface="Inter"/>
                <a:ea typeface="Inter"/>
                <a:cs typeface="Inter"/>
              </a:rPr>
              <a:t>cuarto amigo</a:t>
            </a:r>
            <a:r>
              <a:rPr sz="1200" b="0" i="0" lang="es-CL">
                <a:solidFill>
                  <a:srgbClr val="1F2328"/>
                </a:solidFill>
                <a:latin typeface="Inter"/>
                <a:ea typeface="Inter"/>
                <a:cs typeface="Inter"/>
              </a:rPr>
              <a:t>: propone casos y amenazas para discutir.</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Tests automáticos en el PR, no en una fase de QA al final.</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La seguridad también se mueve a la izquierda.</a:t>
            </a:r>
          </a:p>
        </p:txBody>
      </p:sp>
      <p:sp>
        <p:nvSpPr>
          <p:cNvPr id="22" name="caption"/>
          <p:cNvSpPr txBox="1"/>
          <p:nvPr/>
        </p:nvSpPr>
        <p:spPr>
          <a:xfrm>
            <a:off x="411480" y="4389120"/>
            <a:ext cx="493776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p. 4 a 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Git Flow: ramas de larga vida y releases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51560"/>
            <a:ext cx="1097280" cy="310896"/>
          </a:xfrm>
          <a:prstGeom prst="roundRect">
            <a:avLst>
              <a:gd name="adj" fmla="val 17647"/>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main</a:t>
            </a:r>
          </a:p>
        </p:txBody>
      </p:sp>
      <p:cxnSp>
        <p:nvCxnSpPr>
          <p:cNvPr id="5" name="Connector 4"/>
          <p:cNvCxnSpPr/>
          <p:nvPr/>
        </p:nvCxnSpPr>
        <p:spPr>
          <a:xfrm>
            <a:off x="1645920" y="1207008"/>
            <a:ext cx="7040880" cy="0"/>
          </a:xfrm>
          <a:prstGeom prst="line">
            <a:avLst/>
          </a:prstGeom>
          <a:ln w="38100">
            <a:solidFill>
              <a:srgbClr val="003D4F"/>
            </a:solidFill>
          </a:ln>
        </p:spPr>
      </p:cxnSp>
      <p:sp>
        <p:nvSpPr>
          <p:cNvPr id="6" name="Rounded Rectangle 5"/>
          <p:cNvSpPr/>
          <p:nvPr/>
        </p:nvSpPr>
        <p:spPr>
          <a:xfrm>
            <a:off x="411480" y="1463040"/>
            <a:ext cx="1097280" cy="310896"/>
          </a:xfrm>
          <a:prstGeom prst="roundRect">
            <a:avLst>
              <a:gd name="adj" fmla="val 17647"/>
            </a:avLst>
          </a:prstGeom>
          <a:solidFill>
            <a:srgbClr val="980000"/>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hotfix</a:t>
            </a:r>
          </a:p>
        </p:txBody>
      </p:sp>
      <p:cxnSp>
        <p:nvCxnSpPr>
          <p:cNvPr id="7" name="Connector 6"/>
          <p:cNvCxnSpPr/>
          <p:nvPr/>
        </p:nvCxnSpPr>
        <p:spPr>
          <a:xfrm>
            <a:off x="1645920" y="1618488"/>
            <a:ext cx="7040880" cy="0"/>
          </a:xfrm>
          <a:prstGeom prst="line">
            <a:avLst/>
          </a:prstGeom>
          <a:ln w="12700">
            <a:solidFill>
              <a:srgbClr val="D8DEE4"/>
            </a:solidFill>
          </a:ln>
        </p:spPr>
      </p:cxnSp>
      <p:sp>
        <p:nvSpPr>
          <p:cNvPr id="8" name="Rounded Rectangle 7"/>
          <p:cNvSpPr/>
          <p:nvPr/>
        </p:nvSpPr>
        <p:spPr>
          <a:xfrm>
            <a:off x="411480" y="1874520"/>
            <a:ext cx="1097280" cy="310896"/>
          </a:xfrm>
          <a:prstGeom prst="roundRect">
            <a:avLst>
              <a:gd name="adj" fmla="val 17647"/>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release</a:t>
            </a:r>
          </a:p>
        </p:txBody>
      </p:sp>
      <p:cxnSp>
        <p:nvCxnSpPr>
          <p:cNvPr id="9" name="Connector 8"/>
          <p:cNvCxnSpPr/>
          <p:nvPr/>
        </p:nvCxnSpPr>
        <p:spPr>
          <a:xfrm>
            <a:off x="1645920" y="2029968"/>
            <a:ext cx="7040880" cy="0"/>
          </a:xfrm>
          <a:prstGeom prst="line">
            <a:avLst/>
          </a:prstGeom>
          <a:ln w="12700">
            <a:solidFill>
              <a:srgbClr val="D8DEE4"/>
            </a:solidFill>
          </a:ln>
        </p:spPr>
      </p:cxnSp>
      <p:sp>
        <p:nvSpPr>
          <p:cNvPr id="10" name="Rounded Rectangle 9"/>
          <p:cNvSpPr/>
          <p:nvPr/>
        </p:nvSpPr>
        <p:spPr>
          <a:xfrm>
            <a:off x="411480" y="2286000"/>
            <a:ext cx="1097280" cy="310896"/>
          </a:xfrm>
          <a:prstGeom prst="roundRect">
            <a:avLst>
              <a:gd name="adj" fmla="val 17647"/>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develop</a:t>
            </a:r>
          </a:p>
        </p:txBody>
      </p:sp>
      <p:cxnSp>
        <p:nvCxnSpPr>
          <p:cNvPr id="11" name="Connector 10"/>
          <p:cNvCxnSpPr/>
          <p:nvPr/>
        </p:nvCxnSpPr>
        <p:spPr>
          <a:xfrm>
            <a:off x="1645920" y="2441448"/>
            <a:ext cx="7040880" cy="0"/>
          </a:xfrm>
          <a:prstGeom prst="line">
            <a:avLst/>
          </a:prstGeom>
          <a:ln w="38100">
            <a:solidFill>
              <a:srgbClr val="634F7D"/>
            </a:solidFill>
          </a:ln>
        </p:spPr>
      </p:cxnSp>
      <p:sp>
        <p:nvSpPr>
          <p:cNvPr id="12" name="Rounded Rectangle 11"/>
          <p:cNvSpPr/>
          <p:nvPr/>
        </p:nvSpPr>
        <p:spPr>
          <a:xfrm>
            <a:off x="411480" y="2697480"/>
            <a:ext cx="1097280" cy="310896"/>
          </a:xfrm>
          <a:prstGeom prst="roundRect">
            <a:avLst>
              <a:gd name="adj" fmla="val 17647"/>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feature</a:t>
            </a:r>
          </a:p>
        </p:txBody>
      </p:sp>
      <p:cxnSp>
        <p:nvCxnSpPr>
          <p:cNvPr id="13" name="Connector 12"/>
          <p:cNvCxnSpPr/>
          <p:nvPr/>
        </p:nvCxnSpPr>
        <p:spPr>
          <a:xfrm>
            <a:off x="1645920" y="2852928"/>
            <a:ext cx="7040880" cy="0"/>
          </a:xfrm>
          <a:prstGeom prst="line">
            <a:avLst/>
          </a:prstGeom>
          <a:ln w="12700">
            <a:solidFill>
              <a:srgbClr val="D8DEE4"/>
            </a:solidFill>
          </a:ln>
        </p:spPr>
      </p:cxnSp>
      <p:sp>
        <p:nvSpPr>
          <p:cNvPr id="14" name="Oval 13"/>
          <p:cNvSpPr/>
          <p:nvPr/>
        </p:nvSpPr>
        <p:spPr>
          <a:xfrm>
            <a:off x="1984248" y="2368296"/>
            <a:ext cx="146304" cy="146304"/>
          </a:xfrm>
          <a:prstGeom prst="ellipse">
            <a:avLst/>
          </a:prstGeom>
          <a:solidFill>
            <a:srgbClr val="634F7D"/>
          </a:solidFill>
          <a:ln w="15875">
            <a:solidFill>
              <a:srgbClr val="FFFFFF"/>
            </a:solidFill>
          </a:ln>
        </p:spPr>
        <p:txBody>
          <a:bodyPr rtlCol="0" anchor="ctr" wrap="square" lIns="54864" rIns="54864" tIns="54864" bIns="54864"/>
          <a:lstStyle/>
          <a:p>
            <a:pPr algn="ctr"/>
          </a:p>
        </p:txBody>
      </p:sp>
      <p:cxnSp>
        <p:nvCxnSpPr>
          <p:cNvPr id="15" name="Connector 14"/>
          <p:cNvCxnSpPr/>
          <p:nvPr/>
        </p:nvCxnSpPr>
        <p:spPr>
          <a:xfrm>
            <a:off x="2057400" y="2523744"/>
            <a:ext cx="0" cy="329184"/>
          </a:xfrm>
          <a:prstGeom prst="line">
            <a:avLst/>
          </a:prstGeom>
          <a:ln w="22225">
            <a:solidFill>
              <a:srgbClr val="38761D"/>
            </a:solidFill>
          </a:ln>
        </p:spPr>
      </p:cxnSp>
      <p:cxnSp>
        <p:nvCxnSpPr>
          <p:cNvPr id="16" name="Connector 15"/>
          <p:cNvCxnSpPr/>
          <p:nvPr/>
        </p:nvCxnSpPr>
        <p:spPr>
          <a:xfrm>
            <a:off x="2057400" y="2852928"/>
            <a:ext cx="1280160" cy="0"/>
          </a:xfrm>
          <a:prstGeom prst="line">
            <a:avLst/>
          </a:prstGeom>
          <a:ln w="44450">
            <a:solidFill>
              <a:srgbClr val="38761D"/>
            </a:solidFill>
          </a:ln>
        </p:spPr>
      </p:cxnSp>
      <p:sp>
        <p:nvSpPr>
          <p:cNvPr id="17" name="Oval 16"/>
          <p:cNvSpPr/>
          <p:nvPr/>
        </p:nvSpPr>
        <p:spPr>
          <a:xfrm>
            <a:off x="2377440" y="2761488"/>
            <a:ext cx="182880" cy="182880"/>
          </a:xfrm>
          <a:prstGeom prst="ellipse">
            <a:avLst/>
          </a:prstGeom>
          <a:solidFill>
            <a:srgbClr val="38761D"/>
          </a:solidFill>
          <a:ln w="15875">
            <a:solidFill>
              <a:srgbClr val="FFFFFF"/>
            </a:solidFill>
          </a:ln>
        </p:spPr>
        <p:txBody>
          <a:bodyPr rtlCol="0" anchor="ctr" wrap="square" lIns="54864" rIns="54864" tIns="54864" bIns="54864"/>
          <a:lstStyle/>
          <a:p>
            <a:pPr algn="ctr"/>
          </a:p>
        </p:txBody>
      </p:sp>
      <p:sp>
        <p:nvSpPr>
          <p:cNvPr id="18" name="Oval 17"/>
          <p:cNvSpPr/>
          <p:nvPr/>
        </p:nvSpPr>
        <p:spPr>
          <a:xfrm>
            <a:off x="2834640" y="2761488"/>
            <a:ext cx="182880" cy="182880"/>
          </a:xfrm>
          <a:prstGeom prst="ellipse">
            <a:avLst/>
          </a:prstGeom>
          <a:solidFill>
            <a:srgbClr val="38761D"/>
          </a:solidFill>
          <a:ln w="15875">
            <a:solidFill>
              <a:srgbClr val="FFFFFF"/>
            </a:solidFill>
          </a:ln>
        </p:spPr>
        <p:txBody>
          <a:bodyPr rtlCol="0" anchor="ctr" wrap="square" lIns="54864" rIns="54864" tIns="54864" bIns="54864"/>
          <a:lstStyle/>
          <a:p>
            <a:pPr algn="ctr"/>
          </a:p>
        </p:txBody>
      </p:sp>
      <p:cxnSp>
        <p:nvCxnSpPr>
          <p:cNvPr id="19" name="Connector 18"/>
          <p:cNvCxnSpPr/>
          <p:nvPr/>
        </p:nvCxnSpPr>
        <p:spPr>
          <a:xfrm flipV="1">
            <a:off x="3337560" y="2551176"/>
            <a:ext cx="0" cy="301752"/>
          </a:xfrm>
          <a:prstGeom prst="line">
            <a:avLst/>
          </a:prstGeom>
          <a:ln w="22225">
            <a:solidFill>
              <a:srgbClr val="38761D"/>
            </a:solidFill>
            <a:tailEnd type="triangle" w="med" len="med"/>
          </a:ln>
        </p:spPr>
      </p:cxnSp>
      <p:sp>
        <p:nvSpPr>
          <p:cNvPr id="20" name="Oval 19"/>
          <p:cNvSpPr/>
          <p:nvPr/>
        </p:nvSpPr>
        <p:spPr>
          <a:xfrm>
            <a:off x="3246120" y="2350008"/>
            <a:ext cx="182880" cy="182880"/>
          </a:xfrm>
          <a:prstGeom prst="ellipse">
            <a:avLst/>
          </a:prstGeom>
          <a:solidFill>
            <a:srgbClr val="634F7D"/>
          </a:solidFill>
          <a:ln w="15875">
            <a:solidFill>
              <a:srgbClr val="FFFFFF"/>
            </a:solidFill>
          </a:ln>
        </p:spPr>
        <p:txBody>
          <a:bodyPr rtlCol="0" anchor="ctr" wrap="square" lIns="54864" rIns="54864" tIns="54864" bIns="54864"/>
          <a:lstStyle/>
          <a:p>
            <a:pPr algn="ctr"/>
          </a:p>
        </p:txBody>
      </p:sp>
      <p:sp>
        <p:nvSpPr>
          <p:cNvPr id="21" name="Oval 20"/>
          <p:cNvSpPr/>
          <p:nvPr/>
        </p:nvSpPr>
        <p:spPr>
          <a:xfrm>
            <a:off x="3721608" y="1133856"/>
            <a:ext cx="146304" cy="146304"/>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22" name="Connector 21"/>
          <p:cNvCxnSpPr/>
          <p:nvPr/>
        </p:nvCxnSpPr>
        <p:spPr>
          <a:xfrm>
            <a:off x="3794760" y="1289304"/>
            <a:ext cx="0" cy="329184"/>
          </a:xfrm>
          <a:prstGeom prst="line">
            <a:avLst/>
          </a:prstGeom>
          <a:ln w="22225">
            <a:solidFill>
              <a:srgbClr val="980000"/>
            </a:solidFill>
          </a:ln>
        </p:spPr>
      </p:cxnSp>
      <p:cxnSp>
        <p:nvCxnSpPr>
          <p:cNvPr id="23" name="Connector 22"/>
          <p:cNvCxnSpPr/>
          <p:nvPr/>
        </p:nvCxnSpPr>
        <p:spPr>
          <a:xfrm>
            <a:off x="3794760" y="1618488"/>
            <a:ext cx="960120" cy="0"/>
          </a:xfrm>
          <a:prstGeom prst="line">
            <a:avLst/>
          </a:prstGeom>
          <a:ln w="44450">
            <a:solidFill>
              <a:srgbClr val="980000"/>
            </a:solidFill>
          </a:ln>
        </p:spPr>
      </p:cxnSp>
      <p:sp>
        <p:nvSpPr>
          <p:cNvPr id="24" name="Oval 23"/>
          <p:cNvSpPr/>
          <p:nvPr/>
        </p:nvSpPr>
        <p:spPr>
          <a:xfrm>
            <a:off x="4069080" y="1527048"/>
            <a:ext cx="182880" cy="182880"/>
          </a:xfrm>
          <a:prstGeom prst="ellipse">
            <a:avLst/>
          </a:prstGeom>
          <a:solidFill>
            <a:srgbClr val="980000"/>
          </a:solidFill>
          <a:ln w="15875">
            <a:solidFill>
              <a:srgbClr val="FFFFFF"/>
            </a:solidFill>
          </a:ln>
        </p:spPr>
        <p:txBody>
          <a:bodyPr rtlCol="0" anchor="ctr" wrap="square" lIns="54864" rIns="54864" tIns="54864" bIns="54864"/>
          <a:lstStyle/>
          <a:p>
            <a:pPr algn="ctr"/>
          </a:p>
        </p:txBody>
      </p:sp>
      <p:cxnSp>
        <p:nvCxnSpPr>
          <p:cNvPr id="25" name="Connector 24"/>
          <p:cNvCxnSpPr/>
          <p:nvPr/>
        </p:nvCxnSpPr>
        <p:spPr>
          <a:xfrm flipV="1">
            <a:off x="4526280" y="1316736"/>
            <a:ext cx="0" cy="301752"/>
          </a:xfrm>
          <a:prstGeom prst="line">
            <a:avLst/>
          </a:prstGeom>
          <a:ln w="22225">
            <a:solidFill>
              <a:srgbClr val="980000"/>
            </a:solidFill>
            <a:tailEnd type="triangle" w="med" len="med"/>
          </a:ln>
        </p:spPr>
      </p:cxnSp>
      <p:sp>
        <p:nvSpPr>
          <p:cNvPr id="26" name="Oval 25"/>
          <p:cNvSpPr/>
          <p:nvPr/>
        </p:nvSpPr>
        <p:spPr>
          <a:xfrm>
            <a:off x="4434840" y="1115568"/>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27" name="Connector 26"/>
          <p:cNvCxnSpPr/>
          <p:nvPr/>
        </p:nvCxnSpPr>
        <p:spPr>
          <a:xfrm>
            <a:off x="4754880" y="1618488"/>
            <a:ext cx="0" cy="713232"/>
          </a:xfrm>
          <a:prstGeom prst="line">
            <a:avLst/>
          </a:prstGeom>
          <a:ln w="22225">
            <a:solidFill>
              <a:srgbClr val="980000"/>
            </a:solidFill>
            <a:tailEnd type="triangle" w="med" len="med"/>
          </a:ln>
        </p:spPr>
      </p:cxnSp>
      <p:sp>
        <p:nvSpPr>
          <p:cNvPr id="28" name="Oval 27"/>
          <p:cNvSpPr/>
          <p:nvPr/>
        </p:nvSpPr>
        <p:spPr>
          <a:xfrm>
            <a:off x="4663440" y="2350008"/>
            <a:ext cx="182880" cy="182880"/>
          </a:xfrm>
          <a:prstGeom prst="ellipse">
            <a:avLst/>
          </a:prstGeom>
          <a:solidFill>
            <a:srgbClr val="634F7D"/>
          </a:solidFill>
          <a:ln w="15875">
            <a:solidFill>
              <a:srgbClr val="FFFFFF"/>
            </a:solidFill>
          </a:ln>
        </p:spPr>
        <p:txBody>
          <a:bodyPr rtlCol="0" anchor="ctr" wrap="square" lIns="54864" rIns="54864" tIns="54864" bIns="54864"/>
          <a:lstStyle/>
          <a:p>
            <a:pPr algn="ctr"/>
          </a:p>
        </p:txBody>
      </p:sp>
      <p:sp>
        <p:nvSpPr>
          <p:cNvPr id="29" name="Oval 28"/>
          <p:cNvSpPr/>
          <p:nvPr/>
        </p:nvSpPr>
        <p:spPr>
          <a:xfrm>
            <a:off x="5001768" y="2368296"/>
            <a:ext cx="146304" cy="146304"/>
          </a:xfrm>
          <a:prstGeom prst="ellipse">
            <a:avLst/>
          </a:prstGeom>
          <a:solidFill>
            <a:srgbClr val="634F7D"/>
          </a:solidFill>
          <a:ln w="15875">
            <a:solidFill>
              <a:srgbClr val="FFFFFF"/>
            </a:solidFill>
          </a:ln>
        </p:spPr>
        <p:txBody>
          <a:bodyPr rtlCol="0" anchor="ctr" wrap="square" lIns="54864" rIns="54864" tIns="54864" bIns="54864"/>
          <a:lstStyle/>
          <a:p>
            <a:pPr algn="ctr"/>
          </a:p>
        </p:txBody>
      </p:sp>
      <p:cxnSp>
        <p:nvCxnSpPr>
          <p:cNvPr id="30" name="Connector 29"/>
          <p:cNvCxnSpPr/>
          <p:nvPr/>
        </p:nvCxnSpPr>
        <p:spPr>
          <a:xfrm>
            <a:off x="5074920" y="2523744"/>
            <a:ext cx="0" cy="329184"/>
          </a:xfrm>
          <a:prstGeom prst="line">
            <a:avLst/>
          </a:prstGeom>
          <a:ln w="22225">
            <a:solidFill>
              <a:srgbClr val="38761D"/>
            </a:solidFill>
          </a:ln>
        </p:spPr>
      </p:cxnSp>
      <p:cxnSp>
        <p:nvCxnSpPr>
          <p:cNvPr id="31" name="Connector 30"/>
          <p:cNvCxnSpPr/>
          <p:nvPr/>
        </p:nvCxnSpPr>
        <p:spPr>
          <a:xfrm>
            <a:off x="5074920" y="2852928"/>
            <a:ext cx="1005840" cy="0"/>
          </a:xfrm>
          <a:prstGeom prst="line">
            <a:avLst/>
          </a:prstGeom>
          <a:ln w="44450">
            <a:solidFill>
              <a:srgbClr val="38761D"/>
            </a:solidFill>
          </a:ln>
        </p:spPr>
      </p:cxnSp>
      <p:sp>
        <p:nvSpPr>
          <p:cNvPr id="32" name="Oval 31"/>
          <p:cNvSpPr/>
          <p:nvPr/>
        </p:nvSpPr>
        <p:spPr>
          <a:xfrm>
            <a:off x="5349240" y="2761488"/>
            <a:ext cx="182880" cy="182880"/>
          </a:xfrm>
          <a:prstGeom prst="ellipse">
            <a:avLst/>
          </a:prstGeom>
          <a:solidFill>
            <a:srgbClr val="38761D"/>
          </a:solidFill>
          <a:ln w="15875">
            <a:solidFill>
              <a:srgbClr val="FFFFFF"/>
            </a:solidFill>
          </a:ln>
        </p:spPr>
        <p:txBody>
          <a:bodyPr rtlCol="0" anchor="ctr" wrap="square" lIns="54864" rIns="54864" tIns="54864" bIns="54864"/>
          <a:lstStyle/>
          <a:p>
            <a:pPr algn="ctr"/>
          </a:p>
        </p:txBody>
      </p:sp>
      <p:sp>
        <p:nvSpPr>
          <p:cNvPr id="33" name="Oval 32"/>
          <p:cNvSpPr/>
          <p:nvPr/>
        </p:nvSpPr>
        <p:spPr>
          <a:xfrm>
            <a:off x="5669280" y="2761488"/>
            <a:ext cx="182880" cy="182880"/>
          </a:xfrm>
          <a:prstGeom prst="ellipse">
            <a:avLst/>
          </a:prstGeom>
          <a:solidFill>
            <a:srgbClr val="38761D"/>
          </a:solidFill>
          <a:ln w="15875">
            <a:solidFill>
              <a:srgbClr val="FFFFFF"/>
            </a:solidFill>
          </a:ln>
        </p:spPr>
        <p:txBody>
          <a:bodyPr rtlCol="0" anchor="ctr" wrap="square" lIns="54864" rIns="54864" tIns="54864" bIns="54864"/>
          <a:lstStyle/>
          <a:p>
            <a:pPr algn="ctr"/>
          </a:p>
        </p:txBody>
      </p:sp>
      <p:cxnSp>
        <p:nvCxnSpPr>
          <p:cNvPr id="34" name="Connector 33"/>
          <p:cNvCxnSpPr/>
          <p:nvPr/>
        </p:nvCxnSpPr>
        <p:spPr>
          <a:xfrm flipV="1">
            <a:off x="6080760" y="2551176"/>
            <a:ext cx="0" cy="301752"/>
          </a:xfrm>
          <a:prstGeom prst="line">
            <a:avLst/>
          </a:prstGeom>
          <a:ln w="22225">
            <a:solidFill>
              <a:srgbClr val="38761D"/>
            </a:solidFill>
            <a:tailEnd type="triangle" w="med" len="med"/>
          </a:ln>
        </p:spPr>
      </p:cxnSp>
      <p:sp>
        <p:nvSpPr>
          <p:cNvPr id="35" name="Oval 34"/>
          <p:cNvSpPr/>
          <p:nvPr/>
        </p:nvSpPr>
        <p:spPr>
          <a:xfrm>
            <a:off x="5989320" y="2350008"/>
            <a:ext cx="182880" cy="182880"/>
          </a:xfrm>
          <a:prstGeom prst="ellipse">
            <a:avLst/>
          </a:prstGeom>
          <a:solidFill>
            <a:srgbClr val="634F7D"/>
          </a:solidFill>
          <a:ln w="15875">
            <a:solidFill>
              <a:srgbClr val="FFFFFF"/>
            </a:solidFill>
          </a:ln>
        </p:spPr>
        <p:txBody>
          <a:bodyPr rtlCol="0" anchor="ctr" wrap="square" lIns="54864" rIns="54864" tIns="54864" bIns="54864"/>
          <a:lstStyle/>
          <a:p>
            <a:pPr algn="ctr"/>
          </a:p>
        </p:txBody>
      </p:sp>
      <p:sp>
        <p:nvSpPr>
          <p:cNvPr id="36" name="Oval 35"/>
          <p:cNvSpPr/>
          <p:nvPr/>
        </p:nvSpPr>
        <p:spPr>
          <a:xfrm>
            <a:off x="6281928" y="2368296"/>
            <a:ext cx="146304" cy="146304"/>
          </a:xfrm>
          <a:prstGeom prst="ellipse">
            <a:avLst/>
          </a:prstGeom>
          <a:solidFill>
            <a:srgbClr val="634F7D"/>
          </a:solidFill>
          <a:ln w="15875">
            <a:solidFill>
              <a:srgbClr val="FFFFFF"/>
            </a:solidFill>
          </a:ln>
        </p:spPr>
        <p:txBody>
          <a:bodyPr rtlCol="0" anchor="ctr" wrap="square" lIns="54864" rIns="54864" tIns="54864" bIns="54864"/>
          <a:lstStyle/>
          <a:p>
            <a:pPr algn="ctr"/>
          </a:p>
        </p:txBody>
      </p:sp>
      <p:cxnSp>
        <p:nvCxnSpPr>
          <p:cNvPr id="37" name="Connector 36"/>
          <p:cNvCxnSpPr/>
          <p:nvPr/>
        </p:nvCxnSpPr>
        <p:spPr>
          <a:xfrm flipV="1">
            <a:off x="6355080" y="2029968"/>
            <a:ext cx="0" cy="329184"/>
          </a:xfrm>
          <a:prstGeom prst="line">
            <a:avLst/>
          </a:prstGeom>
          <a:ln w="22225">
            <a:solidFill>
              <a:srgbClr val="CC850A"/>
            </a:solidFill>
          </a:ln>
        </p:spPr>
      </p:cxnSp>
      <p:cxnSp>
        <p:nvCxnSpPr>
          <p:cNvPr id="38" name="Connector 37"/>
          <p:cNvCxnSpPr/>
          <p:nvPr/>
        </p:nvCxnSpPr>
        <p:spPr>
          <a:xfrm>
            <a:off x="6355080" y="2029968"/>
            <a:ext cx="1554480" cy="0"/>
          </a:xfrm>
          <a:prstGeom prst="line">
            <a:avLst/>
          </a:prstGeom>
          <a:ln w="44450">
            <a:solidFill>
              <a:srgbClr val="CC850A"/>
            </a:solidFill>
          </a:ln>
        </p:spPr>
      </p:cxnSp>
      <p:sp>
        <p:nvSpPr>
          <p:cNvPr id="39" name="Oval 38"/>
          <p:cNvSpPr/>
          <p:nvPr/>
        </p:nvSpPr>
        <p:spPr>
          <a:xfrm>
            <a:off x="6675120" y="1938528"/>
            <a:ext cx="182880" cy="182880"/>
          </a:xfrm>
          <a:prstGeom prst="ellipse">
            <a:avLst/>
          </a:prstGeom>
          <a:solidFill>
            <a:srgbClr val="CC850A"/>
          </a:solidFill>
          <a:ln w="15875">
            <a:solidFill>
              <a:srgbClr val="FFFFFF"/>
            </a:solidFill>
          </a:ln>
        </p:spPr>
        <p:txBody>
          <a:bodyPr rtlCol="0" anchor="ctr" wrap="square" lIns="54864" rIns="54864" tIns="54864" bIns="54864"/>
          <a:lstStyle/>
          <a:p>
            <a:pPr algn="ctr"/>
          </a:p>
        </p:txBody>
      </p:sp>
      <p:sp>
        <p:nvSpPr>
          <p:cNvPr id="40" name="Oval 39"/>
          <p:cNvSpPr/>
          <p:nvPr/>
        </p:nvSpPr>
        <p:spPr>
          <a:xfrm>
            <a:off x="7086600" y="1938528"/>
            <a:ext cx="182880" cy="182880"/>
          </a:xfrm>
          <a:prstGeom prst="ellipse">
            <a:avLst/>
          </a:prstGeom>
          <a:solidFill>
            <a:srgbClr val="CC850A"/>
          </a:solidFill>
          <a:ln w="15875">
            <a:solidFill>
              <a:srgbClr val="FFFFFF"/>
            </a:solidFill>
          </a:ln>
        </p:spPr>
        <p:txBody>
          <a:bodyPr rtlCol="0" anchor="ctr" wrap="square" lIns="54864" rIns="54864" tIns="54864" bIns="54864"/>
          <a:lstStyle/>
          <a:p>
            <a:pPr algn="ctr"/>
          </a:p>
        </p:txBody>
      </p:sp>
      <p:cxnSp>
        <p:nvCxnSpPr>
          <p:cNvPr id="41" name="Connector 40"/>
          <p:cNvCxnSpPr/>
          <p:nvPr/>
        </p:nvCxnSpPr>
        <p:spPr>
          <a:xfrm flipV="1">
            <a:off x="7680960" y="1316736"/>
            <a:ext cx="0" cy="713232"/>
          </a:xfrm>
          <a:prstGeom prst="line">
            <a:avLst/>
          </a:prstGeom>
          <a:ln w="22225">
            <a:solidFill>
              <a:srgbClr val="CC850A"/>
            </a:solidFill>
            <a:tailEnd type="triangle" w="med" len="med"/>
          </a:ln>
        </p:spPr>
      </p:cxnSp>
      <p:sp>
        <p:nvSpPr>
          <p:cNvPr id="42" name="Oval 41"/>
          <p:cNvSpPr/>
          <p:nvPr/>
        </p:nvSpPr>
        <p:spPr>
          <a:xfrm>
            <a:off x="7589520" y="1115568"/>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43" name="Connector 42"/>
          <p:cNvCxnSpPr/>
          <p:nvPr/>
        </p:nvCxnSpPr>
        <p:spPr>
          <a:xfrm>
            <a:off x="7909560" y="2029968"/>
            <a:ext cx="0" cy="301752"/>
          </a:xfrm>
          <a:prstGeom prst="line">
            <a:avLst/>
          </a:prstGeom>
          <a:ln w="22225">
            <a:solidFill>
              <a:srgbClr val="CC850A"/>
            </a:solidFill>
            <a:tailEnd type="triangle" w="med" len="med"/>
          </a:ln>
        </p:spPr>
      </p:cxnSp>
      <p:sp>
        <p:nvSpPr>
          <p:cNvPr id="44" name="Oval 43"/>
          <p:cNvSpPr/>
          <p:nvPr/>
        </p:nvSpPr>
        <p:spPr>
          <a:xfrm>
            <a:off x="7818120" y="2350008"/>
            <a:ext cx="182880" cy="182880"/>
          </a:xfrm>
          <a:prstGeom prst="ellipse">
            <a:avLst/>
          </a:prstGeom>
          <a:solidFill>
            <a:srgbClr val="634F7D"/>
          </a:solidFill>
          <a:ln w="15875">
            <a:solidFill>
              <a:srgbClr val="FFFFFF"/>
            </a:solidFill>
          </a:ln>
        </p:spPr>
        <p:txBody>
          <a:bodyPr rtlCol="0" anchor="ctr" wrap="square" lIns="54864" rIns="54864" tIns="54864" bIns="54864"/>
          <a:lstStyle/>
          <a:p>
            <a:pPr algn="ctr"/>
          </a:p>
        </p:txBody>
      </p:sp>
      <p:sp>
        <p:nvSpPr>
          <p:cNvPr id="45" name="Oval 44"/>
          <p:cNvSpPr/>
          <p:nvPr/>
        </p:nvSpPr>
        <p:spPr>
          <a:xfrm>
            <a:off x="1737360" y="1115568"/>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sp>
        <p:nvSpPr>
          <p:cNvPr id="46" name="TextBox 45"/>
          <p:cNvSpPr txBox="1"/>
          <p:nvPr/>
        </p:nvSpPr>
        <p:spPr>
          <a:xfrm>
            <a:off x="1371600" y="896112"/>
            <a:ext cx="914400" cy="237744"/>
          </a:xfrm>
          <a:prstGeom prst="rect">
            <a:avLst/>
          </a:prstGeom>
          <a:noFill/>
        </p:spPr>
        <p:txBody>
          <a:bodyPr wrap="square" lIns="36576" rIns="36576" tIns="36576" bIns="36576" anchor="t"/>
          <a:lstStyle/>
          <a:p>
            <a:pPr algn="ctr" marL="0" indent="0">
              <a:spcAft>
                <a:spcPts val="400"/>
              </a:spcAft>
              <a:buNone/>
            </a:pPr>
            <a:r>
              <a:rPr sz="1200" b="1" i="0" lang="es-CL">
                <a:solidFill>
                  <a:srgbClr val="003D4F"/>
                </a:solidFill>
                <a:latin typeface="Inter"/>
                <a:ea typeface="Inter"/>
                <a:cs typeface="Inter"/>
              </a:rPr>
              <a:t>v1.0</a:t>
            </a:r>
          </a:p>
        </p:txBody>
      </p:sp>
      <p:sp>
        <p:nvSpPr>
          <p:cNvPr id="47" name="TextBox 46"/>
          <p:cNvSpPr txBox="1"/>
          <p:nvPr/>
        </p:nvSpPr>
        <p:spPr>
          <a:xfrm>
            <a:off x="4069080" y="896112"/>
            <a:ext cx="914400" cy="237744"/>
          </a:xfrm>
          <a:prstGeom prst="rect">
            <a:avLst/>
          </a:prstGeom>
          <a:noFill/>
        </p:spPr>
        <p:txBody>
          <a:bodyPr wrap="square" lIns="36576" rIns="36576" tIns="36576" bIns="36576" anchor="t"/>
          <a:lstStyle/>
          <a:p>
            <a:pPr algn="ctr" marL="0" indent="0">
              <a:spcAft>
                <a:spcPts val="400"/>
              </a:spcAft>
              <a:buNone/>
            </a:pPr>
            <a:r>
              <a:rPr sz="1200" b="1" i="0" lang="es-CL">
                <a:solidFill>
                  <a:srgbClr val="003D4F"/>
                </a:solidFill>
                <a:latin typeface="Inter"/>
                <a:ea typeface="Inter"/>
                <a:cs typeface="Inter"/>
              </a:rPr>
              <a:t>v1.0.1</a:t>
            </a:r>
          </a:p>
        </p:txBody>
      </p:sp>
      <p:sp>
        <p:nvSpPr>
          <p:cNvPr id="48" name="TextBox 47"/>
          <p:cNvSpPr txBox="1"/>
          <p:nvPr/>
        </p:nvSpPr>
        <p:spPr>
          <a:xfrm>
            <a:off x="7223760" y="896112"/>
            <a:ext cx="914400" cy="237744"/>
          </a:xfrm>
          <a:prstGeom prst="rect">
            <a:avLst/>
          </a:prstGeom>
          <a:noFill/>
        </p:spPr>
        <p:txBody>
          <a:bodyPr wrap="square" lIns="36576" rIns="36576" tIns="36576" bIns="36576" anchor="t"/>
          <a:lstStyle/>
          <a:p>
            <a:pPr algn="ctr" marL="0" indent="0">
              <a:spcAft>
                <a:spcPts val="400"/>
              </a:spcAft>
              <a:buNone/>
            </a:pPr>
            <a:r>
              <a:rPr sz="1200" b="1" i="0" lang="es-CL">
                <a:solidFill>
                  <a:srgbClr val="003D4F"/>
                </a:solidFill>
                <a:latin typeface="Inter"/>
                <a:ea typeface="Inter"/>
                <a:cs typeface="Inter"/>
              </a:rPr>
              <a:t>v1.1</a:t>
            </a:r>
          </a:p>
        </p:txBody>
      </p:sp>
      <p:sp>
        <p:nvSpPr>
          <p:cNvPr id="49" name="Oval 48"/>
          <p:cNvSpPr/>
          <p:nvPr/>
        </p:nvSpPr>
        <p:spPr>
          <a:xfrm>
            <a:off x="2560320" y="297180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50" name="Oval 49"/>
          <p:cNvSpPr/>
          <p:nvPr/>
        </p:nvSpPr>
        <p:spPr>
          <a:xfrm>
            <a:off x="6830568" y="214884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51" name="Oval 50"/>
          <p:cNvSpPr/>
          <p:nvPr/>
        </p:nvSpPr>
        <p:spPr>
          <a:xfrm>
            <a:off x="4023359" y="173736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52" name="Rounded Rectangle 51"/>
          <p:cNvSpPr/>
          <p:nvPr/>
        </p:nvSpPr>
        <p:spPr>
          <a:xfrm>
            <a:off x="411480" y="3310128"/>
            <a:ext cx="2688336" cy="896112"/>
          </a:xfrm>
          <a:prstGeom prst="roundRect">
            <a:avLst>
              <a:gd name="adj" fmla="val 10204"/>
            </a:avLst>
          </a:prstGeom>
          <a:solidFill>
            <a:srgbClr val="EDF1F3"/>
          </a:solidFill>
          <a:ln>
            <a:noFill/>
          </a:ln>
        </p:spPr>
        <p:txBody>
          <a:bodyPr rtlCol="0" anchor="ctr" wrap="square" lIns="54864" rIns="54864" tIns="54864" bIns="54864"/>
          <a:lstStyle/>
          <a:p>
            <a:pPr algn="ctr"/>
          </a:p>
        </p:txBody>
      </p:sp>
      <p:sp>
        <p:nvSpPr>
          <p:cNvPr id="53" name="Oval 52"/>
          <p:cNvSpPr/>
          <p:nvPr/>
        </p:nvSpPr>
        <p:spPr>
          <a:xfrm>
            <a:off x="502920" y="338328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54" name="TextBox 53"/>
          <p:cNvSpPr txBox="1"/>
          <p:nvPr/>
        </p:nvSpPr>
        <p:spPr>
          <a:xfrm>
            <a:off x="850392" y="3346704"/>
            <a:ext cx="2194560" cy="84124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Una feature sale de develop, dura días o semanas y vuelve a develop.</a:t>
            </a:r>
          </a:p>
        </p:txBody>
      </p:sp>
      <p:sp>
        <p:nvSpPr>
          <p:cNvPr id="55" name="Rounded Rectangle 54"/>
          <p:cNvSpPr/>
          <p:nvPr/>
        </p:nvSpPr>
        <p:spPr>
          <a:xfrm>
            <a:off x="3227832" y="3310128"/>
            <a:ext cx="2688336" cy="896112"/>
          </a:xfrm>
          <a:prstGeom prst="roundRect">
            <a:avLst>
              <a:gd name="adj" fmla="val 10204"/>
            </a:avLst>
          </a:prstGeom>
          <a:solidFill>
            <a:srgbClr val="EDF1F3"/>
          </a:solidFill>
          <a:ln>
            <a:noFill/>
          </a:ln>
        </p:spPr>
        <p:txBody>
          <a:bodyPr rtlCol="0" anchor="ctr" wrap="square" lIns="54864" rIns="54864" tIns="54864" bIns="54864"/>
          <a:lstStyle/>
          <a:p>
            <a:pPr algn="ctr"/>
          </a:p>
        </p:txBody>
      </p:sp>
      <p:sp>
        <p:nvSpPr>
          <p:cNvPr id="56" name="Oval 55"/>
          <p:cNvSpPr/>
          <p:nvPr/>
        </p:nvSpPr>
        <p:spPr>
          <a:xfrm>
            <a:off x="3319272" y="338328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57" name="TextBox 56"/>
          <p:cNvSpPr txBox="1"/>
          <p:nvPr/>
        </p:nvSpPr>
        <p:spPr>
          <a:xfrm>
            <a:off x="3666744" y="3346704"/>
            <a:ext cx="2194560" cy="84124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La release sale de develop, se estabiliza y entra a main (v1.1) y a develop.</a:t>
            </a:r>
          </a:p>
        </p:txBody>
      </p:sp>
      <p:sp>
        <p:nvSpPr>
          <p:cNvPr id="58" name="Rounded Rectangle 57"/>
          <p:cNvSpPr/>
          <p:nvPr/>
        </p:nvSpPr>
        <p:spPr>
          <a:xfrm>
            <a:off x="6044184" y="3310128"/>
            <a:ext cx="2688336" cy="896112"/>
          </a:xfrm>
          <a:prstGeom prst="roundRect">
            <a:avLst>
              <a:gd name="adj" fmla="val 10204"/>
            </a:avLst>
          </a:prstGeom>
          <a:solidFill>
            <a:srgbClr val="EDF1F3"/>
          </a:solidFill>
          <a:ln>
            <a:noFill/>
          </a:ln>
        </p:spPr>
        <p:txBody>
          <a:bodyPr rtlCol="0" anchor="ctr" wrap="square" lIns="54864" rIns="54864" tIns="54864" bIns="54864"/>
          <a:lstStyle/>
          <a:p>
            <a:pPr algn="ctr"/>
          </a:p>
        </p:txBody>
      </p:sp>
      <p:sp>
        <p:nvSpPr>
          <p:cNvPr id="59" name="Oval 58"/>
          <p:cNvSpPr/>
          <p:nvPr/>
        </p:nvSpPr>
        <p:spPr>
          <a:xfrm>
            <a:off x="6135624" y="338328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60" name="TextBox 59"/>
          <p:cNvSpPr txBox="1"/>
          <p:nvPr/>
        </p:nvSpPr>
        <p:spPr>
          <a:xfrm>
            <a:off x="6483096" y="3346704"/>
            <a:ext cx="2194560" cy="841248"/>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El hotfix sale de main, corrige y entra a main (v1.0.1) y a develop.</a:t>
            </a:r>
          </a:p>
        </p:txBody>
      </p:sp>
      <p:sp>
        <p:nvSpPr>
          <p:cNvPr id="61" name="TextBox 60"/>
          <p:cNvSpPr txBox="1"/>
          <p:nvPr/>
        </p:nvSpPr>
        <p:spPr>
          <a:xfrm>
            <a:off x="411480" y="4279392"/>
            <a:ext cx="8321040" cy="292608"/>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Dos ramas permanentes (main y develop). Conviene cuando conviven varias versiones en producción.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Trunk Based Development: un tronco y ramas de horas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627632"/>
            <a:ext cx="1097280" cy="310896"/>
          </a:xfrm>
          <a:prstGeom prst="roundRect">
            <a:avLst>
              <a:gd name="adj" fmla="val 17647"/>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main</a:t>
            </a:r>
          </a:p>
        </p:txBody>
      </p:sp>
      <p:cxnSp>
        <p:nvCxnSpPr>
          <p:cNvPr id="5" name="Connector 4"/>
          <p:cNvCxnSpPr/>
          <p:nvPr/>
        </p:nvCxnSpPr>
        <p:spPr>
          <a:xfrm>
            <a:off x="1645920" y="1783080"/>
            <a:ext cx="7040880" cy="0"/>
          </a:xfrm>
          <a:prstGeom prst="line">
            <a:avLst/>
          </a:prstGeom>
          <a:ln w="44450">
            <a:solidFill>
              <a:srgbClr val="003D4F"/>
            </a:solidFill>
            <a:tailEnd type="triangle" w="med" len="med"/>
          </a:ln>
        </p:spPr>
      </p:cxnSp>
      <p:sp>
        <p:nvSpPr>
          <p:cNvPr id="6" name="Oval 5"/>
          <p:cNvSpPr/>
          <p:nvPr/>
        </p:nvSpPr>
        <p:spPr>
          <a:xfrm>
            <a:off x="1737360" y="1691639"/>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7" name="Connector 6"/>
          <p:cNvCxnSpPr/>
          <p:nvPr/>
        </p:nvCxnSpPr>
        <p:spPr>
          <a:xfrm>
            <a:off x="1874519" y="1856231"/>
            <a:ext cx="228601" cy="438913"/>
          </a:xfrm>
          <a:prstGeom prst="line">
            <a:avLst/>
          </a:prstGeom>
          <a:ln w="22225">
            <a:solidFill>
              <a:srgbClr val="38761D"/>
            </a:solidFill>
          </a:ln>
        </p:spPr>
      </p:cxnSp>
      <p:cxnSp>
        <p:nvCxnSpPr>
          <p:cNvPr id="8" name="Connector 7"/>
          <p:cNvCxnSpPr/>
          <p:nvPr/>
        </p:nvCxnSpPr>
        <p:spPr>
          <a:xfrm>
            <a:off x="2103120" y="2350008"/>
            <a:ext cx="502920" cy="0"/>
          </a:xfrm>
          <a:prstGeom prst="line">
            <a:avLst/>
          </a:prstGeom>
          <a:ln w="38100">
            <a:solidFill>
              <a:srgbClr val="38761D"/>
            </a:solidFill>
          </a:ln>
        </p:spPr>
      </p:cxnSp>
      <p:sp>
        <p:nvSpPr>
          <p:cNvPr id="9" name="Oval 8"/>
          <p:cNvSpPr/>
          <p:nvPr/>
        </p:nvSpPr>
        <p:spPr>
          <a:xfrm>
            <a:off x="2103120" y="2276856"/>
            <a:ext cx="146304" cy="146304"/>
          </a:xfrm>
          <a:prstGeom prst="ellipse">
            <a:avLst/>
          </a:prstGeom>
          <a:solidFill>
            <a:srgbClr val="38761D"/>
          </a:solidFill>
          <a:ln>
            <a:noFill/>
          </a:ln>
        </p:spPr>
        <p:txBody>
          <a:bodyPr rtlCol="0" anchor="ctr" wrap="square" lIns="54864" rIns="54864" tIns="54864" bIns="54864"/>
          <a:lstStyle/>
          <a:p>
            <a:pPr algn="ctr"/>
          </a:p>
        </p:txBody>
      </p:sp>
      <p:sp>
        <p:nvSpPr>
          <p:cNvPr id="10" name="Oval 9"/>
          <p:cNvSpPr/>
          <p:nvPr/>
        </p:nvSpPr>
        <p:spPr>
          <a:xfrm>
            <a:off x="2459736" y="2276856"/>
            <a:ext cx="146304" cy="146304"/>
          </a:xfrm>
          <a:prstGeom prst="ellipse">
            <a:avLst/>
          </a:prstGeom>
          <a:solidFill>
            <a:srgbClr val="38761D"/>
          </a:solidFill>
          <a:ln>
            <a:noFill/>
          </a:ln>
        </p:spPr>
        <p:txBody>
          <a:bodyPr rtlCol="0" anchor="ctr" wrap="square" lIns="54864" rIns="54864" tIns="54864" bIns="54864"/>
          <a:lstStyle/>
          <a:p>
            <a:pPr algn="ctr"/>
          </a:p>
        </p:txBody>
      </p:sp>
      <p:cxnSp>
        <p:nvCxnSpPr>
          <p:cNvPr id="11" name="Connector 10"/>
          <p:cNvCxnSpPr/>
          <p:nvPr/>
        </p:nvCxnSpPr>
        <p:spPr>
          <a:xfrm flipV="1">
            <a:off x="2606040" y="1874519"/>
            <a:ext cx="228600" cy="420625"/>
          </a:xfrm>
          <a:prstGeom prst="line">
            <a:avLst/>
          </a:prstGeom>
          <a:ln w="22225">
            <a:solidFill>
              <a:srgbClr val="38761D"/>
            </a:solidFill>
            <a:tailEnd type="triangle" w="med" len="med"/>
          </a:ln>
        </p:spPr>
      </p:cxnSp>
      <p:sp>
        <p:nvSpPr>
          <p:cNvPr id="12" name="Oval 11"/>
          <p:cNvSpPr/>
          <p:nvPr/>
        </p:nvSpPr>
        <p:spPr>
          <a:xfrm>
            <a:off x="2770632" y="1673352"/>
            <a:ext cx="219456" cy="219456"/>
          </a:xfrm>
          <a:prstGeom prst="ellipse">
            <a:avLst/>
          </a:prstGeom>
          <a:solidFill>
            <a:srgbClr val="003D4F"/>
          </a:solidFill>
          <a:ln w="15875">
            <a:solidFill>
              <a:srgbClr val="FFFFFF"/>
            </a:solidFill>
          </a:ln>
        </p:spPr>
        <p:txBody>
          <a:bodyPr rtlCol="0" anchor="ctr" wrap="square" lIns="54864" rIns="54864" tIns="54864" bIns="54864"/>
          <a:lstStyle/>
          <a:p>
            <a:pPr algn="ctr"/>
          </a:p>
        </p:txBody>
      </p:sp>
      <p:sp>
        <p:nvSpPr>
          <p:cNvPr id="13" name="Oval 12"/>
          <p:cNvSpPr/>
          <p:nvPr/>
        </p:nvSpPr>
        <p:spPr>
          <a:xfrm>
            <a:off x="2724912" y="1179576"/>
            <a:ext cx="310896" cy="310896"/>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a:t>
            </a:r>
          </a:p>
        </p:txBody>
      </p:sp>
      <p:sp>
        <p:nvSpPr>
          <p:cNvPr id="14" name="TextBox 13"/>
          <p:cNvSpPr txBox="1"/>
          <p:nvPr/>
        </p:nvSpPr>
        <p:spPr>
          <a:xfrm>
            <a:off x="1783080" y="2441448"/>
            <a:ext cx="1143000" cy="274320"/>
          </a:xfrm>
          <a:prstGeom prst="rect">
            <a:avLst/>
          </a:prstGeom>
          <a:noFill/>
        </p:spPr>
        <p:txBody>
          <a:bodyPr wrap="square" lIns="36576" rIns="36576" tIns="36576" bIns="36576" anchor="t"/>
          <a:lstStyle/>
          <a:p>
            <a:pPr algn="ctr" marL="0" indent="0">
              <a:spcAft>
                <a:spcPts val="400"/>
              </a:spcAft>
              <a:buNone/>
            </a:pPr>
            <a:r>
              <a:rPr sz="1200" b="1" i="0" lang="es-CL">
                <a:solidFill>
                  <a:srgbClr val="38761D"/>
                </a:solidFill>
                <a:latin typeface="Inter"/>
                <a:ea typeface="Inter"/>
                <a:cs typeface="Inter"/>
              </a:rPr>
              <a:t>3 horas</a:t>
            </a:r>
          </a:p>
        </p:txBody>
      </p:sp>
      <p:sp>
        <p:nvSpPr>
          <p:cNvPr id="15" name="Oval 14"/>
          <p:cNvSpPr/>
          <p:nvPr/>
        </p:nvSpPr>
        <p:spPr>
          <a:xfrm>
            <a:off x="3429000" y="1691639"/>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16" name="Connector 15"/>
          <p:cNvCxnSpPr/>
          <p:nvPr/>
        </p:nvCxnSpPr>
        <p:spPr>
          <a:xfrm>
            <a:off x="3566160" y="1856231"/>
            <a:ext cx="228600" cy="438913"/>
          </a:xfrm>
          <a:prstGeom prst="line">
            <a:avLst/>
          </a:prstGeom>
          <a:ln w="22225">
            <a:solidFill>
              <a:srgbClr val="38761D"/>
            </a:solidFill>
          </a:ln>
        </p:spPr>
      </p:cxnSp>
      <p:cxnSp>
        <p:nvCxnSpPr>
          <p:cNvPr id="17" name="Connector 16"/>
          <p:cNvCxnSpPr/>
          <p:nvPr/>
        </p:nvCxnSpPr>
        <p:spPr>
          <a:xfrm>
            <a:off x="3794760" y="2350008"/>
            <a:ext cx="502920" cy="0"/>
          </a:xfrm>
          <a:prstGeom prst="line">
            <a:avLst/>
          </a:prstGeom>
          <a:ln w="38100">
            <a:solidFill>
              <a:srgbClr val="38761D"/>
            </a:solidFill>
          </a:ln>
        </p:spPr>
      </p:cxnSp>
      <p:sp>
        <p:nvSpPr>
          <p:cNvPr id="18" name="Oval 17"/>
          <p:cNvSpPr/>
          <p:nvPr/>
        </p:nvSpPr>
        <p:spPr>
          <a:xfrm>
            <a:off x="3794760" y="2276856"/>
            <a:ext cx="146304" cy="146304"/>
          </a:xfrm>
          <a:prstGeom prst="ellipse">
            <a:avLst/>
          </a:prstGeom>
          <a:solidFill>
            <a:srgbClr val="38761D"/>
          </a:solidFill>
          <a:ln>
            <a:noFill/>
          </a:ln>
        </p:spPr>
        <p:txBody>
          <a:bodyPr rtlCol="0" anchor="ctr" wrap="square" lIns="54864" rIns="54864" tIns="54864" bIns="54864"/>
          <a:lstStyle/>
          <a:p>
            <a:pPr algn="ctr"/>
          </a:p>
        </p:txBody>
      </p:sp>
      <p:sp>
        <p:nvSpPr>
          <p:cNvPr id="19" name="Oval 18"/>
          <p:cNvSpPr/>
          <p:nvPr/>
        </p:nvSpPr>
        <p:spPr>
          <a:xfrm>
            <a:off x="4151376" y="2276856"/>
            <a:ext cx="146304" cy="146304"/>
          </a:xfrm>
          <a:prstGeom prst="ellipse">
            <a:avLst/>
          </a:prstGeom>
          <a:solidFill>
            <a:srgbClr val="38761D"/>
          </a:solidFill>
          <a:ln>
            <a:noFill/>
          </a:ln>
        </p:spPr>
        <p:txBody>
          <a:bodyPr rtlCol="0" anchor="ctr" wrap="square" lIns="54864" rIns="54864" tIns="54864" bIns="54864"/>
          <a:lstStyle/>
          <a:p>
            <a:pPr algn="ctr"/>
          </a:p>
        </p:txBody>
      </p:sp>
      <p:cxnSp>
        <p:nvCxnSpPr>
          <p:cNvPr id="20" name="Connector 19"/>
          <p:cNvCxnSpPr/>
          <p:nvPr/>
        </p:nvCxnSpPr>
        <p:spPr>
          <a:xfrm flipV="1">
            <a:off x="4297680" y="1874519"/>
            <a:ext cx="228600" cy="420625"/>
          </a:xfrm>
          <a:prstGeom prst="line">
            <a:avLst/>
          </a:prstGeom>
          <a:ln w="22225">
            <a:solidFill>
              <a:srgbClr val="38761D"/>
            </a:solidFill>
            <a:tailEnd type="triangle" w="med" len="med"/>
          </a:ln>
        </p:spPr>
      </p:cxnSp>
      <p:sp>
        <p:nvSpPr>
          <p:cNvPr id="21" name="Oval 20"/>
          <p:cNvSpPr/>
          <p:nvPr/>
        </p:nvSpPr>
        <p:spPr>
          <a:xfrm>
            <a:off x="4462272" y="1673352"/>
            <a:ext cx="219456" cy="219456"/>
          </a:xfrm>
          <a:prstGeom prst="ellipse">
            <a:avLst/>
          </a:prstGeom>
          <a:solidFill>
            <a:srgbClr val="003D4F"/>
          </a:solidFill>
          <a:ln w="15875">
            <a:solidFill>
              <a:srgbClr val="FFFFFF"/>
            </a:solidFill>
          </a:ln>
        </p:spPr>
        <p:txBody>
          <a:bodyPr rtlCol="0" anchor="ctr" wrap="square" lIns="54864" rIns="54864" tIns="54864" bIns="54864"/>
          <a:lstStyle/>
          <a:p>
            <a:pPr algn="ctr"/>
          </a:p>
        </p:txBody>
      </p:sp>
      <p:sp>
        <p:nvSpPr>
          <p:cNvPr id="22" name="Oval 21"/>
          <p:cNvSpPr/>
          <p:nvPr/>
        </p:nvSpPr>
        <p:spPr>
          <a:xfrm>
            <a:off x="4416552" y="1179576"/>
            <a:ext cx="310896" cy="310896"/>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a:t>
            </a:r>
          </a:p>
        </p:txBody>
      </p:sp>
      <p:sp>
        <p:nvSpPr>
          <p:cNvPr id="23" name="TextBox 22"/>
          <p:cNvSpPr txBox="1"/>
          <p:nvPr/>
        </p:nvSpPr>
        <p:spPr>
          <a:xfrm>
            <a:off x="3474720" y="2441448"/>
            <a:ext cx="1143000" cy="274320"/>
          </a:xfrm>
          <a:prstGeom prst="rect">
            <a:avLst/>
          </a:prstGeom>
          <a:noFill/>
        </p:spPr>
        <p:txBody>
          <a:bodyPr wrap="square" lIns="36576" rIns="36576" tIns="36576" bIns="36576" anchor="t"/>
          <a:lstStyle/>
          <a:p>
            <a:pPr algn="ctr" marL="0" indent="0">
              <a:spcAft>
                <a:spcPts val="400"/>
              </a:spcAft>
              <a:buNone/>
            </a:pPr>
            <a:r>
              <a:rPr sz="1200" b="1" i="0" lang="es-CL">
                <a:solidFill>
                  <a:srgbClr val="38761D"/>
                </a:solidFill>
                <a:latin typeface="Inter"/>
                <a:ea typeface="Inter"/>
                <a:cs typeface="Inter"/>
              </a:rPr>
              <a:t>1 día</a:t>
            </a:r>
          </a:p>
        </p:txBody>
      </p:sp>
      <p:sp>
        <p:nvSpPr>
          <p:cNvPr id="24" name="Oval 23"/>
          <p:cNvSpPr/>
          <p:nvPr/>
        </p:nvSpPr>
        <p:spPr>
          <a:xfrm>
            <a:off x="5120640" y="1691639"/>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25" name="Connector 24"/>
          <p:cNvCxnSpPr/>
          <p:nvPr/>
        </p:nvCxnSpPr>
        <p:spPr>
          <a:xfrm>
            <a:off x="5257800" y="1856231"/>
            <a:ext cx="228600" cy="438913"/>
          </a:xfrm>
          <a:prstGeom prst="line">
            <a:avLst/>
          </a:prstGeom>
          <a:ln w="22225">
            <a:solidFill>
              <a:srgbClr val="38761D"/>
            </a:solidFill>
          </a:ln>
        </p:spPr>
      </p:cxnSp>
      <p:cxnSp>
        <p:nvCxnSpPr>
          <p:cNvPr id="26" name="Connector 25"/>
          <p:cNvCxnSpPr/>
          <p:nvPr/>
        </p:nvCxnSpPr>
        <p:spPr>
          <a:xfrm>
            <a:off x="5486400" y="2350008"/>
            <a:ext cx="502920" cy="0"/>
          </a:xfrm>
          <a:prstGeom prst="line">
            <a:avLst/>
          </a:prstGeom>
          <a:ln w="38100">
            <a:solidFill>
              <a:srgbClr val="38761D"/>
            </a:solidFill>
          </a:ln>
        </p:spPr>
      </p:cxnSp>
      <p:sp>
        <p:nvSpPr>
          <p:cNvPr id="27" name="Oval 26"/>
          <p:cNvSpPr/>
          <p:nvPr/>
        </p:nvSpPr>
        <p:spPr>
          <a:xfrm>
            <a:off x="5486400" y="2276856"/>
            <a:ext cx="146304" cy="146304"/>
          </a:xfrm>
          <a:prstGeom prst="ellipse">
            <a:avLst/>
          </a:prstGeom>
          <a:solidFill>
            <a:srgbClr val="38761D"/>
          </a:solidFill>
          <a:ln>
            <a:noFill/>
          </a:ln>
        </p:spPr>
        <p:txBody>
          <a:bodyPr rtlCol="0" anchor="ctr" wrap="square" lIns="54864" rIns="54864" tIns="54864" bIns="54864"/>
          <a:lstStyle/>
          <a:p>
            <a:pPr algn="ctr"/>
          </a:p>
        </p:txBody>
      </p:sp>
      <p:sp>
        <p:nvSpPr>
          <p:cNvPr id="28" name="Oval 27"/>
          <p:cNvSpPr/>
          <p:nvPr/>
        </p:nvSpPr>
        <p:spPr>
          <a:xfrm>
            <a:off x="5843016" y="2276856"/>
            <a:ext cx="146304" cy="146304"/>
          </a:xfrm>
          <a:prstGeom prst="ellipse">
            <a:avLst/>
          </a:prstGeom>
          <a:solidFill>
            <a:srgbClr val="38761D"/>
          </a:solidFill>
          <a:ln>
            <a:noFill/>
          </a:ln>
        </p:spPr>
        <p:txBody>
          <a:bodyPr rtlCol="0" anchor="ctr" wrap="square" lIns="54864" rIns="54864" tIns="54864" bIns="54864"/>
          <a:lstStyle/>
          <a:p>
            <a:pPr algn="ctr"/>
          </a:p>
        </p:txBody>
      </p:sp>
      <p:cxnSp>
        <p:nvCxnSpPr>
          <p:cNvPr id="29" name="Connector 28"/>
          <p:cNvCxnSpPr/>
          <p:nvPr/>
        </p:nvCxnSpPr>
        <p:spPr>
          <a:xfrm flipV="1">
            <a:off x="5989320" y="1874519"/>
            <a:ext cx="228600" cy="420625"/>
          </a:xfrm>
          <a:prstGeom prst="line">
            <a:avLst/>
          </a:prstGeom>
          <a:ln w="22225">
            <a:solidFill>
              <a:srgbClr val="38761D"/>
            </a:solidFill>
            <a:tailEnd type="triangle" w="med" len="med"/>
          </a:ln>
        </p:spPr>
      </p:cxnSp>
      <p:sp>
        <p:nvSpPr>
          <p:cNvPr id="30" name="Oval 29"/>
          <p:cNvSpPr/>
          <p:nvPr/>
        </p:nvSpPr>
        <p:spPr>
          <a:xfrm>
            <a:off x="6153912" y="1673352"/>
            <a:ext cx="219456" cy="219456"/>
          </a:xfrm>
          <a:prstGeom prst="ellipse">
            <a:avLst/>
          </a:prstGeom>
          <a:solidFill>
            <a:srgbClr val="003D4F"/>
          </a:solidFill>
          <a:ln w="15875">
            <a:solidFill>
              <a:srgbClr val="FFFFFF"/>
            </a:solidFill>
          </a:ln>
        </p:spPr>
        <p:txBody>
          <a:bodyPr rtlCol="0" anchor="ctr" wrap="square" lIns="54864" rIns="54864" tIns="54864" bIns="54864"/>
          <a:lstStyle/>
          <a:p>
            <a:pPr algn="ctr"/>
          </a:p>
        </p:txBody>
      </p:sp>
      <p:sp>
        <p:nvSpPr>
          <p:cNvPr id="31" name="Oval 30"/>
          <p:cNvSpPr/>
          <p:nvPr/>
        </p:nvSpPr>
        <p:spPr>
          <a:xfrm>
            <a:off x="6108192" y="1179576"/>
            <a:ext cx="310896" cy="310896"/>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a:t>
            </a:r>
          </a:p>
        </p:txBody>
      </p:sp>
      <p:sp>
        <p:nvSpPr>
          <p:cNvPr id="32" name="TextBox 31"/>
          <p:cNvSpPr txBox="1"/>
          <p:nvPr/>
        </p:nvSpPr>
        <p:spPr>
          <a:xfrm>
            <a:off x="5166360" y="2441448"/>
            <a:ext cx="1143000" cy="274320"/>
          </a:xfrm>
          <a:prstGeom prst="rect">
            <a:avLst/>
          </a:prstGeom>
          <a:noFill/>
        </p:spPr>
        <p:txBody>
          <a:bodyPr wrap="square" lIns="36576" rIns="36576" tIns="36576" bIns="36576" anchor="t"/>
          <a:lstStyle/>
          <a:p>
            <a:pPr algn="ctr" marL="0" indent="0">
              <a:spcAft>
                <a:spcPts val="400"/>
              </a:spcAft>
              <a:buNone/>
            </a:pPr>
            <a:r>
              <a:rPr sz="1200" b="1" i="0" lang="es-CL">
                <a:solidFill>
                  <a:srgbClr val="38761D"/>
                </a:solidFill>
                <a:latin typeface="Inter"/>
                <a:ea typeface="Inter"/>
                <a:cs typeface="Inter"/>
              </a:rPr>
              <a:t>4 horas</a:t>
            </a:r>
          </a:p>
        </p:txBody>
      </p:sp>
      <p:sp>
        <p:nvSpPr>
          <p:cNvPr id="33" name="Oval 32"/>
          <p:cNvSpPr/>
          <p:nvPr/>
        </p:nvSpPr>
        <p:spPr>
          <a:xfrm>
            <a:off x="6812280" y="1691639"/>
            <a:ext cx="182880" cy="182880"/>
          </a:xfrm>
          <a:prstGeom prst="ellipse">
            <a:avLst/>
          </a:prstGeom>
          <a:solidFill>
            <a:srgbClr val="003D4F"/>
          </a:solidFill>
          <a:ln w="15875">
            <a:solidFill>
              <a:srgbClr val="FFFFFF"/>
            </a:solidFill>
          </a:ln>
        </p:spPr>
        <p:txBody>
          <a:bodyPr rtlCol="0" anchor="ctr" wrap="square" lIns="54864" rIns="54864" tIns="54864" bIns="54864"/>
          <a:lstStyle/>
          <a:p>
            <a:pPr algn="ctr"/>
          </a:p>
        </p:txBody>
      </p:sp>
      <p:cxnSp>
        <p:nvCxnSpPr>
          <p:cNvPr id="34" name="Connector 33"/>
          <p:cNvCxnSpPr/>
          <p:nvPr/>
        </p:nvCxnSpPr>
        <p:spPr>
          <a:xfrm>
            <a:off x="6949440" y="1856231"/>
            <a:ext cx="228600" cy="438913"/>
          </a:xfrm>
          <a:prstGeom prst="line">
            <a:avLst/>
          </a:prstGeom>
          <a:ln w="22225">
            <a:solidFill>
              <a:srgbClr val="38761D"/>
            </a:solidFill>
          </a:ln>
        </p:spPr>
      </p:cxnSp>
      <p:cxnSp>
        <p:nvCxnSpPr>
          <p:cNvPr id="35" name="Connector 34"/>
          <p:cNvCxnSpPr/>
          <p:nvPr/>
        </p:nvCxnSpPr>
        <p:spPr>
          <a:xfrm>
            <a:off x="7178040" y="2350008"/>
            <a:ext cx="502919" cy="0"/>
          </a:xfrm>
          <a:prstGeom prst="line">
            <a:avLst/>
          </a:prstGeom>
          <a:ln w="38100">
            <a:solidFill>
              <a:srgbClr val="38761D"/>
            </a:solidFill>
          </a:ln>
        </p:spPr>
      </p:cxnSp>
      <p:sp>
        <p:nvSpPr>
          <p:cNvPr id="36" name="Oval 35"/>
          <p:cNvSpPr/>
          <p:nvPr/>
        </p:nvSpPr>
        <p:spPr>
          <a:xfrm>
            <a:off x="7178040" y="2276856"/>
            <a:ext cx="146304" cy="146304"/>
          </a:xfrm>
          <a:prstGeom prst="ellipse">
            <a:avLst/>
          </a:prstGeom>
          <a:solidFill>
            <a:srgbClr val="38761D"/>
          </a:solidFill>
          <a:ln>
            <a:noFill/>
          </a:ln>
        </p:spPr>
        <p:txBody>
          <a:bodyPr rtlCol="0" anchor="ctr" wrap="square" lIns="54864" rIns="54864" tIns="54864" bIns="54864"/>
          <a:lstStyle/>
          <a:p>
            <a:pPr algn="ctr"/>
          </a:p>
        </p:txBody>
      </p:sp>
      <p:sp>
        <p:nvSpPr>
          <p:cNvPr id="37" name="Oval 36"/>
          <p:cNvSpPr/>
          <p:nvPr/>
        </p:nvSpPr>
        <p:spPr>
          <a:xfrm>
            <a:off x="7534655" y="2276856"/>
            <a:ext cx="146304" cy="146304"/>
          </a:xfrm>
          <a:prstGeom prst="ellipse">
            <a:avLst/>
          </a:prstGeom>
          <a:solidFill>
            <a:srgbClr val="38761D"/>
          </a:solidFill>
          <a:ln>
            <a:noFill/>
          </a:ln>
        </p:spPr>
        <p:txBody>
          <a:bodyPr rtlCol="0" anchor="ctr" wrap="square" lIns="54864" rIns="54864" tIns="54864" bIns="54864"/>
          <a:lstStyle/>
          <a:p>
            <a:pPr algn="ctr"/>
          </a:p>
        </p:txBody>
      </p:sp>
      <p:cxnSp>
        <p:nvCxnSpPr>
          <p:cNvPr id="38" name="Connector 37"/>
          <p:cNvCxnSpPr/>
          <p:nvPr/>
        </p:nvCxnSpPr>
        <p:spPr>
          <a:xfrm flipV="1">
            <a:off x="7680959" y="1874519"/>
            <a:ext cx="228600" cy="420625"/>
          </a:xfrm>
          <a:prstGeom prst="line">
            <a:avLst/>
          </a:prstGeom>
          <a:ln w="22225">
            <a:solidFill>
              <a:srgbClr val="38761D"/>
            </a:solidFill>
            <a:tailEnd type="triangle" w="med" len="med"/>
          </a:ln>
        </p:spPr>
      </p:cxnSp>
      <p:sp>
        <p:nvSpPr>
          <p:cNvPr id="39" name="Oval 38"/>
          <p:cNvSpPr/>
          <p:nvPr/>
        </p:nvSpPr>
        <p:spPr>
          <a:xfrm>
            <a:off x="7845552" y="1673352"/>
            <a:ext cx="219456" cy="219456"/>
          </a:xfrm>
          <a:prstGeom prst="ellipse">
            <a:avLst/>
          </a:prstGeom>
          <a:solidFill>
            <a:srgbClr val="003D4F"/>
          </a:solidFill>
          <a:ln w="15875">
            <a:solidFill>
              <a:srgbClr val="FFFFFF"/>
            </a:solidFill>
          </a:ln>
        </p:spPr>
        <p:txBody>
          <a:bodyPr rtlCol="0" anchor="ctr" wrap="square" lIns="54864" rIns="54864" tIns="54864" bIns="54864"/>
          <a:lstStyle/>
          <a:p>
            <a:pPr algn="ctr"/>
          </a:p>
        </p:txBody>
      </p:sp>
      <p:sp>
        <p:nvSpPr>
          <p:cNvPr id="40" name="Oval 39"/>
          <p:cNvSpPr/>
          <p:nvPr/>
        </p:nvSpPr>
        <p:spPr>
          <a:xfrm>
            <a:off x="7799831" y="1179576"/>
            <a:ext cx="310896" cy="310896"/>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a:t>
            </a:r>
          </a:p>
        </p:txBody>
      </p:sp>
      <p:sp>
        <p:nvSpPr>
          <p:cNvPr id="41" name="TextBox 40"/>
          <p:cNvSpPr txBox="1"/>
          <p:nvPr/>
        </p:nvSpPr>
        <p:spPr>
          <a:xfrm>
            <a:off x="6858000" y="2441448"/>
            <a:ext cx="1143000" cy="274320"/>
          </a:xfrm>
          <a:prstGeom prst="rect">
            <a:avLst/>
          </a:prstGeom>
          <a:noFill/>
        </p:spPr>
        <p:txBody>
          <a:bodyPr wrap="square" lIns="36576" rIns="36576" tIns="36576" bIns="36576" anchor="t"/>
          <a:lstStyle/>
          <a:p>
            <a:pPr algn="ctr" marL="0" indent="0">
              <a:spcAft>
                <a:spcPts val="400"/>
              </a:spcAft>
              <a:buNone/>
            </a:pPr>
            <a:r>
              <a:rPr sz="1200" b="1" i="0" lang="es-CL">
                <a:solidFill>
                  <a:srgbClr val="38761D"/>
                </a:solidFill>
                <a:latin typeface="Inter"/>
                <a:ea typeface="Inter"/>
                <a:cs typeface="Inter"/>
              </a:rPr>
              <a:t>2 días</a:t>
            </a:r>
          </a:p>
        </p:txBody>
      </p:sp>
      <p:sp>
        <p:nvSpPr>
          <p:cNvPr id="42" name="TextBox 41"/>
          <p:cNvSpPr txBox="1"/>
          <p:nvPr/>
        </p:nvSpPr>
        <p:spPr>
          <a:xfrm>
            <a:off x="3840480" y="886968"/>
            <a:ext cx="3657600" cy="274320"/>
          </a:xfrm>
          <a:prstGeom prst="rect">
            <a:avLst/>
          </a:prstGeom>
          <a:noFill/>
        </p:spPr>
        <p:txBody>
          <a:bodyPr wrap="square" lIns="36576" rIns="36576" tIns="36576" bIns="36576" anchor="t"/>
          <a:lstStyle/>
          <a:p>
            <a:pPr algn="l" marL="0" indent="0">
              <a:spcAft>
                <a:spcPts val="400"/>
              </a:spcAft>
              <a:buNone/>
            </a:pPr>
            <a:r>
              <a:rPr sz="1200" b="1" i="0" lang="es-CL">
                <a:solidFill>
                  <a:srgbClr val="38761D"/>
                </a:solidFill>
                <a:latin typeface="Inter"/>
                <a:ea typeface="Inter"/>
                <a:cs typeface="Inter"/>
              </a:rPr>
              <a:t>CI completo en cada PR</a:t>
            </a:r>
          </a:p>
        </p:txBody>
      </p:sp>
      <p:sp>
        <p:nvSpPr>
          <p:cNvPr id="43" name="Oval 42"/>
          <p:cNvSpPr/>
          <p:nvPr/>
        </p:nvSpPr>
        <p:spPr>
          <a:xfrm>
            <a:off x="3063240" y="2167128"/>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44" name="Oval 43"/>
          <p:cNvSpPr/>
          <p:nvPr/>
        </p:nvSpPr>
        <p:spPr>
          <a:xfrm>
            <a:off x="3246120" y="1179576"/>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45" name="Oval 44"/>
          <p:cNvSpPr/>
          <p:nvPr/>
        </p:nvSpPr>
        <p:spPr>
          <a:xfrm>
            <a:off x="8275320" y="196596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46" name="Rounded Rectangle 45"/>
          <p:cNvSpPr/>
          <p:nvPr/>
        </p:nvSpPr>
        <p:spPr>
          <a:xfrm>
            <a:off x="411480" y="2971800"/>
            <a:ext cx="2688336" cy="1572768"/>
          </a:xfrm>
          <a:prstGeom prst="roundRect">
            <a:avLst>
              <a:gd name="adj" fmla="val 5813"/>
            </a:avLst>
          </a:prstGeom>
          <a:solidFill>
            <a:srgbClr val="EDF1F3"/>
          </a:solidFill>
          <a:ln>
            <a:noFill/>
          </a:ln>
        </p:spPr>
        <p:txBody>
          <a:bodyPr rtlCol="0" anchor="ctr" wrap="square" lIns="54864" rIns="54864" tIns="54864" bIns="54864"/>
          <a:lstStyle/>
          <a:p>
            <a:pPr algn="ctr"/>
          </a:p>
        </p:txBody>
      </p:sp>
      <p:sp>
        <p:nvSpPr>
          <p:cNvPr id="47" name="Oval 46"/>
          <p:cNvSpPr/>
          <p:nvPr/>
        </p:nvSpPr>
        <p:spPr>
          <a:xfrm>
            <a:off x="521208" y="306324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48" name="TextBox 47"/>
          <p:cNvSpPr txBox="1"/>
          <p:nvPr/>
        </p:nvSpPr>
        <p:spPr>
          <a:xfrm>
            <a:off x="868680" y="3044952"/>
            <a:ext cx="2148840" cy="310896"/>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Ramas cortas</a:t>
            </a:r>
          </a:p>
        </p:txBody>
      </p:sp>
      <p:sp>
        <p:nvSpPr>
          <p:cNvPr id="49" name="TextBox 48"/>
          <p:cNvSpPr txBox="1"/>
          <p:nvPr/>
        </p:nvSpPr>
        <p:spPr>
          <a:xfrm>
            <a:off x="521208" y="3429000"/>
            <a:ext cx="2487168" cy="10789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Horas, máximo 2 días (constitución P6). Integrar seguido evita merges grandes.</a:t>
            </a:r>
          </a:p>
        </p:txBody>
      </p:sp>
      <p:sp>
        <p:nvSpPr>
          <p:cNvPr id="50" name="Rounded Rectangle 49"/>
          <p:cNvSpPr/>
          <p:nvPr/>
        </p:nvSpPr>
        <p:spPr>
          <a:xfrm>
            <a:off x="3227832" y="2971800"/>
            <a:ext cx="2688336" cy="1572768"/>
          </a:xfrm>
          <a:prstGeom prst="roundRect">
            <a:avLst>
              <a:gd name="adj" fmla="val 5813"/>
            </a:avLst>
          </a:prstGeom>
          <a:solidFill>
            <a:srgbClr val="EDF1F3"/>
          </a:solidFill>
          <a:ln>
            <a:noFill/>
          </a:ln>
        </p:spPr>
        <p:txBody>
          <a:bodyPr rtlCol="0" anchor="ctr" wrap="square" lIns="54864" rIns="54864" tIns="54864" bIns="54864"/>
          <a:lstStyle/>
          <a:p>
            <a:pPr algn="ctr"/>
          </a:p>
        </p:txBody>
      </p:sp>
      <p:sp>
        <p:nvSpPr>
          <p:cNvPr id="51" name="Oval 50"/>
          <p:cNvSpPr/>
          <p:nvPr/>
        </p:nvSpPr>
        <p:spPr>
          <a:xfrm>
            <a:off x="3337560" y="306324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52" name="TextBox 51"/>
          <p:cNvSpPr txBox="1"/>
          <p:nvPr/>
        </p:nvSpPr>
        <p:spPr>
          <a:xfrm>
            <a:off x="3685032" y="3044952"/>
            <a:ext cx="2148840" cy="310896"/>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PR con CI</a:t>
            </a:r>
          </a:p>
        </p:txBody>
      </p:sp>
      <p:sp>
        <p:nvSpPr>
          <p:cNvPr id="53" name="TextBox 52"/>
          <p:cNvSpPr txBox="1"/>
          <p:nvPr/>
        </p:nvSpPr>
        <p:spPr>
          <a:xfrm>
            <a:off x="3337560" y="3429000"/>
            <a:ext cx="2487168" cy="10789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Cada PR corre el pipeline completo. Si falla, no entra.</a:t>
            </a:r>
          </a:p>
        </p:txBody>
      </p:sp>
      <p:sp>
        <p:nvSpPr>
          <p:cNvPr id="54" name="Rounded Rectangle 53"/>
          <p:cNvSpPr/>
          <p:nvPr/>
        </p:nvSpPr>
        <p:spPr>
          <a:xfrm>
            <a:off x="6044184" y="2971800"/>
            <a:ext cx="2688336" cy="1572768"/>
          </a:xfrm>
          <a:prstGeom prst="roundRect">
            <a:avLst>
              <a:gd name="adj" fmla="val 5813"/>
            </a:avLst>
          </a:prstGeom>
          <a:solidFill>
            <a:srgbClr val="EDF1F3"/>
          </a:solidFill>
          <a:ln>
            <a:noFill/>
          </a:ln>
        </p:spPr>
        <p:txBody>
          <a:bodyPr rtlCol="0" anchor="ctr" wrap="square" lIns="54864" rIns="54864" tIns="54864" bIns="54864"/>
          <a:lstStyle/>
          <a:p>
            <a:pPr algn="ctr"/>
          </a:p>
        </p:txBody>
      </p:sp>
      <p:sp>
        <p:nvSpPr>
          <p:cNvPr id="55" name="Oval 54"/>
          <p:cNvSpPr/>
          <p:nvPr/>
        </p:nvSpPr>
        <p:spPr>
          <a:xfrm>
            <a:off x="6153912" y="3063240"/>
            <a:ext cx="274320" cy="274320"/>
          </a:xfrm>
          <a:prstGeom prst="ellipse">
            <a:avLst/>
          </a:prstGeom>
          <a:solidFill>
            <a:srgbClr val="1F2328"/>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56" name="TextBox 55"/>
          <p:cNvSpPr txBox="1"/>
          <p:nvPr/>
        </p:nvSpPr>
        <p:spPr>
          <a:xfrm>
            <a:off x="6501384" y="3044952"/>
            <a:ext cx="2148840" cy="310896"/>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main siempre verde</a:t>
            </a:r>
          </a:p>
        </p:txBody>
      </p:sp>
      <p:sp>
        <p:nvSpPr>
          <p:cNvPr id="57" name="TextBox 56"/>
          <p:cNvSpPr txBox="1"/>
          <p:nvPr/>
        </p:nvSpPr>
        <p:spPr>
          <a:xfrm>
            <a:off x="6153912" y="3429000"/>
            <a:ext cx="2487168" cy="10789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Lo incompleto entra apagado detrás de un feature flag y se libera desde main.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¿Git Flow o trunk based?</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987552"/>
          <a:ext cx="5257798" cy="2743200"/>
        </p:xfrm>
        <a:graphic>
          <a:graphicData uri="http://schemas.openxmlformats.org/drawingml/2006/table">
            <a:tbl>
              <a:tblPr firstRow="0" bandRow="0">
                <a:tableStyleId>{5C22544A-7EE6-4342-B048-85BDC9FD1C3A}</a:tableStyleId>
              </a:tblPr>
              <a:tblGrid>
                <a:gridCol w="1508760"/>
                <a:gridCol w="1874519"/>
                <a:gridCol w="1874519"/>
              </a:tblGrid>
              <a:tr h="457200">
                <a:tc>
                  <a:txBody>
                    <a:bodyPr wrap="square"/>
                    <a:lstStyle/>
                    <a:p>
                      <a:pPr algn="l" marL="0" indent="0">
                        <a:spcAft>
                          <a:spcPts val="0"/>
                        </a:spcAft>
                        <a:buNone/>
                      </a:pP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Git Flow</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Trunk Based</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Vida de las ramas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Semanas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Horas o pocos días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Integración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Al final, merges grandes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Continua, lotes pequeños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Releases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Programados, rama release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Cuando quieras, desde main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Lo incompleto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Vive en la rama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Detrás de feature flags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457200">
                <a:tc>
                  <a:txBody>
                    <a:bodyPr wrap="square"/>
                    <a:lstStyle/>
                    <a:p>
                      <a:pPr algn="l" marL="0" indent="0">
                        <a:spcAft>
                          <a:spcPts val="0"/>
                        </a:spcAft>
                        <a:buNone/>
                      </a:pPr>
                      <a:r>
                        <a:rPr sz="1200" b="1" i="0" lang="es-CL">
                          <a:solidFill>
                            <a:srgbClr val="1F2328"/>
                          </a:solidFill>
                          <a:latin typeface="Inter"/>
                          <a:ea typeface="Inter"/>
                          <a:cs typeface="Inter"/>
                        </a:rPr>
                        <a:t>Conviene si</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Varias versiones vivas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Servicio web con CI confiable</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bl>
          </a:graphicData>
        </a:graphic>
      </p:graphicFrame>
      <p:sp>
        <p:nvSpPr>
          <p:cNvPr id="5" name="Rounded Rectangle 4"/>
          <p:cNvSpPr/>
          <p:nvPr/>
        </p:nvSpPr>
        <p:spPr>
          <a:xfrm>
            <a:off x="5852160" y="987552"/>
            <a:ext cx="2880360" cy="3566160"/>
          </a:xfrm>
          <a:prstGeom prst="roundRect">
            <a:avLst>
              <a:gd name="adj" fmla="val 3174"/>
            </a:avLst>
          </a:prstGeom>
          <a:solidFill>
            <a:srgbClr val="DCE9F7"/>
          </a:solidFill>
          <a:ln>
            <a:noFill/>
          </a:ln>
        </p:spPr>
        <p:txBody>
          <a:bodyPr rtlCol="0" anchor="ctr" wrap="square" lIns="54864" rIns="54864" tIns="54864" bIns="54864"/>
          <a:lstStyle/>
          <a:p>
            <a:pPr algn="ctr"/>
          </a:p>
        </p:txBody>
      </p:sp>
      <p:sp>
        <p:nvSpPr>
          <p:cNvPr id="6" name="TextBox 5"/>
          <p:cNvSpPr txBox="1"/>
          <p:nvPr/>
        </p:nvSpPr>
        <p:spPr>
          <a:xfrm>
            <a:off x="5989320" y="1078992"/>
            <a:ext cx="260604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Por qué el CI empuja TBD</a:t>
            </a:r>
          </a:p>
        </p:txBody>
      </p:sp>
      <p:sp>
        <p:nvSpPr>
          <p:cNvPr id="7" name="TextBox 6"/>
          <p:cNvSpPr txBox="1"/>
          <p:nvPr/>
        </p:nvSpPr>
        <p:spPr>
          <a:xfrm>
            <a:off x="5989320" y="1426464"/>
            <a:ext cx="2606040" cy="3063239"/>
          </a:xfrm>
          <a:prstGeom prst="rect">
            <a:avLst/>
          </a:prstGeom>
          <a:noFill/>
        </p:spPr>
        <p:txBody>
          <a:bodyPr wrap="square" lIns="36576" rIns="36576" tIns="36576" bIns="36576" anchor="t"/>
          <a:lstStyle/>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DORA: lead time, frecuencia de despliegue, recuperación, tasa de fallas y retrabajo (p. 144).</a:t>
            </a:r>
          </a:p>
          <a:p>
            <a:pPr algn="l" marL="182880" indent="-164592">
              <a:spcAft>
                <a:spcPts val="800"/>
              </a:spcAft>
              <a:buClr>
                <a:srgbClr val="F2617A"/>
              </a:buClr>
              <a:buSzPct val="100000"/>
              <a:buFont typeface="Arial"/>
              <a:buChar char="●"/>
            </a:pPr>
            <a:r>
              <a:rPr sz="1200" b="0" i="0" lang="es-CL">
                <a:solidFill>
                  <a:srgbClr val="1F2328"/>
                </a:solidFill>
                <a:latin typeface="Inter"/>
                <a:ea typeface="Inter"/>
                <a:cs typeface="Inter"/>
              </a:rPr>
              <a:t>Con IA se escribe más código por día: con ramas largas, los merges explotan.</a:t>
            </a:r>
          </a:p>
        </p:txBody>
      </p:sp>
      <p:sp>
        <p:nvSpPr>
          <p:cNvPr id="8" name="TextBox 7"/>
          <p:cNvSpPr txBox="1"/>
          <p:nvPr/>
        </p:nvSpPr>
        <p:spPr>
          <a:xfrm>
            <a:off x="411480" y="3886200"/>
            <a:ext cx="5257800" cy="640080"/>
          </a:xfrm>
          <a:prstGeom prst="rect">
            <a:avLst/>
          </a:prstGeom>
          <a:noFill/>
        </p:spPr>
        <p:txBody>
          <a:bodyPr wrap="square" lIns="36576" rIns="36576" tIns="36576" bIns="36576" anchor="t"/>
          <a:lstStyle/>
          <a:p>
            <a:pPr algn="l" marL="0" indent="0">
              <a:spcAft>
                <a:spcPts val="400"/>
              </a:spcAft>
              <a:buNone/>
            </a:pPr>
            <a:r>
              <a:rPr sz="1300" b="1" i="0" lang="es-CL">
                <a:solidFill>
                  <a:srgbClr val="1F2328"/>
                </a:solidFill>
                <a:latin typeface="Inter"/>
                <a:ea typeface="Inter"/>
                <a:cs typeface="Inter"/>
              </a:rPr>
              <a:t>Lotes pequeños = PR pequeños = evidencia que alguien sí alcanza a revisar.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¿Qué es esto? SAST, DAST, Semgrep, Trivy y dependencias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2057400" y="914400"/>
            <a:ext cx="3931920" cy="256032"/>
          </a:xfrm>
          <a:prstGeom prst="rect">
            <a:avLst/>
          </a:prstGeom>
          <a:noFill/>
        </p:spPr>
        <p:txBody>
          <a:bodyPr wrap="square" lIns="36576" rIns="36576" tIns="36576" bIns="36576" anchor="t"/>
          <a:lstStyle/>
          <a:p>
            <a:pPr algn="l" marL="0" indent="0">
              <a:spcAft>
                <a:spcPts val="400"/>
              </a:spcAft>
              <a:buNone/>
            </a:pPr>
            <a:r>
              <a:rPr sz="1200" b="1" i="0" lang="es-CL">
                <a:solidFill>
                  <a:srgbClr val="57606A"/>
                </a:solidFill>
                <a:latin typeface="Inter"/>
                <a:ea typeface="Inter"/>
                <a:cs typeface="Inter"/>
              </a:rPr>
              <a:t>Qué es, en simple</a:t>
            </a:r>
          </a:p>
        </p:txBody>
      </p:sp>
      <p:sp>
        <p:nvSpPr>
          <p:cNvPr id="5" name="TextBox 4"/>
          <p:cNvSpPr txBox="1"/>
          <p:nvPr/>
        </p:nvSpPr>
        <p:spPr>
          <a:xfrm>
            <a:off x="6172200" y="914400"/>
            <a:ext cx="2560320" cy="256032"/>
          </a:xfrm>
          <a:prstGeom prst="rect">
            <a:avLst/>
          </a:prstGeom>
          <a:noFill/>
        </p:spPr>
        <p:txBody>
          <a:bodyPr wrap="square" lIns="36576" rIns="36576" tIns="36576" bIns="36576" anchor="t"/>
          <a:lstStyle/>
          <a:p>
            <a:pPr algn="l" marL="0" indent="0">
              <a:spcAft>
                <a:spcPts val="400"/>
              </a:spcAft>
              <a:buNone/>
            </a:pPr>
            <a:r>
              <a:rPr sz="1200" b="1" i="0" lang="es-CL">
                <a:solidFill>
                  <a:srgbClr val="57606A"/>
                </a:solidFill>
                <a:latin typeface="Inter"/>
                <a:ea typeface="Inter"/>
                <a:cs typeface="Inter"/>
              </a:rPr>
              <a:t>En este repo</a:t>
            </a:r>
          </a:p>
        </p:txBody>
      </p:sp>
      <p:sp>
        <p:nvSpPr>
          <p:cNvPr id="6" name="Rounded Rectangle 5"/>
          <p:cNvSpPr/>
          <p:nvPr/>
        </p:nvSpPr>
        <p:spPr>
          <a:xfrm>
            <a:off x="411480" y="1188720"/>
            <a:ext cx="8321040" cy="603504"/>
          </a:xfrm>
          <a:prstGeom prst="roundRect">
            <a:avLst>
              <a:gd name="adj" fmla="val 15151"/>
            </a:avLst>
          </a:prstGeom>
          <a:solidFill>
            <a:srgbClr val="EDF1F3"/>
          </a:solidFill>
          <a:ln>
            <a:noFill/>
          </a:ln>
        </p:spPr>
        <p:txBody>
          <a:bodyPr rtlCol="0" anchor="ctr" wrap="square" lIns="54864" rIns="54864" tIns="54864" bIns="54864"/>
          <a:lstStyle/>
          <a:p>
            <a:pPr algn="ctr"/>
          </a:p>
        </p:txBody>
      </p:sp>
      <p:sp>
        <p:nvSpPr>
          <p:cNvPr id="7" name="Rounded Rectangle 6"/>
          <p:cNvSpPr/>
          <p:nvPr/>
        </p:nvSpPr>
        <p:spPr>
          <a:xfrm>
            <a:off x="411480" y="1188720"/>
            <a:ext cx="1508760" cy="603504"/>
          </a:xfrm>
          <a:prstGeom prst="roundRect">
            <a:avLst>
              <a:gd name="adj" fmla="val 12121"/>
            </a:avLst>
          </a:prstGeom>
          <a:solidFill>
            <a:srgbClr val="980000"/>
          </a:solidFill>
          <a:ln>
            <a:noFill/>
          </a:ln>
        </p:spPr>
        <p:txBody>
          <a:bodyPr rtlCol="0" anchor="ctr" wrap="square" lIns="54864" rIns="54864" tIns="54864" bIns="54864"/>
          <a:lstStyle/>
          <a:p>
            <a:pPr algn="ctr" marL="0" indent="0">
              <a:spcAft>
                <a:spcPts val="0"/>
              </a:spcAft>
              <a:buNone/>
            </a:pPr>
            <a:r>
              <a:rPr sz="1400" b="1" i="0" lang="es-CL">
                <a:solidFill>
                  <a:srgbClr val="FFFFFF"/>
                </a:solidFill>
                <a:latin typeface="Inter"/>
                <a:ea typeface="Inter"/>
                <a:cs typeface="Inter"/>
              </a:rPr>
              <a:t>SAST</a:t>
            </a:r>
          </a:p>
        </p:txBody>
      </p:sp>
      <p:sp>
        <p:nvSpPr>
          <p:cNvPr id="8" name="TextBox 7"/>
          <p:cNvSpPr txBox="1"/>
          <p:nvPr/>
        </p:nvSpPr>
        <p:spPr>
          <a:xfrm>
            <a:off x="2057400" y="1207008"/>
            <a:ext cx="3977639" cy="5669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Revisa el código </a:t>
            </a:r>
            <a:r>
              <a:rPr sz="1200" b="1" i="0" lang="es-CL">
                <a:solidFill>
                  <a:srgbClr val="1F2328"/>
                </a:solidFill>
                <a:latin typeface="Inter"/>
                <a:ea typeface="Inter"/>
                <a:cs typeface="Inter"/>
              </a:rPr>
              <a:t>sin ejecutarlo</a:t>
            </a:r>
            <a:r>
              <a:rPr sz="1200" b="0" i="0" lang="es-CL">
                <a:solidFill>
                  <a:srgbClr val="1F2328"/>
                </a:solidFill>
                <a:latin typeface="Inter"/>
                <a:ea typeface="Inter"/>
                <a:cs typeface="Inter"/>
              </a:rPr>
              <a:t>. Como revisar los planos de un edificio.</a:t>
            </a:r>
          </a:p>
        </p:txBody>
      </p:sp>
      <p:sp>
        <p:nvSpPr>
          <p:cNvPr id="9" name="TextBox 8"/>
          <p:cNvSpPr txBox="1"/>
          <p:nvPr/>
        </p:nvSpPr>
        <p:spPr>
          <a:xfrm>
            <a:off x="6172200" y="1207008"/>
            <a:ext cx="2514600" cy="5669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Semgrep y CodeQL, etapa 3</a:t>
            </a:r>
          </a:p>
        </p:txBody>
      </p:sp>
      <p:sp>
        <p:nvSpPr>
          <p:cNvPr id="10" name="Rounded Rectangle 9"/>
          <p:cNvSpPr/>
          <p:nvPr/>
        </p:nvSpPr>
        <p:spPr>
          <a:xfrm>
            <a:off x="411480" y="1865376"/>
            <a:ext cx="8321040" cy="603504"/>
          </a:xfrm>
          <a:prstGeom prst="roundRect">
            <a:avLst>
              <a:gd name="adj" fmla="val 15151"/>
            </a:avLst>
          </a:prstGeom>
          <a:solidFill>
            <a:srgbClr val="EDF1F3"/>
          </a:solidFill>
          <a:ln>
            <a:noFill/>
          </a:ln>
        </p:spPr>
        <p:txBody>
          <a:bodyPr rtlCol="0" anchor="ctr" wrap="square" lIns="54864" rIns="54864" tIns="54864" bIns="54864"/>
          <a:lstStyle/>
          <a:p>
            <a:pPr algn="ctr"/>
          </a:p>
        </p:txBody>
      </p:sp>
      <p:sp>
        <p:nvSpPr>
          <p:cNvPr id="11" name="Rounded Rectangle 10"/>
          <p:cNvSpPr/>
          <p:nvPr/>
        </p:nvSpPr>
        <p:spPr>
          <a:xfrm>
            <a:off x="411480" y="1865376"/>
            <a:ext cx="1508760" cy="603504"/>
          </a:xfrm>
          <a:prstGeom prst="roundRect">
            <a:avLst>
              <a:gd name="adj" fmla="val 12121"/>
            </a:avLst>
          </a:prstGeom>
          <a:solidFill>
            <a:srgbClr val="980000"/>
          </a:solidFill>
          <a:ln>
            <a:noFill/>
          </a:ln>
        </p:spPr>
        <p:txBody>
          <a:bodyPr rtlCol="0" anchor="ctr" wrap="square" lIns="54864" rIns="54864" tIns="54864" bIns="54864"/>
          <a:lstStyle/>
          <a:p>
            <a:pPr algn="ctr" marL="0" indent="0">
              <a:spcAft>
                <a:spcPts val="0"/>
              </a:spcAft>
              <a:buNone/>
            </a:pPr>
            <a:r>
              <a:rPr sz="1400" b="1" i="0" lang="es-CL">
                <a:solidFill>
                  <a:srgbClr val="FFFFFF"/>
                </a:solidFill>
                <a:latin typeface="Inter"/>
                <a:ea typeface="Inter"/>
                <a:cs typeface="Inter"/>
              </a:rPr>
              <a:t>DAST</a:t>
            </a:r>
          </a:p>
        </p:txBody>
      </p:sp>
      <p:sp>
        <p:nvSpPr>
          <p:cNvPr id="12" name="TextBox 11"/>
          <p:cNvSpPr txBox="1"/>
          <p:nvPr/>
        </p:nvSpPr>
        <p:spPr>
          <a:xfrm>
            <a:off x="2057400" y="1883664"/>
            <a:ext cx="3977639" cy="5669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Ataca la app </a:t>
            </a:r>
            <a:r>
              <a:rPr sz="1200" b="1" i="0" lang="es-CL">
                <a:solidFill>
                  <a:srgbClr val="1F2328"/>
                </a:solidFill>
                <a:latin typeface="Inter"/>
                <a:ea typeface="Inter"/>
                <a:cs typeface="Inter"/>
              </a:rPr>
              <a:t>ya corriendo</a:t>
            </a:r>
            <a:r>
              <a:rPr sz="1200" b="0" i="0" lang="es-CL">
                <a:solidFill>
                  <a:srgbClr val="1F2328"/>
                </a:solidFill>
                <a:latin typeface="Inter"/>
                <a:ea typeface="Inter"/>
                <a:cs typeface="Inter"/>
              </a:rPr>
              <a:t>, desde afuera. Como probar las puertas del edificio.</a:t>
            </a:r>
          </a:p>
        </p:txBody>
      </p:sp>
      <p:sp>
        <p:nvSpPr>
          <p:cNvPr id="13" name="TextBox 12"/>
          <p:cNvSpPr txBox="1"/>
          <p:nvPr/>
        </p:nvSpPr>
        <p:spPr>
          <a:xfrm>
            <a:off x="6172200" y="1883664"/>
            <a:ext cx="2514600" cy="5669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OWASP ZAP contra el stack, etapa 9</a:t>
            </a:r>
          </a:p>
        </p:txBody>
      </p:sp>
      <p:sp>
        <p:nvSpPr>
          <p:cNvPr id="14" name="Rounded Rectangle 13"/>
          <p:cNvSpPr/>
          <p:nvPr/>
        </p:nvSpPr>
        <p:spPr>
          <a:xfrm>
            <a:off x="411480" y="2542032"/>
            <a:ext cx="8321040" cy="603504"/>
          </a:xfrm>
          <a:prstGeom prst="roundRect">
            <a:avLst>
              <a:gd name="adj" fmla="val 15151"/>
            </a:avLst>
          </a:prstGeom>
          <a:solidFill>
            <a:srgbClr val="EDF1F3"/>
          </a:solidFill>
          <a:ln>
            <a:noFill/>
          </a:ln>
        </p:spPr>
        <p:txBody>
          <a:bodyPr rtlCol="0" anchor="ctr" wrap="square" lIns="54864" rIns="54864" tIns="54864" bIns="54864"/>
          <a:lstStyle/>
          <a:p>
            <a:pPr algn="ctr"/>
          </a:p>
        </p:txBody>
      </p:sp>
      <p:sp>
        <p:nvSpPr>
          <p:cNvPr id="15" name="Rounded Rectangle 14"/>
          <p:cNvSpPr/>
          <p:nvPr/>
        </p:nvSpPr>
        <p:spPr>
          <a:xfrm>
            <a:off x="411480" y="2542032"/>
            <a:ext cx="1508760" cy="603504"/>
          </a:xfrm>
          <a:prstGeom prst="roundRect">
            <a:avLst>
              <a:gd name="adj" fmla="val 12121"/>
            </a:avLst>
          </a:prstGeom>
          <a:solidFill>
            <a:srgbClr val="CC850A"/>
          </a:solidFill>
          <a:ln>
            <a:noFill/>
          </a:ln>
        </p:spPr>
        <p:txBody>
          <a:bodyPr rtlCol="0" anchor="ctr" wrap="square" lIns="54864" rIns="54864" tIns="54864" bIns="54864"/>
          <a:lstStyle/>
          <a:p>
            <a:pPr algn="ctr" marL="0" indent="0">
              <a:spcAft>
                <a:spcPts val="0"/>
              </a:spcAft>
              <a:buNone/>
            </a:pPr>
            <a:r>
              <a:rPr sz="1400" b="1" i="0" lang="es-CL">
                <a:solidFill>
                  <a:srgbClr val="FFFFFF"/>
                </a:solidFill>
                <a:latin typeface="Inter"/>
                <a:ea typeface="Inter"/>
                <a:cs typeface="Inter"/>
              </a:rPr>
              <a:t>Semgrep</a:t>
            </a:r>
          </a:p>
        </p:txBody>
      </p:sp>
      <p:sp>
        <p:nvSpPr>
          <p:cNvPr id="16" name="TextBox 15"/>
          <p:cNvSpPr txBox="1"/>
          <p:nvPr/>
        </p:nvSpPr>
        <p:spPr>
          <a:xfrm>
            <a:off x="2057400" y="2560320"/>
            <a:ext cx="3977639" cy="5669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Busca patrones peligrosos con reglas legibles. Puedes escribir reglas propias.</a:t>
            </a:r>
          </a:p>
        </p:txBody>
      </p:sp>
      <p:sp>
        <p:nvSpPr>
          <p:cNvPr id="17" name="TextBox 16"/>
          <p:cNvSpPr txBox="1"/>
          <p:nvPr/>
        </p:nvSpPr>
        <p:spPr>
          <a:xfrm>
            <a:off x="6172200" y="2560320"/>
            <a:ext cx="2514600" cy="5669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Registro + .semgrep/rules.yml, etapa 3</a:t>
            </a:r>
          </a:p>
        </p:txBody>
      </p:sp>
      <p:sp>
        <p:nvSpPr>
          <p:cNvPr id="18" name="Rounded Rectangle 17"/>
          <p:cNvSpPr/>
          <p:nvPr/>
        </p:nvSpPr>
        <p:spPr>
          <a:xfrm>
            <a:off x="411480" y="3218687"/>
            <a:ext cx="8321040" cy="603504"/>
          </a:xfrm>
          <a:prstGeom prst="roundRect">
            <a:avLst>
              <a:gd name="adj" fmla="val 15151"/>
            </a:avLst>
          </a:prstGeom>
          <a:solidFill>
            <a:srgbClr val="EDF1F3"/>
          </a:solidFill>
          <a:ln>
            <a:noFill/>
          </a:ln>
        </p:spPr>
        <p:txBody>
          <a:bodyPr rtlCol="0" anchor="ctr" wrap="square" lIns="54864" rIns="54864" tIns="54864" bIns="54864"/>
          <a:lstStyle/>
          <a:p>
            <a:pPr algn="ctr"/>
          </a:p>
        </p:txBody>
      </p:sp>
      <p:sp>
        <p:nvSpPr>
          <p:cNvPr id="19" name="Rounded Rectangle 18"/>
          <p:cNvSpPr/>
          <p:nvPr/>
        </p:nvSpPr>
        <p:spPr>
          <a:xfrm>
            <a:off x="411480" y="3218687"/>
            <a:ext cx="1508760" cy="603504"/>
          </a:xfrm>
          <a:prstGeom prst="roundRect">
            <a:avLst>
              <a:gd name="adj" fmla="val 12121"/>
            </a:avLst>
          </a:prstGeom>
          <a:solidFill>
            <a:srgbClr val="CC850A"/>
          </a:solidFill>
          <a:ln>
            <a:noFill/>
          </a:ln>
        </p:spPr>
        <p:txBody>
          <a:bodyPr rtlCol="0" anchor="ctr" wrap="square" lIns="54864" rIns="54864" tIns="54864" bIns="54864"/>
          <a:lstStyle/>
          <a:p>
            <a:pPr algn="ctr" marL="0" indent="0">
              <a:spcAft>
                <a:spcPts val="0"/>
              </a:spcAft>
              <a:buNone/>
            </a:pPr>
            <a:r>
              <a:rPr sz="1400" b="1" i="0" lang="es-CL">
                <a:solidFill>
                  <a:srgbClr val="FFFFFF"/>
                </a:solidFill>
                <a:latin typeface="Inter"/>
                <a:ea typeface="Inter"/>
                <a:cs typeface="Inter"/>
              </a:rPr>
              <a:t>Trivy</a:t>
            </a:r>
          </a:p>
        </p:txBody>
      </p:sp>
      <p:sp>
        <p:nvSpPr>
          <p:cNvPr id="20" name="TextBox 19"/>
          <p:cNvSpPr txBox="1"/>
          <p:nvPr/>
        </p:nvSpPr>
        <p:spPr>
          <a:xfrm>
            <a:off x="2057400" y="3236975"/>
            <a:ext cx="3977639" cy="5669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Busca CVE en dependencias e imágenes, secretos y configuración insegura.</a:t>
            </a:r>
          </a:p>
        </p:txBody>
      </p:sp>
      <p:sp>
        <p:nvSpPr>
          <p:cNvPr id="21" name="TextBox 20"/>
          <p:cNvSpPr txBox="1"/>
          <p:nvPr/>
        </p:nvSpPr>
        <p:spPr>
          <a:xfrm>
            <a:off x="6172200" y="3236975"/>
            <a:ext cx="2514600" cy="5669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Trivy fs (etapa 4) y Trivy image (etapa 8)</a:t>
            </a:r>
          </a:p>
        </p:txBody>
      </p:sp>
      <p:sp>
        <p:nvSpPr>
          <p:cNvPr id="22" name="Rounded Rectangle 21"/>
          <p:cNvSpPr/>
          <p:nvPr/>
        </p:nvSpPr>
        <p:spPr>
          <a:xfrm>
            <a:off x="411480" y="3895344"/>
            <a:ext cx="8321040" cy="603504"/>
          </a:xfrm>
          <a:prstGeom prst="roundRect">
            <a:avLst>
              <a:gd name="adj" fmla="val 15151"/>
            </a:avLst>
          </a:prstGeom>
          <a:solidFill>
            <a:srgbClr val="EDF1F3"/>
          </a:solidFill>
          <a:ln>
            <a:noFill/>
          </a:ln>
        </p:spPr>
        <p:txBody>
          <a:bodyPr rtlCol="0" anchor="ctr" wrap="square" lIns="54864" rIns="54864" tIns="54864" bIns="54864"/>
          <a:lstStyle/>
          <a:p>
            <a:pPr algn="ctr"/>
          </a:p>
        </p:txBody>
      </p:sp>
      <p:sp>
        <p:nvSpPr>
          <p:cNvPr id="23" name="Rounded Rectangle 22"/>
          <p:cNvSpPr/>
          <p:nvPr/>
        </p:nvSpPr>
        <p:spPr>
          <a:xfrm>
            <a:off x="411480" y="3895344"/>
            <a:ext cx="1508760" cy="603504"/>
          </a:xfrm>
          <a:prstGeom prst="roundRect">
            <a:avLst>
              <a:gd name="adj" fmla="val 12121"/>
            </a:avLst>
          </a:prstGeom>
          <a:solidFill>
            <a:srgbClr val="634F7D"/>
          </a:solidFill>
          <a:ln>
            <a:noFill/>
          </a:ln>
        </p:spPr>
        <p:txBody>
          <a:bodyPr rtlCol="0" anchor="ctr" wrap="square" lIns="54864" rIns="54864" tIns="54864" bIns="54864"/>
          <a:lstStyle/>
          <a:p>
            <a:pPr algn="ctr" marL="0" indent="0">
              <a:spcAft>
                <a:spcPts val="0"/>
              </a:spcAft>
              <a:buNone/>
            </a:pPr>
            <a:r>
              <a:rPr sz="1400" b="1" i="0" lang="es-CL">
                <a:solidFill>
                  <a:srgbClr val="FFFFFF"/>
                </a:solidFill>
                <a:latin typeface="Inter"/>
                <a:ea typeface="Inter"/>
                <a:cs typeface="Inter"/>
              </a:rPr>
              <a:t>Dependencias</a:t>
            </a:r>
          </a:p>
        </p:txBody>
      </p:sp>
      <p:sp>
        <p:nvSpPr>
          <p:cNvPr id="24" name="TextBox 23"/>
          <p:cNvSpPr txBox="1"/>
          <p:nvPr/>
        </p:nvSpPr>
        <p:spPr>
          <a:xfrm>
            <a:off x="2057400" y="3913631"/>
            <a:ext cx="3977639" cy="5669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Revisa las librerías de terceros contra bases de vulnerabilidades (CVE).</a:t>
            </a:r>
          </a:p>
        </p:txBody>
      </p:sp>
      <p:sp>
        <p:nvSpPr>
          <p:cNvPr id="25" name="TextBox 24"/>
          <p:cNvSpPr txBox="1"/>
          <p:nvPr/>
        </p:nvSpPr>
        <p:spPr>
          <a:xfrm>
            <a:off x="6172200" y="3913631"/>
            <a:ext cx="2514600" cy="5669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dependency review y npm audit (etapa 4), Dependabot</a:t>
            </a:r>
          </a:p>
        </p:txBody>
      </p:sp>
      <p:sp>
        <p:nvSpPr>
          <p:cNvPr id="26" name="caption"/>
          <p:cNvSpPr txBox="1"/>
          <p:nvPr/>
        </p:nvSpPr>
        <p:spPr>
          <a:xfrm>
            <a:off x="411480" y="4590288"/>
            <a:ext cx="832104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SAST mira el código, DAST mira la app corriendo y SCA mira el código de otros. Semgrep y Trivy son herramientas concretas.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Otras siglas que vas a ver: secretos, IaC y SBOM</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2688336" cy="3566160"/>
          </a:xfrm>
          <a:prstGeom prst="roundRect">
            <a:avLst>
              <a:gd name="adj" fmla="val 3401"/>
            </a:avLst>
          </a:prstGeom>
          <a:solidFill>
            <a:srgbClr val="EDF1F3"/>
          </a:solidFill>
          <a:ln>
            <a:noFill/>
          </a:ln>
        </p:spPr>
        <p:txBody>
          <a:bodyPr rtlCol="0" anchor="ctr" wrap="square" lIns="54864" rIns="54864" tIns="54864" bIns="54864"/>
          <a:lstStyle/>
          <a:p>
            <a:pPr algn="ctr"/>
          </a:p>
        </p:txBody>
      </p:sp>
      <p:sp>
        <p:nvSpPr>
          <p:cNvPr id="5" name="TextBox 4"/>
          <p:cNvSpPr txBox="1"/>
          <p:nvPr/>
        </p:nvSpPr>
        <p:spPr>
          <a:xfrm>
            <a:off x="548640" y="1042415"/>
            <a:ext cx="2377440" cy="457200"/>
          </a:xfrm>
          <a:prstGeom prst="rect">
            <a:avLst/>
          </a:prstGeom>
          <a:noFill/>
        </p:spPr>
        <p:txBody>
          <a:bodyPr wrap="square" lIns="36576" rIns="36576" tIns="36576" bIns="36576" anchor="t"/>
          <a:lstStyle/>
          <a:p>
            <a:pPr algn="l" marL="0" indent="0">
              <a:spcAft>
                <a:spcPts val="400"/>
              </a:spcAft>
              <a:buNone/>
            </a:pPr>
            <a:r>
              <a:rPr sz="2200" b="1" i="0" lang="es-CL">
                <a:solidFill>
                  <a:srgbClr val="980000"/>
                </a:solidFill>
                <a:latin typeface="Bitter"/>
                <a:ea typeface="Bitter"/>
                <a:cs typeface="Bitter"/>
              </a:rPr>
              <a:t>Secretos</a:t>
            </a:r>
          </a:p>
        </p:txBody>
      </p:sp>
      <p:sp>
        <p:nvSpPr>
          <p:cNvPr id="6" name="TextBox 5"/>
          <p:cNvSpPr txBox="1"/>
          <p:nvPr/>
        </p:nvSpPr>
        <p:spPr>
          <a:xfrm>
            <a:off x="548640" y="1517904"/>
            <a:ext cx="2423160" cy="27432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Secret scanning</a:t>
            </a:r>
          </a:p>
        </p:txBody>
      </p:sp>
      <p:sp>
        <p:nvSpPr>
          <p:cNvPr id="7" name="TextBox 6"/>
          <p:cNvSpPr txBox="1"/>
          <p:nvPr/>
        </p:nvSpPr>
        <p:spPr>
          <a:xfrm>
            <a:off x="548640" y="1865376"/>
            <a:ext cx="2423160" cy="77724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Busca llaves y tokens en el código y en todo el historial de git.</a:t>
            </a:r>
          </a:p>
        </p:txBody>
      </p:sp>
      <p:sp>
        <p:nvSpPr>
          <p:cNvPr id="8" name="TextBox 7"/>
          <p:cNvSpPr txBox="1"/>
          <p:nvPr/>
        </p:nvSpPr>
        <p:spPr>
          <a:xfrm>
            <a:off x="548640" y="2697480"/>
            <a:ext cx="2423160" cy="274320"/>
          </a:xfrm>
          <a:prstGeom prst="rect">
            <a:avLst/>
          </a:prstGeom>
          <a:noFill/>
        </p:spPr>
        <p:txBody>
          <a:bodyPr wrap="square" lIns="36576" rIns="36576" tIns="36576" bIns="36576" anchor="t"/>
          <a:lstStyle/>
          <a:p>
            <a:pPr algn="l" marL="0" indent="0">
              <a:spcAft>
                <a:spcPts val="400"/>
              </a:spcAft>
              <a:buNone/>
            </a:pPr>
            <a:r>
              <a:rPr sz="1200" b="1" i="0" lang="es-CL">
                <a:solidFill>
                  <a:srgbClr val="003D4F"/>
                </a:solidFill>
                <a:latin typeface="Inter"/>
                <a:ea typeface="Inter"/>
                <a:cs typeface="Inter"/>
              </a:rPr>
              <a:t>En este repo</a:t>
            </a:r>
          </a:p>
        </p:txBody>
      </p:sp>
      <p:sp>
        <p:nvSpPr>
          <p:cNvPr id="9" name="TextBox 8"/>
          <p:cNvSpPr txBox="1"/>
          <p:nvPr/>
        </p:nvSpPr>
        <p:spPr>
          <a:xfrm>
            <a:off x="548640" y="2990088"/>
            <a:ext cx="2423160"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gitleaks (etapa 1) y el hook pre-commit</a:t>
            </a:r>
          </a:p>
        </p:txBody>
      </p:sp>
      <p:sp>
        <p:nvSpPr>
          <p:cNvPr id="10" name="TextBox 9"/>
          <p:cNvSpPr txBox="1"/>
          <p:nvPr/>
        </p:nvSpPr>
        <p:spPr>
          <a:xfrm>
            <a:off x="548640" y="3767328"/>
            <a:ext cx="2423160" cy="640080"/>
          </a:xfrm>
          <a:prstGeom prst="rect">
            <a:avLst/>
          </a:prstGeom>
          <a:noFill/>
        </p:spPr>
        <p:txBody>
          <a:bodyPr wrap="square" lIns="36576" rIns="36576" tIns="36576" bIns="36576" anchor="t"/>
          <a:lstStyle/>
          <a:p>
            <a:pPr algn="l" marL="0" indent="0">
              <a:spcAft>
                <a:spcPts val="400"/>
              </a:spcAft>
              <a:buNone/>
            </a:pPr>
            <a:r>
              <a:rPr sz="1200" b="0" i="1" lang="es-CL">
                <a:solidFill>
                  <a:srgbClr val="980000"/>
                </a:solidFill>
                <a:latin typeface="Inter"/>
                <a:ea typeface="Inter"/>
                <a:cs typeface="Inter"/>
              </a:rPr>
              <a:t>Analogía: Llaves olvidadas en la puerta</a:t>
            </a:r>
          </a:p>
        </p:txBody>
      </p:sp>
      <p:sp>
        <p:nvSpPr>
          <p:cNvPr id="11" name="Rounded Rectangle 10"/>
          <p:cNvSpPr/>
          <p:nvPr/>
        </p:nvSpPr>
        <p:spPr>
          <a:xfrm>
            <a:off x="3227832" y="987552"/>
            <a:ext cx="2688336" cy="3566160"/>
          </a:xfrm>
          <a:prstGeom prst="roundRect">
            <a:avLst>
              <a:gd name="adj" fmla="val 3401"/>
            </a:avLst>
          </a:prstGeom>
          <a:solidFill>
            <a:srgbClr val="EDF1F3"/>
          </a:solidFill>
          <a:ln>
            <a:noFill/>
          </a:ln>
        </p:spPr>
        <p:txBody>
          <a:bodyPr rtlCol="0" anchor="ctr" wrap="square" lIns="54864" rIns="54864" tIns="54864" bIns="54864"/>
          <a:lstStyle/>
          <a:p>
            <a:pPr algn="ctr"/>
          </a:p>
        </p:txBody>
      </p:sp>
      <p:sp>
        <p:nvSpPr>
          <p:cNvPr id="12" name="TextBox 11"/>
          <p:cNvSpPr txBox="1"/>
          <p:nvPr/>
        </p:nvSpPr>
        <p:spPr>
          <a:xfrm>
            <a:off x="3364992" y="1042415"/>
            <a:ext cx="2377440" cy="457200"/>
          </a:xfrm>
          <a:prstGeom prst="rect">
            <a:avLst/>
          </a:prstGeom>
          <a:noFill/>
        </p:spPr>
        <p:txBody>
          <a:bodyPr wrap="square" lIns="36576" rIns="36576" tIns="36576" bIns="36576" anchor="t"/>
          <a:lstStyle/>
          <a:p>
            <a:pPr algn="l" marL="0" indent="0">
              <a:spcAft>
                <a:spcPts val="400"/>
              </a:spcAft>
              <a:buNone/>
            </a:pPr>
            <a:r>
              <a:rPr sz="2200" b="1" i="0" lang="es-CL">
                <a:solidFill>
                  <a:srgbClr val="CC850A"/>
                </a:solidFill>
                <a:latin typeface="Bitter"/>
                <a:ea typeface="Bitter"/>
                <a:cs typeface="Bitter"/>
              </a:rPr>
              <a:t>IaC</a:t>
            </a:r>
          </a:p>
        </p:txBody>
      </p:sp>
      <p:sp>
        <p:nvSpPr>
          <p:cNvPr id="13" name="TextBox 12"/>
          <p:cNvSpPr txBox="1"/>
          <p:nvPr/>
        </p:nvSpPr>
        <p:spPr>
          <a:xfrm>
            <a:off x="3364992" y="1517904"/>
            <a:ext cx="2423160" cy="27432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Infraestructura como código</a:t>
            </a:r>
          </a:p>
        </p:txBody>
      </p:sp>
      <p:sp>
        <p:nvSpPr>
          <p:cNvPr id="14" name="TextBox 13"/>
          <p:cNvSpPr txBox="1"/>
          <p:nvPr/>
        </p:nvSpPr>
        <p:spPr>
          <a:xfrm>
            <a:off x="3364992" y="1865376"/>
            <a:ext cx="2423160" cy="77724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Revisa Dockerfile, compose y workflows como si fueran código.</a:t>
            </a:r>
          </a:p>
        </p:txBody>
      </p:sp>
      <p:sp>
        <p:nvSpPr>
          <p:cNvPr id="15" name="TextBox 14"/>
          <p:cNvSpPr txBox="1"/>
          <p:nvPr/>
        </p:nvSpPr>
        <p:spPr>
          <a:xfrm>
            <a:off x="3364992" y="2697480"/>
            <a:ext cx="2423160" cy="274320"/>
          </a:xfrm>
          <a:prstGeom prst="rect">
            <a:avLst/>
          </a:prstGeom>
          <a:noFill/>
        </p:spPr>
        <p:txBody>
          <a:bodyPr wrap="square" lIns="36576" rIns="36576" tIns="36576" bIns="36576" anchor="t"/>
          <a:lstStyle/>
          <a:p>
            <a:pPr algn="l" marL="0" indent="0">
              <a:spcAft>
                <a:spcPts val="400"/>
              </a:spcAft>
              <a:buNone/>
            </a:pPr>
            <a:r>
              <a:rPr sz="1200" b="1" i="0" lang="es-CL">
                <a:solidFill>
                  <a:srgbClr val="003D4F"/>
                </a:solidFill>
                <a:latin typeface="Inter"/>
                <a:ea typeface="Inter"/>
                <a:cs typeface="Inter"/>
              </a:rPr>
              <a:t>En este repo</a:t>
            </a:r>
          </a:p>
        </p:txBody>
      </p:sp>
      <p:sp>
        <p:nvSpPr>
          <p:cNvPr id="16" name="TextBox 15"/>
          <p:cNvSpPr txBox="1"/>
          <p:nvPr/>
        </p:nvSpPr>
        <p:spPr>
          <a:xfrm>
            <a:off x="3364992" y="2990088"/>
            <a:ext cx="2423160"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hadolint, actionlint y zizmor (etapa 2)</a:t>
            </a:r>
          </a:p>
        </p:txBody>
      </p:sp>
      <p:sp>
        <p:nvSpPr>
          <p:cNvPr id="17" name="TextBox 16"/>
          <p:cNvSpPr txBox="1"/>
          <p:nvPr/>
        </p:nvSpPr>
        <p:spPr>
          <a:xfrm>
            <a:off x="3364992" y="3767328"/>
            <a:ext cx="2423160" cy="640080"/>
          </a:xfrm>
          <a:prstGeom prst="rect">
            <a:avLst/>
          </a:prstGeom>
          <a:noFill/>
        </p:spPr>
        <p:txBody>
          <a:bodyPr wrap="square" lIns="36576" rIns="36576" tIns="36576" bIns="36576" anchor="t"/>
          <a:lstStyle/>
          <a:p>
            <a:pPr algn="l" marL="0" indent="0">
              <a:spcAft>
                <a:spcPts val="400"/>
              </a:spcAft>
              <a:buNone/>
            </a:pPr>
            <a:r>
              <a:rPr sz="1200" b="0" i="1" lang="es-CL">
                <a:solidFill>
                  <a:srgbClr val="CC850A"/>
                </a:solidFill>
                <a:latin typeface="Inter"/>
                <a:ea typeface="Inter"/>
                <a:cs typeface="Inter"/>
              </a:rPr>
              <a:t>Analogía: Revisar las instalaciones</a:t>
            </a:r>
          </a:p>
        </p:txBody>
      </p:sp>
      <p:sp>
        <p:nvSpPr>
          <p:cNvPr id="18" name="Rounded Rectangle 17"/>
          <p:cNvSpPr/>
          <p:nvPr/>
        </p:nvSpPr>
        <p:spPr>
          <a:xfrm>
            <a:off x="6044184" y="987552"/>
            <a:ext cx="2688336" cy="3566160"/>
          </a:xfrm>
          <a:prstGeom prst="roundRect">
            <a:avLst>
              <a:gd name="adj" fmla="val 3401"/>
            </a:avLst>
          </a:prstGeom>
          <a:solidFill>
            <a:srgbClr val="EDF1F3"/>
          </a:solidFill>
          <a:ln>
            <a:noFill/>
          </a:ln>
        </p:spPr>
        <p:txBody>
          <a:bodyPr rtlCol="0" anchor="ctr" wrap="square" lIns="54864" rIns="54864" tIns="54864" bIns="54864"/>
          <a:lstStyle/>
          <a:p>
            <a:pPr algn="ctr"/>
          </a:p>
        </p:txBody>
      </p:sp>
      <p:sp>
        <p:nvSpPr>
          <p:cNvPr id="19" name="TextBox 18"/>
          <p:cNvSpPr txBox="1"/>
          <p:nvPr/>
        </p:nvSpPr>
        <p:spPr>
          <a:xfrm>
            <a:off x="6181344" y="1042415"/>
            <a:ext cx="2377440" cy="457200"/>
          </a:xfrm>
          <a:prstGeom prst="rect">
            <a:avLst/>
          </a:prstGeom>
          <a:noFill/>
        </p:spPr>
        <p:txBody>
          <a:bodyPr wrap="square" lIns="36576" rIns="36576" tIns="36576" bIns="36576" anchor="t"/>
          <a:lstStyle/>
          <a:p>
            <a:pPr algn="l" marL="0" indent="0">
              <a:spcAft>
                <a:spcPts val="400"/>
              </a:spcAft>
              <a:buNone/>
            </a:pPr>
            <a:r>
              <a:rPr sz="2200" b="1" i="0" lang="es-CL">
                <a:solidFill>
                  <a:srgbClr val="634F7D"/>
                </a:solidFill>
                <a:latin typeface="Bitter"/>
                <a:ea typeface="Bitter"/>
                <a:cs typeface="Bitter"/>
              </a:rPr>
              <a:t>SBOM</a:t>
            </a:r>
          </a:p>
        </p:txBody>
      </p:sp>
      <p:sp>
        <p:nvSpPr>
          <p:cNvPr id="20" name="TextBox 19"/>
          <p:cNvSpPr txBox="1"/>
          <p:nvPr/>
        </p:nvSpPr>
        <p:spPr>
          <a:xfrm>
            <a:off x="6181344" y="1517904"/>
            <a:ext cx="2423160" cy="274320"/>
          </a:xfrm>
          <a:prstGeom prst="rect">
            <a:avLst/>
          </a:prstGeom>
          <a:noFill/>
        </p:spPr>
        <p:txBody>
          <a:bodyPr wrap="square" lIns="36576" rIns="36576" tIns="36576" bIns="36576" anchor="t"/>
          <a:lstStyle/>
          <a:p>
            <a:pPr algn="l" marL="0" indent="0">
              <a:spcAft>
                <a:spcPts val="400"/>
              </a:spcAft>
              <a:buNone/>
            </a:pPr>
            <a:r>
              <a:rPr sz="1200" b="0" i="0" lang="es-CL">
                <a:solidFill>
                  <a:srgbClr val="57606A"/>
                </a:solidFill>
                <a:latin typeface="Inter"/>
                <a:ea typeface="Inter"/>
                <a:cs typeface="Inter"/>
              </a:rPr>
              <a:t>Software Bill of Materials</a:t>
            </a:r>
          </a:p>
        </p:txBody>
      </p:sp>
      <p:sp>
        <p:nvSpPr>
          <p:cNvPr id="21" name="TextBox 20"/>
          <p:cNvSpPr txBox="1"/>
          <p:nvPr/>
        </p:nvSpPr>
        <p:spPr>
          <a:xfrm>
            <a:off x="6181344" y="1865376"/>
            <a:ext cx="2423160" cy="77724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Inventario de todo lo que va dentro de la imagen.</a:t>
            </a:r>
          </a:p>
        </p:txBody>
      </p:sp>
      <p:sp>
        <p:nvSpPr>
          <p:cNvPr id="22" name="TextBox 21"/>
          <p:cNvSpPr txBox="1"/>
          <p:nvPr/>
        </p:nvSpPr>
        <p:spPr>
          <a:xfrm>
            <a:off x="6181344" y="2697480"/>
            <a:ext cx="2423160" cy="274320"/>
          </a:xfrm>
          <a:prstGeom prst="rect">
            <a:avLst/>
          </a:prstGeom>
          <a:noFill/>
        </p:spPr>
        <p:txBody>
          <a:bodyPr wrap="square" lIns="36576" rIns="36576" tIns="36576" bIns="36576" anchor="t"/>
          <a:lstStyle/>
          <a:p>
            <a:pPr algn="l" marL="0" indent="0">
              <a:spcAft>
                <a:spcPts val="400"/>
              </a:spcAft>
              <a:buNone/>
            </a:pPr>
            <a:r>
              <a:rPr sz="1200" b="1" i="0" lang="es-CL">
                <a:solidFill>
                  <a:srgbClr val="003D4F"/>
                </a:solidFill>
                <a:latin typeface="Inter"/>
                <a:ea typeface="Inter"/>
                <a:cs typeface="Inter"/>
              </a:rPr>
              <a:t>En este repo</a:t>
            </a:r>
          </a:p>
        </p:txBody>
      </p:sp>
      <p:sp>
        <p:nvSpPr>
          <p:cNvPr id="23" name="TextBox 22"/>
          <p:cNvSpPr txBox="1"/>
          <p:nvPr/>
        </p:nvSpPr>
        <p:spPr>
          <a:xfrm>
            <a:off x="6181344" y="2990088"/>
            <a:ext cx="2423160" cy="621792"/>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Trivy genera el SBOM CycloneDX (etapa 8)</a:t>
            </a:r>
          </a:p>
        </p:txBody>
      </p:sp>
      <p:sp>
        <p:nvSpPr>
          <p:cNvPr id="24" name="TextBox 23"/>
          <p:cNvSpPr txBox="1"/>
          <p:nvPr/>
        </p:nvSpPr>
        <p:spPr>
          <a:xfrm>
            <a:off x="6181344" y="3767328"/>
            <a:ext cx="2423160" cy="640080"/>
          </a:xfrm>
          <a:prstGeom prst="rect">
            <a:avLst/>
          </a:prstGeom>
          <a:noFill/>
        </p:spPr>
        <p:txBody>
          <a:bodyPr wrap="square" lIns="36576" rIns="36576" tIns="36576" bIns="36576" anchor="t"/>
          <a:lstStyle/>
          <a:p>
            <a:pPr algn="l" marL="0" indent="0">
              <a:spcAft>
                <a:spcPts val="400"/>
              </a:spcAft>
              <a:buNone/>
            </a:pPr>
            <a:r>
              <a:rPr sz="1200" b="0" i="1" lang="es-CL">
                <a:solidFill>
                  <a:srgbClr val="634F7D"/>
                </a:solidFill>
                <a:latin typeface="Inter"/>
                <a:ea typeface="Inter"/>
                <a:cs typeface="Inter"/>
              </a:rPr>
              <a:t>Analogía: La lista de ingredientes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Las herramientas de seguridad, etapa por etapa</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graphicFrame>
        <p:nvGraphicFramePr>
          <p:cNvPr id="4" name="Table 3"/>
          <p:cNvGraphicFramePr>
            <a:graphicFrameLocks noGrp="1"/>
          </p:cNvGraphicFramePr>
          <p:nvPr/>
        </p:nvGraphicFramePr>
        <p:xfrm>
          <a:off x="411480" y="987552"/>
          <a:ext cx="8321040" cy="3474720"/>
        </p:xfrm>
        <a:graphic>
          <a:graphicData uri="http://schemas.openxmlformats.org/drawingml/2006/table">
            <a:tbl>
              <a:tblPr firstRow="0" bandRow="0">
                <a:tableStyleId>{5C22544A-7EE6-4342-B048-85BDC9FD1C3A}</a:tableStyleId>
              </a:tblPr>
              <a:tblGrid>
                <a:gridCol w="2377440"/>
                <a:gridCol w="1600200"/>
                <a:gridCol w="3703320"/>
                <a:gridCol w="640080"/>
              </a:tblGrid>
              <a:tr h="347472">
                <a:tc>
                  <a:txBody>
                    <a:bodyPr wrap="square"/>
                    <a:lstStyle/>
                    <a:p>
                      <a:pPr algn="l" marL="0" indent="0">
                        <a:spcAft>
                          <a:spcPts val="0"/>
                        </a:spcAft>
                        <a:buNone/>
                      </a:pPr>
                      <a:r>
                        <a:rPr sz="1200" b="1" i="0" lang="es-CL">
                          <a:solidFill>
                            <a:srgbClr val="FFFFFF"/>
                          </a:solidFill>
                          <a:latin typeface="Inter"/>
                          <a:ea typeface="Inter"/>
                          <a:cs typeface="Inter"/>
                        </a:rPr>
                        <a:t>Herramienta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Tipo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l" marL="0" indent="0">
                        <a:spcAft>
                          <a:spcPts val="0"/>
                        </a:spcAft>
                        <a:buNone/>
                      </a:pPr>
                      <a:r>
                        <a:rPr sz="1200" b="1" i="0" lang="es-CL">
                          <a:solidFill>
                            <a:srgbClr val="FFFFFF"/>
                          </a:solidFill>
                          <a:latin typeface="Inter"/>
                          <a:ea typeface="Inter"/>
                          <a:cs typeface="Inter"/>
                        </a:rPr>
                        <a:t>Qué detecta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c>
                  <a:txBody>
                    <a:bodyPr wrap="square"/>
                    <a:lstStyle/>
                    <a:p>
                      <a:pPr algn="ctr" marL="0" indent="0">
                        <a:spcAft>
                          <a:spcPts val="0"/>
                        </a:spcAft>
                        <a:buNone/>
                      </a:pPr>
                      <a:r>
                        <a:rPr sz="1200" b="1" i="0" lang="es-CL">
                          <a:solidFill>
                            <a:srgbClr val="FFFFFF"/>
                          </a:solidFill>
                          <a:latin typeface="Inter"/>
                          <a:ea typeface="Inter"/>
                          <a:cs typeface="Inter"/>
                        </a:rPr>
                        <a:t>Etapa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003D4F"/>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gitleaks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Secretos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Llaves y tokens en commits y en el historial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ctr" marL="0" indent="0">
                        <a:spcAft>
                          <a:spcPts val="0"/>
                        </a:spcAft>
                        <a:buNone/>
                      </a:pPr>
                      <a:r>
                        <a:rPr sz="1200" b="0" i="0" lang="es-CL">
                          <a:solidFill>
                            <a:srgbClr val="1F2328"/>
                          </a:solidFill>
                          <a:latin typeface="Inter"/>
                          <a:ea typeface="Inter"/>
                          <a:cs typeface="Inter"/>
                        </a:rPr>
                        <a:t>1</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hadolint, actionlint, zizmor</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IaC y CI</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Dockerfile y workflows inseguros o mal escritos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ctr" marL="0" indent="0">
                        <a:spcAft>
                          <a:spcPts val="0"/>
                        </a:spcAft>
                        <a:buNone/>
                      </a:pPr>
                      <a:r>
                        <a:rPr sz="1200" b="0" i="0" lang="es-CL">
                          <a:solidFill>
                            <a:srgbClr val="1F2328"/>
                          </a:solidFill>
                          <a:latin typeface="Inter"/>
                          <a:ea typeface="Inter"/>
                          <a:cs typeface="Inter"/>
                        </a:rPr>
                        <a:t>2</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Semgrep</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SAST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Patrones inseguros, también con reglas propias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ctr" marL="0" indent="0">
                        <a:spcAft>
                          <a:spcPts val="0"/>
                        </a:spcAft>
                        <a:buNone/>
                      </a:pPr>
                      <a:r>
                        <a:rPr sz="1200" b="0" i="0" lang="es-CL">
                          <a:solidFill>
                            <a:srgbClr val="1F2328"/>
                          </a:solidFill>
                          <a:latin typeface="Inter"/>
                          <a:ea typeface="Inter"/>
                          <a:cs typeface="Inter"/>
                        </a:rPr>
                        <a:t>3</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CodeQL</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SAST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Un input que fluye hasta una consulta o la respuesta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ctr" marL="0" indent="0">
                        <a:spcAft>
                          <a:spcPts val="0"/>
                        </a:spcAft>
                        <a:buNone/>
                      </a:pPr>
                      <a:r>
                        <a:rPr sz="1200" b="0" i="0" lang="es-CL">
                          <a:solidFill>
                            <a:srgbClr val="1F2328"/>
                          </a:solidFill>
                          <a:latin typeface="Inter"/>
                          <a:ea typeface="Inter"/>
                          <a:cs typeface="Inter"/>
                        </a:rPr>
                        <a:t>3</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Dependency review, npm audit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SCA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Dependencias con CVE high o crítica</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ctr" marL="0" indent="0">
                        <a:spcAft>
                          <a:spcPts val="0"/>
                        </a:spcAft>
                        <a:buNone/>
                      </a:pPr>
                      <a:r>
                        <a:rPr sz="1200" b="0" i="0" lang="es-CL">
                          <a:solidFill>
                            <a:srgbClr val="1F2328"/>
                          </a:solidFill>
                          <a:latin typeface="Inter"/>
                          <a:ea typeface="Inter"/>
                          <a:cs typeface="Inter"/>
                        </a:rPr>
                        <a:t>4</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Trivy</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SCA, secretos, IaC</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CVE en el repo y en las imágenes, misconfig</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ctr" marL="0" indent="0">
                        <a:spcAft>
                          <a:spcPts val="0"/>
                        </a:spcAft>
                        <a:buNone/>
                      </a:pPr>
                      <a:r>
                        <a:rPr sz="1200" b="0" i="0" lang="es-CL">
                          <a:solidFill>
                            <a:srgbClr val="1F2328"/>
                          </a:solidFill>
                          <a:latin typeface="Inter"/>
                          <a:ea typeface="Inter"/>
                          <a:cs typeface="Inter"/>
                        </a:rPr>
                        <a:t>4 y 8</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SBOM (CycloneDX)</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SBOM</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Inventario de cada imagen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ctr" marL="0" indent="0">
                        <a:spcAft>
                          <a:spcPts val="0"/>
                        </a:spcAft>
                        <a:buNone/>
                      </a:pPr>
                      <a:r>
                        <a:rPr sz="1200" b="0" i="0" lang="es-CL">
                          <a:solidFill>
                            <a:srgbClr val="1F2328"/>
                          </a:solidFill>
                          <a:latin typeface="Inter"/>
                          <a:ea typeface="Inter"/>
                          <a:cs typeface="Inter"/>
                        </a:rPr>
                        <a:t>8</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OWASP ZAP</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DAST</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Headers, cookies e inyecciones en la app corriendo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ctr" marL="0" indent="0">
                        <a:spcAft>
                          <a:spcPts val="0"/>
                        </a:spcAft>
                        <a:buNone/>
                      </a:pPr>
                      <a:r>
                        <a:rPr sz="1200" b="0" i="0" lang="es-CL">
                          <a:solidFill>
                            <a:srgbClr val="1F2328"/>
                          </a:solidFill>
                          <a:latin typeface="Inter"/>
                          <a:ea typeface="Inter"/>
                          <a:cs typeface="Inter"/>
                        </a:rPr>
                        <a:t>9</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47472">
                <a:tc>
                  <a:txBody>
                    <a:bodyPr wrap="square"/>
                    <a:lstStyle/>
                    <a:p>
                      <a:pPr algn="l" marL="0" indent="0">
                        <a:spcAft>
                          <a:spcPts val="0"/>
                        </a:spcAft>
                        <a:buNone/>
                      </a:pPr>
                      <a:r>
                        <a:rPr sz="1200" b="1" i="0" lang="es-CL">
                          <a:solidFill>
                            <a:srgbClr val="1F2328"/>
                          </a:solidFill>
                          <a:latin typeface="Inter"/>
                          <a:ea typeface="Inter"/>
                          <a:cs typeface="Inter"/>
                        </a:rPr>
                        <a:t>Schemathesis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Fuzzing</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Errores 500 y desvíos del contrato</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ctr" marL="0" indent="0">
                        <a:spcAft>
                          <a:spcPts val="0"/>
                        </a:spcAft>
                        <a:buNone/>
                      </a:pPr>
                      <a:r>
                        <a:rPr sz="1200" b="0" i="0" lang="es-CL">
                          <a:solidFill>
                            <a:srgbClr val="1F2328"/>
                          </a:solidFill>
                          <a:latin typeface="Inter"/>
                          <a:ea typeface="Inter"/>
                          <a:cs typeface="Inter"/>
                        </a:rPr>
                        <a:t>9</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SAST con reglas de la spec: Semgrep</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Análisis estático con reglas propias que convierten decisiones de la spec en chequeos.</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Hora del sistema en el dominio, SQL concatenado, fetch en componentes.</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Semgrep con reglas del registro y .semgrep/rules.yml. CodeQL suma flujo de datos.</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3. Un hallazgo ERROR rompe el build y queda en la pestaña Security.</a:t>
            </a:r>
          </a:p>
        </p:txBody>
      </p:sp>
      <p:sp>
        <p:nvSpPr>
          <p:cNvPr id="12" name="Rounded Rectangle 11"/>
          <p:cNvSpPr/>
          <p:nvPr/>
        </p:nvSpPr>
        <p:spPr>
          <a:xfrm>
            <a:off x="411480" y="2331720"/>
            <a:ext cx="8321040" cy="2240279"/>
          </a:xfrm>
          <a:prstGeom prst="roundRect">
            <a:avLst>
              <a:gd name="adj" fmla="val 2448"/>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37744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.semgrep/rules.yml (extracto)</a:t>
            </a:r>
          </a:p>
        </p:txBody>
      </p:sp>
      <p:sp>
        <p:nvSpPr>
          <p:cNvPr id="14" name="TextBox 13"/>
          <p:cNvSpPr txBox="1"/>
          <p:nvPr/>
        </p:nvSpPr>
        <p:spPr>
          <a:xfrm>
            <a:off x="521208" y="2642616"/>
            <a:ext cx="8101583" cy="1874519"/>
          </a:xfrm>
          <a:prstGeom prst="rect">
            <a:avLst/>
          </a:prstGeom>
          <a:noFill/>
        </p:spPr>
        <p:txBody>
          <a:bodyPr wrap="none" lIns="0" rIns="0" tIns="0" bIns="0"/>
          <a:lstStyle/>
          <a:p>
            <a:pPr marL="0" indent="0">
              <a:lnSpc>
                <a:spcPct val="100000"/>
              </a:lnSpc>
              <a:spcAft>
                <a:spcPts val="0"/>
              </a:spcAft>
              <a:buNone/>
            </a:pPr>
            <a:r>
              <a:rPr sz="1100" b="0" i="0" lang="es-CL">
                <a:solidFill>
                  <a:srgbClr val="0451A5"/>
                </a:solidFill>
                <a:latin typeface="Consolas"/>
                <a:ea typeface="Consolas"/>
                <a:cs typeface="Consolas"/>
              </a:rPr>
              <a:t>- id</a:t>
            </a:r>
            <a:r>
              <a:rPr sz="1100" b="0" i="0" lang="es-CL">
                <a:solidFill>
                  <a:srgbClr val="1F2328"/>
                </a:solidFill>
                <a:latin typeface="Consolas"/>
                <a:ea typeface="Consolas"/>
                <a:cs typeface="Consolas"/>
              </a:rPr>
              <a:t>: biblioteca-usar-clock</a:t>
            </a:r>
          </a:p>
          <a:p>
            <a:pPr marL="0" indent="0">
              <a:lnSpc>
                <a:spcPct val="100000"/>
              </a:lnSpc>
              <a:spcAft>
                <a:spcPts val="0"/>
              </a:spcAft>
              <a:buNone/>
            </a:pPr>
            <a:r>
              <a:rPr sz="1100" b="0" i="0" lang="es-CL">
                <a:solidFill>
                  <a:srgbClr val="0451A5"/>
                </a:solidFill>
                <a:latin typeface="Consolas"/>
                <a:ea typeface="Consolas"/>
                <a:cs typeface="Consolas"/>
              </a:rPr>
              <a:t>  languages</a:t>
            </a:r>
            <a:r>
              <a:rPr sz="1100" b="0" i="0" lang="es-CL">
                <a:solidFill>
                  <a:srgbClr val="1F2328"/>
                </a:solidFill>
                <a:latin typeface="Consolas"/>
                <a:ea typeface="Consolas"/>
                <a:cs typeface="Consolas"/>
              </a:rPr>
              <a:t>: [typescript]</a:t>
            </a:r>
          </a:p>
          <a:p>
            <a:pPr marL="0" indent="0">
              <a:lnSpc>
                <a:spcPct val="100000"/>
              </a:lnSpc>
              <a:spcAft>
                <a:spcPts val="0"/>
              </a:spcAft>
              <a:buNone/>
            </a:pPr>
            <a:r>
              <a:rPr sz="1100" b="0" i="0" lang="es-CL">
                <a:solidFill>
                  <a:srgbClr val="0451A5"/>
                </a:solidFill>
                <a:latin typeface="Consolas"/>
                <a:ea typeface="Consolas"/>
                <a:cs typeface="Consolas"/>
              </a:rPr>
              <a:t>  severity</a:t>
            </a:r>
            <a:r>
              <a:rPr sz="1100" b="0" i="0" lang="es-CL">
                <a:solidFill>
                  <a:srgbClr val="1F2328"/>
                </a:solidFill>
                <a:latin typeface="Consolas"/>
                <a:ea typeface="Consolas"/>
                <a:cs typeface="Consolas"/>
              </a:rPr>
              <a:t>: ERROR</a:t>
            </a:r>
          </a:p>
          <a:p>
            <a:pPr marL="0" indent="0">
              <a:lnSpc>
                <a:spcPct val="100000"/>
              </a:lnSpc>
              <a:spcAft>
                <a:spcPts val="0"/>
              </a:spcAft>
              <a:buNone/>
            </a:pPr>
            <a:r>
              <a:rPr sz="1100" b="0" i="0" lang="es-CL">
                <a:solidFill>
                  <a:srgbClr val="0451A5"/>
                </a:solidFill>
                <a:latin typeface="Consolas"/>
                <a:ea typeface="Consolas"/>
                <a:cs typeface="Consolas"/>
              </a:rPr>
              <a:t>  message</a:t>
            </a:r>
            <a:r>
              <a:rPr sz="1100" b="0" i="0" lang="es-CL">
                <a:solidFill>
                  <a:srgbClr val="1F2328"/>
                </a:solidFill>
                <a:latin typeface="Consolas"/>
                <a:ea typeface="Consolas"/>
                <a:cs typeface="Consolas"/>
              </a:rPr>
              <a:t>: &gt;-</a:t>
            </a:r>
          </a:p>
          <a:p>
            <a:pPr marL="0" indent="0">
              <a:lnSpc>
                <a:spcPct val="100000"/>
              </a:lnSpc>
              <a:spcAft>
                <a:spcPts val="0"/>
              </a:spcAft>
              <a:buNone/>
            </a:pPr>
            <a:r>
              <a:rPr sz="1100" b="0" i="0" lang="es-CL">
                <a:solidFill>
                  <a:srgbClr val="1F2328"/>
                </a:solidFill>
                <a:latin typeface="Consolas"/>
                <a:ea typeface="Consolas"/>
                <a:cs typeface="Consolas"/>
              </a:rPr>
              <a:t>    No leas la hora del sistema en domain ni application. Recibe la hora desde el</a:t>
            </a:r>
          </a:p>
          <a:p>
            <a:pPr marL="0" indent="0">
              <a:lnSpc>
                <a:spcPct val="100000"/>
              </a:lnSpc>
              <a:spcAft>
                <a:spcPts val="0"/>
              </a:spcAft>
              <a:buNone/>
            </a:pPr>
            <a:r>
              <a:rPr sz="1100" b="0" i="0" lang="es-CL">
                <a:solidFill>
                  <a:srgbClr val="1F2328"/>
                </a:solidFill>
                <a:latin typeface="Consolas"/>
                <a:ea typeface="Consolas"/>
                <a:cs typeface="Consolas"/>
              </a:rPr>
              <a:t>    puerto Clock (SPEC-LIB-</a:t>
            </a:r>
            <a:r>
              <a:rPr sz="1100" b="0" i="0" lang="es-CL">
                <a:solidFill>
                  <a:srgbClr val="098658"/>
                </a:solidFill>
                <a:latin typeface="Consolas"/>
                <a:ea typeface="Consolas"/>
                <a:cs typeface="Consolas"/>
              </a:rPr>
              <a:t>02</a:t>
            </a:r>
            <a:r>
              <a:rPr sz="1100" b="0" i="0" lang="es-CL">
                <a:solidFill>
                  <a:srgbClr val="1F2328"/>
                </a:solidFill>
                <a:latin typeface="Consolas"/>
                <a:ea typeface="Consolas"/>
                <a:cs typeface="Consolas"/>
              </a:rPr>
              <a:t>, LOAN-R6): así los tests usan un reloj fijo y el</a:t>
            </a:r>
          </a:p>
          <a:p>
            <a:pPr marL="0" indent="0">
              <a:lnSpc>
                <a:spcPct val="100000"/>
              </a:lnSpc>
              <a:spcAft>
                <a:spcPts val="0"/>
              </a:spcAft>
              <a:buNone/>
            </a:pPr>
            <a:r>
              <a:rPr sz="1100" b="0" i="0" lang="es-CL">
                <a:solidFill>
                  <a:srgbClr val="1F2328"/>
                </a:solidFill>
                <a:latin typeface="Consolas"/>
                <a:ea typeface="Consolas"/>
                <a:cs typeface="Consolas"/>
              </a:rPr>
              <a:t>    estado OVERDUE es determinista.</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0451A5"/>
                </a:solidFill>
                <a:latin typeface="Consolas"/>
                <a:ea typeface="Consolas"/>
                <a:cs typeface="Consolas"/>
              </a:rPr>
              <a:t>  pattern-either</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0451A5"/>
                </a:solidFill>
                <a:latin typeface="Consolas"/>
                <a:ea typeface="Consolas"/>
                <a:cs typeface="Consolas"/>
              </a:rPr>
              <a:t>    - pattern</a:t>
            </a:r>
            <a:r>
              <a:rPr sz="1100" b="0" i="0" lang="es-CL">
                <a:solidFill>
                  <a:srgbClr val="1F2328"/>
                </a:solidFill>
                <a:latin typeface="Consolas"/>
                <a:ea typeface="Consolas"/>
                <a:cs typeface="Consolas"/>
              </a:rPr>
              <a:t>: Date.now()</a:t>
            </a:r>
          </a:p>
          <a:p>
            <a:pPr marL="0" indent="0">
              <a:lnSpc>
                <a:spcPct val="100000"/>
              </a:lnSpc>
              <a:spcAft>
                <a:spcPts val="0"/>
              </a:spcAft>
              <a:buNone/>
            </a:pPr>
            <a:r>
              <a:rPr sz="1100" b="0" i="0" lang="es-CL">
                <a:solidFill>
                  <a:srgbClr val="0451A5"/>
                </a:solidFill>
                <a:latin typeface="Consolas"/>
                <a:ea typeface="Consolas"/>
                <a:cs typeface="Consolas"/>
              </a:rPr>
              <a:t>    - pattern</a:t>
            </a:r>
            <a:r>
              <a:rPr sz="1100" b="0" i="0" lang="es-CL">
                <a:solidFill>
                  <a:srgbClr val="1F2328"/>
                </a:solidFill>
                <a:latin typeface="Consolas"/>
                <a:ea typeface="Consolas"/>
                <a:cs typeface="Consolas"/>
              </a:rPr>
              <a:t>: new Date()</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SAST en la estrategia de seguridad, p. 225.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DAST: OWASP ZAP contra el stack real</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78408"/>
            <a:ext cx="1188720" cy="292608"/>
          </a:xfrm>
          <a:prstGeom prst="roundRect">
            <a:avLst>
              <a:gd name="adj" fmla="val 18750"/>
            </a:avLst>
          </a:prstGeom>
          <a:solidFill>
            <a:srgbClr val="003D4F"/>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es</a:t>
            </a:r>
          </a:p>
        </p:txBody>
      </p:sp>
      <p:sp>
        <p:nvSpPr>
          <p:cNvPr id="5" name="TextBox 4"/>
          <p:cNvSpPr txBox="1"/>
          <p:nvPr/>
        </p:nvSpPr>
        <p:spPr>
          <a:xfrm>
            <a:off x="170992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Ataca la app corriendo: baseline al frontend y API scan guiado por el OpenAPI.</a:t>
            </a:r>
          </a:p>
        </p:txBody>
      </p:sp>
      <p:sp>
        <p:nvSpPr>
          <p:cNvPr id="6" name="Rounded Rectangle 5"/>
          <p:cNvSpPr/>
          <p:nvPr/>
        </p:nvSpPr>
        <p:spPr>
          <a:xfrm>
            <a:off x="4617720" y="978408"/>
            <a:ext cx="1188720" cy="292608"/>
          </a:xfrm>
          <a:prstGeom prst="roundRect">
            <a:avLst>
              <a:gd name="adj" fmla="val 18750"/>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Qué detecta</a:t>
            </a:r>
          </a:p>
        </p:txBody>
      </p:sp>
      <p:sp>
        <p:nvSpPr>
          <p:cNvPr id="7" name="TextBox 6"/>
          <p:cNvSpPr txBox="1"/>
          <p:nvPr/>
        </p:nvSpPr>
        <p:spPr>
          <a:xfrm>
            <a:off x="5916168" y="941832"/>
            <a:ext cx="2816352" cy="60350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Headers de seguridad faltantes, cookies inseguras, inyecciones.</a:t>
            </a:r>
          </a:p>
        </p:txBody>
      </p:sp>
      <p:sp>
        <p:nvSpPr>
          <p:cNvPr id="8" name="Rounded Rectangle 7"/>
          <p:cNvSpPr/>
          <p:nvPr/>
        </p:nvSpPr>
        <p:spPr>
          <a:xfrm>
            <a:off x="411480" y="1645920"/>
            <a:ext cx="1188720" cy="292608"/>
          </a:xfrm>
          <a:prstGeom prst="roundRect">
            <a:avLst>
              <a:gd name="adj" fmla="val 1875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Herramienta</a:t>
            </a:r>
          </a:p>
        </p:txBody>
      </p:sp>
      <p:sp>
        <p:nvSpPr>
          <p:cNvPr id="9" name="TextBox 8"/>
          <p:cNvSpPr txBox="1"/>
          <p:nvPr/>
        </p:nvSpPr>
        <p:spPr>
          <a:xfrm>
            <a:off x="170992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OWASP ZAP con reglas versionadas en tools/zap/rules.tsv.</a:t>
            </a:r>
          </a:p>
        </p:txBody>
      </p:sp>
      <p:sp>
        <p:nvSpPr>
          <p:cNvPr id="10" name="Rounded Rectangle 9"/>
          <p:cNvSpPr/>
          <p:nvPr/>
        </p:nvSpPr>
        <p:spPr>
          <a:xfrm>
            <a:off x="4617720" y="1645920"/>
            <a:ext cx="1188720" cy="292608"/>
          </a:xfrm>
          <a:prstGeom prst="roundRect">
            <a:avLst>
              <a:gd name="adj" fmla="val 18750"/>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Dónde corre</a:t>
            </a:r>
          </a:p>
        </p:txBody>
      </p:sp>
      <p:sp>
        <p:nvSpPr>
          <p:cNvPr id="11" name="TextBox 10"/>
          <p:cNvSpPr txBox="1"/>
          <p:nvPr/>
        </p:nvSpPr>
        <p:spPr>
          <a:xfrm>
            <a:off x="5916168" y="1609344"/>
            <a:ext cx="2816352" cy="420624"/>
          </a:xfrm>
          <a:prstGeom prst="rect">
            <a:avLst/>
          </a:prstGeom>
          <a:noFill/>
        </p:spPr>
        <p:txBody>
          <a:bodyPr wrap="square" lIns="36576" rIns="36576" tIns="36576" bIns="36576" anchor="t"/>
          <a:lstStyle/>
          <a:p>
            <a:pPr algn="l" marL="0" indent="0">
              <a:spcAft>
                <a:spcPts val="0"/>
              </a:spcAft>
              <a:buNone/>
            </a:pPr>
            <a:r>
              <a:rPr sz="1200" b="0" i="0" lang="es-CL">
                <a:solidFill>
                  <a:srgbClr val="1F2328"/>
                </a:solidFill>
                <a:latin typeface="Inter"/>
                <a:ea typeface="Inter"/>
                <a:cs typeface="Inter"/>
              </a:rPr>
              <a:t>Etapa 9. Una alerta High o una regla FAIL rompe el build.</a:t>
            </a:r>
          </a:p>
        </p:txBody>
      </p:sp>
      <p:sp>
        <p:nvSpPr>
          <p:cNvPr id="12" name="Rounded Rectangle 11"/>
          <p:cNvSpPr/>
          <p:nvPr/>
        </p:nvSpPr>
        <p:spPr>
          <a:xfrm>
            <a:off x="411480" y="2148840"/>
            <a:ext cx="8321040" cy="2423159"/>
          </a:xfrm>
          <a:prstGeom prst="roundRect">
            <a:avLst>
              <a:gd name="adj" fmla="val 2264"/>
            </a:avLst>
          </a:prstGeom>
          <a:solidFill>
            <a:srgbClr val="F6F8FA"/>
          </a:solidFill>
          <a:ln w="9525">
            <a:solidFill>
              <a:srgbClr val="D0D7DE"/>
            </a:solidFill>
          </a:ln>
        </p:spPr>
        <p:txBody>
          <a:bodyPr rtlCol="0" anchor="ctr" wrap="square" lIns="54864" rIns="54864" tIns="54864" bIns="54864"/>
          <a:lstStyle/>
          <a:p>
            <a:pPr algn="ctr"/>
          </a:p>
        </p:txBody>
      </p:sp>
      <p:sp>
        <p:nvSpPr>
          <p:cNvPr id="13" name="TextBox 12"/>
          <p:cNvSpPr txBox="1"/>
          <p:nvPr/>
        </p:nvSpPr>
        <p:spPr>
          <a:xfrm>
            <a:off x="521208" y="21945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tools/zap/rules.tsv (extracto)</a:t>
            </a:r>
          </a:p>
        </p:txBody>
      </p:sp>
      <p:sp>
        <p:nvSpPr>
          <p:cNvPr id="14" name="TextBox 13"/>
          <p:cNvSpPr txBox="1"/>
          <p:nvPr/>
        </p:nvSpPr>
        <p:spPr>
          <a:xfrm>
            <a:off x="521208" y="2459736"/>
            <a:ext cx="8101583" cy="2057399"/>
          </a:xfrm>
          <a:prstGeom prst="rect">
            <a:avLst/>
          </a:prstGeom>
          <a:noFill/>
        </p:spPr>
        <p:txBody>
          <a:bodyPr wrap="none" lIns="0" rIns="0" tIns="0" bIns="0"/>
          <a:lstStyle/>
          <a:p>
            <a:pPr marL="0" indent="0">
              <a:lnSpc>
                <a:spcPct val="100000"/>
              </a:lnSpc>
              <a:spcAft>
                <a:spcPts val="0"/>
              </a:spcAft>
              <a:buNone/>
            </a:pPr>
            <a:r>
              <a:rPr sz="1100" b="0" i="0" lang="es-CL">
                <a:solidFill>
                  <a:srgbClr val="008000"/>
                </a:solidFill>
                <a:latin typeface="Consolas"/>
                <a:ea typeface="Consolas"/>
                <a:cs typeface="Consolas"/>
              </a:rPr>
              <a:t># Formato: &lt;id de regla&gt;&lt;TAB&gt;&lt;IGNORE|WARN|FAIL&gt;&lt;TAB&gt;(&lt;nombre&gt;)</a:t>
            </a:r>
          </a:p>
          <a:p>
            <a:pPr marL="0" indent="0">
              <a:lnSpc>
                <a:spcPct val="100000"/>
              </a:lnSpc>
              <a:spcAft>
                <a:spcPts val="0"/>
              </a:spcAft>
              <a:buNone/>
            </a:pPr>
            <a:r>
              <a:rPr sz="1100" b="0" i="0" lang="es-CL">
                <a:solidFill>
                  <a:srgbClr val="008000"/>
                </a:solidFill>
                <a:latin typeface="Consolas"/>
                <a:ea typeface="Consolas"/>
                <a:cs typeface="Consolas"/>
              </a:rPr>
              <a:t># Toda regla ignorada lleva su justificación en el comentario de arriba.</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008000"/>
                </a:solidFill>
                <a:latin typeface="Consolas"/>
                <a:ea typeface="Consolas"/>
                <a:cs typeface="Consolas"/>
              </a:rPr>
              <a:t># HSTS solo tiene sentido sobre HTTPS. En CI el stack corre en http://localhost.</a:t>
            </a:r>
          </a:p>
          <a:p>
            <a:pPr marL="0" indent="0">
              <a:lnSpc>
                <a:spcPct val="100000"/>
              </a:lnSpc>
              <a:spcAft>
                <a:spcPts val="0"/>
              </a:spcAft>
              <a:buNone/>
            </a:pPr>
            <a:r>
              <a:rPr sz="1100" b="0" i="0" lang="es-CL">
                <a:solidFill>
                  <a:srgbClr val="1F2328"/>
                </a:solidFill>
                <a:latin typeface="Consolas"/>
                <a:ea typeface="Consolas"/>
                <a:cs typeface="Consolas"/>
              </a:rPr>
              <a:t>10035   IGNORE  (Strict-Transport-Security Header Not Set)</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008000"/>
                </a:solidFill>
                <a:latin typeface="Consolas"/>
                <a:ea typeface="Consolas"/>
                <a:cs typeface="Consolas"/>
              </a:rPr>
              <a:t># Reglas que se mantienen visibles a propósito (hallazgos reales para conversar en clase):</a:t>
            </a:r>
          </a:p>
          <a:p>
            <a:pPr marL="0" indent="0">
              <a:lnSpc>
                <a:spcPct val="100000"/>
              </a:lnSpc>
              <a:spcAft>
                <a:spcPts val="0"/>
              </a:spcAft>
              <a:buNone/>
            </a:pPr>
            <a:r>
              <a:rPr sz="1100" b="0" i="0" lang="es-CL">
                <a:solidFill>
                  <a:srgbClr val="1F2328"/>
                </a:solidFill>
                <a:latin typeface="Consolas"/>
                <a:ea typeface="Consolas"/>
                <a:cs typeface="Consolas"/>
              </a:rPr>
              <a:t>10038   WARN    (Content Security Policy (CSP) Header Not Set)</a:t>
            </a:r>
          </a:p>
          <a:p>
            <a:pPr marL="0" indent="0">
              <a:lnSpc>
                <a:spcPct val="100000"/>
              </a:lnSpc>
              <a:spcAft>
                <a:spcPts val="0"/>
              </a:spcAft>
              <a:buNone/>
            </a:pP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008000"/>
                </a:solidFill>
                <a:latin typeface="Consolas"/>
                <a:ea typeface="Consolas"/>
                <a:cs typeface="Consolas"/>
              </a:rPr>
              <a:t># Inyecciones: si aparecen, el build falla aunque ZAP las considere de riesgo medio.</a:t>
            </a:r>
          </a:p>
          <a:p>
            <a:pPr marL="0" indent="0">
              <a:lnSpc>
                <a:spcPct val="100000"/>
              </a:lnSpc>
              <a:spcAft>
                <a:spcPts val="0"/>
              </a:spcAft>
              <a:buNone/>
            </a:pPr>
            <a:r>
              <a:rPr sz="1100" b="0" i="0" lang="es-CL">
                <a:solidFill>
                  <a:srgbClr val="1F2328"/>
                </a:solidFill>
                <a:latin typeface="Consolas"/>
                <a:ea typeface="Consolas"/>
                <a:cs typeface="Consolas"/>
              </a:rPr>
              <a:t>40018   FAIL    (SQL Injection)</a:t>
            </a:r>
          </a:p>
        </p:txBody>
      </p:sp>
      <p:sp>
        <p:nvSpPr>
          <p:cNvPr id="15" name="caption"/>
          <p:cNvSpPr txBox="1"/>
          <p:nvPr/>
        </p:nvSpPr>
        <p:spPr>
          <a:xfrm>
            <a:off x="411480" y="4608576"/>
            <a:ext cx="758952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Libro: ZAP, p. 229. Estrategia de seguridad, p. 225.</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El pipeline del repo: dos ciclos de feedback</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2148840"/>
            <a:ext cx="1005840" cy="914400"/>
          </a:xfrm>
          <a:prstGeom prst="roundRect">
            <a:avLst>
              <a:gd name="adj" fmla="val 8000"/>
            </a:avLst>
          </a:prstGeom>
          <a:solidFill>
            <a:srgbClr val="57606A"/>
          </a:solidFill>
          <a:ln>
            <a:noFill/>
          </a:ln>
        </p:spPr>
        <p:txBody>
          <a:bodyPr rtlCol="0" anchor="ctr" wrap="square" lIns="27432" rIns="27432" tIns="27432" bIns="27432"/>
          <a:lstStyle/>
          <a:p>
            <a:pPr algn="ctr" marL="0" indent="0">
              <a:spcAft>
                <a:spcPts val="0"/>
              </a:spcAft>
              <a:buNone/>
            </a:pPr>
            <a:r>
              <a:rPr sz="1200" b="1" i="0" lang="es-CL">
                <a:solidFill>
                  <a:srgbClr val="FFFFFF"/>
                </a:solidFill>
                <a:latin typeface="Inter"/>
                <a:ea typeface="Inter"/>
                <a:cs typeface="Inter"/>
              </a:rPr>
              <a:t>0</a:t>
            </a:r>
          </a:p>
          <a:p>
            <a:pPr algn="ctr" marL="0" indent="0">
              <a:spcAft>
                <a:spcPts val="0"/>
              </a:spcAft>
              <a:buNone/>
            </a:pPr>
            <a:r>
              <a:rPr sz="1200" b="0" i="0" lang="es-CL">
                <a:solidFill>
                  <a:srgbClr val="FFFFFF"/>
                </a:solidFill>
                <a:latin typeface="Inter"/>
                <a:ea typeface="Inter"/>
                <a:cs typeface="Inter"/>
              </a:rPr>
              <a:t>Detectar cambios</a:t>
            </a:r>
          </a:p>
        </p:txBody>
      </p:sp>
      <p:sp>
        <p:nvSpPr>
          <p:cNvPr id="5" name="Rounded Rectangle 4"/>
          <p:cNvSpPr/>
          <p:nvPr/>
        </p:nvSpPr>
        <p:spPr>
          <a:xfrm>
            <a:off x="1600200" y="960120"/>
            <a:ext cx="3703320" cy="3127248"/>
          </a:xfrm>
          <a:prstGeom prst="roundRect">
            <a:avLst>
              <a:gd name="adj" fmla="val 2339"/>
            </a:avLst>
          </a:prstGeom>
          <a:noFill/>
          <a:ln w="15875">
            <a:solidFill>
              <a:srgbClr val="D0D7DE"/>
            </a:solidFill>
            <a:prstDash val="dash"/>
          </a:ln>
        </p:spPr>
        <p:txBody>
          <a:bodyPr rtlCol="0" anchor="ctr" wrap="square" lIns="54864" rIns="54864" tIns="54864" bIns="54864"/>
          <a:lstStyle/>
          <a:p>
            <a:pPr algn="ctr"/>
          </a:p>
        </p:txBody>
      </p:sp>
      <p:sp>
        <p:nvSpPr>
          <p:cNvPr id="6" name="TextBox 5"/>
          <p:cNvSpPr txBox="1"/>
          <p:nvPr/>
        </p:nvSpPr>
        <p:spPr>
          <a:xfrm>
            <a:off x="1691640" y="978408"/>
            <a:ext cx="3520439" cy="274320"/>
          </a:xfrm>
          <a:prstGeom prst="rect">
            <a:avLst/>
          </a:prstGeom>
          <a:noFill/>
        </p:spPr>
        <p:txBody>
          <a:bodyPr wrap="square" lIns="36576" rIns="36576" tIns="36576" bIns="36576" anchor="t"/>
          <a:lstStyle/>
          <a:p>
            <a:pPr algn="l" marL="0" indent="0">
              <a:spcAft>
                <a:spcPts val="400"/>
              </a:spcAft>
              <a:buNone/>
            </a:pPr>
            <a:r>
              <a:rPr sz="1200" b="1" i="0" lang="es-CL">
                <a:solidFill>
                  <a:srgbClr val="57606A"/>
                </a:solidFill>
                <a:latin typeface="Inter"/>
                <a:ea typeface="Inter"/>
                <a:cs typeface="Inter"/>
              </a:rPr>
              <a:t>Primer ciclo: en paralelo, sin desplegar</a:t>
            </a:r>
          </a:p>
        </p:txBody>
      </p:sp>
      <p:sp>
        <p:nvSpPr>
          <p:cNvPr id="7" name="Rounded Rectangle 6"/>
          <p:cNvSpPr/>
          <p:nvPr/>
        </p:nvSpPr>
        <p:spPr>
          <a:xfrm>
            <a:off x="1691640" y="1298448"/>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8" name="Oval 7"/>
          <p:cNvSpPr/>
          <p:nvPr/>
        </p:nvSpPr>
        <p:spPr>
          <a:xfrm>
            <a:off x="1737360" y="1330451"/>
            <a:ext cx="274320" cy="274320"/>
          </a:xfrm>
          <a:prstGeom prst="ellipse">
            <a:avLst/>
          </a:prstGeom>
          <a:solidFill>
            <a:srgbClr val="980000"/>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1</a:t>
            </a:r>
          </a:p>
        </p:txBody>
      </p:sp>
      <p:sp>
        <p:nvSpPr>
          <p:cNvPr id="9" name="TextBox 8"/>
          <p:cNvSpPr txBox="1"/>
          <p:nvPr/>
        </p:nvSpPr>
        <p:spPr>
          <a:xfrm>
            <a:off x="2075688" y="1298448"/>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980000"/>
                </a:solidFill>
                <a:latin typeface="Inter"/>
                <a:ea typeface="Inter"/>
                <a:cs typeface="Inter"/>
              </a:rPr>
              <a:t>Secretos</a:t>
            </a:r>
          </a:p>
        </p:txBody>
      </p:sp>
      <p:sp>
        <p:nvSpPr>
          <p:cNvPr id="10" name="TextBox 9"/>
          <p:cNvSpPr txBox="1"/>
          <p:nvPr/>
        </p:nvSpPr>
        <p:spPr>
          <a:xfrm>
            <a:off x="3410712" y="1298448"/>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gitleaks</a:t>
            </a:r>
          </a:p>
        </p:txBody>
      </p:sp>
      <p:sp>
        <p:nvSpPr>
          <p:cNvPr id="11" name="Rounded Rectangle 10"/>
          <p:cNvSpPr/>
          <p:nvPr/>
        </p:nvSpPr>
        <p:spPr>
          <a:xfrm>
            <a:off x="1691640" y="1691639"/>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12" name="Oval 11"/>
          <p:cNvSpPr/>
          <p:nvPr/>
        </p:nvSpPr>
        <p:spPr>
          <a:xfrm>
            <a:off x="1737360" y="1723643"/>
            <a:ext cx="274320" cy="274320"/>
          </a:xfrm>
          <a:prstGeom prst="ellipse">
            <a:avLst/>
          </a:prstGeom>
          <a:solidFill>
            <a:srgbClr val="003D4F"/>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2</a:t>
            </a:r>
          </a:p>
        </p:txBody>
      </p:sp>
      <p:sp>
        <p:nvSpPr>
          <p:cNvPr id="13" name="TextBox 12"/>
          <p:cNvSpPr txBox="1"/>
          <p:nvPr/>
        </p:nvSpPr>
        <p:spPr>
          <a:xfrm>
            <a:off x="2075688" y="1691639"/>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003D4F"/>
                </a:solidFill>
                <a:latin typeface="Inter"/>
                <a:ea typeface="Inter"/>
                <a:cs typeface="Inter"/>
              </a:rPr>
              <a:t>Calidad y spec</a:t>
            </a:r>
          </a:p>
        </p:txBody>
      </p:sp>
      <p:sp>
        <p:nvSpPr>
          <p:cNvPr id="14" name="TextBox 13"/>
          <p:cNvSpPr txBox="1"/>
          <p:nvPr/>
        </p:nvSpPr>
        <p:spPr>
          <a:xfrm>
            <a:off x="3410712" y="1691639"/>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lint, tipos, contrato</a:t>
            </a:r>
          </a:p>
        </p:txBody>
      </p:sp>
      <p:sp>
        <p:nvSpPr>
          <p:cNvPr id="15" name="Rounded Rectangle 14"/>
          <p:cNvSpPr/>
          <p:nvPr/>
        </p:nvSpPr>
        <p:spPr>
          <a:xfrm>
            <a:off x="1691640" y="2084831"/>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16" name="Oval 15"/>
          <p:cNvSpPr/>
          <p:nvPr/>
        </p:nvSpPr>
        <p:spPr>
          <a:xfrm>
            <a:off x="1737360" y="2116836"/>
            <a:ext cx="274320" cy="274320"/>
          </a:xfrm>
          <a:prstGeom prst="ellipse">
            <a:avLst/>
          </a:prstGeom>
          <a:solidFill>
            <a:srgbClr val="980000"/>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3</a:t>
            </a:r>
          </a:p>
        </p:txBody>
      </p:sp>
      <p:sp>
        <p:nvSpPr>
          <p:cNvPr id="17" name="TextBox 16"/>
          <p:cNvSpPr txBox="1"/>
          <p:nvPr/>
        </p:nvSpPr>
        <p:spPr>
          <a:xfrm>
            <a:off x="2075688" y="2084831"/>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980000"/>
                </a:solidFill>
                <a:latin typeface="Inter"/>
                <a:ea typeface="Inter"/>
                <a:cs typeface="Inter"/>
              </a:rPr>
              <a:t>SAST</a:t>
            </a:r>
          </a:p>
        </p:txBody>
      </p:sp>
      <p:sp>
        <p:nvSpPr>
          <p:cNvPr id="18" name="TextBox 17"/>
          <p:cNvSpPr txBox="1"/>
          <p:nvPr/>
        </p:nvSpPr>
        <p:spPr>
          <a:xfrm>
            <a:off x="3410712" y="2084831"/>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Semgrep y CodeQL</a:t>
            </a:r>
          </a:p>
        </p:txBody>
      </p:sp>
      <p:sp>
        <p:nvSpPr>
          <p:cNvPr id="19" name="Rounded Rectangle 18"/>
          <p:cNvSpPr/>
          <p:nvPr/>
        </p:nvSpPr>
        <p:spPr>
          <a:xfrm>
            <a:off x="1691640" y="2478024"/>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20" name="Oval 19"/>
          <p:cNvSpPr/>
          <p:nvPr/>
        </p:nvSpPr>
        <p:spPr>
          <a:xfrm>
            <a:off x="1737360" y="2510028"/>
            <a:ext cx="274320" cy="274320"/>
          </a:xfrm>
          <a:prstGeom prst="ellipse">
            <a:avLst/>
          </a:prstGeom>
          <a:solidFill>
            <a:srgbClr val="980000"/>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4</a:t>
            </a:r>
          </a:p>
        </p:txBody>
      </p:sp>
      <p:sp>
        <p:nvSpPr>
          <p:cNvPr id="21" name="TextBox 20"/>
          <p:cNvSpPr txBox="1"/>
          <p:nvPr/>
        </p:nvSpPr>
        <p:spPr>
          <a:xfrm>
            <a:off x="2075688" y="2478024"/>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980000"/>
                </a:solidFill>
                <a:latin typeface="Inter"/>
                <a:ea typeface="Inter"/>
                <a:cs typeface="Inter"/>
              </a:rPr>
              <a:t>Dependencias</a:t>
            </a:r>
          </a:p>
        </p:txBody>
      </p:sp>
      <p:sp>
        <p:nvSpPr>
          <p:cNvPr id="22" name="TextBox 21"/>
          <p:cNvSpPr txBox="1"/>
          <p:nvPr/>
        </p:nvSpPr>
        <p:spPr>
          <a:xfrm>
            <a:off x="3410712" y="2478024"/>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npm audit, Trivy fs</a:t>
            </a:r>
          </a:p>
        </p:txBody>
      </p:sp>
      <p:sp>
        <p:nvSpPr>
          <p:cNvPr id="23" name="Rounded Rectangle 22"/>
          <p:cNvSpPr/>
          <p:nvPr/>
        </p:nvSpPr>
        <p:spPr>
          <a:xfrm>
            <a:off x="1691640" y="2871215"/>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24" name="Oval 23"/>
          <p:cNvSpPr/>
          <p:nvPr/>
        </p:nvSpPr>
        <p:spPr>
          <a:xfrm>
            <a:off x="1737360" y="2903220"/>
            <a:ext cx="274320" cy="274320"/>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5</a:t>
            </a:r>
          </a:p>
        </p:txBody>
      </p:sp>
      <p:sp>
        <p:nvSpPr>
          <p:cNvPr id="25" name="TextBox 24"/>
          <p:cNvSpPr txBox="1"/>
          <p:nvPr/>
        </p:nvSpPr>
        <p:spPr>
          <a:xfrm>
            <a:off x="2075688" y="2871215"/>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38761D"/>
                </a:solidFill>
                <a:latin typeface="Inter"/>
                <a:ea typeface="Inter"/>
                <a:cs typeface="Inter"/>
              </a:rPr>
              <a:t>Unitarios</a:t>
            </a:r>
          </a:p>
        </p:txBody>
      </p:sp>
      <p:sp>
        <p:nvSpPr>
          <p:cNvPr id="26" name="TextBox 25"/>
          <p:cNvSpPr txBox="1"/>
          <p:nvPr/>
        </p:nvSpPr>
        <p:spPr>
          <a:xfrm>
            <a:off x="3410712" y="2871215"/>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Jest y Vitest</a:t>
            </a:r>
          </a:p>
        </p:txBody>
      </p:sp>
      <p:sp>
        <p:nvSpPr>
          <p:cNvPr id="27" name="Rounded Rectangle 26"/>
          <p:cNvSpPr/>
          <p:nvPr/>
        </p:nvSpPr>
        <p:spPr>
          <a:xfrm>
            <a:off x="1691640" y="3264408"/>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28" name="Oval 27"/>
          <p:cNvSpPr/>
          <p:nvPr/>
        </p:nvSpPr>
        <p:spPr>
          <a:xfrm>
            <a:off x="1737360" y="3296412"/>
            <a:ext cx="274320" cy="274320"/>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6</a:t>
            </a:r>
          </a:p>
        </p:txBody>
      </p:sp>
      <p:sp>
        <p:nvSpPr>
          <p:cNvPr id="29" name="TextBox 28"/>
          <p:cNvSpPr txBox="1"/>
          <p:nvPr/>
        </p:nvSpPr>
        <p:spPr>
          <a:xfrm>
            <a:off x="2075688" y="3264408"/>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38761D"/>
                </a:solidFill>
                <a:latin typeface="Inter"/>
                <a:ea typeface="Inter"/>
                <a:cs typeface="Inter"/>
              </a:rPr>
              <a:t>Integración</a:t>
            </a:r>
          </a:p>
        </p:txBody>
      </p:sp>
      <p:sp>
        <p:nvSpPr>
          <p:cNvPr id="30" name="TextBox 29"/>
          <p:cNvSpPr txBox="1"/>
          <p:nvPr/>
        </p:nvSpPr>
        <p:spPr>
          <a:xfrm>
            <a:off x="3410712" y="3264408"/>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Testcontainers</a:t>
            </a:r>
          </a:p>
        </p:txBody>
      </p:sp>
      <p:sp>
        <p:nvSpPr>
          <p:cNvPr id="31" name="Rounded Rectangle 30"/>
          <p:cNvSpPr/>
          <p:nvPr/>
        </p:nvSpPr>
        <p:spPr>
          <a:xfrm>
            <a:off x="1691640" y="3657600"/>
            <a:ext cx="3520439" cy="338328"/>
          </a:xfrm>
          <a:prstGeom prst="roundRect">
            <a:avLst>
              <a:gd name="adj" fmla="val 21621"/>
            </a:avLst>
          </a:prstGeom>
          <a:solidFill>
            <a:srgbClr val="EDF1F3"/>
          </a:solidFill>
          <a:ln>
            <a:noFill/>
          </a:ln>
        </p:spPr>
        <p:txBody>
          <a:bodyPr rtlCol="0" anchor="ctr" wrap="square" lIns="54864" rIns="54864" tIns="54864" bIns="54864"/>
          <a:lstStyle/>
          <a:p>
            <a:pPr algn="ctr"/>
          </a:p>
        </p:txBody>
      </p:sp>
      <p:sp>
        <p:nvSpPr>
          <p:cNvPr id="32" name="Oval 31"/>
          <p:cNvSpPr/>
          <p:nvPr/>
        </p:nvSpPr>
        <p:spPr>
          <a:xfrm>
            <a:off x="1737360" y="3689604"/>
            <a:ext cx="274320" cy="274320"/>
          </a:xfrm>
          <a:prstGeom prst="ellipse">
            <a:avLst/>
          </a:prstGeom>
          <a:solidFill>
            <a:srgbClr val="38761D"/>
          </a:solidFill>
          <a:ln>
            <a:noFill/>
          </a:ln>
        </p:spPr>
        <p:txBody>
          <a:bodyPr rtlCol="0" anchor="ctr" wrap="square" lIns="0" rIns="0" tIns="0" bIns="0"/>
          <a:lstStyle/>
          <a:p>
            <a:pPr algn="ctr" marL="0" indent="0">
              <a:spcAft>
                <a:spcPts val="200"/>
              </a:spcAft>
              <a:buNone/>
            </a:pPr>
            <a:r>
              <a:rPr sz="1200" b="1" i="0" lang="es-CL">
                <a:solidFill>
                  <a:srgbClr val="FFFFFF"/>
                </a:solidFill>
                <a:latin typeface="Inter"/>
                <a:ea typeface="Inter"/>
                <a:cs typeface="Inter"/>
              </a:rPr>
              <a:t>7</a:t>
            </a:r>
          </a:p>
        </p:txBody>
      </p:sp>
      <p:sp>
        <p:nvSpPr>
          <p:cNvPr id="33" name="TextBox 32"/>
          <p:cNvSpPr txBox="1"/>
          <p:nvPr/>
        </p:nvSpPr>
        <p:spPr>
          <a:xfrm>
            <a:off x="2075688" y="3657600"/>
            <a:ext cx="1325880" cy="338328"/>
          </a:xfrm>
          <a:prstGeom prst="rect">
            <a:avLst/>
          </a:prstGeom>
          <a:noFill/>
        </p:spPr>
        <p:txBody>
          <a:bodyPr wrap="square" lIns="36576" rIns="36576" tIns="36576" bIns="36576" anchor="ctr"/>
          <a:lstStyle/>
          <a:p>
            <a:pPr algn="l" marL="0" indent="0">
              <a:spcAft>
                <a:spcPts val="400"/>
              </a:spcAft>
              <a:buNone/>
            </a:pPr>
            <a:r>
              <a:rPr sz="1200" b="1" i="0" lang="es-CL">
                <a:solidFill>
                  <a:srgbClr val="38761D"/>
                </a:solidFill>
                <a:latin typeface="Inter"/>
                <a:ea typeface="Inter"/>
                <a:cs typeface="Inter"/>
              </a:rPr>
              <a:t>E2E</a:t>
            </a:r>
          </a:p>
        </p:txBody>
      </p:sp>
      <p:sp>
        <p:nvSpPr>
          <p:cNvPr id="34" name="TextBox 33"/>
          <p:cNvSpPr txBox="1"/>
          <p:nvPr/>
        </p:nvSpPr>
        <p:spPr>
          <a:xfrm>
            <a:off x="3410712" y="3657600"/>
            <a:ext cx="1783079" cy="33832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Playwright + MSW</a:t>
            </a:r>
          </a:p>
        </p:txBody>
      </p:sp>
      <p:cxnSp>
        <p:nvCxnSpPr>
          <p:cNvPr id="35" name="Connector 34"/>
          <p:cNvCxnSpPr/>
          <p:nvPr/>
        </p:nvCxnSpPr>
        <p:spPr>
          <a:xfrm>
            <a:off x="1435608" y="2606040"/>
            <a:ext cx="146304" cy="0"/>
          </a:xfrm>
          <a:prstGeom prst="line">
            <a:avLst/>
          </a:prstGeom>
          <a:ln w="22225">
            <a:solidFill>
              <a:srgbClr val="8C959F"/>
            </a:solidFill>
            <a:tailEnd type="triangle" w="med" len="med"/>
          </a:ln>
        </p:spPr>
      </p:cxnSp>
      <p:sp>
        <p:nvSpPr>
          <p:cNvPr id="36" name="Rounded Rectangle 35"/>
          <p:cNvSpPr/>
          <p:nvPr/>
        </p:nvSpPr>
        <p:spPr>
          <a:xfrm>
            <a:off x="5486400" y="960120"/>
            <a:ext cx="2240280" cy="3127248"/>
          </a:xfrm>
          <a:prstGeom prst="roundRect">
            <a:avLst>
              <a:gd name="adj" fmla="val 3265"/>
            </a:avLst>
          </a:prstGeom>
          <a:noFill/>
          <a:ln w="15875">
            <a:solidFill>
              <a:srgbClr val="D0D7DE"/>
            </a:solidFill>
            <a:prstDash val="dash"/>
          </a:ln>
        </p:spPr>
        <p:txBody>
          <a:bodyPr rtlCol="0" anchor="ctr" wrap="square" lIns="54864" rIns="54864" tIns="54864" bIns="54864"/>
          <a:lstStyle/>
          <a:p>
            <a:pPr algn="ctr"/>
          </a:p>
        </p:txBody>
      </p:sp>
      <p:sp>
        <p:nvSpPr>
          <p:cNvPr id="37" name="TextBox 36"/>
          <p:cNvSpPr txBox="1"/>
          <p:nvPr/>
        </p:nvSpPr>
        <p:spPr>
          <a:xfrm>
            <a:off x="5559552" y="978408"/>
            <a:ext cx="2103120" cy="274320"/>
          </a:xfrm>
          <a:prstGeom prst="rect">
            <a:avLst/>
          </a:prstGeom>
          <a:noFill/>
        </p:spPr>
        <p:txBody>
          <a:bodyPr wrap="square" lIns="36576" rIns="36576" tIns="36576" bIns="36576" anchor="t"/>
          <a:lstStyle/>
          <a:p>
            <a:pPr algn="l" marL="0" indent="0">
              <a:spcAft>
                <a:spcPts val="400"/>
              </a:spcAft>
              <a:buNone/>
            </a:pPr>
            <a:r>
              <a:rPr sz="1200" b="1" i="0" lang="es-CL">
                <a:solidFill>
                  <a:srgbClr val="57606A"/>
                </a:solidFill>
                <a:latin typeface="Inter"/>
                <a:ea typeface="Inter"/>
                <a:cs typeface="Inter"/>
              </a:rPr>
              <a:t>Segundo ciclo: corriendo</a:t>
            </a:r>
          </a:p>
        </p:txBody>
      </p:sp>
      <p:sp>
        <p:nvSpPr>
          <p:cNvPr id="38" name="Rounded Rectangle 37"/>
          <p:cNvSpPr/>
          <p:nvPr/>
        </p:nvSpPr>
        <p:spPr>
          <a:xfrm>
            <a:off x="5577840" y="1298448"/>
            <a:ext cx="914400" cy="2651760"/>
          </a:xfrm>
          <a:prstGeom prst="roundRect">
            <a:avLst>
              <a:gd name="adj" fmla="val 8000"/>
            </a:avLst>
          </a:prstGeom>
          <a:solidFill>
            <a:srgbClr val="CC850A"/>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8</a:t>
            </a:r>
          </a:p>
          <a:p>
            <a:pPr algn="ctr" marL="0" indent="0">
              <a:spcAft>
                <a:spcPts val="200"/>
              </a:spcAft>
              <a:buNone/>
            </a:pPr>
            <a:r>
              <a:rPr sz="1200" b="0" i="0" lang="es-CL">
                <a:solidFill>
                  <a:srgbClr val="FFFFFF"/>
                </a:solidFill>
                <a:latin typeface="Inter"/>
                <a:ea typeface="Inter"/>
                <a:cs typeface="Inter"/>
              </a:rPr>
              <a:t>Build</a:t>
            </a:r>
          </a:p>
          <a:p>
            <a:pPr algn="ctr" marL="0" indent="0">
              <a:spcAft>
                <a:spcPts val="200"/>
              </a:spcAft>
              <a:buNone/>
            </a:pPr>
            <a:r>
              <a:rPr sz="1200" b="0" i="0" lang="es-CL">
                <a:solidFill>
                  <a:srgbClr val="FFFFFF"/>
                </a:solidFill>
                <a:latin typeface="Inter"/>
                <a:ea typeface="Inter"/>
                <a:cs typeface="Inter"/>
              </a:rPr>
              <a:t>Trivy image</a:t>
            </a:r>
          </a:p>
          <a:p>
            <a:pPr algn="ctr" marL="0" indent="0">
              <a:spcAft>
                <a:spcPts val="200"/>
              </a:spcAft>
              <a:buNone/>
            </a:pPr>
            <a:r>
              <a:rPr sz="1200" b="0" i="0" lang="es-CL">
                <a:solidFill>
                  <a:srgbClr val="FFFFFF"/>
                </a:solidFill>
                <a:latin typeface="Inter"/>
                <a:ea typeface="Inter"/>
                <a:cs typeface="Inter"/>
              </a:rPr>
              <a:t>SBOM</a:t>
            </a:r>
          </a:p>
        </p:txBody>
      </p:sp>
      <p:sp>
        <p:nvSpPr>
          <p:cNvPr id="39" name="Rounded Rectangle 38"/>
          <p:cNvSpPr/>
          <p:nvPr/>
        </p:nvSpPr>
        <p:spPr>
          <a:xfrm>
            <a:off x="6675120" y="1298448"/>
            <a:ext cx="960120" cy="1600200"/>
          </a:xfrm>
          <a:prstGeom prst="roundRect">
            <a:avLst>
              <a:gd name="adj" fmla="val 7619"/>
            </a:avLst>
          </a:prstGeom>
          <a:solidFill>
            <a:srgbClr val="38761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9</a:t>
            </a:r>
          </a:p>
          <a:p>
            <a:pPr algn="ctr" marL="0" indent="0">
              <a:spcAft>
                <a:spcPts val="200"/>
              </a:spcAft>
              <a:buNone/>
            </a:pPr>
            <a:r>
              <a:rPr sz="1200" b="0" i="0" lang="es-CL">
                <a:solidFill>
                  <a:srgbClr val="FFFFFF"/>
                </a:solidFill>
                <a:latin typeface="Inter"/>
                <a:ea typeface="Inter"/>
                <a:cs typeface="Inter"/>
              </a:rPr>
              <a:t>Sistema</a:t>
            </a:r>
          </a:p>
          <a:p>
            <a:pPr algn="ctr" marL="0" indent="0">
              <a:spcAft>
                <a:spcPts val="200"/>
              </a:spcAft>
              <a:buNone/>
            </a:pPr>
            <a:r>
              <a:rPr sz="1200" b="0" i="0" lang="es-CL">
                <a:solidFill>
                  <a:srgbClr val="FFFFFF"/>
                </a:solidFill>
                <a:latin typeface="Inter"/>
                <a:ea typeface="Inter"/>
                <a:cs typeface="Inter"/>
              </a:rPr>
              <a:t>smoke, k6, Lighthouse</a:t>
            </a:r>
          </a:p>
        </p:txBody>
      </p:sp>
      <p:sp>
        <p:nvSpPr>
          <p:cNvPr id="40" name="Rounded Rectangle 39"/>
          <p:cNvSpPr/>
          <p:nvPr/>
        </p:nvSpPr>
        <p:spPr>
          <a:xfrm>
            <a:off x="6675120" y="3017520"/>
            <a:ext cx="960120" cy="932688"/>
          </a:xfrm>
          <a:prstGeom prst="roundRect">
            <a:avLst>
              <a:gd name="adj" fmla="val 7843"/>
            </a:avLst>
          </a:prstGeom>
          <a:solidFill>
            <a:srgbClr val="980000"/>
          </a:solidFill>
          <a:ln>
            <a:noFill/>
          </a:ln>
        </p:spPr>
        <p:txBody>
          <a:bodyPr rtlCol="0" anchor="ctr" wrap="square" lIns="27432" rIns="27432" tIns="27432" bIns="27432"/>
          <a:lstStyle/>
          <a:p>
            <a:pPr algn="ctr" marL="0" indent="0">
              <a:spcAft>
                <a:spcPts val="100"/>
              </a:spcAft>
              <a:buNone/>
            </a:pPr>
            <a:r>
              <a:rPr sz="1200" b="1" i="0" lang="es-CL">
                <a:solidFill>
                  <a:srgbClr val="FFFFFF"/>
                </a:solidFill>
                <a:latin typeface="Inter"/>
                <a:ea typeface="Inter"/>
                <a:cs typeface="Inter"/>
              </a:rPr>
              <a:t>9</a:t>
            </a:r>
          </a:p>
          <a:p>
            <a:pPr algn="ctr" marL="0" indent="0">
              <a:spcAft>
                <a:spcPts val="100"/>
              </a:spcAft>
              <a:buNone/>
            </a:pPr>
            <a:r>
              <a:rPr sz="1200" b="0" i="0" lang="es-CL">
                <a:solidFill>
                  <a:srgbClr val="FFFFFF"/>
                </a:solidFill>
                <a:latin typeface="Inter"/>
                <a:ea typeface="Inter"/>
                <a:cs typeface="Inter"/>
              </a:rPr>
              <a:t>DAST</a:t>
            </a:r>
          </a:p>
          <a:p>
            <a:pPr algn="ctr" marL="0" indent="0">
              <a:spcAft>
                <a:spcPts val="100"/>
              </a:spcAft>
              <a:buNone/>
            </a:pPr>
            <a:r>
              <a:rPr sz="1200" b="0" i="0" lang="es-CL">
                <a:solidFill>
                  <a:srgbClr val="FFFFFF"/>
                </a:solidFill>
                <a:latin typeface="Inter"/>
                <a:ea typeface="Inter"/>
                <a:cs typeface="Inter"/>
              </a:rPr>
              <a:t>ZAP</a:t>
            </a:r>
          </a:p>
        </p:txBody>
      </p:sp>
      <p:cxnSp>
        <p:nvCxnSpPr>
          <p:cNvPr id="41" name="Connector 40"/>
          <p:cNvCxnSpPr/>
          <p:nvPr/>
        </p:nvCxnSpPr>
        <p:spPr>
          <a:xfrm>
            <a:off x="6510528" y="2103120"/>
            <a:ext cx="146304" cy="0"/>
          </a:xfrm>
          <a:prstGeom prst="line">
            <a:avLst/>
          </a:prstGeom>
          <a:ln w="19050">
            <a:solidFill>
              <a:srgbClr val="8C959F"/>
            </a:solidFill>
            <a:tailEnd type="triangle" w="med" len="med"/>
          </a:ln>
        </p:spPr>
      </p:cxnSp>
      <p:cxnSp>
        <p:nvCxnSpPr>
          <p:cNvPr id="42" name="Connector 41"/>
          <p:cNvCxnSpPr/>
          <p:nvPr/>
        </p:nvCxnSpPr>
        <p:spPr>
          <a:xfrm>
            <a:off x="6510528" y="3474720"/>
            <a:ext cx="146304" cy="0"/>
          </a:xfrm>
          <a:prstGeom prst="line">
            <a:avLst/>
          </a:prstGeom>
          <a:ln w="19050">
            <a:solidFill>
              <a:srgbClr val="8C959F"/>
            </a:solidFill>
            <a:tailEnd type="triangle" w="med" len="med"/>
          </a:ln>
        </p:spPr>
      </p:cxnSp>
      <p:cxnSp>
        <p:nvCxnSpPr>
          <p:cNvPr id="43" name="Connector 42"/>
          <p:cNvCxnSpPr/>
          <p:nvPr/>
        </p:nvCxnSpPr>
        <p:spPr>
          <a:xfrm>
            <a:off x="5321807" y="2606040"/>
            <a:ext cx="146305" cy="0"/>
          </a:xfrm>
          <a:prstGeom prst="line">
            <a:avLst/>
          </a:prstGeom>
          <a:ln w="22225">
            <a:solidFill>
              <a:srgbClr val="8C959F"/>
            </a:solidFill>
            <a:tailEnd type="triangle" w="med" len="med"/>
          </a:ln>
        </p:spPr>
      </p:cxnSp>
      <p:sp>
        <p:nvSpPr>
          <p:cNvPr id="44" name="Rounded Rectangle 43"/>
          <p:cNvSpPr/>
          <p:nvPr/>
        </p:nvSpPr>
        <p:spPr>
          <a:xfrm>
            <a:off x="7882127" y="1298448"/>
            <a:ext cx="850392" cy="1463040"/>
          </a:xfrm>
          <a:prstGeom prst="roundRect">
            <a:avLst>
              <a:gd name="adj" fmla="val 8602"/>
            </a:avLst>
          </a:prstGeom>
          <a:solidFill>
            <a:srgbClr val="634F7D"/>
          </a:solidFill>
          <a:ln>
            <a:noFill/>
          </a:ln>
        </p:spPr>
        <p:txBody>
          <a:bodyPr rtlCol="0" anchor="ctr" wrap="square" lIns="27432" rIns="27432" tIns="27432" bIns="27432"/>
          <a:lstStyle/>
          <a:p>
            <a:pPr algn="ctr" marL="0" indent="0">
              <a:spcAft>
                <a:spcPts val="200"/>
              </a:spcAft>
              <a:buNone/>
            </a:pPr>
            <a:r>
              <a:rPr sz="1200" b="1" i="0" lang="es-CL">
                <a:solidFill>
                  <a:srgbClr val="FFFFFF"/>
                </a:solidFill>
                <a:latin typeface="Inter"/>
                <a:ea typeface="Inter"/>
                <a:cs typeface="Inter"/>
              </a:rPr>
              <a:t>10</a:t>
            </a:r>
          </a:p>
          <a:p>
            <a:pPr algn="ctr" marL="0" indent="0">
              <a:spcAft>
                <a:spcPts val="200"/>
              </a:spcAft>
              <a:buNone/>
            </a:pPr>
            <a:r>
              <a:rPr sz="1200" b="0" i="0" lang="es-CL">
                <a:solidFill>
                  <a:srgbClr val="FFFFFF"/>
                </a:solidFill>
                <a:latin typeface="Inter"/>
                <a:ea typeface="Inter"/>
                <a:cs typeface="Inter"/>
              </a:rPr>
              <a:t>Evidencia en el PR</a:t>
            </a:r>
          </a:p>
        </p:txBody>
      </p:sp>
      <p:sp>
        <p:nvSpPr>
          <p:cNvPr id="45" name="Rounded Rectangle 44"/>
          <p:cNvSpPr/>
          <p:nvPr/>
        </p:nvSpPr>
        <p:spPr>
          <a:xfrm>
            <a:off x="7882127" y="2926080"/>
            <a:ext cx="850392" cy="1024128"/>
          </a:xfrm>
          <a:prstGeom prst="roundRect">
            <a:avLst>
              <a:gd name="adj" fmla="val 8602"/>
            </a:avLst>
          </a:prstGeom>
          <a:solidFill>
            <a:srgbClr val="1F2328"/>
          </a:solidFill>
          <a:ln>
            <a:noFill/>
          </a:ln>
        </p:spPr>
        <p:txBody>
          <a:bodyPr rtlCol="0" anchor="ctr" wrap="square" lIns="18288" rIns="18288" tIns="18288" bIns="18288"/>
          <a:lstStyle/>
          <a:p>
            <a:pPr algn="ctr" marL="0" indent="0">
              <a:spcAft>
                <a:spcPts val="200"/>
              </a:spcAft>
              <a:buNone/>
            </a:pPr>
            <a:r>
              <a:rPr sz="1200" b="1" i="0" lang="es-CL">
                <a:solidFill>
                  <a:srgbClr val="FFFFFF"/>
                </a:solidFill>
                <a:latin typeface="Inter"/>
                <a:ea typeface="Inter"/>
                <a:cs typeface="Inter"/>
              </a:rPr>
              <a:t>Resultado</a:t>
            </a:r>
          </a:p>
          <a:p>
            <a:pPr algn="ctr" marL="0" indent="0">
              <a:spcAft>
                <a:spcPts val="200"/>
              </a:spcAft>
              <a:buNone/>
            </a:pPr>
            <a:r>
              <a:rPr sz="1200" b="0" i="0" lang="es-CL">
                <a:solidFill>
                  <a:srgbClr val="FFFFFF"/>
                </a:solidFill>
                <a:latin typeface="Inter"/>
                <a:ea typeface="Inter"/>
                <a:cs typeface="Inter"/>
              </a:rPr>
              <a:t>un check</a:t>
            </a:r>
          </a:p>
        </p:txBody>
      </p:sp>
      <p:cxnSp>
        <p:nvCxnSpPr>
          <p:cNvPr id="46" name="Connector 45"/>
          <p:cNvCxnSpPr/>
          <p:nvPr/>
        </p:nvCxnSpPr>
        <p:spPr>
          <a:xfrm>
            <a:off x="7744968" y="2011680"/>
            <a:ext cx="118872" cy="0"/>
          </a:xfrm>
          <a:prstGeom prst="line">
            <a:avLst/>
          </a:prstGeom>
          <a:ln w="22225">
            <a:solidFill>
              <a:srgbClr val="8C959F"/>
            </a:solidFill>
            <a:tailEnd type="triangle" w="med" len="med"/>
          </a:ln>
        </p:spPr>
      </p:cxnSp>
      <p:sp>
        <p:nvSpPr>
          <p:cNvPr id="47" name="Rounded Rectangle 46"/>
          <p:cNvSpPr/>
          <p:nvPr/>
        </p:nvSpPr>
        <p:spPr>
          <a:xfrm>
            <a:off x="411480" y="4206240"/>
            <a:ext cx="8321040" cy="384048"/>
          </a:xfrm>
          <a:prstGeom prst="roundRect">
            <a:avLst>
              <a:gd name="adj" fmla="val 19047"/>
            </a:avLst>
          </a:prstGeom>
          <a:solidFill>
            <a:srgbClr val="FFFFFF"/>
          </a:solidFill>
          <a:ln w="15875">
            <a:solidFill>
              <a:srgbClr val="634F7D"/>
            </a:solidFill>
            <a:prstDash val="dash"/>
          </a:ln>
        </p:spPr>
        <p:txBody>
          <a:bodyPr rtlCol="0" anchor="ctr" wrap="square" lIns="54864" rIns="54864" tIns="54864" bIns="54864"/>
          <a:lstStyle/>
          <a:p>
            <a:pPr algn="ctr"/>
          </a:p>
        </p:txBody>
      </p:sp>
      <p:sp>
        <p:nvSpPr>
          <p:cNvPr id="48" name="TextBox 47"/>
          <p:cNvSpPr txBox="1"/>
          <p:nvPr/>
        </p:nvSpPr>
        <p:spPr>
          <a:xfrm>
            <a:off x="502920" y="4206240"/>
            <a:ext cx="914400" cy="384048"/>
          </a:xfrm>
          <a:prstGeom prst="rect">
            <a:avLst/>
          </a:prstGeom>
          <a:noFill/>
        </p:spPr>
        <p:txBody>
          <a:bodyPr wrap="square" lIns="36576" rIns="36576" tIns="36576" bIns="36576" anchor="ctr"/>
          <a:lstStyle/>
          <a:p>
            <a:pPr algn="l" marL="0" indent="0">
              <a:spcAft>
                <a:spcPts val="400"/>
              </a:spcAft>
              <a:buNone/>
            </a:pPr>
            <a:r>
              <a:rPr sz="1200" b="1" i="0" lang="es-CL">
                <a:solidFill>
                  <a:srgbClr val="634F7D"/>
                </a:solidFill>
                <a:latin typeface="Inter"/>
                <a:ea typeface="Inter"/>
                <a:cs typeface="Inter"/>
              </a:rPr>
              <a:t>Nightly</a:t>
            </a:r>
          </a:p>
        </p:txBody>
      </p:sp>
      <p:sp>
        <p:nvSpPr>
          <p:cNvPr id="49" name="TextBox 48"/>
          <p:cNvSpPr txBox="1"/>
          <p:nvPr/>
        </p:nvSpPr>
        <p:spPr>
          <a:xfrm>
            <a:off x="1371600" y="4206240"/>
            <a:ext cx="731520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Stryker en backend y frontend · flujos en Firefox y WebKit · ZAP full scan (a mano)</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6</a:t>
            </a:r>
          </a:p>
          <a:p>
            <a:pPr algn="ctr">
              <a:spcAft>
                <a:spcPts val="1600"/>
              </a:spcAft>
            </a:pPr>
            <a:r>
              <a:rPr sz="3600" b="1" i="0" lang="es-CL">
                <a:solidFill>
                  <a:srgbClr val="4A86E8"/>
                </a:solidFill>
                <a:latin typeface="Bitter"/>
                <a:ea typeface="Bitter"/>
                <a:cs typeface="Bitter"/>
              </a:rPr>
              <a:t>Evidencia en el PR</a:t>
            </a:r>
          </a:p>
          <a:p>
            <a:pPr algn="ctr">
              <a:spcAft>
                <a:spcPts val="1400"/>
              </a:spcAft>
            </a:pPr>
            <a:r>
              <a:rPr sz="1500" b="0" i="0" lang="es-CL">
                <a:solidFill>
                  <a:srgbClr val="57606A"/>
                </a:solidFill>
                <a:latin typeface="Inter"/>
                <a:ea typeface="Inter"/>
                <a:cs typeface="Inter"/>
              </a:rPr>
              <a:t>Que el revisor vea lo que cambió sin descargar nada.</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Qué publica el pipeline en cada PR</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1993392" cy="2148840"/>
          </a:xfrm>
          <a:prstGeom prst="roundRect">
            <a:avLst>
              <a:gd name="adj" fmla="val 4587"/>
            </a:avLst>
          </a:prstGeom>
          <a:solidFill>
            <a:srgbClr val="EDF1F3"/>
          </a:solidFill>
          <a:ln>
            <a:noFill/>
          </a:ln>
        </p:spPr>
        <p:txBody>
          <a:bodyPr rtlCol="0" anchor="ctr" wrap="square" lIns="54864" rIns="54864" tIns="54864" bIns="54864"/>
          <a:lstStyle/>
          <a:p>
            <a:pPr algn="ctr"/>
          </a:p>
        </p:txBody>
      </p:sp>
      <p:sp>
        <p:nvSpPr>
          <p:cNvPr id="5" name="Rounded Rectangle 4"/>
          <p:cNvSpPr/>
          <p:nvPr/>
        </p:nvSpPr>
        <p:spPr>
          <a:xfrm>
            <a:off x="548640" y="1097280"/>
            <a:ext cx="1719072" cy="384048"/>
          </a:xfrm>
          <a:prstGeom prst="roundRect">
            <a:avLst>
              <a:gd name="adj" fmla="val 19047"/>
            </a:avLst>
          </a:prstGeom>
          <a:solidFill>
            <a:srgbClr val="CC850A"/>
          </a:solidFill>
          <a:ln>
            <a:noFill/>
          </a:ln>
        </p:spPr>
        <p:txBody>
          <a:bodyPr rtlCol="0" anchor="ctr" wrap="square" lIns="54864" rIns="54864" tIns="54864" bIns="54864"/>
          <a:lstStyle/>
          <a:p>
            <a:pPr algn="ctr" marL="0" indent="0">
              <a:spcAft>
                <a:spcPts val="200"/>
              </a:spcAft>
              <a:buNone/>
            </a:pPr>
            <a:r>
              <a:rPr sz="1300" b="1" i="0" lang="es-CL">
                <a:solidFill>
                  <a:srgbClr val="FFFFFF"/>
                </a:solidFill>
                <a:latin typeface="Inter"/>
                <a:ea typeface="Inter"/>
                <a:cs typeface="Inter"/>
              </a:rPr>
              <a:t>Capturas</a:t>
            </a:r>
          </a:p>
        </p:txBody>
      </p:sp>
      <p:sp>
        <p:nvSpPr>
          <p:cNvPr id="6" name="TextBox 5"/>
          <p:cNvSpPr txBox="1"/>
          <p:nvPr/>
        </p:nvSpPr>
        <p:spPr>
          <a:xfrm>
            <a:off x="548640" y="1572768"/>
            <a:ext cx="1737360" cy="9144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Una por paso de cada flujo E2E</a:t>
            </a:r>
          </a:p>
        </p:txBody>
      </p:sp>
      <p:sp>
        <p:nvSpPr>
          <p:cNvPr id="7" name="TextBox 6"/>
          <p:cNvSpPr txBox="1"/>
          <p:nvPr/>
        </p:nvSpPr>
        <p:spPr>
          <a:xfrm>
            <a:off x="521208" y="2560320"/>
            <a:ext cx="1792224" cy="502920"/>
          </a:xfrm>
          <a:prstGeom prst="rect">
            <a:avLst/>
          </a:prstGeom>
          <a:noFill/>
        </p:spPr>
        <p:txBody>
          <a:bodyPr wrap="square" lIns="36576" rIns="36576" tIns="36576" bIns="36576" anchor="t"/>
          <a:lstStyle/>
          <a:p>
            <a:pPr algn="l" marL="0" indent="0">
              <a:spcAft>
                <a:spcPts val="0"/>
              </a:spcAft>
              <a:buNone/>
            </a:pPr>
            <a:r>
              <a:rPr sz="1000" b="0" i="0" lang="es-CL">
                <a:solidFill>
                  <a:srgbClr val="57606A"/>
                </a:solidFill>
                <a:latin typeface="Consolas"/>
                <a:ea typeface="Consolas"/>
                <a:cs typeface="Consolas"/>
              </a:rPr>
              <a:t>frontend/evidence/</a:t>
            </a:r>
          </a:p>
          <a:p>
            <a:pPr algn="l" marL="0" indent="0">
              <a:spcAft>
                <a:spcPts val="0"/>
              </a:spcAft>
              <a:buNone/>
            </a:pPr>
            <a:r>
              <a:rPr sz="1000" b="0" i="0" lang="es-CL">
                <a:solidFill>
                  <a:srgbClr val="57606A"/>
                </a:solidFill>
                <a:latin typeface="Consolas"/>
                <a:ea typeface="Consolas"/>
                <a:cs typeface="Consolas"/>
              </a:rPr>
              <a:t>manifest.json</a:t>
            </a:r>
          </a:p>
        </p:txBody>
      </p:sp>
      <p:sp>
        <p:nvSpPr>
          <p:cNvPr id="8" name="Rounded Rectangle 7"/>
          <p:cNvSpPr/>
          <p:nvPr/>
        </p:nvSpPr>
        <p:spPr>
          <a:xfrm>
            <a:off x="2532888" y="987552"/>
            <a:ext cx="1993392" cy="2148840"/>
          </a:xfrm>
          <a:prstGeom prst="roundRect">
            <a:avLst>
              <a:gd name="adj" fmla="val 4587"/>
            </a:avLst>
          </a:prstGeom>
          <a:solidFill>
            <a:srgbClr val="EDF1F3"/>
          </a:solidFill>
          <a:ln>
            <a:noFill/>
          </a:ln>
        </p:spPr>
        <p:txBody>
          <a:bodyPr rtlCol="0" anchor="ctr" wrap="square" lIns="54864" rIns="54864" tIns="54864" bIns="54864"/>
          <a:lstStyle/>
          <a:p>
            <a:pPr algn="ctr"/>
          </a:p>
        </p:txBody>
      </p:sp>
      <p:sp>
        <p:nvSpPr>
          <p:cNvPr id="9" name="Rounded Rectangle 8"/>
          <p:cNvSpPr/>
          <p:nvPr/>
        </p:nvSpPr>
        <p:spPr>
          <a:xfrm>
            <a:off x="2670048" y="1097280"/>
            <a:ext cx="1719072" cy="384048"/>
          </a:xfrm>
          <a:prstGeom prst="roundRect">
            <a:avLst>
              <a:gd name="adj" fmla="val 19047"/>
            </a:avLst>
          </a:prstGeom>
          <a:solidFill>
            <a:srgbClr val="47A1AD"/>
          </a:solidFill>
          <a:ln>
            <a:noFill/>
          </a:ln>
        </p:spPr>
        <p:txBody>
          <a:bodyPr rtlCol="0" anchor="ctr" wrap="square" lIns="54864" rIns="54864" tIns="54864" bIns="54864"/>
          <a:lstStyle/>
          <a:p>
            <a:pPr algn="ctr" marL="0" indent="0">
              <a:spcAft>
                <a:spcPts val="200"/>
              </a:spcAft>
              <a:buNone/>
            </a:pPr>
            <a:r>
              <a:rPr sz="1300" b="1" i="0" lang="es-CL">
                <a:solidFill>
                  <a:srgbClr val="FFFFFF"/>
                </a:solidFill>
                <a:latin typeface="Inter"/>
                <a:ea typeface="Inter"/>
                <a:cs typeface="Inter"/>
              </a:rPr>
              <a:t>GIF</a:t>
            </a:r>
          </a:p>
        </p:txBody>
      </p:sp>
      <p:sp>
        <p:nvSpPr>
          <p:cNvPr id="10" name="TextBox 9"/>
          <p:cNvSpPr txBox="1"/>
          <p:nvPr/>
        </p:nvSpPr>
        <p:spPr>
          <a:xfrm>
            <a:off x="2670048" y="1572768"/>
            <a:ext cx="1737360" cy="9144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El video de cada flujo, visible en GitHub</a:t>
            </a:r>
          </a:p>
        </p:txBody>
      </p:sp>
      <p:sp>
        <p:nvSpPr>
          <p:cNvPr id="11" name="TextBox 10"/>
          <p:cNvSpPr txBox="1"/>
          <p:nvPr/>
        </p:nvSpPr>
        <p:spPr>
          <a:xfrm>
            <a:off x="2642616" y="2560320"/>
            <a:ext cx="1792224" cy="502920"/>
          </a:xfrm>
          <a:prstGeom prst="rect">
            <a:avLst/>
          </a:prstGeom>
          <a:noFill/>
        </p:spPr>
        <p:txBody>
          <a:bodyPr wrap="square" lIns="36576" rIns="36576" tIns="36576" bIns="36576" anchor="t"/>
          <a:lstStyle/>
          <a:p>
            <a:pPr algn="l" marL="0" indent="0">
              <a:spcAft>
                <a:spcPts val="0"/>
              </a:spcAft>
              <a:buNone/>
            </a:pPr>
            <a:r>
              <a:rPr sz="1000" b="0" i="0" lang="es-CL">
                <a:solidFill>
                  <a:srgbClr val="57606A"/>
                </a:solidFill>
                <a:latin typeface="Consolas"/>
                <a:ea typeface="Consolas"/>
                <a:cs typeface="Consolas"/>
              </a:rPr>
              <a:t>videos/</a:t>
            </a:r>
          </a:p>
          <a:p>
            <a:pPr algn="l" marL="0" indent="0">
              <a:spcAft>
                <a:spcPts val="0"/>
              </a:spcAft>
              <a:buNone/>
            </a:pPr>
            <a:r>
              <a:rPr sz="1000" b="0" i="0" lang="es-CL">
                <a:solidFill>
                  <a:srgbClr val="57606A"/>
                </a:solidFill>
                <a:latin typeface="Consolas"/>
                <a:ea typeface="Consolas"/>
                <a:cs typeface="Consolas"/>
              </a:rPr>
              <a:t>FLOW-*.webm</a:t>
            </a:r>
          </a:p>
        </p:txBody>
      </p:sp>
      <p:sp>
        <p:nvSpPr>
          <p:cNvPr id="12" name="Rounded Rectangle 11"/>
          <p:cNvSpPr/>
          <p:nvPr/>
        </p:nvSpPr>
        <p:spPr>
          <a:xfrm>
            <a:off x="4654296" y="987552"/>
            <a:ext cx="1993392" cy="2148840"/>
          </a:xfrm>
          <a:prstGeom prst="roundRect">
            <a:avLst>
              <a:gd name="adj" fmla="val 4587"/>
            </a:avLst>
          </a:prstGeom>
          <a:solidFill>
            <a:srgbClr val="EDF1F3"/>
          </a:solidFill>
          <a:ln>
            <a:noFill/>
          </a:ln>
        </p:spPr>
        <p:txBody>
          <a:bodyPr rtlCol="0" anchor="ctr" wrap="square" lIns="54864" rIns="54864" tIns="54864" bIns="54864"/>
          <a:lstStyle/>
          <a:p>
            <a:pPr algn="ctr"/>
          </a:p>
        </p:txBody>
      </p:sp>
      <p:sp>
        <p:nvSpPr>
          <p:cNvPr id="13" name="Rounded Rectangle 12"/>
          <p:cNvSpPr/>
          <p:nvPr/>
        </p:nvSpPr>
        <p:spPr>
          <a:xfrm>
            <a:off x="4791456" y="1097280"/>
            <a:ext cx="1719072" cy="384048"/>
          </a:xfrm>
          <a:prstGeom prst="roundRect">
            <a:avLst>
              <a:gd name="adj" fmla="val 19047"/>
            </a:avLst>
          </a:prstGeom>
          <a:solidFill>
            <a:srgbClr val="38761D"/>
          </a:solidFill>
          <a:ln>
            <a:noFill/>
          </a:ln>
        </p:spPr>
        <p:txBody>
          <a:bodyPr rtlCol="0" anchor="ctr" wrap="square" lIns="54864" rIns="54864" tIns="54864" bIns="54864"/>
          <a:lstStyle/>
          <a:p>
            <a:pPr algn="ctr" marL="0" indent="0">
              <a:spcAft>
                <a:spcPts val="200"/>
              </a:spcAft>
              <a:buNone/>
            </a:pPr>
            <a:r>
              <a:rPr sz="1300" b="1" i="0" lang="es-CL">
                <a:solidFill>
                  <a:srgbClr val="FFFFFF"/>
                </a:solidFill>
                <a:latin typeface="Inter"/>
                <a:ea typeface="Inter"/>
                <a:cs typeface="Inter"/>
              </a:rPr>
              <a:t>Endpoints</a:t>
            </a:r>
          </a:p>
        </p:txBody>
      </p:sp>
      <p:sp>
        <p:nvSpPr>
          <p:cNvPr id="14" name="TextBox 13"/>
          <p:cNvSpPr txBox="1"/>
          <p:nvPr/>
        </p:nvSpPr>
        <p:spPr>
          <a:xfrm>
            <a:off x="4791456" y="1572768"/>
            <a:ext cx="1737360" cy="9144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Status que probaron el contrato y el smoke</a:t>
            </a:r>
          </a:p>
        </p:txBody>
      </p:sp>
      <p:sp>
        <p:nvSpPr>
          <p:cNvPr id="15" name="TextBox 14"/>
          <p:cNvSpPr txBox="1"/>
          <p:nvPr/>
        </p:nvSpPr>
        <p:spPr>
          <a:xfrm>
            <a:off x="4764024" y="2560320"/>
            <a:ext cx="1792224" cy="502920"/>
          </a:xfrm>
          <a:prstGeom prst="rect">
            <a:avLst/>
          </a:prstGeom>
          <a:noFill/>
        </p:spPr>
        <p:txBody>
          <a:bodyPr wrap="square" lIns="36576" rIns="36576" tIns="36576" bIns="36576" anchor="t"/>
          <a:lstStyle/>
          <a:p>
            <a:pPr algn="l" marL="0" indent="0">
              <a:spcAft>
                <a:spcPts val="0"/>
              </a:spcAft>
              <a:buNone/>
            </a:pPr>
            <a:r>
              <a:rPr sz="1000" b="0" i="0" lang="es-CL">
                <a:solidFill>
                  <a:srgbClr val="57606A"/>
                </a:solidFill>
                <a:latin typeface="Consolas"/>
                <a:ea typeface="Consolas"/>
                <a:cs typeface="Consolas"/>
              </a:rPr>
              <a:t>backend/reports/</a:t>
            </a:r>
          </a:p>
          <a:p>
            <a:pPr algn="l" marL="0" indent="0">
              <a:spcAft>
                <a:spcPts val="0"/>
              </a:spcAft>
              <a:buNone/>
            </a:pPr>
            <a:r>
              <a:rPr sz="1000" b="0" i="0" lang="es-CL">
                <a:solidFill>
                  <a:srgbClr val="57606A"/>
                </a:solidFill>
                <a:latin typeface="Consolas"/>
                <a:ea typeface="Consolas"/>
                <a:cs typeface="Consolas"/>
              </a:rPr>
              <a:t>contract-coverage.json</a:t>
            </a:r>
          </a:p>
        </p:txBody>
      </p:sp>
      <p:sp>
        <p:nvSpPr>
          <p:cNvPr id="16" name="Rounded Rectangle 15"/>
          <p:cNvSpPr/>
          <p:nvPr/>
        </p:nvSpPr>
        <p:spPr>
          <a:xfrm>
            <a:off x="6775703" y="987552"/>
            <a:ext cx="1993392" cy="2148840"/>
          </a:xfrm>
          <a:prstGeom prst="roundRect">
            <a:avLst>
              <a:gd name="adj" fmla="val 4587"/>
            </a:avLst>
          </a:prstGeom>
          <a:solidFill>
            <a:srgbClr val="EDF1F3"/>
          </a:solidFill>
          <a:ln>
            <a:noFill/>
          </a:ln>
        </p:spPr>
        <p:txBody>
          <a:bodyPr rtlCol="0" anchor="ctr" wrap="square" lIns="54864" rIns="54864" tIns="54864" bIns="54864"/>
          <a:lstStyle/>
          <a:p>
            <a:pPr algn="ctr"/>
          </a:p>
        </p:txBody>
      </p:sp>
      <p:sp>
        <p:nvSpPr>
          <p:cNvPr id="17" name="Rounded Rectangle 16"/>
          <p:cNvSpPr/>
          <p:nvPr/>
        </p:nvSpPr>
        <p:spPr>
          <a:xfrm>
            <a:off x="6912864" y="1097280"/>
            <a:ext cx="1719072" cy="384048"/>
          </a:xfrm>
          <a:prstGeom prst="roundRect">
            <a:avLst>
              <a:gd name="adj" fmla="val 19047"/>
            </a:avLst>
          </a:prstGeom>
          <a:solidFill>
            <a:srgbClr val="980000"/>
          </a:solidFill>
          <a:ln>
            <a:noFill/>
          </a:ln>
        </p:spPr>
        <p:txBody>
          <a:bodyPr rtlCol="0" anchor="ctr" wrap="square" lIns="54864" rIns="54864" tIns="54864" bIns="54864"/>
          <a:lstStyle/>
          <a:p>
            <a:pPr algn="ctr" marL="0" indent="0">
              <a:spcAft>
                <a:spcPts val="200"/>
              </a:spcAft>
              <a:buNone/>
            </a:pPr>
            <a:r>
              <a:rPr sz="1300" b="1" i="0" lang="es-CL">
                <a:solidFill>
                  <a:srgbClr val="FFFFFF"/>
                </a:solidFill>
                <a:latin typeface="Inter"/>
                <a:ea typeface="Inter"/>
                <a:cs typeface="Inter"/>
              </a:rPr>
              <a:t>Seguridad</a:t>
            </a:r>
          </a:p>
        </p:txBody>
      </p:sp>
      <p:sp>
        <p:nvSpPr>
          <p:cNvPr id="18" name="TextBox 17"/>
          <p:cNvSpPr txBox="1"/>
          <p:nvPr/>
        </p:nvSpPr>
        <p:spPr>
          <a:xfrm>
            <a:off x="6912864" y="1572768"/>
            <a:ext cx="1737360" cy="914400"/>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Resumen de cada herramienta y la etapa que falló</a:t>
            </a:r>
          </a:p>
        </p:txBody>
      </p:sp>
      <p:sp>
        <p:nvSpPr>
          <p:cNvPr id="19" name="TextBox 18"/>
          <p:cNvSpPr txBox="1"/>
          <p:nvPr/>
        </p:nvSpPr>
        <p:spPr>
          <a:xfrm>
            <a:off x="6885431" y="2560320"/>
            <a:ext cx="1792224" cy="502920"/>
          </a:xfrm>
          <a:prstGeom prst="rect">
            <a:avLst/>
          </a:prstGeom>
          <a:noFill/>
        </p:spPr>
        <p:txBody>
          <a:bodyPr wrap="square" lIns="36576" rIns="36576" tIns="36576" bIns="36576" anchor="t"/>
          <a:lstStyle/>
          <a:p>
            <a:pPr algn="l" marL="0" indent="0">
              <a:spcAft>
                <a:spcPts val="0"/>
              </a:spcAft>
              <a:buNone/>
            </a:pPr>
            <a:r>
              <a:rPr sz="1000" b="0" i="0" lang="es-CL">
                <a:solidFill>
                  <a:srgbClr val="57606A"/>
                </a:solidFill>
                <a:latin typeface="Consolas"/>
                <a:ea typeface="Consolas"/>
                <a:cs typeface="Consolas"/>
              </a:rPr>
              <a:t>reportes JSON</a:t>
            </a:r>
          </a:p>
          <a:p>
            <a:pPr algn="l" marL="0" indent="0">
              <a:spcAft>
                <a:spcPts val="0"/>
              </a:spcAft>
              <a:buNone/>
            </a:pPr>
            <a:r>
              <a:rPr sz="1000" b="0" i="0" lang="es-CL">
                <a:solidFill>
                  <a:srgbClr val="57606A"/>
                </a:solidFill>
                <a:latin typeface="Consolas"/>
                <a:ea typeface="Consolas"/>
                <a:cs typeface="Consolas"/>
              </a:rPr>
              <a:t>de cada job</a:t>
            </a:r>
          </a:p>
        </p:txBody>
      </p:sp>
      <p:sp>
        <p:nvSpPr>
          <p:cNvPr id="20" name="Rounded Rectangle 19"/>
          <p:cNvSpPr/>
          <p:nvPr/>
        </p:nvSpPr>
        <p:spPr>
          <a:xfrm>
            <a:off x="640080" y="3337560"/>
            <a:ext cx="2377440" cy="457200"/>
          </a:xfrm>
          <a:prstGeom prst="roundRect">
            <a:avLst>
              <a:gd name="adj" fmla="val 16000"/>
            </a:avLst>
          </a:prstGeom>
          <a:solidFill>
            <a:srgbClr val="003D4F"/>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Artefactos de los jobs</a:t>
            </a:r>
          </a:p>
        </p:txBody>
      </p:sp>
      <p:cxnSp>
        <p:nvCxnSpPr>
          <p:cNvPr id="21" name="Connector 20"/>
          <p:cNvCxnSpPr/>
          <p:nvPr/>
        </p:nvCxnSpPr>
        <p:spPr>
          <a:xfrm>
            <a:off x="3035808" y="3566160"/>
            <a:ext cx="329183" cy="0"/>
          </a:xfrm>
          <a:prstGeom prst="line">
            <a:avLst/>
          </a:prstGeom>
          <a:ln w="22225">
            <a:solidFill>
              <a:srgbClr val="8C959F"/>
            </a:solidFill>
            <a:tailEnd type="triangle" w="med" len="med"/>
          </a:ln>
        </p:spPr>
      </p:cxnSp>
      <p:sp>
        <p:nvSpPr>
          <p:cNvPr id="22" name="Rounded Rectangle 21"/>
          <p:cNvSpPr/>
          <p:nvPr/>
        </p:nvSpPr>
        <p:spPr>
          <a:xfrm>
            <a:off x="3383280" y="3337560"/>
            <a:ext cx="2377440" cy="457200"/>
          </a:xfrm>
          <a:prstGeom prst="roundRect">
            <a:avLst>
              <a:gd name="adj" fmla="val 16000"/>
            </a:avLst>
          </a:prstGeom>
          <a:solidFill>
            <a:srgbClr val="634F7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tools/evidence</a:t>
            </a:r>
          </a:p>
        </p:txBody>
      </p:sp>
      <p:cxnSp>
        <p:nvCxnSpPr>
          <p:cNvPr id="23" name="Connector 22"/>
          <p:cNvCxnSpPr/>
          <p:nvPr/>
        </p:nvCxnSpPr>
        <p:spPr>
          <a:xfrm>
            <a:off x="5779008" y="3566160"/>
            <a:ext cx="329184" cy="0"/>
          </a:xfrm>
          <a:prstGeom prst="line">
            <a:avLst/>
          </a:prstGeom>
          <a:ln w="22225">
            <a:solidFill>
              <a:srgbClr val="8C959F"/>
            </a:solidFill>
            <a:tailEnd type="triangle" w="med" len="med"/>
          </a:ln>
        </p:spPr>
      </p:cxnSp>
      <p:sp>
        <p:nvSpPr>
          <p:cNvPr id="24" name="Rounded Rectangle 23"/>
          <p:cNvSpPr/>
          <p:nvPr/>
        </p:nvSpPr>
        <p:spPr>
          <a:xfrm>
            <a:off x="6126480" y="3337560"/>
            <a:ext cx="2377440" cy="457200"/>
          </a:xfrm>
          <a:prstGeom prst="roundRect">
            <a:avLst>
              <a:gd name="adj" fmla="val 16000"/>
            </a:avLst>
          </a:prstGeom>
          <a:solidFill>
            <a:srgbClr val="38761D"/>
          </a:solidFill>
          <a:ln>
            <a:noFill/>
          </a:ln>
        </p:spPr>
        <p:txBody>
          <a:bodyPr rtlCol="0" anchor="ctr" wrap="square" lIns="54864" rIns="54864" tIns="54864" bIns="54864"/>
          <a:lstStyle/>
          <a:p>
            <a:pPr algn="ctr" marL="0" indent="0">
              <a:spcAft>
                <a:spcPts val="200"/>
              </a:spcAft>
              <a:buNone/>
            </a:pPr>
            <a:r>
              <a:rPr sz="1200" b="1" i="0" lang="es-CL">
                <a:solidFill>
                  <a:srgbClr val="FFFFFF"/>
                </a:solidFill>
                <a:latin typeface="Inter"/>
                <a:ea typeface="Inter"/>
                <a:cs typeface="Inter"/>
              </a:rPr>
              <a:t>Comentario único en el PR</a:t>
            </a:r>
          </a:p>
        </p:txBody>
      </p:sp>
      <p:sp>
        <p:nvSpPr>
          <p:cNvPr id="25" name="TextBox 24"/>
          <p:cNvSpPr txBox="1"/>
          <p:nvPr/>
        </p:nvSpPr>
        <p:spPr>
          <a:xfrm>
            <a:off x="411480" y="3931920"/>
            <a:ext cx="8321040" cy="640080"/>
          </a:xfrm>
          <a:prstGeom prst="rect">
            <a:avLst/>
          </a:prstGeom>
          <a:noFill/>
        </p:spPr>
        <p:txBody>
          <a:bodyPr wrap="square" lIns="36576" rIns="36576" tIns="36576" bIns="36576" anchor="t"/>
          <a:lstStyle/>
          <a:p>
            <a:pPr algn="ctr" marL="0" indent="0">
              <a:spcAft>
                <a:spcPts val="400"/>
              </a:spcAft>
              <a:buNone/>
            </a:pPr>
            <a:r>
              <a:rPr sz="1200" b="0" i="0" lang="es-CL">
                <a:solidFill>
                  <a:srgbClr val="57606A"/>
                </a:solidFill>
                <a:latin typeface="Inter"/>
                <a:ea typeface="Inter"/>
                <a:cs typeface="Inter"/>
              </a:rPr>
              <a:t>El comentario se actualiza en cada push (no se acumulan) y cada ítem lleva el ID del flujo o de la regla.</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Así se ve el comentario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60120"/>
            <a:ext cx="8321040" cy="3630168"/>
          </a:xfrm>
          <a:prstGeom prst="roundRect">
            <a:avLst>
              <a:gd name="adj" fmla="val 2015"/>
            </a:avLst>
          </a:prstGeom>
          <a:solidFill>
            <a:srgbClr val="FFFFFF"/>
          </a:solidFill>
          <a:ln w="12700">
            <a:solidFill>
              <a:srgbClr val="D0D7DE"/>
            </a:solidFill>
          </a:ln>
        </p:spPr>
        <p:txBody>
          <a:bodyPr rtlCol="0" anchor="ctr" wrap="square" lIns="54864" rIns="54864" tIns="54864" bIns="54864"/>
          <a:lstStyle/>
          <a:p>
            <a:pPr algn="ctr"/>
          </a:p>
        </p:txBody>
      </p:sp>
      <p:sp>
        <p:nvSpPr>
          <p:cNvPr id="5" name="Rectangle 4"/>
          <p:cNvSpPr/>
          <p:nvPr/>
        </p:nvSpPr>
        <p:spPr>
          <a:xfrm>
            <a:off x="411480" y="960120"/>
            <a:ext cx="8321040" cy="384048"/>
          </a:xfrm>
          <a:prstGeom prst="rect">
            <a:avLst/>
          </a:prstGeom>
          <a:solidFill>
            <a:srgbClr val="F6F8FA"/>
          </a:solidFill>
          <a:ln w="12700">
            <a:solidFill>
              <a:srgbClr val="D0D7DE"/>
            </a:solidFill>
          </a:ln>
        </p:spPr>
        <p:txBody>
          <a:bodyPr rtlCol="0" anchor="ctr" wrap="square" lIns="54864" rIns="54864" tIns="54864" bIns="54864"/>
          <a:lstStyle/>
          <a:p>
            <a:pPr algn="ctr"/>
          </a:p>
        </p:txBody>
      </p:sp>
      <p:sp>
        <p:nvSpPr>
          <p:cNvPr id="6" name="TextBox 5"/>
          <p:cNvSpPr txBox="1"/>
          <p:nvPr/>
        </p:nvSpPr>
        <p:spPr>
          <a:xfrm>
            <a:off x="548640" y="960120"/>
            <a:ext cx="8046720" cy="384048"/>
          </a:xfrm>
          <a:prstGeom prst="rect">
            <a:avLst/>
          </a:prstGeom>
          <a:noFill/>
        </p:spPr>
        <p:txBody>
          <a:bodyPr wrap="square" lIns="36576" rIns="36576" tIns="36576" bIns="36576" anchor="ctr"/>
          <a:lstStyle/>
          <a:p>
            <a:pPr algn="l" marL="0" indent="0">
              <a:spcAft>
                <a:spcPts val="400"/>
              </a:spcAft>
              <a:buNone/>
            </a:pPr>
            <a:r>
              <a:rPr sz="1200" b="1" i="0" lang="es-CL">
                <a:solidFill>
                  <a:srgbClr val="1F2328"/>
                </a:solidFill>
                <a:latin typeface="Inter"/>
                <a:ea typeface="Inter"/>
                <a:cs typeface="Inter"/>
              </a:rPr>
              <a:t>github-actions</a:t>
            </a:r>
            <a:r>
              <a:rPr sz="1200" b="0" i="0" lang="es-CL">
                <a:solidFill>
                  <a:srgbClr val="1F2328"/>
                </a:solidFill>
                <a:latin typeface="Inter"/>
                <a:ea typeface="Inter"/>
                <a:cs typeface="Inter"/>
              </a:rPr>
              <a:t> comentó · Evidencia de CI · PR #42 · </a:t>
            </a:r>
            <a:r>
              <a:rPr sz="1200" b="1" i="0" lang="es-CL">
                <a:solidFill>
                  <a:srgbClr val="980000"/>
                </a:solidFill>
                <a:latin typeface="Inter"/>
                <a:ea typeface="Inter"/>
                <a:cs typeface="Inter"/>
              </a:rPr>
              <a:t>Hay etapas con fallas</a:t>
            </a:r>
          </a:p>
        </p:txBody>
      </p:sp>
      <p:sp>
        <p:nvSpPr>
          <p:cNvPr id="7" name="TextBox 6"/>
          <p:cNvSpPr txBox="1"/>
          <p:nvPr/>
        </p:nvSpPr>
        <p:spPr>
          <a:xfrm>
            <a:off x="548640" y="1417320"/>
            <a:ext cx="3931920" cy="27432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Flujos de usuario (mock server)</a:t>
            </a:r>
          </a:p>
        </p:txBody>
      </p:sp>
      <p:pic>
        <p:nvPicPr>
          <p:cNvPr id="8" name="Picture 7" descr="Captura de FLOW-CAT-01"/>
          <p:cNvPicPr>
            <a:picLocks noChangeAspect="1"/>
          </p:cNvPicPr>
          <p:nvPr/>
        </p:nvPicPr>
        <p:blipFill>
          <a:blip r:embed="rId2"/>
          <a:stretch>
            <a:fillRect/>
          </a:stretch>
        </p:blipFill>
        <p:spPr>
          <a:xfrm>
            <a:off x="548640" y="1737360"/>
            <a:ext cx="1207008" cy="754380"/>
          </a:xfrm>
          <a:prstGeom prst="rect">
            <a:avLst/>
          </a:prstGeom>
          <a:ln w="9525">
            <a:solidFill>
              <a:srgbClr val="D0D7DE"/>
            </a:solidFill>
          </a:ln>
        </p:spPr>
      </p:pic>
      <p:sp>
        <p:nvSpPr>
          <p:cNvPr id="9" name="TextBox 8"/>
          <p:cNvSpPr txBox="1"/>
          <p:nvPr/>
        </p:nvSpPr>
        <p:spPr>
          <a:xfrm>
            <a:off x="502919" y="2514600"/>
            <a:ext cx="1298448" cy="237744"/>
          </a:xfrm>
          <a:prstGeom prst="rect">
            <a:avLst/>
          </a:prstGeom>
          <a:noFill/>
        </p:spPr>
        <p:txBody>
          <a:bodyPr wrap="square" lIns="36576" rIns="36576" tIns="36576" bIns="36576" anchor="t"/>
          <a:lstStyle/>
          <a:p>
            <a:pPr algn="ctr" marL="0" indent="0">
              <a:spcAft>
                <a:spcPts val="400"/>
              </a:spcAft>
              <a:buNone/>
            </a:pPr>
            <a:r>
              <a:rPr sz="1000" b="1" i="0" lang="es-CL">
                <a:solidFill>
                  <a:srgbClr val="38761D"/>
                </a:solidFill>
                <a:latin typeface="Consolas"/>
                <a:ea typeface="Consolas"/>
                <a:cs typeface="Consolas"/>
              </a:rPr>
              <a:t>✓ FLOW-CAT-01</a:t>
            </a:r>
          </a:p>
        </p:txBody>
      </p:sp>
      <p:pic>
        <p:nvPicPr>
          <p:cNvPr id="10" name="Picture 9" descr="Captura de FLOW-PRE-01"/>
          <p:cNvPicPr>
            <a:picLocks noChangeAspect="1"/>
          </p:cNvPicPr>
          <p:nvPr/>
        </p:nvPicPr>
        <p:blipFill>
          <a:blip r:embed="rId3"/>
          <a:stretch>
            <a:fillRect/>
          </a:stretch>
        </p:blipFill>
        <p:spPr>
          <a:xfrm>
            <a:off x="1847088" y="1737360"/>
            <a:ext cx="1207008" cy="754380"/>
          </a:xfrm>
          <a:prstGeom prst="rect">
            <a:avLst/>
          </a:prstGeom>
          <a:ln w="9525">
            <a:solidFill>
              <a:srgbClr val="D0D7DE"/>
            </a:solidFill>
          </a:ln>
        </p:spPr>
      </p:pic>
      <p:sp>
        <p:nvSpPr>
          <p:cNvPr id="11" name="TextBox 10"/>
          <p:cNvSpPr txBox="1"/>
          <p:nvPr/>
        </p:nvSpPr>
        <p:spPr>
          <a:xfrm>
            <a:off x="1801368" y="2514600"/>
            <a:ext cx="1298448" cy="237744"/>
          </a:xfrm>
          <a:prstGeom prst="rect">
            <a:avLst/>
          </a:prstGeom>
          <a:noFill/>
        </p:spPr>
        <p:txBody>
          <a:bodyPr wrap="square" lIns="36576" rIns="36576" tIns="36576" bIns="36576" anchor="t"/>
          <a:lstStyle/>
          <a:p>
            <a:pPr algn="ctr" marL="0" indent="0">
              <a:spcAft>
                <a:spcPts val="400"/>
              </a:spcAft>
              <a:buNone/>
            </a:pPr>
            <a:r>
              <a:rPr sz="1000" b="1" i="0" lang="es-CL">
                <a:solidFill>
                  <a:srgbClr val="38761D"/>
                </a:solidFill>
                <a:latin typeface="Consolas"/>
                <a:ea typeface="Consolas"/>
                <a:cs typeface="Consolas"/>
              </a:rPr>
              <a:t>✓ FLOW-PRE-01</a:t>
            </a:r>
          </a:p>
        </p:txBody>
      </p:sp>
      <p:pic>
        <p:nvPicPr>
          <p:cNvPr id="12" name="Picture 11" descr="Captura de FLOW-PRE-03"/>
          <p:cNvPicPr>
            <a:picLocks noChangeAspect="1"/>
          </p:cNvPicPr>
          <p:nvPr/>
        </p:nvPicPr>
        <p:blipFill>
          <a:blip r:embed="rId4"/>
          <a:stretch>
            <a:fillRect/>
          </a:stretch>
        </p:blipFill>
        <p:spPr>
          <a:xfrm>
            <a:off x="3145536" y="1737360"/>
            <a:ext cx="1207008" cy="754380"/>
          </a:xfrm>
          <a:prstGeom prst="rect">
            <a:avLst/>
          </a:prstGeom>
          <a:ln w="9525">
            <a:solidFill>
              <a:srgbClr val="D0D7DE"/>
            </a:solidFill>
          </a:ln>
        </p:spPr>
      </p:pic>
      <p:sp>
        <p:nvSpPr>
          <p:cNvPr id="13" name="TextBox 12"/>
          <p:cNvSpPr txBox="1"/>
          <p:nvPr/>
        </p:nvSpPr>
        <p:spPr>
          <a:xfrm>
            <a:off x="3099816" y="2514600"/>
            <a:ext cx="1298448" cy="237744"/>
          </a:xfrm>
          <a:prstGeom prst="rect">
            <a:avLst/>
          </a:prstGeom>
          <a:noFill/>
        </p:spPr>
        <p:txBody>
          <a:bodyPr wrap="square" lIns="36576" rIns="36576" tIns="36576" bIns="36576" anchor="t"/>
          <a:lstStyle/>
          <a:p>
            <a:pPr algn="ctr" marL="0" indent="0">
              <a:spcAft>
                <a:spcPts val="400"/>
              </a:spcAft>
              <a:buNone/>
            </a:pPr>
            <a:r>
              <a:rPr sz="1000" b="1" i="0" lang="es-CL">
                <a:solidFill>
                  <a:srgbClr val="980000"/>
                </a:solidFill>
                <a:latin typeface="Consolas"/>
                <a:ea typeface="Consolas"/>
                <a:cs typeface="Consolas"/>
              </a:rPr>
              <a:t>✗ FLOW-PRE-03</a:t>
            </a:r>
          </a:p>
        </p:txBody>
      </p:sp>
      <p:sp>
        <p:nvSpPr>
          <p:cNvPr id="14" name="TextBox 13"/>
          <p:cNvSpPr txBox="1"/>
          <p:nvPr/>
        </p:nvSpPr>
        <p:spPr>
          <a:xfrm>
            <a:off x="548640" y="2834640"/>
            <a:ext cx="3931920" cy="27432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Seguridad y calidad</a:t>
            </a:r>
          </a:p>
        </p:txBody>
      </p:sp>
      <p:sp>
        <p:nvSpPr>
          <p:cNvPr id="15" name="TextBox 14"/>
          <p:cNvSpPr txBox="1"/>
          <p:nvPr/>
        </p:nvSpPr>
        <p:spPr>
          <a:xfrm>
            <a:off x="548640" y="3127248"/>
            <a:ext cx="3977639" cy="1417320"/>
          </a:xfrm>
          <a:prstGeom prst="rect">
            <a:avLst/>
          </a:prstGeom>
          <a:noFill/>
        </p:spPr>
        <p:txBody>
          <a:bodyPr wrap="square" lIns="36576" rIns="36576" tIns="36576" bIns="36576" anchor="t"/>
          <a:lstStyle/>
          <a:p>
            <a:pPr algn="l" marL="0" indent="0">
              <a:spcAft>
                <a:spcPts val="100"/>
              </a:spcAft>
              <a:buNone/>
            </a:pPr>
            <a:r>
              <a:rPr sz="1200" b="1" i="0" lang="es-CL">
                <a:solidFill>
                  <a:srgbClr val="38761D"/>
                </a:solidFill>
                <a:latin typeface="Inter"/>
                <a:ea typeface="Inter"/>
                <a:cs typeface="Inter"/>
              </a:rPr>
              <a:t>✓</a:t>
            </a:r>
            <a:r>
              <a:rPr sz="1200" b="0" i="0" lang="es-CL">
                <a:solidFill>
                  <a:srgbClr val="1F2328"/>
                </a:solidFill>
                <a:latin typeface="Inter"/>
                <a:ea typeface="Inter"/>
                <a:cs typeface="Inter"/>
              </a:rPr>
              <a:t> gitleaks 0 · Trivy CRITICAL 0</a:t>
            </a:r>
          </a:p>
          <a:p>
            <a:pPr algn="l" marL="0" indent="0">
              <a:spcAft>
                <a:spcPts val="100"/>
              </a:spcAft>
              <a:buNone/>
            </a:pPr>
            <a:r>
              <a:rPr sz="1200" b="1" i="0" lang="es-CL">
                <a:solidFill>
                  <a:srgbClr val="38761D"/>
                </a:solidFill>
                <a:latin typeface="Inter"/>
                <a:ea typeface="Inter"/>
                <a:cs typeface="Inter"/>
              </a:rPr>
              <a:t>✓</a:t>
            </a:r>
            <a:r>
              <a:rPr sz="1200" b="0" i="0" lang="es-CL">
                <a:solidFill>
                  <a:srgbClr val="1F2328"/>
                </a:solidFill>
                <a:latin typeface="Inter"/>
                <a:ea typeface="Inter"/>
                <a:cs typeface="Inter"/>
              </a:rPr>
              <a:t> Lighthouse accesibilidad 100</a:t>
            </a:r>
          </a:p>
          <a:p>
            <a:pPr algn="l" marL="0" indent="0">
              <a:spcAft>
                <a:spcPts val="100"/>
              </a:spcAft>
              <a:buNone/>
            </a:pPr>
            <a:r>
              <a:rPr sz="1200" b="1" i="0" lang="es-CL">
                <a:solidFill>
                  <a:srgbClr val="38761D"/>
                </a:solidFill>
                <a:latin typeface="Inter"/>
                <a:ea typeface="Inter"/>
                <a:cs typeface="Inter"/>
              </a:rPr>
              <a:t>✓</a:t>
            </a:r>
            <a:r>
              <a:rPr sz="1200" b="0" i="0" lang="es-CL">
                <a:solidFill>
                  <a:srgbClr val="1F2328"/>
                </a:solidFill>
                <a:latin typeface="Inter"/>
                <a:ea typeface="Inter"/>
                <a:cs typeface="Inter"/>
              </a:rPr>
              <a:t> k6 p95 21.7 ms</a:t>
            </a:r>
          </a:p>
          <a:p>
            <a:pPr algn="l" marL="0" indent="0">
              <a:spcAft>
                <a:spcPts val="100"/>
              </a:spcAft>
              <a:buNone/>
            </a:pPr>
            <a:r>
              <a:rPr sz="1200" b="1" i="0" lang="es-CL">
                <a:solidFill>
                  <a:srgbClr val="980000"/>
                </a:solidFill>
                <a:latin typeface="Inter"/>
                <a:ea typeface="Inter"/>
                <a:cs typeface="Inter"/>
              </a:rPr>
              <a:t>✗</a:t>
            </a:r>
            <a:r>
              <a:rPr sz="1200" b="0" i="0" lang="es-CL">
                <a:solidFill>
                  <a:srgbClr val="1F2328"/>
                </a:solidFill>
                <a:latin typeface="Inter"/>
                <a:ea typeface="Inter"/>
                <a:cs typeface="Inter"/>
              </a:rPr>
              <a:t> ZAP API scan: 1 alerta High</a:t>
            </a:r>
          </a:p>
        </p:txBody>
      </p:sp>
      <p:sp>
        <p:nvSpPr>
          <p:cNvPr id="16" name="TextBox 15"/>
          <p:cNvSpPr txBox="1"/>
          <p:nvPr/>
        </p:nvSpPr>
        <p:spPr>
          <a:xfrm>
            <a:off x="4709160" y="1417320"/>
            <a:ext cx="3931920" cy="274320"/>
          </a:xfrm>
          <a:prstGeom prst="rect">
            <a:avLst/>
          </a:prstGeom>
          <a:noFill/>
        </p:spPr>
        <p:txBody>
          <a:bodyPr wrap="square" lIns="36576" rIns="36576" tIns="36576" bIns="36576" anchor="t"/>
          <a:lstStyle/>
          <a:p>
            <a:pPr algn="l" marL="0" indent="0">
              <a:spcAft>
                <a:spcPts val="400"/>
              </a:spcAft>
              <a:buNone/>
            </a:pPr>
            <a:r>
              <a:rPr sz="1200" b="1" i="0" lang="es-CL">
                <a:solidFill>
                  <a:srgbClr val="1F2328"/>
                </a:solidFill>
                <a:latin typeface="Inter"/>
                <a:ea typeface="Inter"/>
                <a:cs typeface="Inter"/>
              </a:rPr>
              <a:t>Endpoints verificados (contrato)</a:t>
            </a:r>
          </a:p>
        </p:txBody>
      </p:sp>
      <p:graphicFrame>
        <p:nvGraphicFramePr>
          <p:cNvPr id="17" name="Table 16"/>
          <p:cNvGraphicFramePr>
            <a:graphicFrameLocks noGrp="1"/>
          </p:cNvGraphicFramePr>
          <p:nvPr/>
        </p:nvGraphicFramePr>
        <p:xfrm>
          <a:off x="4709160" y="1737360"/>
          <a:ext cx="3886200" cy="2487168"/>
        </p:xfrm>
        <a:graphic>
          <a:graphicData uri="http://schemas.openxmlformats.org/drawingml/2006/table">
            <a:tbl>
              <a:tblPr firstRow="0" bandRow="0">
                <a:tableStyleId>{5C22544A-7EE6-4342-B048-85BDC9FD1C3A}</a:tableStyleId>
              </a:tblPr>
              <a:tblGrid>
                <a:gridCol w="1463040"/>
                <a:gridCol w="2423160"/>
              </a:tblGrid>
              <a:tr h="310896">
                <a:tc>
                  <a:txBody>
                    <a:bodyPr wrap="square"/>
                    <a:lstStyle/>
                    <a:p>
                      <a:pPr algn="l" marL="0" indent="0">
                        <a:spcAft>
                          <a:spcPts val="0"/>
                        </a:spcAft>
                        <a:buNone/>
                      </a:pPr>
                      <a:r>
                        <a:rPr sz="1200" b="1" i="0" lang="es-CL">
                          <a:solidFill>
                            <a:srgbClr val="1F2328"/>
                          </a:solidFill>
                          <a:latin typeface="Inter"/>
                          <a:ea typeface="Inter"/>
                          <a:cs typeface="Inter"/>
                        </a:rPr>
                        <a:t>Operación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0F3F6"/>
                    </a:solidFill>
                  </a:tcPr>
                </a:tc>
                <a:tc>
                  <a:txBody>
                    <a:bodyPr wrap="square"/>
                    <a:lstStyle/>
                    <a:p>
                      <a:pPr algn="l" marL="0" indent="0">
                        <a:spcAft>
                          <a:spcPts val="0"/>
                        </a:spcAft>
                        <a:buNone/>
                      </a:pPr>
                      <a:r>
                        <a:rPr sz="1200" b="1" i="0" lang="es-CL">
                          <a:solidFill>
                            <a:srgbClr val="1F2328"/>
                          </a:solidFill>
                          <a:latin typeface="Inter"/>
                          <a:ea typeface="Inter"/>
                          <a:cs typeface="Inter"/>
                        </a:rPr>
                        <a:t>Status probados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0F3F6"/>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getHealth</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200</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listBooks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200 · 400</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createBook</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201 · 400 · 409</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getBook</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200 · 400 · 404</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listLoans</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200 · 400</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createLoan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c>
                  <a:txBody>
                    <a:bodyPr wrap="square"/>
                    <a:lstStyle/>
                    <a:p>
                      <a:pPr algn="l" marL="0" indent="0">
                        <a:spcAft>
                          <a:spcPts val="0"/>
                        </a:spcAft>
                        <a:buNone/>
                      </a:pPr>
                      <a:r>
                        <a:rPr sz="1200" b="0" i="0" lang="es-CL">
                          <a:solidFill>
                            <a:srgbClr val="1F2328"/>
                          </a:solidFill>
                          <a:latin typeface="Inter"/>
                          <a:ea typeface="Inter"/>
                          <a:cs typeface="Inter"/>
                        </a:rPr>
                        <a:t>201 · 400 · 404 · 409</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3F6F8"/>
                    </a:solidFill>
                  </a:tcPr>
                </a:tc>
              </a:tr>
              <a:tr h="310896">
                <a:tc>
                  <a:txBody>
                    <a:bodyPr wrap="square"/>
                    <a:lstStyle/>
                    <a:p>
                      <a:pPr algn="l" marL="0" indent="0">
                        <a:spcAft>
                          <a:spcPts val="0"/>
                        </a:spcAft>
                        <a:buNone/>
                      </a:pPr>
                      <a:r>
                        <a:rPr sz="1200" b="0" i="0" lang="es-CL">
                          <a:solidFill>
                            <a:srgbClr val="1F2328"/>
                          </a:solidFill>
                          <a:latin typeface="Inter"/>
                          <a:ea typeface="Inter"/>
                          <a:cs typeface="Inter"/>
                        </a:rPr>
                        <a:t>returnLoan</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c>
                  <a:txBody>
                    <a:bodyPr wrap="square"/>
                    <a:lstStyle/>
                    <a:p>
                      <a:pPr algn="l" marL="0" indent="0">
                        <a:spcAft>
                          <a:spcPts val="0"/>
                        </a:spcAft>
                        <a:buNone/>
                      </a:pPr>
                      <a:r>
                        <a:rPr sz="1200" b="0" i="0" lang="es-CL">
                          <a:solidFill>
                            <a:srgbClr val="1F2328"/>
                          </a:solidFill>
                          <a:latin typeface="Inter"/>
                          <a:ea typeface="Inter"/>
                          <a:cs typeface="Inter"/>
                        </a:rPr>
                        <a:t>200 · 400 · 404 · 409</a:t>
                      </a:r>
                    </a:p>
                  </a:txBody>
                  <a:tcPr marL="54864" marR="54864" marT="27432" marB="27432" anchor="ctr">
                    <a:lnL w="9525" cap="flat" cmpd="sng" algn="ctr">
                      <a:solidFill>
                        <a:srgbClr val="D0D7DE"/>
                      </a:solidFill>
                      <a:prstDash val="solid"/>
                    </a:lnL>
                    <a:lnR w="9525" cap="flat" cmpd="sng" algn="ctr">
                      <a:solidFill>
                        <a:srgbClr val="D0D7DE"/>
                      </a:solidFill>
                      <a:prstDash val="solid"/>
                    </a:lnR>
                    <a:lnT w="9525" cap="flat" cmpd="sng" algn="ctr">
                      <a:solidFill>
                        <a:srgbClr val="D0D7DE"/>
                      </a:solidFill>
                      <a:prstDash val="solid"/>
                    </a:lnT>
                    <a:lnB w="9525" cap="flat" cmpd="sng" algn="ctr">
                      <a:solidFill>
                        <a:srgbClr val="D0D7DE"/>
                      </a:solidFill>
                      <a:prstDash val="solid"/>
                    </a:lnB>
                    <a:solidFill>
                      <a:srgbClr val="FFFFFF"/>
                    </a:solidFill>
                  </a:tcPr>
                </a:tc>
              </a:tr>
            </a:tbl>
          </a:graphicData>
        </a:graphic>
      </p:graphicFrame>
      <p:sp>
        <p:nvSpPr>
          <p:cNvPr id="18" name="caption"/>
          <p:cNvSpPr txBox="1"/>
          <p:nvPr/>
        </p:nvSpPr>
        <p:spPr>
          <a:xfrm>
            <a:off x="411480" y="4617720"/>
            <a:ext cx="8321040" cy="237744"/>
          </a:xfrm>
          <a:prstGeom prst="rect">
            <a:avLst/>
          </a:prstGeom>
          <a:noFill/>
        </p:spPr>
        <p:txBody>
          <a:bodyPr wrap="square" lIns="36576" rIns="36576" tIns="36576" bIns="36576" anchor="t"/>
          <a:lstStyle/>
          <a:p>
            <a:pPr algn="l" marL="0" indent="0">
              <a:spcAft>
                <a:spcPts val="400"/>
              </a:spcAft>
              <a:buNone/>
            </a:pPr>
            <a:r>
              <a:rPr sz="1000" b="0" i="0" lang="es-CL">
                <a:solidFill>
                  <a:srgbClr val="8C959F"/>
                </a:solidFill>
                <a:latin typeface="Inter"/>
                <a:ea typeface="Inter"/>
                <a:cs typeface="Inter"/>
              </a:rPr>
              <a:t>Ejemplo generado por tools/evidence/build-comment.mjs con datos de prueba: docs/ejemplo-comentario-pr.md</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Chrome sin interfaz como testigo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411480" y="960120"/>
            <a:ext cx="4069080" cy="132588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En CI, Playwright lanza </a:t>
            </a:r>
            <a:r>
              <a:rPr sz="1200" b="1" i="0" lang="es-CL">
                <a:solidFill>
                  <a:srgbClr val="1F2328"/>
                </a:solidFill>
                <a:latin typeface="Inter"/>
                <a:ea typeface="Inter"/>
                <a:cs typeface="Inter"/>
              </a:rPr>
              <a:t>Chromium headless</a:t>
            </a:r>
            <a:r>
              <a:rPr sz="1200" b="0" i="0" lang="es-CL">
                <a:solidFill>
                  <a:srgbClr val="1F2328"/>
                </a:solidFill>
                <a:latin typeface="Inter"/>
                <a:ea typeface="Inter"/>
                <a:cs typeface="Inter"/>
              </a:rPr>
              <a:t>: el mismo motor de Chrome, sin ventana.</a:t>
            </a:r>
          </a:p>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Captura después de cada paso y video del flujo: el revisor ve lo que vería una persona.</a:t>
            </a:r>
          </a:p>
        </p:txBody>
      </p:sp>
      <p:sp>
        <p:nvSpPr>
          <p:cNvPr id="5" name="TextBox 4"/>
          <p:cNvSpPr txBox="1"/>
          <p:nvPr/>
        </p:nvSpPr>
        <p:spPr>
          <a:xfrm>
            <a:off x="4663440" y="960120"/>
            <a:ext cx="4069080" cy="132588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0" i="0" lang="es-CL">
                <a:solidFill>
                  <a:srgbClr val="1F2328"/>
                </a:solidFill>
                <a:latin typeface="Inter"/>
                <a:ea typeface="Inter"/>
                <a:cs typeface="Inter"/>
              </a:rPr>
              <a:t>El libro toma capturas en el teardown cuando un test falla en CI (p. 86).</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Lighthouse</a:t>
            </a:r>
            <a:r>
              <a:rPr sz="1200" b="0" i="0" lang="es-CL">
                <a:solidFill>
                  <a:srgbClr val="1F2328"/>
                </a:solidFill>
                <a:latin typeface="Inter"/>
                <a:ea typeface="Inter"/>
                <a:cs typeface="Inter"/>
              </a:rPr>
              <a:t> usa el mismo Chrome para medir rendimiento y accesibilidad (p. 270).</a:t>
            </a:r>
          </a:p>
        </p:txBody>
      </p:sp>
      <p:sp>
        <p:nvSpPr>
          <p:cNvPr id="6" name="Rounded Rectangle 5"/>
          <p:cNvSpPr/>
          <p:nvPr/>
        </p:nvSpPr>
        <p:spPr>
          <a:xfrm>
            <a:off x="411480" y="2377440"/>
            <a:ext cx="8321040" cy="2194560"/>
          </a:xfrm>
          <a:prstGeom prst="roundRect">
            <a:avLst>
              <a:gd name="adj" fmla="val 2500"/>
            </a:avLst>
          </a:prstGeom>
          <a:solidFill>
            <a:srgbClr val="F6F8FA"/>
          </a:solidFill>
          <a:ln w="9525">
            <a:solidFill>
              <a:srgbClr val="D0D7DE"/>
            </a:solidFill>
          </a:ln>
        </p:spPr>
        <p:txBody>
          <a:bodyPr rtlCol="0" anchor="ctr" wrap="square" lIns="54864" rIns="54864" tIns="54864" bIns="54864"/>
          <a:lstStyle/>
          <a:p>
            <a:pPr algn="ctr"/>
          </a:p>
        </p:txBody>
      </p:sp>
      <p:sp>
        <p:nvSpPr>
          <p:cNvPr id="7" name="TextBox 6"/>
          <p:cNvSpPr txBox="1"/>
          <p:nvPr/>
        </p:nvSpPr>
        <p:spPr>
          <a:xfrm>
            <a:off x="521208" y="2423160"/>
            <a:ext cx="81015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frontend/tests/e2e/fixtures.ts (extracto)</a:t>
            </a:r>
          </a:p>
        </p:txBody>
      </p:sp>
      <p:sp>
        <p:nvSpPr>
          <p:cNvPr id="8" name="TextBox 7"/>
          <p:cNvSpPr txBox="1"/>
          <p:nvPr/>
        </p:nvSpPr>
        <p:spPr>
          <a:xfrm>
            <a:off x="521208" y="2688336"/>
            <a:ext cx="8101583" cy="1828800"/>
          </a:xfrm>
          <a:prstGeom prst="rect">
            <a:avLst/>
          </a:prstGeom>
          <a:noFill/>
        </p:spPr>
        <p:txBody>
          <a:bodyPr wrap="none" lIns="0" rIns="0" tIns="0" bIns="0"/>
          <a:lstStyle/>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008000"/>
                </a:solidFill>
                <a:latin typeface="Consolas"/>
                <a:ea typeface="Consolas"/>
                <a:cs typeface="Consolas"/>
              </a:rPr>
              <a:t>// El ID del flujo viene del tag del escenario en el .feature (@FLOW-PRE-01).</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const</a:t>
            </a:r>
            <a:r>
              <a:rPr sz="1050" b="0" i="0" lang="es-CL">
                <a:solidFill>
                  <a:srgbClr val="1F2328"/>
                </a:solidFill>
                <a:latin typeface="Consolas"/>
                <a:ea typeface="Consolas"/>
                <a:cs typeface="Consolas"/>
              </a:rPr>
              <a:t> flowId = testInfo.tags.find((tag) =&gt; tag.startsWith(</a:t>
            </a:r>
            <a:r>
              <a:rPr sz="1050" b="0" i="0" lang="es-CL">
                <a:solidFill>
                  <a:srgbClr val="A31515"/>
                </a:solidFill>
                <a:latin typeface="Consolas"/>
                <a:ea typeface="Consolas"/>
                <a:cs typeface="Consolas"/>
              </a:rPr>
              <a:t>'@FLOW-'</a:t>
            </a:r>
            <a:r>
              <a:rPr sz="1050" b="0" i="0" lang="es-CL">
                <a:solidFill>
                  <a:srgbClr val="1F2328"/>
                </a:solidFill>
                <a:latin typeface="Consolas"/>
                <a:ea typeface="Consolas"/>
                <a:cs typeface="Consolas"/>
              </a:rPr>
              <a:t>))?.slice(</a:t>
            </a:r>
            <a:r>
              <a:rPr sz="1050" b="0" i="0" lang="es-CL">
                <a:solidFill>
                  <a:srgbClr val="098658"/>
                </a:solidFill>
                <a:latin typeface="Consolas"/>
                <a:ea typeface="Consolas"/>
                <a:cs typeface="Consolas"/>
              </a:rPr>
              <a:t>1</a:t>
            </a:r>
            <a:r>
              <a:rPr sz="1050" b="0" i="0" lang="es-CL">
                <a:solidFill>
                  <a:srgbClr val="1F2328"/>
                </a:solidFill>
                <a:latin typeface="Consolas"/>
                <a:ea typeface="Consolas"/>
                <a:cs typeface="Consolas"/>
              </a:rPr>
              <a:t>) ?? </a:t>
            </a:r>
            <a:r>
              <a:rPr sz="1050" b="0" i="0" lang="es-CL">
                <a:solidFill>
                  <a:srgbClr val="A31515"/>
                </a:solidFill>
                <a:latin typeface="Consolas"/>
                <a:ea typeface="Consolas"/>
                <a:cs typeface="Consolas"/>
              </a:rPr>
              <a:t>'SIN-ID'</a:t>
            </a:r>
          </a:p>
          <a:p>
            <a:pPr marL="0" indent="0">
              <a:lnSpc>
                <a:spcPct val="100000"/>
              </a:lnSpc>
              <a:spcAft>
                <a:spcPts val="0"/>
              </a:spcAft>
              <a:buNone/>
            </a:pPr>
            <a:r>
              <a:rPr sz="1050" b="0" i="0" lang="es-CL">
                <a:solidFill>
                  <a:srgbClr val="1F2328"/>
                </a:solidFill>
                <a:latin typeface="Consolas"/>
                <a:ea typeface="Consolas"/>
                <a:cs typeface="Consolas"/>
              </a:rPr>
              <a:t>    ...</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const</a:t>
            </a:r>
            <a:r>
              <a:rPr sz="1050" b="0" i="0" lang="es-CL">
                <a:solidFill>
                  <a:srgbClr val="1F2328"/>
                </a:solidFill>
                <a:latin typeface="Consolas"/>
                <a:ea typeface="Consolas"/>
                <a:cs typeface="Consolas"/>
              </a:rPr>
              <a:t> name = </a:t>
            </a:r>
            <a:r>
              <a:rPr sz="1050" b="0" i="0" lang="es-CL">
                <a:solidFill>
                  <a:srgbClr val="A31515"/>
                </a:solidFill>
                <a:latin typeface="Consolas"/>
                <a:ea typeface="Consolas"/>
                <a:cs typeface="Consolas"/>
              </a:rPr>
              <a:t>`${flowId}-${counter}-${slug(stepTitle)}.png`</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0000FF"/>
                </a:solidFill>
                <a:latin typeface="Consolas"/>
                <a:ea typeface="Consolas"/>
                <a:cs typeface="Consolas"/>
              </a:rPr>
              <a:t>const</a:t>
            </a:r>
            <a:r>
              <a:rPr sz="1050" b="0" i="0" lang="es-CL">
                <a:solidFill>
                  <a:srgbClr val="1F2328"/>
                </a:solidFill>
                <a:latin typeface="Consolas"/>
                <a:ea typeface="Consolas"/>
                <a:cs typeface="Consolas"/>
              </a:rPr>
              <a:t> file = path.join(SCREENSHOTS_DIR, name)</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page.screenshot({ path: file, animations: </a:t>
            </a:r>
            <a:r>
              <a:rPr sz="1050" b="0" i="0" lang="es-CL">
                <a:solidFill>
                  <a:srgbClr val="A31515"/>
                </a:solidFill>
                <a:latin typeface="Consolas"/>
                <a:ea typeface="Consolas"/>
                <a:cs typeface="Consolas"/>
              </a:rPr>
              <a:t>'disabled'</a:t>
            </a:r>
            <a:r>
              <a:rPr sz="1050" b="0" i="0" lang="es-CL">
                <a:solidFill>
                  <a:srgbClr val="1F2328"/>
                </a:solidFill>
                <a:latin typeface="Consolas"/>
                <a:ea typeface="Consolas"/>
                <a:cs typeface="Consolas"/>
              </a:rPr>
              <a:t>, caret: </a:t>
            </a:r>
            <a:r>
              <a:rPr sz="1050" b="0" i="0" lang="es-CL">
                <a:solidFill>
                  <a:srgbClr val="A31515"/>
                </a:solidFill>
                <a:latin typeface="Consolas"/>
                <a:ea typeface="Consolas"/>
                <a:cs typeface="Consolas"/>
              </a:rPr>
              <a:t>'hide'</a:t>
            </a:r>
            <a:r>
              <a:rPr sz="1050" b="0" i="0" lang="es-CL">
                <a:solidFill>
                  <a:srgbClr val="1F2328"/>
                </a:solidFill>
                <a:latin typeface="Consolas"/>
                <a:ea typeface="Consolas"/>
                <a:cs typeface="Consolas"/>
              </a:rPr>
              <a:t> })</a:t>
            </a:r>
          </a:p>
          <a:p>
            <a:pPr marL="0" indent="0">
              <a:lnSpc>
                <a:spcPct val="100000"/>
              </a:lnSpc>
              <a:spcAft>
                <a:spcPts val="0"/>
              </a:spcAft>
              <a:buNone/>
            </a:pPr>
            <a:r>
              <a:rPr sz="1050" b="0" i="0" lang="es-CL">
                <a:solidFill>
                  <a:srgbClr val="1F2328"/>
                </a:solidFill>
                <a:latin typeface="Consolas"/>
                <a:ea typeface="Consolas"/>
                <a:cs typeface="Consolas"/>
              </a:rPr>
              <a:t>...</a:t>
            </a:r>
          </a:p>
          <a:p>
            <a:pPr marL="0" indent="0">
              <a:lnSpc>
                <a:spcPct val="100000"/>
              </a:lnSpc>
              <a:spcAft>
                <a:spcPts val="0"/>
              </a:spcAft>
              <a:buNone/>
            </a:pPr>
            <a:r>
              <a:rPr sz="1050" b="0" i="0" lang="es-CL">
                <a:solidFill>
                  <a:srgbClr val="008000"/>
                </a:solidFill>
                <a:latin typeface="Consolas"/>
                <a:ea typeface="Consolas"/>
                <a:cs typeface="Consolas"/>
              </a:rPr>
              <a:t>// Una captura después de cada paso: la secuencia cuenta el flujo en el comentario del PR.</a:t>
            </a:r>
          </a:p>
          <a:p>
            <a:pPr marL="0" indent="0">
              <a:lnSpc>
                <a:spcPct val="100000"/>
              </a:lnSpc>
              <a:spcAft>
                <a:spcPts val="0"/>
              </a:spcAft>
              <a:buNone/>
            </a:pPr>
            <a:r>
              <a:rPr sz="1050" b="0" i="0" lang="es-CL">
                <a:solidFill>
                  <a:srgbClr val="1F2328"/>
                </a:solidFill>
                <a:latin typeface="Consolas"/>
                <a:ea typeface="Consolas"/>
                <a:cs typeface="Consolas"/>
              </a:rPr>
              <a:t>AfterStep(</a:t>
            </a:r>
            <a:r>
              <a:rPr sz="1050" b="0" i="0" lang="es-CL">
                <a:solidFill>
                  <a:srgbClr val="0000FF"/>
                </a:solidFill>
                <a:latin typeface="Consolas"/>
                <a:ea typeface="Consolas"/>
                <a:cs typeface="Consolas"/>
              </a:rPr>
              <a:t>async</a:t>
            </a:r>
            <a:r>
              <a:rPr sz="1050" b="0" i="0" lang="es-CL">
                <a:solidFill>
                  <a:srgbClr val="1F2328"/>
                </a:solidFill>
                <a:latin typeface="Consolas"/>
                <a:ea typeface="Consolas"/>
                <a:cs typeface="Consolas"/>
              </a:rPr>
              <a:t> ({ evidence, $step }) =&gt; {</a:t>
            </a:r>
          </a:p>
          <a:p>
            <a:pPr marL="0" indent="0">
              <a:lnSpc>
                <a:spcPct val="100000"/>
              </a:lnSpc>
              <a:spcAft>
                <a:spcPts val="0"/>
              </a:spcAft>
              <a:buNone/>
            </a:pPr>
            <a:r>
              <a:rPr sz="1050" b="0" i="0" lang="es-CL">
                <a:solidFill>
                  <a:srgbClr val="1F2328"/>
                </a:solidFill>
                <a:latin typeface="Consolas"/>
                <a:ea typeface="Consolas"/>
                <a:cs typeface="Consolas"/>
              </a:rPr>
              <a:t>  </a:t>
            </a:r>
            <a:r>
              <a:rPr sz="1050" b="0" i="0" lang="es-CL">
                <a:solidFill>
                  <a:srgbClr val="AF00DB"/>
                </a:solidFill>
                <a:latin typeface="Consolas"/>
                <a:ea typeface="Consolas"/>
                <a:cs typeface="Consolas"/>
              </a:rPr>
              <a:t>await</a:t>
            </a:r>
            <a:r>
              <a:rPr sz="1050" b="0" i="0" lang="es-CL">
                <a:solidFill>
                  <a:srgbClr val="1F2328"/>
                </a:solidFill>
                <a:latin typeface="Consolas"/>
                <a:ea typeface="Consolas"/>
                <a:cs typeface="Consolas"/>
              </a:rPr>
              <a:t> evidence.capture($step.title)</a:t>
            </a:r>
          </a:p>
          <a:p>
            <a:pPr marL="0" indent="0">
              <a:lnSpc>
                <a:spcPct val="100000"/>
              </a:lnSpc>
              <a:spcAft>
                <a:spcPts val="0"/>
              </a:spcAft>
              <a:buNone/>
            </a:pPr>
            <a:r>
              <a:rPr sz="1050" b="0" i="0" lang="es-CL">
                <a:solidFill>
                  <a:srgbClr val="1F2328"/>
                </a:solidFill>
                <a:latin typeface="Consolas"/>
                <a:ea typeface="Consolas"/>
                <a:cs typeface="Consolas"/>
              </a:rPr>
              <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a:xfrm>
            <a:off x="731520" y="457200"/>
            <a:ext cx="7680960" cy="4023360"/>
          </a:xfrm>
        </p:spPr>
        <p:txBody>
          <a:bodyPr wrap="square" anchor="ctr"/>
          <a:lstStyle/>
          <a:p>
            <a:pPr algn="ctr">
              <a:spcAft>
                <a:spcPts val="1000"/>
              </a:spcAft>
            </a:pPr>
            <a:r>
              <a:rPr sz="1200" b="1" i="0" lang="es-CL">
                <a:solidFill>
                  <a:srgbClr val="8C959F"/>
                </a:solidFill>
                <a:latin typeface="Inter"/>
                <a:ea typeface="Inter"/>
                <a:cs typeface="Inter"/>
              </a:rPr>
              <a:t>PARTE 7</a:t>
            </a:r>
          </a:p>
          <a:p>
            <a:pPr algn="ctr">
              <a:spcAft>
                <a:spcPts val="1600"/>
              </a:spcAft>
            </a:pPr>
            <a:r>
              <a:rPr sz="3600" b="1" i="0" lang="es-CL">
                <a:solidFill>
                  <a:srgbClr val="4A86E8"/>
                </a:solidFill>
                <a:latin typeface="Bitter"/>
                <a:ea typeface="Bitter"/>
                <a:cs typeface="Bitter"/>
              </a:rPr>
              <a:t>Actividad: renovar un préstamo</a:t>
            </a:r>
          </a:p>
          <a:p>
            <a:pPr algn="ctr">
              <a:spcAft>
                <a:spcPts val="1400"/>
              </a:spcAft>
            </a:pPr>
            <a:r>
              <a:rPr sz="1500" b="0" i="0" lang="es-CL">
                <a:solidFill>
                  <a:srgbClr val="57606A"/>
                </a:solidFill>
                <a:latin typeface="Inter"/>
                <a:ea typeface="Inter"/>
                <a:cs typeface="Inter"/>
              </a:rPr>
              <a:t>SPEC-LIB-03, de la spec al PR con evidencia, con un agente de IA.</a:t>
            </a:r>
          </a:p>
        </p:txBody>
      </p:sp>
      <p:sp>
        <p:nvSpPr>
          <p:cNvPr id="3" name="Google Shape;3324;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sz="70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Paso a paso con SDD</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Oval 3"/>
          <p:cNvSpPr/>
          <p:nvPr/>
        </p:nvSpPr>
        <p:spPr>
          <a:xfrm>
            <a:off x="411480" y="996696"/>
            <a:ext cx="329184" cy="329184"/>
          </a:xfrm>
          <a:prstGeom prst="ellipse">
            <a:avLst/>
          </a:prstGeom>
          <a:solidFill>
            <a:srgbClr val="003D4F"/>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1</a:t>
            </a:r>
          </a:p>
        </p:txBody>
      </p:sp>
      <p:sp>
        <p:nvSpPr>
          <p:cNvPr id="5" name="TextBox 4"/>
          <p:cNvSpPr txBox="1"/>
          <p:nvPr/>
        </p:nvSpPr>
        <p:spPr>
          <a:xfrm>
            <a:off x="868680" y="960120"/>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003D4F"/>
                </a:solidFill>
                <a:latin typeface="Inter"/>
                <a:ea typeface="Inter"/>
                <a:cs typeface="Inter"/>
              </a:rPr>
              <a:t>Spec</a:t>
            </a:r>
          </a:p>
        </p:txBody>
      </p:sp>
      <p:sp>
        <p:nvSpPr>
          <p:cNvPr id="6" name="TextBox 5"/>
          <p:cNvSpPr txBox="1"/>
          <p:nvPr/>
        </p:nvSpPr>
        <p:spPr>
          <a:xfrm>
            <a:off x="1965960" y="960120"/>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Escribe SPEC-LIB-03 con la plantilla de specs/templates.</a:t>
            </a:r>
          </a:p>
        </p:txBody>
      </p:sp>
      <p:sp>
        <p:nvSpPr>
          <p:cNvPr id="7" name="Rounded Rectangle 6"/>
          <p:cNvSpPr/>
          <p:nvPr/>
        </p:nvSpPr>
        <p:spPr>
          <a:xfrm>
            <a:off x="7863840" y="1024128"/>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10 min</a:t>
            </a:r>
          </a:p>
        </p:txBody>
      </p:sp>
      <p:sp>
        <p:nvSpPr>
          <p:cNvPr id="8" name="Oval 7"/>
          <p:cNvSpPr/>
          <p:nvPr/>
        </p:nvSpPr>
        <p:spPr>
          <a:xfrm>
            <a:off x="411480" y="1426464"/>
            <a:ext cx="329184" cy="329184"/>
          </a:xfrm>
          <a:prstGeom prst="ellipse">
            <a:avLst/>
          </a:prstGeom>
          <a:solidFill>
            <a:srgbClr val="47A1A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2</a:t>
            </a:r>
          </a:p>
        </p:txBody>
      </p:sp>
      <p:sp>
        <p:nvSpPr>
          <p:cNvPr id="9" name="TextBox 8"/>
          <p:cNvSpPr txBox="1"/>
          <p:nvPr/>
        </p:nvSpPr>
        <p:spPr>
          <a:xfrm>
            <a:off x="868680" y="1389888"/>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47A1AD"/>
                </a:solidFill>
                <a:latin typeface="Inter"/>
                <a:ea typeface="Inter"/>
                <a:cs typeface="Inter"/>
              </a:rPr>
              <a:t>Contrato</a:t>
            </a:r>
          </a:p>
        </p:txBody>
      </p:sp>
      <p:sp>
        <p:nvSpPr>
          <p:cNvPr id="10" name="TextBox 9"/>
          <p:cNvSpPr txBox="1"/>
          <p:nvPr/>
        </p:nvSpPr>
        <p:spPr>
          <a:xfrm>
            <a:off x="1965960" y="1389888"/>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Agrega renewLoan al OpenAPI y regenera los tipos (api:generate).</a:t>
            </a:r>
          </a:p>
        </p:txBody>
      </p:sp>
      <p:sp>
        <p:nvSpPr>
          <p:cNvPr id="11" name="Rounded Rectangle 10"/>
          <p:cNvSpPr/>
          <p:nvPr/>
        </p:nvSpPr>
        <p:spPr>
          <a:xfrm>
            <a:off x="7863840" y="1453896"/>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10 min</a:t>
            </a:r>
          </a:p>
        </p:txBody>
      </p:sp>
      <p:sp>
        <p:nvSpPr>
          <p:cNvPr id="12" name="Oval 11"/>
          <p:cNvSpPr/>
          <p:nvPr/>
        </p:nvSpPr>
        <p:spPr>
          <a:xfrm>
            <a:off x="411480" y="1856231"/>
            <a:ext cx="329184" cy="329184"/>
          </a:xfrm>
          <a:prstGeom prst="ellipse">
            <a:avLst/>
          </a:prstGeom>
          <a:solidFill>
            <a:srgbClr val="634F7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3</a:t>
            </a:r>
          </a:p>
        </p:txBody>
      </p:sp>
      <p:sp>
        <p:nvSpPr>
          <p:cNvPr id="13" name="TextBox 12"/>
          <p:cNvSpPr txBox="1"/>
          <p:nvPr/>
        </p:nvSpPr>
        <p:spPr>
          <a:xfrm>
            <a:off x="868680" y="1819656"/>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634F7D"/>
                </a:solidFill>
                <a:latin typeface="Inter"/>
                <a:ea typeface="Inter"/>
                <a:cs typeface="Inter"/>
              </a:rPr>
              <a:t>Verifica</a:t>
            </a:r>
          </a:p>
        </p:txBody>
      </p:sp>
      <p:sp>
        <p:nvSpPr>
          <p:cNvPr id="14" name="TextBox 13"/>
          <p:cNvSpPr txBox="1"/>
          <p:nvPr/>
        </p:nvSpPr>
        <p:spPr>
          <a:xfrm>
            <a:off x="1965960" y="1819656"/>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Spectral y oasdiff: ¿el cambio es compatible?</a:t>
            </a:r>
          </a:p>
        </p:txBody>
      </p:sp>
      <p:sp>
        <p:nvSpPr>
          <p:cNvPr id="15" name="Rounded Rectangle 14"/>
          <p:cNvSpPr/>
          <p:nvPr/>
        </p:nvSpPr>
        <p:spPr>
          <a:xfrm>
            <a:off x="7863840" y="1883664"/>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5 min</a:t>
            </a:r>
          </a:p>
        </p:txBody>
      </p:sp>
      <p:sp>
        <p:nvSpPr>
          <p:cNvPr id="16" name="Oval 15"/>
          <p:cNvSpPr/>
          <p:nvPr/>
        </p:nvSpPr>
        <p:spPr>
          <a:xfrm>
            <a:off x="411480" y="2286000"/>
            <a:ext cx="329184" cy="329184"/>
          </a:xfrm>
          <a:prstGeom prst="ellipse">
            <a:avLst/>
          </a:prstGeom>
          <a:solidFill>
            <a:srgbClr val="CC850A"/>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4</a:t>
            </a:r>
          </a:p>
        </p:txBody>
      </p:sp>
      <p:sp>
        <p:nvSpPr>
          <p:cNvPr id="17" name="TextBox 16"/>
          <p:cNvSpPr txBox="1"/>
          <p:nvPr/>
        </p:nvSpPr>
        <p:spPr>
          <a:xfrm>
            <a:off x="868680" y="2249424"/>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CC850A"/>
                </a:solidFill>
                <a:latin typeface="Inter"/>
                <a:ea typeface="Inter"/>
                <a:cs typeface="Inter"/>
              </a:rPr>
              <a:t>Plan</a:t>
            </a:r>
          </a:p>
        </p:txBody>
      </p:sp>
      <p:sp>
        <p:nvSpPr>
          <p:cNvPr id="18" name="TextBox 17"/>
          <p:cNvSpPr txBox="1"/>
          <p:nvPr/>
        </p:nvSpPr>
        <p:spPr>
          <a:xfrm>
            <a:off x="1965960" y="2249424"/>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El agente propone casos (regla, capa, partición). Tú apruebas o podas.</a:t>
            </a:r>
          </a:p>
        </p:txBody>
      </p:sp>
      <p:sp>
        <p:nvSpPr>
          <p:cNvPr id="19" name="Rounded Rectangle 18"/>
          <p:cNvSpPr/>
          <p:nvPr/>
        </p:nvSpPr>
        <p:spPr>
          <a:xfrm>
            <a:off x="7863840" y="2313432"/>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10 min</a:t>
            </a:r>
          </a:p>
        </p:txBody>
      </p:sp>
      <p:sp>
        <p:nvSpPr>
          <p:cNvPr id="20" name="Oval 19"/>
          <p:cNvSpPr/>
          <p:nvPr/>
        </p:nvSpPr>
        <p:spPr>
          <a:xfrm>
            <a:off x="411480" y="2715768"/>
            <a:ext cx="329184" cy="329184"/>
          </a:xfrm>
          <a:prstGeom prst="ellipse">
            <a:avLst/>
          </a:prstGeom>
          <a:solidFill>
            <a:srgbClr val="980000"/>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5</a:t>
            </a:r>
          </a:p>
        </p:txBody>
      </p:sp>
      <p:sp>
        <p:nvSpPr>
          <p:cNvPr id="21" name="TextBox 20"/>
          <p:cNvSpPr txBox="1"/>
          <p:nvPr/>
        </p:nvSpPr>
        <p:spPr>
          <a:xfrm>
            <a:off x="868680" y="2679191"/>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980000"/>
                </a:solidFill>
                <a:latin typeface="Inter"/>
                <a:ea typeface="Inter"/>
                <a:cs typeface="Inter"/>
              </a:rPr>
              <a:t>Rojo</a:t>
            </a:r>
          </a:p>
        </p:txBody>
      </p:sp>
      <p:sp>
        <p:nvSpPr>
          <p:cNvPr id="22" name="TextBox 21"/>
          <p:cNvSpPr txBox="1"/>
          <p:nvPr/>
        </p:nvSpPr>
        <p:spPr>
          <a:xfrm>
            <a:off x="1965960" y="2679191"/>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Tests que fallan, capa por capa, uno a la vez.</a:t>
            </a:r>
          </a:p>
        </p:txBody>
      </p:sp>
      <p:sp>
        <p:nvSpPr>
          <p:cNvPr id="23" name="Rounded Rectangle 22"/>
          <p:cNvSpPr/>
          <p:nvPr/>
        </p:nvSpPr>
        <p:spPr>
          <a:xfrm>
            <a:off x="7863840" y="2743199"/>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20 min</a:t>
            </a:r>
          </a:p>
        </p:txBody>
      </p:sp>
      <p:sp>
        <p:nvSpPr>
          <p:cNvPr id="24" name="Oval 23"/>
          <p:cNvSpPr/>
          <p:nvPr/>
        </p:nvSpPr>
        <p:spPr>
          <a:xfrm>
            <a:off x="411480" y="3145535"/>
            <a:ext cx="329184" cy="329184"/>
          </a:xfrm>
          <a:prstGeom prst="ellipse">
            <a:avLst/>
          </a:prstGeom>
          <a:solidFill>
            <a:srgbClr val="38761D"/>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6</a:t>
            </a:r>
          </a:p>
        </p:txBody>
      </p:sp>
      <p:sp>
        <p:nvSpPr>
          <p:cNvPr id="25" name="TextBox 24"/>
          <p:cNvSpPr txBox="1"/>
          <p:nvPr/>
        </p:nvSpPr>
        <p:spPr>
          <a:xfrm>
            <a:off x="868680" y="3108959"/>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38761D"/>
                </a:solidFill>
                <a:latin typeface="Inter"/>
                <a:ea typeface="Inter"/>
                <a:cs typeface="Inter"/>
              </a:rPr>
              <a:t>Verde</a:t>
            </a:r>
          </a:p>
        </p:txBody>
      </p:sp>
      <p:sp>
        <p:nvSpPr>
          <p:cNvPr id="26" name="TextBox 25"/>
          <p:cNvSpPr txBox="1"/>
          <p:nvPr/>
        </p:nvSpPr>
        <p:spPr>
          <a:xfrm>
            <a:off x="1965960" y="3108959"/>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Código mínimo hasta que pasen. spec-trace sin huérfanos.</a:t>
            </a:r>
          </a:p>
        </p:txBody>
      </p:sp>
      <p:sp>
        <p:nvSpPr>
          <p:cNvPr id="27" name="Rounded Rectangle 26"/>
          <p:cNvSpPr/>
          <p:nvPr/>
        </p:nvSpPr>
        <p:spPr>
          <a:xfrm>
            <a:off x="7863840" y="3172967"/>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20 min</a:t>
            </a:r>
          </a:p>
        </p:txBody>
      </p:sp>
      <p:sp>
        <p:nvSpPr>
          <p:cNvPr id="28" name="Oval 27"/>
          <p:cNvSpPr/>
          <p:nvPr/>
        </p:nvSpPr>
        <p:spPr>
          <a:xfrm>
            <a:off x="411480" y="3575304"/>
            <a:ext cx="329184" cy="329184"/>
          </a:xfrm>
          <a:prstGeom prst="ellipse">
            <a:avLst/>
          </a:prstGeom>
          <a:solidFill>
            <a:srgbClr val="4A86E8"/>
          </a:solidFill>
          <a:ln>
            <a:noFill/>
          </a:ln>
        </p:spPr>
        <p:txBody>
          <a:bodyPr rtlCol="0" anchor="ctr" wrap="square" lIns="0" rIns="0" tIns="0" bIns="0"/>
          <a:lstStyle/>
          <a:p>
            <a:pPr algn="ctr" marL="0" indent="0">
              <a:spcAft>
                <a:spcPts val="200"/>
              </a:spcAft>
              <a:buNone/>
            </a:pPr>
            <a:r>
              <a:rPr sz="1300" b="1" i="0" lang="es-CL">
                <a:solidFill>
                  <a:srgbClr val="FFFFFF"/>
                </a:solidFill>
                <a:latin typeface="Inter"/>
                <a:ea typeface="Inter"/>
                <a:cs typeface="Inter"/>
              </a:rPr>
              <a:t>7</a:t>
            </a:r>
          </a:p>
        </p:txBody>
      </p:sp>
      <p:sp>
        <p:nvSpPr>
          <p:cNvPr id="29" name="TextBox 28"/>
          <p:cNvSpPr txBox="1"/>
          <p:nvPr/>
        </p:nvSpPr>
        <p:spPr>
          <a:xfrm>
            <a:off x="868680" y="3538728"/>
            <a:ext cx="1097280" cy="402336"/>
          </a:xfrm>
          <a:prstGeom prst="rect">
            <a:avLst/>
          </a:prstGeom>
          <a:noFill/>
        </p:spPr>
        <p:txBody>
          <a:bodyPr wrap="square" lIns="36576" rIns="36576" tIns="36576" bIns="36576" anchor="ctr"/>
          <a:lstStyle/>
          <a:p>
            <a:pPr algn="l" marL="0" indent="0">
              <a:spcAft>
                <a:spcPts val="400"/>
              </a:spcAft>
              <a:buNone/>
            </a:pPr>
            <a:r>
              <a:rPr sz="1300" b="1" i="0" lang="es-CL">
                <a:solidFill>
                  <a:srgbClr val="4A86E8"/>
                </a:solidFill>
                <a:latin typeface="Inter"/>
                <a:ea typeface="Inter"/>
                <a:cs typeface="Inter"/>
              </a:rPr>
              <a:t>PR</a:t>
            </a:r>
          </a:p>
        </p:txBody>
      </p:sp>
      <p:sp>
        <p:nvSpPr>
          <p:cNvPr id="30" name="TextBox 29"/>
          <p:cNvSpPr txBox="1"/>
          <p:nvPr/>
        </p:nvSpPr>
        <p:spPr>
          <a:xfrm>
            <a:off x="1965960" y="3538728"/>
            <a:ext cx="5760720" cy="402336"/>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Abre el PR y lee la evidencia y el comentario del revisor IA.</a:t>
            </a:r>
          </a:p>
        </p:txBody>
      </p:sp>
      <p:sp>
        <p:nvSpPr>
          <p:cNvPr id="31" name="Rounded Rectangle 30"/>
          <p:cNvSpPr/>
          <p:nvPr/>
        </p:nvSpPr>
        <p:spPr>
          <a:xfrm>
            <a:off x="7863840" y="3602736"/>
            <a:ext cx="868680" cy="292608"/>
          </a:xfrm>
          <a:prstGeom prst="roundRect">
            <a:avLst>
              <a:gd name="adj" fmla="val 18750"/>
            </a:avLst>
          </a:prstGeom>
          <a:solidFill>
            <a:srgbClr val="EDF1F3"/>
          </a:solidFill>
          <a:ln>
            <a:noFill/>
          </a:ln>
        </p:spPr>
        <p:txBody>
          <a:bodyPr rtlCol="0" anchor="ctr" wrap="square" lIns="27432" rIns="27432" tIns="27432" bIns="27432"/>
          <a:lstStyle/>
          <a:p>
            <a:pPr algn="ctr" marL="0" indent="0">
              <a:spcAft>
                <a:spcPts val="200"/>
              </a:spcAft>
              <a:buNone/>
            </a:pPr>
            <a:r>
              <a:rPr sz="1200" b="1" i="0" lang="es-CL">
                <a:solidFill>
                  <a:srgbClr val="57606A"/>
                </a:solidFill>
                <a:latin typeface="Inter"/>
                <a:ea typeface="Inter"/>
                <a:cs typeface="Inter"/>
              </a:rPr>
              <a:t>15 min</a:t>
            </a:r>
          </a:p>
        </p:txBody>
      </p:sp>
      <p:sp>
        <p:nvSpPr>
          <p:cNvPr id="32" name="Rounded Rectangle 31"/>
          <p:cNvSpPr/>
          <p:nvPr/>
        </p:nvSpPr>
        <p:spPr>
          <a:xfrm>
            <a:off x="411480" y="4041648"/>
            <a:ext cx="8321040" cy="548640"/>
          </a:xfrm>
          <a:prstGeom prst="roundRect">
            <a:avLst>
              <a:gd name="adj" fmla="val 16666"/>
            </a:avLst>
          </a:prstGeom>
          <a:solidFill>
            <a:srgbClr val="DCE9F7"/>
          </a:solidFill>
          <a:ln>
            <a:noFill/>
          </a:ln>
        </p:spPr>
        <p:txBody>
          <a:bodyPr rtlCol="0" anchor="ctr" wrap="square" lIns="54864" rIns="54864" tIns="54864" bIns="54864"/>
          <a:lstStyle/>
          <a:p>
            <a:pPr algn="ctr"/>
          </a:p>
        </p:txBody>
      </p:sp>
      <p:sp>
        <p:nvSpPr>
          <p:cNvPr id="33" name="TextBox 32"/>
          <p:cNvSpPr txBox="1"/>
          <p:nvPr/>
        </p:nvSpPr>
        <p:spPr>
          <a:xfrm>
            <a:off x="548640" y="4041648"/>
            <a:ext cx="8046720" cy="54864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Regla: </a:t>
            </a:r>
            <a:r>
              <a:rPr sz="1200" b="1" i="0" lang="es-CL">
                <a:solidFill>
                  <a:srgbClr val="1F2328"/>
                </a:solidFill>
                <a:latin typeface="Inter"/>
                <a:ea typeface="Inter"/>
                <a:cs typeface="Inter"/>
              </a:rPr>
              <a:t>ningún paso se salta</a:t>
            </a:r>
            <a:r>
              <a:rPr sz="1200" b="0" i="0" lang="es-CL">
                <a:solidFill>
                  <a:srgbClr val="1F2328"/>
                </a:solidFill>
                <a:latin typeface="Inter"/>
                <a:ea typeface="Inter"/>
                <a:cs typeface="Inter"/>
              </a:rPr>
              <a:t>. Si el agente escribe código antes de que apruebes el plan, se descarta y se vuelve al paso 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Borrador de SPEC-LIB-03: Renovar préstamo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5257800" cy="3566160"/>
          </a:xfrm>
          <a:prstGeom prst="roundRect">
            <a:avLst>
              <a:gd name="adj" fmla="val 1538"/>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5038344"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Borrador para partir</a:t>
            </a:r>
          </a:p>
        </p:txBody>
      </p:sp>
      <p:sp>
        <p:nvSpPr>
          <p:cNvPr id="6" name="TextBox 5"/>
          <p:cNvSpPr txBox="1"/>
          <p:nvPr/>
        </p:nvSpPr>
        <p:spPr>
          <a:xfrm>
            <a:off x="521208" y="1298448"/>
            <a:ext cx="5038344" cy="3200400"/>
          </a:xfrm>
          <a:prstGeom prst="rect">
            <a:avLst/>
          </a:prstGeom>
          <a:noFill/>
        </p:spPr>
        <p:txBody>
          <a:bodyPr wrap="none" lIns="0" rIns="0" tIns="0" bIns="0"/>
          <a:lstStyle/>
          <a:p>
            <a:pPr marL="0" indent="0">
              <a:lnSpc>
                <a:spcPct val="100000"/>
              </a:lnSpc>
              <a:spcAft>
                <a:spcPts val="0"/>
              </a:spcAft>
              <a:buNone/>
            </a:pPr>
            <a:r>
              <a:rPr sz="1100" b="1" i="0" lang="es-CL">
                <a:solidFill>
                  <a:srgbClr val="003D4F"/>
                </a:solidFill>
                <a:latin typeface="Consolas"/>
                <a:ea typeface="Consolas"/>
                <a:cs typeface="Consolas"/>
              </a:rPr>
              <a:t># SPEC-LIB-03 · Renovar préstamo</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1" i="0" lang="es-CL">
                <a:solidFill>
                  <a:srgbClr val="003D4F"/>
                </a:solidFill>
                <a:latin typeface="Consolas"/>
                <a:ea typeface="Consolas"/>
                <a:cs typeface="Consolas"/>
              </a:rPr>
              <a:t>## Reglas de negocio (borrador para completar)</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0" i="0" lang="es-CL">
                <a:solidFill>
                  <a:srgbClr val="1F2328"/>
                </a:solidFill>
                <a:latin typeface="Consolas"/>
                <a:ea typeface="Consolas"/>
                <a:cs typeface="Consolas"/>
              </a:rPr>
              <a:t>- </a:t>
            </a:r>
            <a:r>
              <a:rPr sz="1100" b="1" i="0" lang="es-CL">
                <a:solidFill>
                  <a:srgbClr val="1F2328"/>
                </a:solidFill>
                <a:latin typeface="Consolas"/>
                <a:ea typeface="Consolas"/>
                <a:cs typeface="Consolas"/>
              </a:rPr>
              <a:t>**RENEW-R1 · Extensión.**</a:t>
            </a:r>
            <a:r>
              <a:rPr sz="1100" b="0" i="0" lang="es-CL">
                <a:solidFill>
                  <a:srgbClr val="1F2328"/>
                </a:solidFill>
                <a:latin typeface="Consolas"/>
                <a:ea typeface="Consolas"/>
                <a:cs typeface="Consolas"/>
              </a:rPr>
              <a:t> Renovar suma 7 días</a:t>
            </a:r>
          </a:p>
          <a:p>
            <a:pPr marL="0" indent="0">
              <a:lnSpc>
                <a:spcPct val="100000"/>
              </a:lnSpc>
              <a:spcAft>
                <a:spcPts val="0"/>
              </a:spcAft>
              <a:buNone/>
            </a:pPr>
            <a:r>
              <a:rPr sz="1100" b="0" i="0" lang="es-CL">
                <a:solidFill>
                  <a:srgbClr val="1F2328"/>
                </a:solidFill>
                <a:latin typeface="Consolas"/>
                <a:ea typeface="Consolas"/>
                <a:cs typeface="Consolas"/>
              </a:rPr>
              <a:t>  a </a:t>
            </a:r>
            <a:r>
              <a:rPr sz="1100" b="0" i="0" lang="es-CL">
                <a:solidFill>
                  <a:srgbClr val="A31515"/>
                </a:solidFill>
                <a:latin typeface="Consolas"/>
                <a:ea typeface="Consolas"/>
                <a:cs typeface="Consolas"/>
              </a:rPr>
              <a:t>`dueAt`</a:t>
            </a:r>
            <a:r>
              <a:rPr sz="1100" b="0" i="0" lang="es-CL">
                <a:solidFill>
                  <a:srgbClr val="1F2328"/>
                </a:solidFill>
                <a:latin typeface="Consolas"/>
                <a:ea typeface="Consolas"/>
                <a:cs typeface="Consolas"/>
              </a:rPr>
              <a:t> (no a la hora actual) e incrementa</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`renewalCount`</a:t>
            </a:r>
            <a:r>
              <a:rPr sz="1100" b="0" i="0" lang="es-CL">
                <a:solidFill>
                  <a:srgbClr val="1F2328"/>
                </a:solidFill>
                <a:latin typeface="Consolas"/>
                <a:ea typeface="Consolas"/>
                <a:cs typeface="Consolas"/>
              </a:rPr>
              <a:t> en 1.</a:t>
            </a:r>
          </a:p>
          <a:p>
            <a:pPr marL="0" indent="0">
              <a:lnSpc>
                <a:spcPct val="100000"/>
              </a:lnSpc>
              <a:spcAft>
                <a:spcPts val="0"/>
              </a:spcAft>
              <a:buNone/>
            </a:pPr>
            <a:r>
              <a:rPr sz="1100" b="0" i="0" lang="es-CL">
                <a:solidFill>
                  <a:srgbClr val="1F2328"/>
                </a:solidFill>
                <a:latin typeface="Consolas"/>
                <a:ea typeface="Consolas"/>
                <a:cs typeface="Consolas"/>
              </a:rPr>
              <a:t>- </a:t>
            </a:r>
            <a:r>
              <a:rPr sz="1100" b="1" i="0" lang="es-CL">
                <a:solidFill>
                  <a:srgbClr val="1F2328"/>
                </a:solidFill>
                <a:latin typeface="Consolas"/>
                <a:ea typeface="Consolas"/>
                <a:cs typeface="Consolas"/>
              </a:rPr>
              <a:t>**RENEW-R2 · Una sola vez.**</a:t>
            </a:r>
            <a:r>
              <a:rPr sz="1100" b="0" i="0" lang="es-CL">
                <a:solidFill>
                  <a:srgbClr val="1F2328"/>
                </a:solidFill>
                <a:latin typeface="Consolas"/>
                <a:ea typeface="Consolas"/>
                <a:cs typeface="Consolas"/>
              </a:rPr>
              <a:t> Con</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`renewalCount = 1`</a:t>
            </a:r>
            <a:r>
              <a:rPr sz="1100" b="0" i="0" lang="es-CL">
                <a:solidFill>
                  <a:srgbClr val="1F2328"/>
                </a:solidFill>
                <a:latin typeface="Consolas"/>
                <a:ea typeface="Consolas"/>
                <a:cs typeface="Consolas"/>
              </a:rPr>
              <a:t> responde 409</a:t>
            </a:r>
          </a:p>
          <a:p>
            <a:pPr marL="0" indent="0">
              <a:lnSpc>
                <a:spcPct val="100000"/>
              </a:lnSpc>
              <a:spcAft>
                <a:spcPts val="0"/>
              </a:spcAft>
              <a:buNone/>
            </a:pPr>
            <a:r>
              <a:rPr sz="1100" b="0" i="0" lang="es-CL">
                <a:solidFill>
                  <a:srgbClr val="1F2328"/>
                </a:solidFill>
                <a:latin typeface="Consolas"/>
                <a:ea typeface="Consolas"/>
                <a:cs typeface="Consolas"/>
              </a:rPr>
              <a:t>  </a:t>
            </a:r>
            <a:r>
              <a:rPr sz="1100" b="0" i="0" lang="es-CL">
                <a:solidFill>
                  <a:srgbClr val="A31515"/>
                </a:solidFill>
                <a:latin typeface="Consolas"/>
                <a:ea typeface="Consolas"/>
                <a:cs typeface="Consolas"/>
              </a:rPr>
              <a:t>`RENEWAL_LIMIT_REACHED`</a:t>
            </a:r>
            <a:r>
              <a:rPr sz="1100" b="0" i="0" lang="es-CL">
                <a:solidFill>
                  <a:srgbClr val="1F2328"/>
                </a:solidFill>
                <a:latin typeface="Consolas"/>
                <a:ea typeface="Consolas"/>
                <a:cs typeface="Consolas"/>
              </a:rPr>
              <a:t>.</a:t>
            </a:r>
          </a:p>
          <a:p>
            <a:pPr marL="0" indent="0">
              <a:lnSpc>
                <a:spcPct val="100000"/>
              </a:lnSpc>
              <a:spcAft>
                <a:spcPts val="0"/>
              </a:spcAft>
              <a:buNone/>
            </a:pPr>
            <a:r>
              <a:rPr sz="1100" b="0" i="0" lang="es-CL">
                <a:solidFill>
                  <a:srgbClr val="1F2328"/>
                </a:solidFill>
                <a:latin typeface="Consolas"/>
                <a:ea typeface="Consolas"/>
                <a:cs typeface="Consolas"/>
              </a:rPr>
              <a:t>- </a:t>
            </a:r>
            <a:r>
              <a:rPr sz="1100" b="1" i="0" lang="es-CL">
                <a:solidFill>
                  <a:srgbClr val="1F2328"/>
                </a:solidFill>
                <a:latin typeface="Consolas"/>
                <a:ea typeface="Consolas"/>
                <a:cs typeface="Consolas"/>
              </a:rPr>
              <a:t>**RENEW-R3 · Solo al día.**</a:t>
            </a:r>
            <a:r>
              <a:rPr sz="1100" b="0" i="0" lang="es-CL">
                <a:solidFill>
                  <a:srgbClr val="1F2328"/>
                </a:solidFill>
                <a:latin typeface="Consolas"/>
                <a:ea typeface="Consolas"/>
                <a:cs typeface="Consolas"/>
              </a:rPr>
              <a:t> ¿Vencido?</a:t>
            </a:r>
          </a:p>
          <a:p>
            <a:pPr marL="0" indent="0">
              <a:lnSpc>
                <a:spcPct val="100000"/>
              </a:lnSpc>
              <a:spcAft>
                <a:spcPts val="0"/>
              </a:spcAft>
              <a:buNone/>
            </a:pPr>
            <a:r>
              <a:rPr sz="1100" b="0" i="0" lang="es-CL">
                <a:solidFill>
                  <a:srgbClr val="1F2328"/>
                </a:solidFill>
                <a:latin typeface="Consolas"/>
                <a:ea typeface="Consolas"/>
                <a:cs typeface="Consolas"/>
              </a:rPr>
              <a:t>  ¿Devuelto? ¿Justo en </a:t>
            </a:r>
            <a:r>
              <a:rPr sz="1100" b="0" i="0" lang="es-CL">
                <a:solidFill>
                  <a:srgbClr val="A31515"/>
                </a:solidFill>
                <a:latin typeface="Consolas"/>
                <a:ea typeface="Consolas"/>
                <a:cs typeface="Consolas"/>
              </a:rPr>
              <a:t>`dueAt`</a:t>
            </a:r>
            <a:r>
              <a:rPr sz="1100" b="0" i="0" lang="es-CL">
                <a:solidFill>
                  <a:srgbClr val="1F2328"/>
                </a:solidFill>
                <a:latin typeface="Consolas"/>
                <a:ea typeface="Consolas"/>
                <a:cs typeface="Consolas"/>
              </a:rPr>
              <a:t>? (completa)</a:t>
            </a:r>
          </a:p>
          <a:p>
            <a:pPr marL="0" indent="0">
              <a:lnSpc>
                <a:spcPct val="100000"/>
              </a:lnSpc>
              <a:spcAft>
                <a:spcPts val="0"/>
              </a:spcAft>
              <a:buNone/>
            </a:pPr>
            <a:r>
              <a:rPr sz="1100" b="0" i="0" lang="es-CL">
                <a:solidFill>
                  <a:srgbClr val="1F2328"/>
                </a:solidFill>
                <a:latin typeface="Consolas"/>
                <a:ea typeface="Consolas"/>
                <a:cs typeface="Consolas"/>
              </a:rPr>
              <a:t>- </a:t>
            </a:r>
            <a:r>
              <a:rPr sz="1100" b="1" i="0" lang="es-CL">
                <a:solidFill>
                  <a:srgbClr val="1F2328"/>
                </a:solidFill>
                <a:latin typeface="Consolas"/>
                <a:ea typeface="Consolas"/>
                <a:cs typeface="Consolas"/>
              </a:rPr>
              <a:t>**RENEW-R4 · Inexistente.**</a:t>
            </a:r>
            <a:r>
              <a:rPr sz="1100" b="0" i="0" lang="es-CL">
                <a:solidFill>
                  <a:srgbClr val="1F2328"/>
                </a:solidFill>
                <a:latin typeface="Consolas"/>
                <a:ea typeface="Consolas"/>
                <a:cs typeface="Consolas"/>
              </a:rPr>
              <a:t> ¿404? ¿400?</a:t>
            </a:r>
          </a:p>
          <a:p>
            <a:pPr marL="0" indent="0">
              <a:lnSpc>
                <a:spcPct val="100000"/>
              </a:lnSpc>
              <a:spcAft>
                <a:spcPts val="0"/>
              </a:spcAft>
              <a:buNone/>
            </a:pPr>
            <a:r>
              <a:rPr sz="1100" b="0" i="0" lang="es-CL">
                <a:solidFill>
                  <a:srgbClr val="1F2328"/>
                </a:solidFill>
                <a:latin typeface="Consolas"/>
                <a:ea typeface="Consolas"/>
                <a:cs typeface="Consolas"/>
              </a:rPr>
              <a:t>  (completa)</a:t>
            </a:r>
          </a:p>
          <a:p>
            <a:pPr marL="0" indent="0">
              <a:lnSpc>
                <a:spcPct val="100000"/>
              </a:lnSpc>
              <a:spcAft>
                <a:spcPts val="0"/>
              </a:spcAft>
              <a:buNone/>
            </a:pPr>
            <a:r>
              <a:rPr sz="1100" b="0" i="0" lang="es-CL">
                <a:solidFill>
                  <a:srgbClr val="1F2328"/>
                </a:solidFill>
                <a:latin typeface="Consolas"/>
                <a:ea typeface="Consolas"/>
                <a:cs typeface="Consolas"/>
              </a:rPr>
              <a:t> </a:t>
            </a:r>
          </a:p>
          <a:p>
            <a:pPr marL="0" indent="0">
              <a:lnSpc>
                <a:spcPct val="100000"/>
              </a:lnSpc>
              <a:spcAft>
                <a:spcPts val="0"/>
              </a:spcAft>
              <a:buNone/>
            </a:pPr>
            <a:r>
              <a:rPr sz="1100" b="1" i="0" lang="es-CL">
                <a:solidFill>
                  <a:srgbClr val="003D4F"/>
                </a:solidFill>
                <a:latin typeface="Consolas"/>
                <a:ea typeface="Consolas"/>
                <a:cs typeface="Consolas"/>
              </a:rPr>
              <a:t>## Fuera de alcance</a:t>
            </a:r>
          </a:p>
          <a:p>
            <a:pPr marL="0" indent="0">
              <a:lnSpc>
                <a:spcPct val="100000"/>
              </a:lnSpc>
              <a:spcAft>
                <a:spcPts val="0"/>
              </a:spcAft>
              <a:buNone/>
            </a:pPr>
            <a:r>
              <a:rPr sz="1100" b="0" i="0" lang="es-CL">
                <a:solidFill>
                  <a:srgbClr val="1F2328"/>
                </a:solidFill>
                <a:latin typeface="Consolas"/>
                <a:ea typeface="Consolas"/>
                <a:cs typeface="Consolas"/>
              </a:rPr>
              <a:t>Reservas y listas de espera.</a:t>
            </a:r>
          </a:p>
        </p:txBody>
      </p:sp>
      <p:sp>
        <p:nvSpPr>
          <p:cNvPr id="7" name="Rounded Rectangle 6"/>
          <p:cNvSpPr/>
          <p:nvPr/>
        </p:nvSpPr>
        <p:spPr>
          <a:xfrm>
            <a:off x="5852160" y="987552"/>
            <a:ext cx="2880360" cy="3566160"/>
          </a:xfrm>
          <a:prstGeom prst="roundRect">
            <a:avLst>
              <a:gd name="adj" fmla="val 3174"/>
            </a:avLst>
          </a:prstGeom>
          <a:solidFill>
            <a:srgbClr val="EDF1F3"/>
          </a:solidFill>
          <a:ln>
            <a:noFill/>
          </a:ln>
        </p:spPr>
        <p:txBody>
          <a:bodyPr rtlCol="0" anchor="ctr" wrap="square" lIns="54864" rIns="54864" tIns="54864" bIns="54864"/>
          <a:lstStyle/>
          <a:p>
            <a:pPr algn="ctr"/>
          </a:p>
        </p:txBody>
      </p:sp>
      <p:sp>
        <p:nvSpPr>
          <p:cNvPr id="8" name="TextBox 7"/>
          <p:cNvSpPr txBox="1"/>
          <p:nvPr/>
        </p:nvSpPr>
        <p:spPr>
          <a:xfrm>
            <a:off x="5989320" y="1078992"/>
            <a:ext cx="260604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Lo que la spec debe resolver</a:t>
            </a:r>
          </a:p>
        </p:txBody>
      </p:sp>
      <p:sp>
        <p:nvSpPr>
          <p:cNvPr id="9" name="TextBox 8"/>
          <p:cNvSpPr txBox="1"/>
          <p:nvPr/>
        </p:nvSpPr>
        <p:spPr>
          <a:xfrm>
            <a:off x="5989320" y="1426464"/>
            <a:ext cx="2606040" cy="3063239"/>
          </a:xfrm>
          <a:prstGeom prst="rect">
            <a:avLst/>
          </a:prstGeom>
          <a:noFill/>
        </p:spPr>
        <p:txBody>
          <a:bodyPr wrap="square" lIns="36576" rIns="36576" tIns="36576" bIns="36576" anchor="t"/>
          <a:lstStyle/>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¿Se puede renovar justo en dueAt? Es el valor límite de LOAN-R6.</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¿Qué responde un préstamo vencido o devuelto?</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¿Los códigos nuevos entran al enum ErrorCode?</a:t>
            </a:r>
          </a:p>
          <a:p>
            <a:pPr algn="l" marL="182880" indent="-164592">
              <a:spcAft>
                <a:spcPts val="600"/>
              </a:spcAft>
              <a:buClr>
                <a:srgbClr val="F2617A"/>
              </a:buClr>
              <a:buSzPct val="100000"/>
              <a:buFont typeface="Arial"/>
              <a:buChar char="●"/>
            </a:pPr>
            <a:r>
              <a:rPr sz="1200" b="0" i="0" lang="es-CL">
                <a:solidFill>
                  <a:srgbClr val="1F2328"/>
                </a:solidFill>
                <a:latin typeface="Inter"/>
                <a:ea typeface="Inter"/>
                <a:cs typeface="Inter"/>
              </a:rPr>
              <a:t>¿Cómo se ve en la UI? Escribe el flujo en Gherkin.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El prompt para el agente y el checklist del PR</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87552"/>
            <a:ext cx="5120640" cy="2743200"/>
          </a:xfrm>
          <a:prstGeom prst="roundRect">
            <a:avLst>
              <a:gd name="adj" fmla="val 2000"/>
            </a:avLst>
          </a:prstGeom>
          <a:solidFill>
            <a:srgbClr val="F6F8FA"/>
          </a:solidFill>
          <a:ln w="9525">
            <a:solidFill>
              <a:srgbClr val="D0D7DE"/>
            </a:solidFill>
          </a:ln>
        </p:spPr>
        <p:txBody>
          <a:bodyPr rtlCol="0" anchor="ctr" wrap="square" lIns="54864" rIns="54864" tIns="54864" bIns="54864"/>
          <a:lstStyle/>
          <a:p>
            <a:pPr algn="ctr"/>
          </a:p>
        </p:txBody>
      </p:sp>
      <p:sp>
        <p:nvSpPr>
          <p:cNvPr id="5" name="TextBox 4"/>
          <p:cNvSpPr txBox="1"/>
          <p:nvPr/>
        </p:nvSpPr>
        <p:spPr>
          <a:xfrm>
            <a:off x="521208" y="1033272"/>
            <a:ext cx="4901183" cy="237744"/>
          </a:xfrm>
          <a:prstGeom prst="rect">
            <a:avLst/>
          </a:prstGeom>
          <a:noFill/>
        </p:spPr>
        <p:txBody>
          <a:bodyPr wrap="square" lIns="0" rIns="0" tIns="0" bIns="0" anchor="t"/>
          <a:lstStyle/>
          <a:p>
            <a:pPr algn="l" marL="0" indent="0">
              <a:spcAft>
                <a:spcPts val="400"/>
              </a:spcAft>
              <a:buNone/>
            </a:pPr>
            <a:r>
              <a:rPr sz="1000" b="0" i="0" lang="es-CL">
                <a:solidFill>
                  <a:srgbClr val="8C959F"/>
                </a:solidFill>
                <a:latin typeface="Consolas"/>
                <a:ea typeface="Consolas"/>
                <a:cs typeface="Consolas"/>
              </a:rPr>
              <a:t>Prompt (Claude Code, Copilot o Cursor)</a:t>
            </a:r>
          </a:p>
        </p:txBody>
      </p:sp>
      <p:sp>
        <p:nvSpPr>
          <p:cNvPr id="6" name="TextBox 5"/>
          <p:cNvSpPr txBox="1"/>
          <p:nvPr/>
        </p:nvSpPr>
        <p:spPr>
          <a:xfrm>
            <a:off x="521208" y="1298448"/>
            <a:ext cx="4901183" cy="2377440"/>
          </a:xfrm>
          <a:prstGeom prst="rect">
            <a:avLst/>
          </a:prstGeom>
          <a:noFill/>
        </p:spPr>
        <p:txBody>
          <a:bodyPr wrap="none" lIns="0" rIns="0" tIns="0" bIns="0"/>
          <a:lstStyle/>
          <a:p>
            <a:pPr marL="0" indent="0">
              <a:lnSpc>
                <a:spcPct val="100000"/>
              </a:lnSpc>
              <a:spcAft>
                <a:spcPts val="0"/>
              </a:spcAft>
              <a:buNone/>
            </a:pPr>
            <a:r>
              <a:rPr sz="1100" b="0" i="0" lang="es-CL">
                <a:solidFill>
                  <a:srgbClr val="1F2328"/>
                </a:solidFill>
                <a:latin typeface="Consolas"/>
                <a:ea typeface="Consolas"/>
                <a:cs typeface="Consolas"/>
              </a:rPr>
              <a:t>Lee specs/constitution.md, specs/architecture.md</a:t>
            </a:r>
          </a:p>
          <a:p>
            <a:pPr marL="0" indent="0">
              <a:lnSpc>
                <a:spcPct val="100000"/>
              </a:lnSpc>
              <a:spcAft>
                <a:spcPts val="0"/>
              </a:spcAft>
              <a:buNone/>
            </a:pPr>
            <a:r>
              <a:rPr sz="1100" b="0" i="0" lang="es-CL">
                <a:solidFill>
                  <a:srgbClr val="1F2328"/>
                </a:solidFill>
                <a:latin typeface="Consolas"/>
                <a:ea typeface="Consolas"/>
                <a:cs typeface="Consolas"/>
              </a:rPr>
              <a:t>y specs/features/SPEC-LIB-03-renovacion.md.</a:t>
            </a:r>
          </a:p>
          <a:p>
            <a:pPr marL="0" indent="0">
              <a:lnSpc>
                <a:spcPct val="100000"/>
              </a:lnSpc>
              <a:spcAft>
                <a:spcPts val="0"/>
              </a:spcAft>
              <a:buNone/>
            </a:pPr>
            <a:r>
              <a:rPr sz="1100" b="0" i="0" lang="es-CL">
                <a:solidFill>
                  <a:srgbClr val="1F2328"/>
                </a:solidFill>
                <a:latin typeface="Consolas"/>
                <a:ea typeface="Consolas"/>
                <a:cs typeface="Consolas"/>
              </a:rPr>
              <a:t/>
            </a:r>
          </a:p>
          <a:p>
            <a:pPr marL="0" indent="0">
              <a:lnSpc>
                <a:spcPct val="100000"/>
              </a:lnSpc>
              <a:spcAft>
                <a:spcPts val="0"/>
              </a:spcAft>
              <a:buNone/>
            </a:pPr>
            <a:r>
              <a:rPr sz="1100" b="0" i="0" lang="es-CL">
                <a:solidFill>
                  <a:srgbClr val="1F2328"/>
                </a:solidFill>
                <a:latin typeface="Consolas"/>
                <a:ea typeface="Consolas"/>
                <a:cs typeface="Consolas"/>
              </a:rPr>
              <a:t>1. No escribas código todavía. Propón la lista</a:t>
            </a:r>
          </a:p>
          <a:p>
            <a:pPr marL="0" indent="0">
              <a:lnSpc>
                <a:spcPct val="100000"/>
              </a:lnSpc>
              <a:spcAft>
                <a:spcPts val="0"/>
              </a:spcAft>
              <a:buNone/>
            </a:pPr>
            <a:r>
              <a:rPr sz="1100" b="0" i="0" lang="es-CL">
                <a:solidFill>
                  <a:srgbClr val="1F2328"/>
                </a:solidFill>
                <a:latin typeface="Consolas"/>
                <a:ea typeface="Consolas"/>
                <a:cs typeface="Consolas"/>
              </a:rPr>
              <a:t>   de tests como tabla: regla, capa, partición o</a:t>
            </a:r>
          </a:p>
          <a:p>
            <a:pPr marL="0" indent="0">
              <a:lnSpc>
                <a:spcPct val="100000"/>
              </a:lnSpc>
              <a:spcAft>
                <a:spcPts val="0"/>
              </a:spcAft>
              <a:buNone/>
            </a:pPr>
            <a:r>
              <a:rPr sz="1100" b="0" i="0" lang="es-CL">
                <a:solidFill>
                  <a:srgbClr val="1F2328"/>
                </a:solidFill>
                <a:latin typeface="Consolas"/>
                <a:ea typeface="Consolas"/>
                <a:cs typeface="Consolas"/>
              </a:rPr>
              <a:t>   valor límite y archivo. Máximo 6 por regla y</a:t>
            </a:r>
          </a:p>
          <a:p>
            <a:pPr marL="0" indent="0">
              <a:lnSpc>
                <a:spcPct val="100000"/>
              </a:lnSpc>
              <a:spcAft>
                <a:spcPts val="0"/>
              </a:spcAft>
              <a:buNone/>
            </a:pPr>
            <a:r>
              <a:rPr sz="1100" b="0" i="0" lang="es-CL">
                <a:solidFill>
                  <a:srgbClr val="1F2328"/>
                </a:solidFill>
                <a:latin typeface="Consolas"/>
                <a:ea typeface="Consolas"/>
                <a:cs typeface="Consolas"/>
              </a:rPr>
              <a:t>   capa. Ningún caso repetido entre capas.</a:t>
            </a:r>
          </a:p>
          <a:p>
            <a:pPr marL="0" indent="0">
              <a:lnSpc>
                <a:spcPct val="100000"/>
              </a:lnSpc>
              <a:spcAft>
                <a:spcPts val="0"/>
              </a:spcAft>
              <a:buNone/>
            </a:pPr>
            <a:r>
              <a:rPr sz="1100" b="0" i="0" lang="es-CL">
                <a:solidFill>
                  <a:srgbClr val="1F2328"/>
                </a:solidFill>
                <a:latin typeface="Consolas"/>
                <a:ea typeface="Consolas"/>
                <a:cs typeface="Consolas"/>
              </a:rPr>
              <a:t>2. Espera mi aprobación.</a:t>
            </a:r>
          </a:p>
          <a:p>
            <a:pPr marL="0" indent="0">
              <a:lnSpc>
                <a:spcPct val="100000"/>
              </a:lnSpc>
              <a:spcAft>
                <a:spcPts val="0"/>
              </a:spcAft>
              <a:buNone/>
            </a:pPr>
            <a:r>
              <a:rPr sz="1100" b="0" i="0" lang="es-CL">
                <a:solidFill>
                  <a:srgbClr val="1F2328"/>
                </a:solidFill>
                <a:latin typeface="Consolas"/>
                <a:ea typeface="Consolas"/>
                <a:cs typeface="Consolas"/>
              </a:rPr>
              <a:t>3. Escribe un test a la vez. Muéstrame que falla</a:t>
            </a:r>
          </a:p>
          <a:p>
            <a:pPr marL="0" indent="0">
              <a:lnSpc>
                <a:spcPct val="100000"/>
              </a:lnSpc>
              <a:spcAft>
                <a:spcPts val="0"/>
              </a:spcAft>
              <a:buNone/>
            </a:pPr>
            <a:r>
              <a:rPr sz="1100" b="0" i="0" lang="es-CL">
                <a:solidFill>
                  <a:srgbClr val="1F2328"/>
                </a:solidFill>
                <a:latin typeface="Consolas"/>
                <a:ea typeface="Consolas"/>
                <a:cs typeface="Consolas"/>
              </a:rPr>
              <a:t>   por la razón correcta y recién ahí implementa.</a:t>
            </a:r>
          </a:p>
          <a:p>
            <a:pPr marL="0" indent="0">
              <a:lnSpc>
                <a:spcPct val="100000"/>
              </a:lnSpc>
              <a:spcAft>
                <a:spcPts val="0"/>
              </a:spcAft>
              <a:buNone/>
            </a:pPr>
            <a:r>
              <a:rPr sz="1100" b="0" i="0" lang="es-CL">
                <a:solidFill>
                  <a:srgbClr val="1F2328"/>
                </a:solidFill>
                <a:latin typeface="Consolas"/>
                <a:ea typeface="Consolas"/>
                <a:cs typeface="Consolas"/>
              </a:rPr>
              <a:t>4. Antes de terminar corre spec:trace y los</a:t>
            </a:r>
          </a:p>
          <a:p>
            <a:pPr marL="0" indent="0">
              <a:lnSpc>
                <a:spcPct val="100000"/>
              </a:lnSpc>
              <a:spcAft>
                <a:spcPts val="0"/>
              </a:spcAft>
              <a:buNone/>
            </a:pPr>
            <a:r>
              <a:rPr sz="1100" b="0" i="0" lang="es-CL">
                <a:solidFill>
                  <a:srgbClr val="1F2328"/>
                </a:solidFill>
                <a:latin typeface="Consolas"/>
                <a:ea typeface="Consolas"/>
                <a:cs typeface="Consolas"/>
              </a:rPr>
              <a:t>   scripts lint, typecheck y test:* de la app.</a:t>
            </a:r>
          </a:p>
        </p:txBody>
      </p:sp>
      <p:sp>
        <p:nvSpPr>
          <p:cNvPr id="7" name="Rounded Rectangle 6"/>
          <p:cNvSpPr/>
          <p:nvPr/>
        </p:nvSpPr>
        <p:spPr>
          <a:xfrm>
            <a:off x="411480" y="3840480"/>
            <a:ext cx="5120640" cy="731520"/>
          </a:xfrm>
          <a:prstGeom prst="roundRect">
            <a:avLst>
              <a:gd name="adj" fmla="val 12500"/>
            </a:avLst>
          </a:prstGeom>
          <a:solidFill>
            <a:srgbClr val="FCE8EC"/>
          </a:solidFill>
          <a:ln>
            <a:noFill/>
          </a:ln>
        </p:spPr>
        <p:txBody>
          <a:bodyPr rtlCol="0" anchor="ctr" wrap="square" lIns="54864" rIns="54864" tIns="54864" bIns="54864"/>
          <a:lstStyle/>
          <a:p>
            <a:pPr algn="ctr"/>
          </a:p>
        </p:txBody>
      </p:sp>
      <p:sp>
        <p:nvSpPr>
          <p:cNvPr id="8" name="TextBox 7"/>
          <p:cNvSpPr txBox="1"/>
          <p:nvPr/>
        </p:nvSpPr>
        <p:spPr>
          <a:xfrm>
            <a:off x="548640" y="3840480"/>
            <a:ext cx="4892040" cy="731520"/>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Si el plan trae más de 6 casos para una regla o casos repetidos entre capas, </a:t>
            </a:r>
            <a:r>
              <a:rPr sz="1200" b="1" i="0" lang="es-CL">
                <a:solidFill>
                  <a:srgbClr val="1F2328"/>
                </a:solidFill>
                <a:latin typeface="Inter"/>
                <a:ea typeface="Inter"/>
                <a:cs typeface="Inter"/>
              </a:rPr>
              <a:t>recházalo</a:t>
            </a:r>
            <a:r>
              <a:rPr sz="1200" b="0" i="0" lang="es-CL">
                <a:solidFill>
                  <a:srgbClr val="1F2328"/>
                </a:solidFill>
                <a:latin typeface="Inter"/>
                <a:ea typeface="Inter"/>
                <a:cs typeface="Inter"/>
              </a:rPr>
              <a:t> y pide que justifique cada caso.</a:t>
            </a:r>
          </a:p>
        </p:txBody>
      </p:sp>
      <p:sp>
        <p:nvSpPr>
          <p:cNvPr id="9" name="TextBox 8"/>
          <p:cNvSpPr txBox="1"/>
          <p:nvPr/>
        </p:nvSpPr>
        <p:spPr>
          <a:xfrm>
            <a:off x="5715000" y="960120"/>
            <a:ext cx="301752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Checklist del PR</a:t>
            </a:r>
          </a:p>
        </p:txBody>
      </p:sp>
      <p:sp>
        <p:nvSpPr>
          <p:cNvPr id="10" name="Rounded Rectangle 9"/>
          <p:cNvSpPr/>
          <p:nvPr/>
        </p:nvSpPr>
        <p:spPr>
          <a:xfrm>
            <a:off x="5715000" y="13898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11" name="TextBox 10"/>
          <p:cNvSpPr txBox="1"/>
          <p:nvPr/>
        </p:nvSpPr>
        <p:spPr>
          <a:xfrm>
            <a:off x="6080760" y="13258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Spec y OpenAPI en el mismo PR</a:t>
            </a:r>
          </a:p>
        </p:txBody>
      </p:sp>
      <p:sp>
        <p:nvSpPr>
          <p:cNvPr id="12" name="Rounded Rectangle 11"/>
          <p:cNvSpPr/>
          <p:nvPr/>
        </p:nvSpPr>
        <p:spPr>
          <a:xfrm>
            <a:off x="5715000" y="18470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13" name="TextBox 12"/>
          <p:cNvSpPr txBox="1"/>
          <p:nvPr/>
        </p:nvSpPr>
        <p:spPr>
          <a:xfrm>
            <a:off x="6080760" y="17830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Spectral y oasdiff en verde</a:t>
            </a:r>
          </a:p>
        </p:txBody>
      </p:sp>
      <p:sp>
        <p:nvSpPr>
          <p:cNvPr id="14" name="Rounded Rectangle 13"/>
          <p:cNvSpPr/>
          <p:nvPr/>
        </p:nvSpPr>
        <p:spPr>
          <a:xfrm>
            <a:off x="5715000" y="23042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15" name="TextBox 14"/>
          <p:cNvSpPr txBox="1"/>
          <p:nvPr/>
        </p:nvSpPr>
        <p:spPr>
          <a:xfrm>
            <a:off x="6080760" y="22402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Cada test con [RENEW-Rx]</a:t>
            </a:r>
          </a:p>
        </p:txBody>
      </p:sp>
      <p:sp>
        <p:nvSpPr>
          <p:cNvPr id="16" name="Rounded Rectangle 15"/>
          <p:cNvSpPr/>
          <p:nvPr/>
        </p:nvSpPr>
        <p:spPr>
          <a:xfrm>
            <a:off x="5715000" y="27614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17" name="TextBox 16"/>
          <p:cNvSpPr txBox="1"/>
          <p:nvPr/>
        </p:nvSpPr>
        <p:spPr>
          <a:xfrm>
            <a:off x="6080760" y="26974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Ningún mock sin justificación</a:t>
            </a:r>
          </a:p>
        </p:txBody>
      </p:sp>
      <p:sp>
        <p:nvSpPr>
          <p:cNvPr id="18" name="Rounded Rectangle 17"/>
          <p:cNvSpPr/>
          <p:nvPr/>
        </p:nvSpPr>
        <p:spPr>
          <a:xfrm>
            <a:off x="5715000" y="32186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19" name="TextBox 18"/>
          <p:cNvSpPr txBox="1"/>
          <p:nvPr/>
        </p:nvSpPr>
        <p:spPr>
          <a:xfrm>
            <a:off x="6080760" y="31546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GIF del flujo de renovación</a:t>
            </a:r>
          </a:p>
        </p:txBody>
      </p:sp>
      <p:sp>
        <p:nvSpPr>
          <p:cNvPr id="20" name="Rounded Rectangle 19"/>
          <p:cNvSpPr/>
          <p:nvPr/>
        </p:nvSpPr>
        <p:spPr>
          <a:xfrm>
            <a:off x="5715000" y="36758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21" name="TextBox 20"/>
          <p:cNvSpPr txBox="1"/>
          <p:nvPr/>
        </p:nvSpPr>
        <p:spPr>
          <a:xfrm>
            <a:off x="6080760" y="36118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Seguridad sin hallazgos nuevos</a:t>
            </a:r>
          </a:p>
        </p:txBody>
      </p:sp>
      <p:sp>
        <p:nvSpPr>
          <p:cNvPr id="22" name="Rounded Rectangle 21"/>
          <p:cNvSpPr/>
          <p:nvPr/>
        </p:nvSpPr>
        <p:spPr>
          <a:xfrm>
            <a:off x="5715000" y="4133088"/>
            <a:ext cx="256032" cy="256032"/>
          </a:xfrm>
          <a:prstGeom prst="roundRect">
            <a:avLst>
              <a:gd name="adj" fmla="val 14285"/>
            </a:avLst>
          </a:prstGeom>
          <a:solidFill>
            <a:srgbClr val="FFFFFF"/>
          </a:solidFill>
          <a:ln w="19050">
            <a:solidFill>
              <a:srgbClr val="003D4F"/>
            </a:solidFill>
          </a:ln>
        </p:spPr>
        <p:txBody>
          <a:bodyPr rtlCol="0" anchor="ctr" wrap="square" lIns="54864" rIns="54864" tIns="54864" bIns="54864"/>
          <a:lstStyle/>
          <a:p>
            <a:pPr algn="ctr"/>
          </a:p>
        </p:txBody>
      </p:sp>
      <p:sp>
        <p:nvSpPr>
          <p:cNvPr id="23" name="TextBox 22"/>
          <p:cNvSpPr txBox="1"/>
          <p:nvPr/>
        </p:nvSpPr>
        <p:spPr>
          <a:xfrm>
            <a:off x="6080760" y="4069080"/>
            <a:ext cx="2651760" cy="384048"/>
          </a:xfrm>
          <a:prstGeom prst="rect">
            <a:avLst/>
          </a:prstGeom>
          <a:noFill/>
        </p:spPr>
        <p:txBody>
          <a:bodyPr wrap="square" lIns="36576" rIns="36576" tIns="36576" bIns="36576" anchor="ctr"/>
          <a:lstStyle/>
          <a:p>
            <a:pPr algn="l" marL="0" indent="0">
              <a:spcAft>
                <a:spcPts val="400"/>
              </a:spcAft>
              <a:buNone/>
            </a:pPr>
            <a:r>
              <a:rPr sz="1200" b="0" i="0" lang="es-CL">
                <a:solidFill>
                  <a:srgbClr val="1F2328"/>
                </a:solidFill>
                <a:latin typeface="Inter"/>
                <a:ea typeface="Inter"/>
                <a:cs typeface="Inter"/>
              </a:rPr>
              <a:t>Rama de menos de 2 días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El PR de ejemplo: feat/renovar-prestamo</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960120"/>
            <a:ext cx="8321040" cy="713232"/>
          </a:xfrm>
          <a:prstGeom prst="roundRect">
            <a:avLst>
              <a:gd name="adj" fmla="val 12820"/>
            </a:avLst>
          </a:prstGeom>
          <a:solidFill>
            <a:srgbClr val="EDF1F3"/>
          </a:solidFill>
          <a:ln>
            <a:noFill/>
          </a:ln>
        </p:spPr>
        <p:txBody>
          <a:bodyPr rtlCol="0" anchor="ctr" wrap="square" lIns="54864" rIns="54864" tIns="54864" bIns="54864"/>
          <a:lstStyle/>
          <a:p>
            <a:pPr algn="ctr"/>
          </a:p>
        </p:txBody>
      </p:sp>
      <p:sp>
        <p:nvSpPr>
          <p:cNvPr id="5" name="Rounded Rectangle 4"/>
          <p:cNvSpPr/>
          <p:nvPr/>
        </p:nvSpPr>
        <p:spPr>
          <a:xfrm>
            <a:off x="411480" y="960120"/>
            <a:ext cx="1600200" cy="713232"/>
          </a:xfrm>
          <a:prstGeom prst="roundRect">
            <a:avLst>
              <a:gd name="adj" fmla="val 10256"/>
            </a:avLst>
          </a:prstGeom>
          <a:solidFill>
            <a:srgbClr val="003D4F"/>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1 · Spec y contrato</a:t>
            </a:r>
          </a:p>
        </p:txBody>
      </p:sp>
      <p:sp>
        <p:nvSpPr>
          <p:cNvPr id="6" name="TextBox 5"/>
          <p:cNvSpPr txBox="1"/>
          <p:nvPr/>
        </p:nvSpPr>
        <p:spPr>
          <a:xfrm>
            <a:off x="2148840" y="1005840"/>
            <a:ext cx="6492240" cy="256032"/>
          </a:xfrm>
          <a:prstGeom prst="rect">
            <a:avLst/>
          </a:prstGeom>
          <a:noFill/>
        </p:spPr>
        <p:txBody>
          <a:bodyPr wrap="square" lIns="36576" rIns="36576" tIns="36576" bIns="36576" anchor="t"/>
          <a:lstStyle/>
          <a:p>
            <a:pPr algn="l" marL="0" indent="0">
              <a:spcAft>
                <a:spcPts val="0"/>
              </a:spcAft>
              <a:buNone/>
            </a:pPr>
            <a:r>
              <a:rPr sz="1000" b="0" i="0" lang="es-CL">
                <a:solidFill>
                  <a:srgbClr val="1F2328"/>
                </a:solidFill>
                <a:latin typeface="Consolas"/>
                <a:ea typeface="Consolas"/>
                <a:cs typeface="Consolas"/>
              </a:rPr>
              <a:t>docs(specs): SPEC-LIB-03 renovar préstamo (contrato y flujo primero)</a:t>
            </a:r>
          </a:p>
        </p:txBody>
      </p:sp>
      <p:sp>
        <p:nvSpPr>
          <p:cNvPr id="7" name="TextBox 6"/>
          <p:cNvSpPr txBox="1"/>
          <p:nvPr/>
        </p:nvSpPr>
        <p:spPr>
          <a:xfrm>
            <a:off x="2148840" y="1261872"/>
            <a:ext cx="6492240" cy="310896"/>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Reglas RENEW-R1 a R4, renewLoan en el OpenAPI y el flujo FLOW-PRE-04.</a:t>
            </a:r>
          </a:p>
        </p:txBody>
      </p:sp>
      <p:sp>
        <p:nvSpPr>
          <p:cNvPr id="8" name="Rounded Rectangle 7"/>
          <p:cNvSpPr/>
          <p:nvPr/>
        </p:nvSpPr>
        <p:spPr>
          <a:xfrm>
            <a:off x="411480" y="1764792"/>
            <a:ext cx="8321040" cy="896112"/>
          </a:xfrm>
          <a:prstGeom prst="roundRect">
            <a:avLst>
              <a:gd name="adj" fmla="val 10204"/>
            </a:avLst>
          </a:prstGeom>
          <a:solidFill>
            <a:srgbClr val="EDF1F3"/>
          </a:solidFill>
          <a:ln>
            <a:noFill/>
          </a:ln>
        </p:spPr>
        <p:txBody>
          <a:bodyPr rtlCol="0" anchor="ctr" wrap="square" lIns="54864" rIns="54864" tIns="54864" bIns="54864"/>
          <a:lstStyle/>
          <a:p>
            <a:pPr algn="ctr"/>
          </a:p>
        </p:txBody>
      </p:sp>
      <p:sp>
        <p:nvSpPr>
          <p:cNvPr id="9" name="Rounded Rectangle 8"/>
          <p:cNvSpPr/>
          <p:nvPr/>
        </p:nvSpPr>
        <p:spPr>
          <a:xfrm>
            <a:off x="411480" y="1764792"/>
            <a:ext cx="1600200" cy="896112"/>
          </a:xfrm>
          <a:prstGeom prst="roundRect">
            <a:avLst>
              <a:gd name="adj" fmla="val 8163"/>
            </a:avLst>
          </a:prstGeom>
          <a:solidFill>
            <a:srgbClr val="980000"/>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2 · Rojo</a:t>
            </a:r>
          </a:p>
        </p:txBody>
      </p:sp>
      <p:sp>
        <p:nvSpPr>
          <p:cNvPr id="10" name="TextBox 9"/>
          <p:cNvSpPr txBox="1"/>
          <p:nvPr/>
        </p:nvSpPr>
        <p:spPr>
          <a:xfrm>
            <a:off x="2148840" y="1810512"/>
            <a:ext cx="6492240" cy="438912"/>
          </a:xfrm>
          <a:prstGeom prst="rect">
            <a:avLst/>
          </a:prstGeom>
          <a:noFill/>
        </p:spPr>
        <p:txBody>
          <a:bodyPr wrap="square" lIns="36576" rIns="36576" tIns="36576" bIns="36576" anchor="t"/>
          <a:lstStyle/>
          <a:p>
            <a:pPr algn="l" marL="0" indent="0">
              <a:spcAft>
                <a:spcPts val="0"/>
              </a:spcAft>
              <a:buNone/>
            </a:pPr>
            <a:r>
              <a:rPr sz="1000" b="0" i="0" lang="es-CL">
                <a:solidFill>
                  <a:srgbClr val="1F2328"/>
                </a:solidFill>
                <a:latin typeface="Consolas"/>
                <a:ea typeface="Consolas"/>
                <a:cs typeface="Consolas"/>
              </a:rPr>
              <a:t>test(frontend): renovar préstamo en Mis préstamos y mock server (fallan: SDD rojo)</a:t>
            </a:r>
          </a:p>
          <a:p>
            <a:pPr algn="l" marL="0" indent="0">
              <a:spcAft>
                <a:spcPts val="0"/>
              </a:spcAft>
              <a:buNone/>
            </a:pPr>
            <a:r>
              <a:rPr sz="1000" b="0" i="0" lang="es-CL">
                <a:solidFill>
                  <a:srgbClr val="1F2328"/>
                </a:solidFill>
                <a:latin typeface="Consolas"/>
                <a:ea typeface="Consolas"/>
                <a:cs typeface="Consolas"/>
              </a:rPr>
              <a:t>test(backend): renovar préstamo RENEW-R1 a RENEW-R4 (fallan: SDD rojo)</a:t>
            </a:r>
          </a:p>
        </p:txBody>
      </p:sp>
      <p:sp>
        <p:nvSpPr>
          <p:cNvPr id="11" name="TextBox 10"/>
          <p:cNvSpPr txBox="1"/>
          <p:nvPr/>
        </p:nvSpPr>
        <p:spPr>
          <a:xfrm>
            <a:off x="2148840" y="2249424"/>
            <a:ext cx="6492240" cy="310896"/>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Tests que citan RENEW-Rx y UI-RENEW-x. Fallan: todavía no hay código.</a:t>
            </a:r>
          </a:p>
        </p:txBody>
      </p:sp>
      <p:sp>
        <p:nvSpPr>
          <p:cNvPr id="12" name="Rounded Rectangle 11"/>
          <p:cNvSpPr/>
          <p:nvPr/>
        </p:nvSpPr>
        <p:spPr>
          <a:xfrm>
            <a:off x="411480" y="2752344"/>
            <a:ext cx="8321040" cy="896112"/>
          </a:xfrm>
          <a:prstGeom prst="roundRect">
            <a:avLst>
              <a:gd name="adj" fmla="val 10204"/>
            </a:avLst>
          </a:prstGeom>
          <a:solidFill>
            <a:srgbClr val="EDF1F3"/>
          </a:solidFill>
          <a:ln>
            <a:noFill/>
          </a:ln>
        </p:spPr>
        <p:txBody>
          <a:bodyPr rtlCol="0" anchor="ctr" wrap="square" lIns="54864" rIns="54864" tIns="54864" bIns="54864"/>
          <a:lstStyle/>
          <a:p>
            <a:pPr algn="ctr"/>
          </a:p>
        </p:txBody>
      </p:sp>
      <p:sp>
        <p:nvSpPr>
          <p:cNvPr id="13" name="Rounded Rectangle 12"/>
          <p:cNvSpPr/>
          <p:nvPr/>
        </p:nvSpPr>
        <p:spPr>
          <a:xfrm>
            <a:off x="411480" y="2752344"/>
            <a:ext cx="1600200" cy="896112"/>
          </a:xfrm>
          <a:prstGeom prst="roundRect">
            <a:avLst>
              <a:gd name="adj" fmla="val 8163"/>
            </a:avLst>
          </a:prstGeom>
          <a:solidFill>
            <a:srgbClr val="38761D"/>
          </a:solidFill>
          <a:ln>
            <a:noFill/>
          </a:ln>
        </p:spPr>
        <p:txBody>
          <a:bodyPr rtlCol="0" anchor="ctr" wrap="square" lIns="45720" rIns="45720"/>
          <a:lstStyle/>
          <a:p>
            <a:pPr algn="ctr" marL="0" indent="0">
              <a:spcAft>
                <a:spcPts val="200"/>
              </a:spcAft>
              <a:buNone/>
            </a:pPr>
            <a:r>
              <a:rPr sz="1200" b="1" i="0" lang="es-CL">
                <a:solidFill>
                  <a:srgbClr val="FFFFFF"/>
                </a:solidFill>
                <a:latin typeface="Inter"/>
                <a:ea typeface="Inter"/>
                <a:cs typeface="Inter"/>
              </a:rPr>
              <a:t>3 · Verde</a:t>
            </a:r>
          </a:p>
        </p:txBody>
      </p:sp>
      <p:sp>
        <p:nvSpPr>
          <p:cNvPr id="14" name="TextBox 13"/>
          <p:cNvSpPr txBox="1"/>
          <p:nvPr/>
        </p:nvSpPr>
        <p:spPr>
          <a:xfrm>
            <a:off x="2148840" y="2798064"/>
            <a:ext cx="6492240" cy="438912"/>
          </a:xfrm>
          <a:prstGeom prst="rect">
            <a:avLst/>
          </a:prstGeom>
          <a:noFill/>
        </p:spPr>
        <p:txBody>
          <a:bodyPr wrap="square" lIns="36576" rIns="36576" tIns="36576" bIns="36576" anchor="t"/>
          <a:lstStyle/>
          <a:p>
            <a:pPr algn="l" marL="0" indent="0">
              <a:spcAft>
                <a:spcPts val="0"/>
              </a:spcAft>
              <a:buNone/>
            </a:pPr>
            <a:r>
              <a:rPr sz="1000" b="0" i="0" lang="es-CL">
                <a:solidFill>
                  <a:srgbClr val="1F2328"/>
                </a:solidFill>
                <a:latin typeface="Consolas"/>
                <a:ea typeface="Consolas"/>
                <a:cs typeface="Consolas"/>
              </a:rPr>
              <a:t>feat(frontend): renovar préstamo desde Mis préstamos (SPEC-LIB-03)</a:t>
            </a:r>
          </a:p>
          <a:p>
            <a:pPr algn="l" marL="0" indent="0">
              <a:spcAft>
                <a:spcPts val="0"/>
              </a:spcAft>
              <a:buNone/>
            </a:pPr>
            <a:r>
              <a:rPr sz="1000" b="0" i="0" lang="es-CL">
                <a:solidFill>
                  <a:srgbClr val="1F2328"/>
                </a:solidFill>
                <a:latin typeface="Consolas"/>
                <a:ea typeface="Consolas"/>
                <a:cs typeface="Consolas"/>
              </a:rPr>
              <a:t>feat(backend): renovar préstamo en todas las capas (SPEC-LIB-03)</a:t>
            </a:r>
          </a:p>
        </p:txBody>
      </p:sp>
      <p:sp>
        <p:nvSpPr>
          <p:cNvPr id="15" name="TextBox 14"/>
          <p:cNvSpPr txBox="1"/>
          <p:nvPr/>
        </p:nvSpPr>
        <p:spPr>
          <a:xfrm>
            <a:off x="2148840" y="3236976"/>
            <a:ext cx="6492240" cy="310896"/>
          </a:xfrm>
          <a:prstGeom prst="rect">
            <a:avLst/>
          </a:prstGeom>
          <a:noFill/>
        </p:spPr>
        <p:txBody>
          <a:bodyPr wrap="square" lIns="36576" rIns="36576" tIns="36576" bIns="36576" anchor="t"/>
          <a:lstStyle/>
          <a:p>
            <a:pPr algn="l" marL="0" indent="0">
              <a:spcAft>
                <a:spcPts val="400"/>
              </a:spcAft>
              <a:buNone/>
            </a:pPr>
            <a:r>
              <a:rPr sz="1200" b="0" i="0" lang="es-CL">
                <a:solidFill>
                  <a:srgbClr val="1F2328"/>
                </a:solidFill>
                <a:latin typeface="Inter"/>
                <a:ea typeface="Inter"/>
                <a:cs typeface="Inter"/>
              </a:rPr>
              <a:t>El código mínimo para que pasen. spec-trace sin huérfanos.</a:t>
            </a:r>
          </a:p>
        </p:txBody>
      </p:sp>
      <p:sp>
        <p:nvSpPr>
          <p:cNvPr id="16" name="TextBox 15"/>
          <p:cNvSpPr txBox="1"/>
          <p:nvPr/>
        </p:nvSpPr>
        <p:spPr>
          <a:xfrm>
            <a:off x="411480" y="3758183"/>
            <a:ext cx="8321040" cy="274320"/>
          </a:xfrm>
          <a:prstGeom prst="rect">
            <a:avLst/>
          </a:prstGeom>
          <a:noFill/>
        </p:spPr>
        <p:txBody>
          <a:bodyPr wrap="square" lIns="36576" rIns="36576" tIns="36576" bIns="36576" anchor="t"/>
          <a:lstStyle/>
          <a:p>
            <a:pPr algn="l" marL="0" indent="0">
              <a:spcAft>
                <a:spcPts val="400"/>
              </a:spcAft>
              <a:buNone/>
            </a:pPr>
            <a:r>
              <a:rPr sz="1300" b="1" i="0" lang="es-CL">
                <a:solidFill>
                  <a:srgbClr val="003D4F"/>
                </a:solidFill>
                <a:latin typeface="Inter"/>
                <a:ea typeface="Inter"/>
                <a:cs typeface="Inter"/>
              </a:rPr>
              <a:t>Lo que publica el pipeline en el PR</a:t>
            </a:r>
          </a:p>
        </p:txBody>
      </p:sp>
      <p:sp>
        <p:nvSpPr>
          <p:cNvPr id="17" name="Rounded Rectangle 16"/>
          <p:cNvSpPr/>
          <p:nvPr/>
        </p:nvSpPr>
        <p:spPr>
          <a:xfrm>
            <a:off x="411480" y="4069080"/>
            <a:ext cx="2011680" cy="512064"/>
          </a:xfrm>
          <a:prstGeom prst="roundRect">
            <a:avLst>
              <a:gd name="adj" fmla="val 14285"/>
            </a:avLst>
          </a:prstGeom>
          <a:solidFill>
            <a:srgbClr val="47A1AD"/>
          </a:solidFill>
          <a:ln>
            <a:noFill/>
          </a:ln>
        </p:spPr>
        <p:txBody>
          <a:bodyPr rtlCol="0" anchor="ctr" wrap="square" lIns="36576" rIns="36576" tIns="36576" bIns="36576"/>
          <a:lstStyle/>
          <a:p>
            <a:pPr algn="ctr" marL="0" indent="0">
              <a:spcAft>
                <a:spcPts val="200"/>
              </a:spcAft>
              <a:buNone/>
            </a:pPr>
            <a:r>
              <a:rPr sz="1200" b="1" i="0" lang="es-CL">
                <a:solidFill>
                  <a:srgbClr val="FFFFFF"/>
                </a:solidFill>
                <a:latin typeface="Inter"/>
                <a:ea typeface="Inter"/>
                <a:cs typeface="Inter"/>
              </a:rPr>
              <a:t>GIF de FLOW-PRE-04</a:t>
            </a:r>
          </a:p>
        </p:txBody>
      </p:sp>
      <p:sp>
        <p:nvSpPr>
          <p:cNvPr id="18" name="Rounded Rectangle 17"/>
          <p:cNvSpPr/>
          <p:nvPr/>
        </p:nvSpPr>
        <p:spPr>
          <a:xfrm>
            <a:off x="2514600" y="4069080"/>
            <a:ext cx="2011680" cy="512064"/>
          </a:xfrm>
          <a:prstGeom prst="roundRect">
            <a:avLst>
              <a:gd name="adj" fmla="val 14285"/>
            </a:avLst>
          </a:prstGeom>
          <a:solidFill>
            <a:srgbClr val="38761D"/>
          </a:solidFill>
          <a:ln>
            <a:noFill/>
          </a:ln>
        </p:spPr>
        <p:txBody>
          <a:bodyPr rtlCol="0" anchor="ctr" wrap="square" lIns="36576" rIns="36576" tIns="36576" bIns="36576"/>
          <a:lstStyle/>
          <a:p>
            <a:pPr algn="ctr" marL="0" indent="0">
              <a:spcAft>
                <a:spcPts val="200"/>
              </a:spcAft>
              <a:buNone/>
            </a:pPr>
            <a:r>
              <a:rPr sz="1200" b="1" i="0" lang="es-CL">
                <a:solidFill>
                  <a:srgbClr val="FFFFFF"/>
                </a:solidFill>
                <a:latin typeface="Inter"/>
                <a:ea typeface="Inter"/>
                <a:cs typeface="Inter"/>
              </a:rPr>
              <a:t>renewLoan en endpoints</a:t>
            </a:r>
          </a:p>
        </p:txBody>
      </p:sp>
      <p:sp>
        <p:nvSpPr>
          <p:cNvPr id="19" name="Rounded Rectangle 18"/>
          <p:cNvSpPr/>
          <p:nvPr/>
        </p:nvSpPr>
        <p:spPr>
          <a:xfrm>
            <a:off x="4617720" y="4069080"/>
            <a:ext cx="2011680" cy="512064"/>
          </a:xfrm>
          <a:prstGeom prst="roundRect">
            <a:avLst>
              <a:gd name="adj" fmla="val 14285"/>
            </a:avLst>
          </a:prstGeom>
          <a:solidFill>
            <a:srgbClr val="003D4F"/>
          </a:solidFill>
          <a:ln>
            <a:noFill/>
          </a:ln>
        </p:spPr>
        <p:txBody>
          <a:bodyPr rtlCol="0" anchor="ctr" wrap="square" lIns="36576" rIns="36576" tIns="36576" bIns="36576"/>
          <a:lstStyle/>
          <a:p>
            <a:pPr algn="ctr" marL="0" indent="0">
              <a:spcAft>
                <a:spcPts val="200"/>
              </a:spcAft>
              <a:buNone/>
            </a:pPr>
            <a:r>
              <a:rPr sz="1200" b="1" i="0" lang="es-CL">
                <a:solidFill>
                  <a:srgbClr val="FFFFFF"/>
                </a:solidFill>
                <a:latin typeface="Inter"/>
                <a:ea typeface="Inter"/>
                <a:cs typeface="Inter"/>
              </a:rPr>
              <a:t>RENEW-R1 a R4 trazadas</a:t>
            </a:r>
          </a:p>
        </p:txBody>
      </p:sp>
      <p:sp>
        <p:nvSpPr>
          <p:cNvPr id="20" name="Rounded Rectangle 19"/>
          <p:cNvSpPr/>
          <p:nvPr/>
        </p:nvSpPr>
        <p:spPr>
          <a:xfrm>
            <a:off x="6720840" y="4069080"/>
            <a:ext cx="2011680" cy="512064"/>
          </a:xfrm>
          <a:prstGeom prst="roundRect">
            <a:avLst>
              <a:gd name="adj" fmla="val 14285"/>
            </a:avLst>
          </a:prstGeom>
          <a:solidFill>
            <a:srgbClr val="980000"/>
          </a:solidFill>
          <a:ln>
            <a:noFill/>
          </a:ln>
        </p:spPr>
        <p:txBody>
          <a:bodyPr rtlCol="0" anchor="ctr" wrap="square" lIns="36576" rIns="36576" tIns="36576" bIns="36576"/>
          <a:lstStyle/>
          <a:p>
            <a:pPr algn="ctr" marL="0" indent="0">
              <a:spcAft>
                <a:spcPts val="200"/>
              </a:spcAft>
              <a:buNone/>
            </a:pPr>
            <a:r>
              <a:rPr sz="1200" b="1" i="0" lang="es-CL">
                <a:solidFill>
                  <a:srgbClr val="FFFFFF"/>
                </a:solidFill>
                <a:latin typeface="Inter"/>
                <a:ea typeface="Inter"/>
                <a:cs typeface="Inter"/>
              </a:rPr>
              <a:t>oasdiff y seguridad</a:t>
            </a:r>
          </a:p>
        </p:txBody>
      </p:sp>
      <p:sp>
        <p:nvSpPr>
          <p:cNvPr id="21" name="TextBox 20"/>
          <p:cNvSpPr txBox="1"/>
          <p:nvPr/>
        </p:nvSpPr>
        <p:spPr>
          <a:xfrm>
            <a:off x="411480" y="4636008"/>
            <a:ext cx="8321040" cy="274320"/>
          </a:xfrm>
          <a:prstGeom prst="rect">
            <a:avLst/>
          </a:prstGeom>
          <a:noFill/>
        </p:spPr>
        <p:txBody>
          <a:bodyPr wrap="square" lIns="36576" rIns="36576" tIns="36576" bIns="36576" anchor="t"/>
          <a:lstStyle/>
          <a:p>
            <a:pPr algn="ctr" marL="0" indent="0">
              <a:spcAft>
                <a:spcPts val="400"/>
              </a:spcAft>
              <a:buNone/>
            </a:pPr>
            <a:r>
              <a:rPr sz="1200" b="1" i="0" lang="es-CL">
                <a:solidFill>
                  <a:srgbClr val="003D4F"/>
                </a:solidFill>
                <a:latin typeface="Inter"/>
                <a:ea typeface="Inter"/>
                <a:cs typeface="Inter"/>
              </a:rPr>
              <a:t>Se abre en https://github.com/UC-IIC-3143-Software-Development/full_stack_testing/pulls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Conclusiones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Oval 3"/>
          <p:cNvSpPr/>
          <p:nvPr/>
        </p:nvSpPr>
        <p:spPr>
          <a:xfrm>
            <a:off x="640080" y="1088136"/>
            <a:ext cx="457200" cy="457200"/>
          </a:xfrm>
          <a:prstGeom prst="ellipse">
            <a:avLst/>
          </a:prstGeom>
          <a:solidFill>
            <a:srgbClr val="003D4F"/>
          </a:solidFill>
          <a:ln>
            <a:noFill/>
          </a:ln>
        </p:spPr>
        <p:txBody>
          <a:bodyPr rtlCol="0" anchor="ctr" wrap="square" lIns="0" rIns="0" tIns="0" bIns="0"/>
          <a:lstStyle/>
          <a:p>
            <a:pPr algn="ctr" marL="0" indent="0">
              <a:spcAft>
                <a:spcPts val="200"/>
              </a:spcAft>
              <a:buNone/>
            </a:pPr>
            <a:r>
              <a:rPr sz="1400" b="1" i="0" lang="es-CL">
                <a:solidFill>
                  <a:srgbClr val="FFFFFF"/>
                </a:solidFill>
                <a:latin typeface="Inter"/>
                <a:ea typeface="Inter"/>
                <a:cs typeface="Inter"/>
              </a:rPr>
              <a:t>1</a:t>
            </a:r>
          </a:p>
        </p:txBody>
      </p:sp>
      <p:sp>
        <p:nvSpPr>
          <p:cNvPr id="5" name="TextBox 4"/>
          <p:cNvSpPr txBox="1"/>
          <p:nvPr/>
        </p:nvSpPr>
        <p:spPr>
          <a:xfrm>
            <a:off x="1280160" y="1051560"/>
            <a:ext cx="3291840" cy="530352"/>
          </a:xfrm>
          <a:prstGeom prst="rect">
            <a:avLst/>
          </a:prstGeom>
          <a:noFill/>
        </p:spPr>
        <p:txBody>
          <a:bodyPr wrap="square" lIns="36576" rIns="36576" tIns="36576" bIns="36576" anchor="ctr"/>
          <a:lstStyle/>
          <a:p>
            <a:pPr algn="l" marL="0" indent="0">
              <a:spcAft>
                <a:spcPts val="400"/>
              </a:spcAft>
              <a:buNone/>
            </a:pPr>
            <a:r>
              <a:rPr sz="1400" b="1" i="0" lang="es-CL">
                <a:solidFill>
                  <a:srgbClr val="003D4F"/>
                </a:solidFill>
                <a:latin typeface="Inter"/>
                <a:ea typeface="Inter"/>
                <a:cs typeface="Inter"/>
              </a:rPr>
              <a:t>La spec es el prompt</a:t>
            </a:r>
          </a:p>
        </p:txBody>
      </p:sp>
      <p:sp>
        <p:nvSpPr>
          <p:cNvPr id="6" name="TextBox 5"/>
          <p:cNvSpPr txBox="1"/>
          <p:nvPr/>
        </p:nvSpPr>
        <p:spPr>
          <a:xfrm>
            <a:off x="4617720" y="1051560"/>
            <a:ext cx="4114800" cy="530352"/>
          </a:xfrm>
          <a:prstGeom prst="rect">
            <a:avLst/>
          </a:prstGeom>
          <a:noFill/>
        </p:spPr>
        <p:txBody>
          <a:bodyPr wrap="square" lIns="36576" rIns="36576" tIns="36576" bIns="36576" anchor="ctr"/>
          <a:lstStyle/>
          <a:p>
            <a:pPr algn="l" marL="0" indent="0">
              <a:spcAft>
                <a:spcPts val="400"/>
              </a:spcAft>
              <a:buNone/>
            </a:pPr>
            <a:r>
              <a:rPr sz="1300" b="0" i="0" lang="es-CL">
                <a:solidFill>
                  <a:srgbClr val="1F2328"/>
                </a:solidFill>
                <a:latin typeface="Inter"/>
                <a:ea typeface="Inter"/>
                <a:cs typeface="Inter"/>
              </a:rPr>
              <a:t>Reglas con ID, contrato y flujos guían a personas y agentes.</a:t>
            </a:r>
          </a:p>
        </p:txBody>
      </p:sp>
      <p:sp>
        <p:nvSpPr>
          <p:cNvPr id="7" name="Oval 6"/>
          <p:cNvSpPr/>
          <p:nvPr/>
        </p:nvSpPr>
        <p:spPr>
          <a:xfrm>
            <a:off x="640080" y="1783080"/>
            <a:ext cx="457200" cy="457200"/>
          </a:xfrm>
          <a:prstGeom prst="ellipse">
            <a:avLst/>
          </a:prstGeom>
          <a:solidFill>
            <a:srgbClr val="38761D"/>
          </a:solidFill>
          <a:ln>
            <a:noFill/>
          </a:ln>
        </p:spPr>
        <p:txBody>
          <a:bodyPr rtlCol="0" anchor="ctr" wrap="square" lIns="0" rIns="0" tIns="0" bIns="0"/>
          <a:lstStyle/>
          <a:p>
            <a:pPr algn="ctr" marL="0" indent="0">
              <a:spcAft>
                <a:spcPts val="200"/>
              </a:spcAft>
              <a:buNone/>
            </a:pPr>
            <a:r>
              <a:rPr sz="1400" b="1" i="0" lang="es-CL">
                <a:solidFill>
                  <a:srgbClr val="FFFFFF"/>
                </a:solidFill>
                <a:latin typeface="Inter"/>
                <a:ea typeface="Inter"/>
                <a:cs typeface="Inter"/>
              </a:rPr>
              <a:t>2</a:t>
            </a:r>
          </a:p>
        </p:txBody>
      </p:sp>
      <p:sp>
        <p:nvSpPr>
          <p:cNvPr id="8" name="TextBox 7"/>
          <p:cNvSpPr txBox="1"/>
          <p:nvPr/>
        </p:nvSpPr>
        <p:spPr>
          <a:xfrm>
            <a:off x="1280160" y="1746504"/>
            <a:ext cx="3291840" cy="530352"/>
          </a:xfrm>
          <a:prstGeom prst="rect">
            <a:avLst/>
          </a:prstGeom>
          <a:noFill/>
        </p:spPr>
        <p:txBody>
          <a:bodyPr wrap="square" lIns="36576" rIns="36576" tIns="36576" bIns="36576" anchor="ctr"/>
          <a:lstStyle/>
          <a:p>
            <a:pPr algn="l" marL="0" indent="0">
              <a:spcAft>
                <a:spcPts val="400"/>
              </a:spcAft>
              <a:buNone/>
            </a:pPr>
            <a:r>
              <a:rPr sz="1400" b="1" i="0" lang="es-CL">
                <a:solidFill>
                  <a:srgbClr val="38761D"/>
                </a:solidFill>
                <a:latin typeface="Inter"/>
                <a:ea typeface="Inter"/>
                <a:cs typeface="Inter"/>
              </a:rPr>
              <a:t>Capa más baja posible</a:t>
            </a:r>
          </a:p>
        </p:txBody>
      </p:sp>
      <p:sp>
        <p:nvSpPr>
          <p:cNvPr id="9" name="TextBox 8"/>
          <p:cNvSpPr txBox="1"/>
          <p:nvPr/>
        </p:nvSpPr>
        <p:spPr>
          <a:xfrm>
            <a:off x="4617720" y="1746504"/>
            <a:ext cx="4114800" cy="530352"/>
          </a:xfrm>
          <a:prstGeom prst="rect">
            <a:avLst/>
          </a:prstGeom>
          <a:noFill/>
        </p:spPr>
        <p:txBody>
          <a:bodyPr wrap="square" lIns="36576" rIns="36576" tIns="36576" bIns="36576" anchor="ctr"/>
          <a:lstStyle/>
          <a:p>
            <a:pPr algn="l" marL="0" indent="0">
              <a:spcAft>
                <a:spcPts val="400"/>
              </a:spcAft>
              <a:buNone/>
            </a:pPr>
            <a:r>
              <a:rPr sz="1300" b="0" i="0" lang="es-CL">
                <a:solidFill>
                  <a:srgbClr val="1F2328"/>
                </a:solidFill>
                <a:latin typeface="Inter"/>
                <a:ea typeface="Inter"/>
                <a:cs typeface="Inter"/>
              </a:rPr>
              <a:t>Cada test vive donde detecta el defecto. Sin cupcake.</a:t>
            </a:r>
          </a:p>
        </p:txBody>
      </p:sp>
      <p:sp>
        <p:nvSpPr>
          <p:cNvPr id="10" name="Oval 9"/>
          <p:cNvSpPr/>
          <p:nvPr/>
        </p:nvSpPr>
        <p:spPr>
          <a:xfrm>
            <a:off x="640080" y="2478024"/>
            <a:ext cx="457200" cy="457200"/>
          </a:xfrm>
          <a:prstGeom prst="ellipse">
            <a:avLst/>
          </a:prstGeom>
          <a:solidFill>
            <a:srgbClr val="CC850A"/>
          </a:solidFill>
          <a:ln>
            <a:noFill/>
          </a:ln>
        </p:spPr>
        <p:txBody>
          <a:bodyPr rtlCol="0" anchor="ctr" wrap="square" lIns="0" rIns="0" tIns="0" bIns="0"/>
          <a:lstStyle/>
          <a:p>
            <a:pPr algn="ctr" marL="0" indent="0">
              <a:spcAft>
                <a:spcPts val="200"/>
              </a:spcAft>
              <a:buNone/>
            </a:pPr>
            <a:r>
              <a:rPr sz="1400" b="1" i="0" lang="es-CL">
                <a:solidFill>
                  <a:srgbClr val="FFFFFF"/>
                </a:solidFill>
                <a:latin typeface="Inter"/>
                <a:ea typeface="Inter"/>
                <a:cs typeface="Inter"/>
              </a:rPr>
              <a:t>3</a:t>
            </a:r>
          </a:p>
        </p:txBody>
      </p:sp>
      <p:sp>
        <p:nvSpPr>
          <p:cNvPr id="11" name="TextBox 10"/>
          <p:cNvSpPr txBox="1"/>
          <p:nvPr/>
        </p:nvSpPr>
        <p:spPr>
          <a:xfrm>
            <a:off x="1280160" y="2441448"/>
            <a:ext cx="3291840" cy="530352"/>
          </a:xfrm>
          <a:prstGeom prst="rect">
            <a:avLst/>
          </a:prstGeom>
          <a:noFill/>
        </p:spPr>
        <p:txBody>
          <a:bodyPr wrap="square" lIns="36576" rIns="36576" tIns="36576" bIns="36576" anchor="ctr"/>
          <a:lstStyle/>
          <a:p>
            <a:pPr algn="l" marL="0" indent="0">
              <a:spcAft>
                <a:spcPts val="400"/>
              </a:spcAft>
              <a:buNone/>
            </a:pPr>
            <a:r>
              <a:rPr sz="1400" b="1" i="0" lang="es-CL">
                <a:solidFill>
                  <a:srgbClr val="CC850A"/>
                </a:solidFill>
                <a:latin typeface="Inter"/>
                <a:ea typeface="Inter"/>
                <a:cs typeface="Inter"/>
              </a:rPr>
              <a:t>La IA propone, tú decides</a:t>
            </a:r>
          </a:p>
        </p:txBody>
      </p:sp>
      <p:sp>
        <p:nvSpPr>
          <p:cNvPr id="12" name="TextBox 11"/>
          <p:cNvSpPr txBox="1"/>
          <p:nvPr/>
        </p:nvSpPr>
        <p:spPr>
          <a:xfrm>
            <a:off x="4617720" y="2441448"/>
            <a:ext cx="4114800" cy="530352"/>
          </a:xfrm>
          <a:prstGeom prst="rect">
            <a:avLst/>
          </a:prstGeom>
          <a:noFill/>
        </p:spPr>
        <p:txBody>
          <a:bodyPr wrap="square" lIns="36576" rIns="36576" tIns="36576" bIns="36576" anchor="ctr"/>
          <a:lstStyle/>
          <a:p>
            <a:pPr algn="l" marL="0" indent="0">
              <a:spcAft>
                <a:spcPts val="400"/>
              </a:spcAft>
              <a:buNone/>
            </a:pPr>
            <a:r>
              <a:rPr sz="1300" b="0" i="0" lang="es-CL">
                <a:solidFill>
                  <a:srgbClr val="1F2328"/>
                </a:solidFill>
                <a:latin typeface="Inter"/>
                <a:ea typeface="Inter"/>
                <a:cs typeface="Inter"/>
              </a:rPr>
              <a:t>Plan primero, un test a la vez, revisor como juez.</a:t>
            </a:r>
          </a:p>
        </p:txBody>
      </p:sp>
      <p:sp>
        <p:nvSpPr>
          <p:cNvPr id="13" name="Oval 12"/>
          <p:cNvSpPr/>
          <p:nvPr/>
        </p:nvSpPr>
        <p:spPr>
          <a:xfrm>
            <a:off x="640080" y="3172968"/>
            <a:ext cx="457200" cy="457200"/>
          </a:xfrm>
          <a:prstGeom prst="ellipse">
            <a:avLst/>
          </a:prstGeom>
          <a:solidFill>
            <a:srgbClr val="634F7D"/>
          </a:solidFill>
          <a:ln>
            <a:noFill/>
          </a:ln>
        </p:spPr>
        <p:txBody>
          <a:bodyPr rtlCol="0" anchor="ctr" wrap="square" lIns="0" rIns="0" tIns="0" bIns="0"/>
          <a:lstStyle/>
          <a:p>
            <a:pPr algn="ctr" marL="0" indent="0">
              <a:spcAft>
                <a:spcPts val="200"/>
              </a:spcAft>
              <a:buNone/>
            </a:pPr>
            <a:r>
              <a:rPr sz="1400" b="1" i="0" lang="es-CL">
                <a:solidFill>
                  <a:srgbClr val="FFFFFF"/>
                </a:solidFill>
                <a:latin typeface="Inter"/>
                <a:ea typeface="Inter"/>
                <a:cs typeface="Inter"/>
              </a:rPr>
              <a:t>4</a:t>
            </a:r>
          </a:p>
        </p:txBody>
      </p:sp>
      <p:sp>
        <p:nvSpPr>
          <p:cNvPr id="14" name="TextBox 13"/>
          <p:cNvSpPr txBox="1"/>
          <p:nvPr/>
        </p:nvSpPr>
        <p:spPr>
          <a:xfrm>
            <a:off x="1280160" y="3136392"/>
            <a:ext cx="3291840" cy="530352"/>
          </a:xfrm>
          <a:prstGeom prst="rect">
            <a:avLst/>
          </a:prstGeom>
          <a:noFill/>
        </p:spPr>
        <p:txBody>
          <a:bodyPr wrap="square" lIns="36576" rIns="36576" tIns="36576" bIns="36576" anchor="ctr"/>
          <a:lstStyle/>
          <a:p>
            <a:pPr algn="l" marL="0" indent="0">
              <a:spcAft>
                <a:spcPts val="400"/>
              </a:spcAft>
              <a:buNone/>
            </a:pPr>
            <a:r>
              <a:rPr sz="1400" b="1" i="0" lang="es-CL">
                <a:solidFill>
                  <a:srgbClr val="634F7D"/>
                </a:solidFill>
                <a:latin typeface="Inter"/>
                <a:ea typeface="Inter"/>
                <a:cs typeface="Inter"/>
              </a:rPr>
              <a:t>Mide lo que importa</a:t>
            </a:r>
          </a:p>
        </p:txBody>
      </p:sp>
      <p:sp>
        <p:nvSpPr>
          <p:cNvPr id="15" name="TextBox 14"/>
          <p:cNvSpPr txBox="1"/>
          <p:nvPr/>
        </p:nvSpPr>
        <p:spPr>
          <a:xfrm>
            <a:off x="4617720" y="3136392"/>
            <a:ext cx="4114800" cy="530352"/>
          </a:xfrm>
          <a:prstGeom prst="rect">
            <a:avLst/>
          </a:prstGeom>
          <a:noFill/>
        </p:spPr>
        <p:txBody>
          <a:bodyPr wrap="square" lIns="36576" rIns="36576" tIns="36576" bIns="36576" anchor="ctr"/>
          <a:lstStyle/>
          <a:p>
            <a:pPr algn="l" marL="0" indent="0">
              <a:spcAft>
                <a:spcPts val="400"/>
              </a:spcAft>
              <a:buNone/>
            </a:pPr>
            <a:r>
              <a:rPr sz="1300" b="0" i="0" lang="es-CL">
                <a:solidFill>
                  <a:srgbClr val="1F2328"/>
                </a:solidFill>
                <a:latin typeface="Inter"/>
                <a:ea typeface="Inter"/>
                <a:cs typeface="Inter"/>
              </a:rPr>
              <a:t>Trazabilidad y mutación, no cantidad de tests ni cobertura.</a:t>
            </a:r>
          </a:p>
        </p:txBody>
      </p:sp>
      <p:sp>
        <p:nvSpPr>
          <p:cNvPr id="16" name="Oval 15"/>
          <p:cNvSpPr/>
          <p:nvPr/>
        </p:nvSpPr>
        <p:spPr>
          <a:xfrm>
            <a:off x="640080" y="3867911"/>
            <a:ext cx="457200" cy="457200"/>
          </a:xfrm>
          <a:prstGeom prst="ellipse">
            <a:avLst/>
          </a:prstGeom>
          <a:solidFill>
            <a:srgbClr val="980000"/>
          </a:solidFill>
          <a:ln>
            <a:noFill/>
          </a:ln>
        </p:spPr>
        <p:txBody>
          <a:bodyPr rtlCol="0" anchor="ctr" wrap="square" lIns="0" rIns="0" tIns="0" bIns="0"/>
          <a:lstStyle/>
          <a:p>
            <a:pPr algn="ctr" marL="0" indent="0">
              <a:spcAft>
                <a:spcPts val="200"/>
              </a:spcAft>
              <a:buNone/>
            </a:pPr>
            <a:r>
              <a:rPr sz="1400" b="1" i="0" lang="es-CL">
                <a:solidFill>
                  <a:srgbClr val="FFFFFF"/>
                </a:solidFill>
                <a:latin typeface="Inter"/>
                <a:ea typeface="Inter"/>
                <a:cs typeface="Inter"/>
              </a:rPr>
              <a:t>5</a:t>
            </a:r>
          </a:p>
        </p:txBody>
      </p:sp>
      <p:sp>
        <p:nvSpPr>
          <p:cNvPr id="17" name="TextBox 16"/>
          <p:cNvSpPr txBox="1"/>
          <p:nvPr/>
        </p:nvSpPr>
        <p:spPr>
          <a:xfrm>
            <a:off x="1280160" y="3831335"/>
            <a:ext cx="3291840" cy="530352"/>
          </a:xfrm>
          <a:prstGeom prst="rect">
            <a:avLst/>
          </a:prstGeom>
          <a:noFill/>
        </p:spPr>
        <p:txBody>
          <a:bodyPr wrap="square" lIns="36576" rIns="36576" tIns="36576" bIns="36576" anchor="ctr"/>
          <a:lstStyle/>
          <a:p>
            <a:pPr algn="l" marL="0" indent="0">
              <a:spcAft>
                <a:spcPts val="400"/>
              </a:spcAft>
              <a:buNone/>
            </a:pPr>
            <a:r>
              <a:rPr sz="1400" b="1" i="0" lang="es-CL">
                <a:solidFill>
                  <a:srgbClr val="980000"/>
                </a:solidFill>
                <a:latin typeface="Inter"/>
                <a:ea typeface="Inter"/>
                <a:cs typeface="Inter"/>
              </a:rPr>
              <a:t>Seguridad y evidencia en cada PR</a:t>
            </a:r>
          </a:p>
        </p:txBody>
      </p:sp>
      <p:sp>
        <p:nvSpPr>
          <p:cNvPr id="18" name="TextBox 17"/>
          <p:cNvSpPr txBox="1"/>
          <p:nvPr/>
        </p:nvSpPr>
        <p:spPr>
          <a:xfrm>
            <a:off x="4617720" y="3831335"/>
            <a:ext cx="4114800" cy="530352"/>
          </a:xfrm>
          <a:prstGeom prst="rect">
            <a:avLst/>
          </a:prstGeom>
          <a:noFill/>
        </p:spPr>
        <p:txBody>
          <a:bodyPr wrap="square" lIns="36576" rIns="36576" tIns="36576" bIns="36576" anchor="ctr"/>
          <a:lstStyle/>
          <a:p>
            <a:pPr algn="l" marL="0" indent="0">
              <a:spcAft>
                <a:spcPts val="400"/>
              </a:spcAft>
              <a:buNone/>
            </a:pPr>
            <a:r>
              <a:rPr sz="1300" b="0" i="0" lang="es-CL">
                <a:solidFill>
                  <a:srgbClr val="1F2328"/>
                </a:solidFill>
                <a:latin typeface="Inter"/>
                <a:ea typeface="Inter"/>
                <a:cs typeface="Inter"/>
              </a:rPr>
              <a:t>DevSecOps es parte del flujo, no una etapa final.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Para discutir</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Rounded Rectangle 3"/>
          <p:cNvSpPr/>
          <p:nvPr/>
        </p:nvSpPr>
        <p:spPr>
          <a:xfrm>
            <a:off x="411480" y="1051560"/>
            <a:ext cx="406908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5" name="TextBox 4"/>
          <p:cNvSpPr txBox="1"/>
          <p:nvPr/>
        </p:nvSpPr>
        <p:spPr>
          <a:xfrm>
            <a:off x="594360" y="1143000"/>
            <a:ext cx="548640" cy="548640"/>
          </a:xfrm>
          <a:prstGeom prst="rect">
            <a:avLst/>
          </a:prstGeom>
          <a:noFill/>
        </p:spPr>
        <p:txBody>
          <a:bodyPr wrap="square" lIns="36576" rIns="36576" tIns="36576" bIns="36576" anchor="t"/>
          <a:lstStyle/>
          <a:p>
            <a:pPr algn="l" marL="0" indent="0">
              <a:spcAft>
                <a:spcPts val="400"/>
              </a:spcAft>
              <a:buNone/>
            </a:pPr>
            <a:r>
              <a:rPr sz="2800" b="1" i="0" lang="es-CL">
                <a:solidFill>
                  <a:srgbClr val="4A86E8"/>
                </a:solidFill>
                <a:latin typeface="Bitter"/>
                <a:ea typeface="Bitter"/>
                <a:cs typeface="Bitter"/>
              </a:rPr>
              <a:t>?</a:t>
            </a:r>
          </a:p>
        </p:txBody>
      </p:sp>
      <p:sp>
        <p:nvSpPr>
          <p:cNvPr id="6" name="TextBox 5"/>
          <p:cNvSpPr txBox="1"/>
          <p:nvPr/>
        </p:nvSpPr>
        <p:spPr>
          <a:xfrm>
            <a:off x="1143000" y="1188719"/>
            <a:ext cx="3200400" cy="1280160"/>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¿Qué test de tu proyecto borrarías mañana? ¿Por qué nadie lo extrañaría?</a:t>
            </a:r>
          </a:p>
        </p:txBody>
      </p:sp>
      <p:sp>
        <p:nvSpPr>
          <p:cNvPr id="7" name="Rounded Rectangle 6"/>
          <p:cNvSpPr/>
          <p:nvPr/>
        </p:nvSpPr>
        <p:spPr>
          <a:xfrm>
            <a:off x="4617720" y="1051560"/>
            <a:ext cx="406908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8" name="TextBox 7"/>
          <p:cNvSpPr txBox="1"/>
          <p:nvPr/>
        </p:nvSpPr>
        <p:spPr>
          <a:xfrm>
            <a:off x="4800600" y="1143000"/>
            <a:ext cx="548640" cy="548640"/>
          </a:xfrm>
          <a:prstGeom prst="rect">
            <a:avLst/>
          </a:prstGeom>
          <a:noFill/>
        </p:spPr>
        <p:txBody>
          <a:bodyPr wrap="square" lIns="36576" rIns="36576" tIns="36576" bIns="36576" anchor="t"/>
          <a:lstStyle/>
          <a:p>
            <a:pPr algn="l" marL="0" indent="0">
              <a:spcAft>
                <a:spcPts val="400"/>
              </a:spcAft>
              <a:buNone/>
            </a:pPr>
            <a:r>
              <a:rPr sz="2800" b="1" i="0" lang="es-CL">
                <a:solidFill>
                  <a:srgbClr val="4A86E8"/>
                </a:solidFill>
                <a:latin typeface="Bitter"/>
                <a:ea typeface="Bitter"/>
                <a:cs typeface="Bitter"/>
              </a:rPr>
              <a:t>?</a:t>
            </a:r>
          </a:p>
        </p:txBody>
      </p:sp>
      <p:sp>
        <p:nvSpPr>
          <p:cNvPr id="9" name="TextBox 8"/>
          <p:cNvSpPr txBox="1"/>
          <p:nvPr/>
        </p:nvSpPr>
        <p:spPr>
          <a:xfrm>
            <a:off x="5349240" y="1188719"/>
            <a:ext cx="3200400" cy="1280160"/>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Si un agente te entrega 50 tests en un PR, ¿con qué criterio aceptas cada uno?</a:t>
            </a:r>
          </a:p>
        </p:txBody>
      </p:sp>
      <p:sp>
        <p:nvSpPr>
          <p:cNvPr id="10" name="Rounded Rectangle 9"/>
          <p:cNvSpPr/>
          <p:nvPr/>
        </p:nvSpPr>
        <p:spPr>
          <a:xfrm>
            <a:off x="411480" y="2788920"/>
            <a:ext cx="406908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11" name="TextBox 10"/>
          <p:cNvSpPr txBox="1"/>
          <p:nvPr/>
        </p:nvSpPr>
        <p:spPr>
          <a:xfrm>
            <a:off x="594360" y="2880360"/>
            <a:ext cx="548640" cy="548640"/>
          </a:xfrm>
          <a:prstGeom prst="rect">
            <a:avLst/>
          </a:prstGeom>
          <a:noFill/>
        </p:spPr>
        <p:txBody>
          <a:bodyPr wrap="square" lIns="36576" rIns="36576" tIns="36576" bIns="36576" anchor="t"/>
          <a:lstStyle/>
          <a:p>
            <a:pPr algn="l" marL="0" indent="0">
              <a:spcAft>
                <a:spcPts val="400"/>
              </a:spcAft>
              <a:buNone/>
            </a:pPr>
            <a:r>
              <a:rPr sz="2800" b="1" i="0" lang="es-CL">
                <a:solidFill>
                  <a:srgbClr val="4A86E8"/>
                </a:solidFill>
                <a:latin typeface="Bitter"/>
                <a:ea typeface="Bitter"/>
                <a:cs typeface="Bitter"/>
              </a:rPr>
              <a:t>?</a:t>
            </a:r>
          </a:p>
        </p:txBody>
      </p:sp>
      <p:sp>
        <p:nvSpPr>
          <p:cNvPr id="12" name="TextBox 11"/>
          <p:cNvSpPr txBox="1"/>
          <p:nvPr/>
        </p:nvSpPr>
        <p:spPr>
          <a:xfrm>
            <a:off x="1143000" y="2926079"/>
            <a:ext cx="3200400" cy="1280160"/>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Si el pipeline tuviera que tardar 5 minutos, ¿qué etapas moverías a nightly?</a:t>
            </a:r>
          </a:p>
        </p:txBody>
      </p:sp>
      <p:sp>
        <p:nvSpPr>
          <p:cNvPr id="13" name="Rounded Rectangle 12"/>
          <p:cNvSpPr/>
          <p:nvPr/>
        </p:nvSpPr>
        <p:spPr>
          <a:xfrm>
            <a:off x="4617720" y="2788920"/>
            <a:ext cx="4069080" cy="1554480"/>
          </a:xfrm>
          <a:prstGeom prst="roundRect">
            <a:avLst>
              <a:gd name="adj" fmla="val 5882"/>
            </a:avLst>
          </a:prstGeom>
          <a:solidFill>
            <a:srgbClr val="EDF1F3"/>
          </a:solidFill>
          <a:ln>
            <a:noFill/>
          </a:ln>
        </p:spPr>
        <p:txBody>
          <a:bodyPr rtlCol="0" anchor="ctr" wrap="square" lIns="54864" rIns="54864" tIns="54864" bIns="54864"/>
          <a:lstStyle/>
          <a:p>
            <a:pPr algn="ctr"/>
          </a:p>
        </p:txBody>
      </p:sp>
      <p:sp>
        <p:nvSpPr>
          <p:cNvPr id="14" name="TextBox 13"/>
          <p:cNvSpPr txBox="1"/>
          <p:nvPr/>
        </p:nvSpPr>
        <p:spPr>
          <a:xfrm>
            <a:off x="4800600" y="2880360"/>
            <a:ext cx="548640" cy="548640"/>
          </a:xfrm>
          <a:prstGeom prst="rect">
            <a:avLst/>
          </a:prstGeom>
          <a:noFill/>
        </p:spPr>
        <p:txBody>
          <a:bodyPr wrap="square" lIns="36576" rIns="36576" tIns="36576" bIns="36576" anchor="t"/>
          <a:lstStyle/>
          <a:p>
            <a:pPr algn="l" marL="0" indent="0">
              <a:spcAft>
                <a:spcPts val="400"/>
              </a:spcAft>
              <a:buNone/>
            </a:pPr>
            <a:r>
              <a:rPr sz="2800" b="1" i="0" lang="es-CL">
                <a:solidFill>
                  <a:srgbClr val="4A86E8"/>
                </a:solidFill>
                <a:latin typeface="Bitter"/>
                <a:ea typeface="Bitter"/>
                <a:cs typeface="Bitter"/>
              </a:rPr>
              <a:t>?</a:t>
            </a:r>
          </a:p>
        </p:txBody>
      </p:sp>
      <p:sp>
        <p:nvSpPr>
          <p:cNvPr id="15" name="TextBox 14"/>
          <p:cNvSpPr txBox="1"/>
          <p:nvPr/>
        </p:nvSpPr>
        <p:spPr>
          <a:xfrm>
            <a:off x="5349240" y="2926079"/>
            <a:ext cx="3200400" cy="1280160"/>
          </a:xfrm>
          <a:prstGeom prst="rect">
            <a:avLst/>
          </a:prstGeom>
          <a:noFill/>
        </p:spPr>
        <p:txBody>
          <a:bodyPr wrap="square" lIns="36576" rIns="36576" tIns="36576" bIns="36576" anchor="ctr"/>
          <a:lstStyle/>
          <a:p>
            <a:pPr algn="l" marL="0" indent="0">
              <a:spcAft>
                <a:spcPts val="400"/>
              </a:spcAft>
              <a:buNone/>
            </a:pPr>
            <a:r>
              <a:rPr sz="1400" b="0" i="0" lang="es-CL">
                <a:solidFill>
                  <a:srgbClr val="1F2328"/>
                </a:solidFill>
                <a:latin typeface="Inter"/>
                <a:ea typeface="Inter"/>
                <a:cs typeface="Inter"/>
              </a:rPr>
              <a:t>¿Git Flow o trunk based para el proyecto del curso? Argumenta con métricas DORA.</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65760" y="292608"/>
            <a:ext cx="8412480" cy="566928"/>
          </a:xfrm>
        </p:spPr>
        <p:txBody>
          <a:bodyPr wrap="square"/>
          <a:lstStyle/>
          <a:p>
            <a:pPr algn="ctr"/>
            <a:r>
              <a:rPr sz="2400" b="1"/>
              <a:t>Referencias</a:t>
            </a:r>
          </a:p>
        </p:txBody>
      </p:sp>
      <p:sp>
        <p:nvSpPr>
          <p:cNvPr id="3" name="Google Shape;332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1pPr>
            <a:lvl2pPr indent="0" lvl="1"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2pPr>
            <a:lvl3pPr indent="0" lvl="2"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3pPr>
            <a:lvl4pPr indent="0" lvl="3"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4pPr>
            <a:lvl5pPr indent="0" lvl="4"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5pPr>
            <a:lvl6pPr indent="0" lvl="5"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6pPr>
            <a:lvl7pPr indent="0" lvl="6"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7pPr>
            <a:lvl8pPr indent="0" lvl="7"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8pPr>
            <a:lvl9pPr indent="0" lvl="8" marL="0" marR="0" algn="r">
              <a:lnSpc>
                <a:spcPct val="100000"/>
              </a:lnSpc>
              <a:spcBef>
                <a:spcPts val="0"/>
              </a:spcBef>
              <a:spcAft>
                <a:spcPts val="0"/>
              </a:spcAft>
              <a:buClr>
                <a:srgbClr val="000000"/>
              </a:buClr>
              <a:buSzPts val="800"/>
              <a:buFont typeface="Arial"/>
              <a:buNone/>
              <a:defRPr b="0" i="0" sz="800" u="none" cap="none" strike="noStrike">
                <a:solidFill>
                  <a:srgbClr val="999999"/>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s"/>
              <a:t>‹#›</a:t>
            </a:fld>
            <a:endParaRPr/>
          </a:p>
        </p:txBody>
      </p:sp>
      <p:sp>
        <p:nvSpPr>
          <p:cNvPr id="4" name="TextBox 3"/>
          <p:cNvSpPr txBox="1"/>
          <p:nvPr/>
        </p:nvSpPr>
        <p:spPr>
          <a:xfrm>
            <a:off x="411480" y="960120"/>
            <a:ext cx="4114800" cy="329184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Libro base.</a:t>
            </a:r>
            <a:r>
              <a:rPr sz="1200" b="0" i="0" lang="es-CL">
                <a:solidFill>
                  <a:srgbClr val="1F2328"/>
                </a:solidFill>
                <a:latin typeface="Inter"/>
                <a:ea typeface="Inter"/>
                <a:cs typeface="Inter"/>
              </a:rPr>
              <a:t> G. Mohan, Full Stack Testing, 2.ª ed., O'Reilly, 2026.</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DORA.</a:t>
            </a:r>
            <a:r>
              <a:rPr sz="1200" b="0" i="0" lang="es-CL">
                <a:solidFill>
                  <a:srgbClr val="1F2328"/>
                </a:solidFill>
                <a:latin typeface="Inter"/>
                <a:ea typeface="Inter"/>
                <a:cs typeface="Inter"/>
              </a:rPr>
              <a:t> State of AI-assisted Software Development, 2025.</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Meta.</a:t>
            </a:r>
            <a:r>
              <a:rPr sz="1200" b="0" i="0" lang="es-CL">
                <a:solidFill>
                  <a:srgbClr val="1F2328"/>
                </a:solidFill>
                <a:latin typeface="Inter"/>
                <a:ea typeface="Inter"/>
                <a:cs typeface="Inter"/>
              </a:rPr>
              <a:t> Alshahwan et al., TestGen-LLM, FSE 2024.</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Meta.</a:t>
            </a:r>
            <a:r>
              <a:rPr sz="1200" b="0" i="0" lang="es-CL">
                <a:solidFill>
                  <a:srgbClr val="1F2328"/>
                </a:solidFill>
                <a:latin typeface="Inter"/>
                <a:ea typeface="Inter"/>
                <a:cs typeface="Inter"/>
              </a:rPr>
              <a:t> Mutation-Guided LLM-based Test Generation (ACH), 2025.</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Google.</a:t>
            </a:r>
            <a:r>
              <a:rPr sz="1200" b="0" i="0" lang="es-CL">
                <a:solidFill>
                  <a:srgbClr val="1F2328"/>
                </a:solidFill>
                <a:latin typeface="Inter"/>
                <a:ea typeface="Inter"/>
                <a:cs typeface="Inter"/>
              </a:rPr>
              <a:t> Petrović et al., State of Mutation Testing at Google, ICSE SEIP 2018.</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Google Research.</a:t>
            </a:r>
            <a:r>
              <a:rPr sz="1200" b="0" i="0" lang="es-CL">
                <a:solidFill>
                  <a:srgbClr val="1F2328"/>
                </a:solidFill>
                <a:latin typeface="Inter"/>
                <a:ea typeface="Inter"/>
                <a:cs typeface="Inter"/>
              </a:rPr>
              <a:t> Resolving code review comments with ML, 2023.</a:t>
            </a:r>
          </a:p>
        </p:txBody>
      </p:sp>
      <p:sp>
        <p:nvSpPr>
          <p:cNvPr id="5" name="TextBox 4"/>
          <p:cNvSpPr txBox="1"/>
          <p:nvPr/>
        </p:nvSpPr>
        <p:spPr>
          <a:xfrm>
            <a:off x="4709160" y="960120"/>
            <a:ext cx="4023360" cy="3291840"/>
          </a:xfrm>
          <a:prstGeom prst="rect">
            <a:avLst/>
          </a:prstGeom>
          <a:noFill/>
        </p:spPr>
        <p:txBody>
          <a:bodyPr wrap="square" lIns="36576" rIns="36576" tIns="36576" bIns="36576" anchor="t"/>
          <a:lstStyle/>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SDD.</a:t>
            </a:r>
            <a:r>
              <a:rPr sz="1200" b="0" i="0" lang="es-CL">
                <a:solidFill>
                  <a:srgbClr val="1F2328"/>
                </a:solidFill>
                <a:latin typeface="Inter"/>
                <a:ea typeface="Inter"/>
                <a:cs typeface="Inter"/>
              </a:rPr>
              <a:t> GitHub Spec Kit, AWS Kiro, Tessl.</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Contrato.</a:t>
            </a:r>
            <a:r>
              <a:rPr sz="1200" b="0" i="0" lang="es-CL">
                <a:solidFill>
                  <a:srgbClr val="1F2328"/>
                </a:solidFill>
                <a:latin typeface="Inter"/>
                <a:ea typeface="Inter"/>
                <a:cs typeface="Inter"/>
              </a:rPr>
              <a:t> OpenAPI 3.1, Spectral, oasdiff, openapi-typescript, Schemathesis, Pact.</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Pruebas.</a:t>
            </a:r>
            <a:r>
              <a:rPr sz="1200" b="0" i="0" lang="es-CL">
                <a:solidFill>
                  <a:srgbClr val="1F2328"/>
                </a:solidFill>
                <a:latin typeface="Inter"/>
                <a:ea typeface="Inter"/>
                <a:cs typeface="Inter"/>
              </a:rPr>
              <a:t> Jest, Vitest, Testing Library, MSW, Playwright, playwright-bdd, Testcontainers, supertest, axe-core, Lighthouse, k6, Stryker, dependency-cruiser.</a:t>
            </a:r>
          </a:p>
          <a:p>
            <a:pPr algn="l" marL="182880" indent="-164592">
              <a:spcAft>
                <a:spcPts val="400"/>
              </a:spcAft>
              <a:buClr>
                <a:srgbClr val="F2617A"/>
              </a:buClr>
              <a:buSzPct val="100000"/>
              <a:buFont typeface="Arial"/>
              <a:buChar char="●"/>
            </a:pPr>
            <a:r>
              <a:rPr sz="1200" b="1" i="0" lang="es-CL">
                <a:solidFill>
                  <a:srgbClr val="1F2328"/>
                </a:solidFill>
                <a:latin typeface="Inter"/>
                <a:ea typeface="Inter"/>
                <a:cs typeface="Inter"/>
              </a:rPr>
              <a:t>Seguridad.</a:t>
            </a:r>
            <a:r>
              <a:rPr sz="1200" b="0" i="0" lang="es-CL">
                <a:solidFill>
                  <a:srgbClr val="1F2328"/>
                </a:solidFill>
                <a:latin typeface="Inter"/>
                <a:ea typeface="Inter"/>
                <a:cs typeface="Inter"/>
              </a:rPr>
              <a:t> gitleaks, Semgrep, CodeQL, Trivy, hadolint, actionlint, zizmor, OWASP ZAP, CycloneDX.</a:t>
            </a:r>
          </a:p>
        </p:txBody>
      </p:sp>
      <p:sp>
        <p:nvSpPr>
          <p:cNvPr id="6" name="TextBox 5"/>
          <p:cNvSpPr txBox="1"/>
          <p:nvPr/>
        </p:nvSpPr>
        <p:spPr>
          <a:xfrm>
            <a:off x="411480" y="4279392"/>
            <a:ext cx="8321040" cy="292608"/>
          </a:xfrm>
          <a:prstGeom prst="rect">
            <a:avLst/>
          </a:prstGeom>
          <a:noFill/>
        </p:spPr>
        <p:txBody>
          <a:bodyPr wrap="square" lIns="36576" rIns="36576" tIns="36576" bIns="36576" anchor="t"/>
          <a:lstStyle/>
          <a:p>
            <a:pPr algn="ctr" marL="0" indent="0">
              <a:spcAft>
                <a:spcPts val="400"/>
              </a:spcAft>
              <a:buNone/>
            </a:pPr>
            <a:r>
              <a:rPr sz="1300" b="1" i="0" lang="es-CL">
                <a:solidFill>
                  <a:srgbClr val="003D4F"/>
                </a:solidFill>
                <a:latin typeface="Inter"/>
                <a:ea typeface="Inter"/>
                <a:cs typeface="Inter"/>
              </a:rPr>
              <a:t>Repo: github.com/UC-IIC-3143-Software-Development/full_stack_testing</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oughtworks Master ">
  <a:themeElements>
    <a:clrScheme name="Simple Light">
      <a:dk1>
        <a:srgbClr val="000000"/>
      </a:dk1>
      <a:lt1>
        <a:srgbClr val="FFFFFF"/>
      </a:lt1>
      <a:dk2>
        <a:srgbClr val="666666"/>
      </a:dk2>
      <a:lt2>
        <a:srgbClr val="EDF1F3"/>
      </a:lt2>
      <a:accent1>
        <a:srgbClr val="003D4F"/>
      </a:accent1>
      <a:accent2>
        <a:srgbClr val="F2617A"/>
      </a:accent2>
      <a:accent3>
        <a:srgbClr val="CC850A"/>
      </a:accent3>
      <a:accent4>
        <a:srgbClr val="6B9E78"/>
      </a:accent4>
      <a:accent5>
        <a:srgbClr val="47A1AD"/>
      </a:accent5>
      <a:accent6>
        <a:srgbClr val="634F7D"/>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Industrial Processes Class for College by Slidesgo">
  <a:themeElements>
    <a:clrScheme name="Simple Light">
      <a:dk1>
        <a:srgbClr val="3F232A"/>
      </a:dk1>
      <a:lt1>
        <a:srgbClr val="FFF4E9"/>
      </a:lt1>
      <a:dk2>
        <a:srgbClr val="FFDFD0"/>
      </a:dk2>
      <a:lt2>
        <a:srgbClr val="FFA386"/>
      </a:lt2>
      <a:accent1>
        <a:srgbClr val="FF973C"/>
      </a:accent1>
      <a:accent2>
        <a:srgbClr val="C9E8FF"/>
      </a:accent2>
      <a:accent3>
        <a:srgbClr val="7575D3"/>
      </a:accent3>
      <a:accent4>
        <a:srgbClr val="8AD280"/>
      </a:accent4>
      <a:accent5>
        <a:srgbClr val="97CFF9"/>
      </a:accent5>
      <a:accent6>
        <a:srgbClr val="131353"/>
      </a:accent6>
      <a:hlink>
        <a:srgbClr val="13135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Full Stack Testing moderno con IA y DevSecOps</dc:title>
  <cp:lastModifiedBy>python-pptx</cp:lastModifiedBy>
  <cp:revision>1</cp:revision>
  <dcterms:modified xsi:type="dcterms:W3CDTF">2026-10-26T06:27:07Z</dcterms:modified>
  <dc:creator>IIC3143 Desarrollo de Software</dc:creator>
  <dc:language>es-CL</dc:language>
</cp:coreProperties>
</file>