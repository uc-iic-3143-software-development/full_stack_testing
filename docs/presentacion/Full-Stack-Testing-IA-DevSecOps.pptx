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2.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58.xml" ContentType="application/vnd.openxmlformats-officedocument.presentationml.slideLayout+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4.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7" r:id="rId5"/>
    <p:sldMasterId id="2147483748" r:id="rId6"/>
  </p:sldMasterIdLst>
  <p:notesMasterIdLst>
    <p:notesMasterId r:id="rId11"/>
  </p:notesMasterIdLst>
  <p:sldIdLst>
    <p:sldId id="256" r:id="rId12"/>
    <p:sldId id="257" r:id="rId24"/>
    <p:sldId id="258" r:id="rId25"/>
    <p:sldId id="259" r:id="rId26"/>
    <p:sldId id="260" r:id="rId27"/>
    <p:sldId id="261" r:id="rId28"/>
    <p:sldId id="262" r:id="rId29"/>
    <p:sldId id="263" r:id="rId30"/>
    <p:sldId id="264" r:id="rId31"/>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 id="297" r:id="rId64"/>
    <p:sldId id="298" r:id="rId65"/>
    <p:sldId id="299" r:id="rId66"/>
    <p:sldId id="300" r:id="rId67"/>
    <p:sldId id="301" r:id="rId68"/>
    <p:sldId id="302" r:id="rId69"/>
    <p:sldId id="303" r:id="rId70"/>
    <p:sldId id="304" r:id="rId71"/>
    <p:sldId id="305" r:id="rId72"/>
    <p:sldId id="306" r:id="rId73"/>
    <p:sldId id="307" r:id="rId74"/>
    <p:sldId id="308" r:id="rId75"/>
    <p:sldId id="309" r:id="rId76"/>
    <p:sldId id="310" r:id="rId77"/>
    <p:sldId id="311" r:id="rId78"/>
    <p:sldId id="312" r:id="rId79"/>
    <p:sldId id="313" r:id="rId80"/>
    <p:sldId id="314" r:id="rId81"/>
    <p:sldId id="315" r:id="rId82"/>
    <p:sldId id="316" r:id="rId83"/>
    <p:sldId id="317" r:id="rId84"/>
    <p:sldId id="318" r:id="rId85"/>
    <p:sldId id="319" r:id="rId86"/>
    <p:sldId id="320" r:id="rId87"/>
    <p:sldId id="321" r:id="rId88"/>
    <p:sldId id="322" r:id="rId89"/>
    <p:sldId id="323" r:id="rId90"/>
    <p:sldId id="324" r:id="rId91"/>
    <p:sldId id="325" r:id="rId92"/>
    <p:sldId id="326" r:id="rId93"/>
  </p:sldIdLst>
  <p:sldSz cy="5143500" cx="9144000"/>
  <p:notesSz cx="6858000" cy="9144000"/>
  <p:embeddedFontLst>
    <p:embeddedFont>
      <p:font typeface="Inter"/>
      <p:regular r:id="rId142"/>
      <p:bold r:id="rId143"/>
      <p:italic r:id="rId144"/>
      <p:boldItalic r:id="rId145"/>
    </p:embeddedFont>
    <p:embeddedFont>
      <p:font typeface="Bitter"/>
      <p:regular r:id="rId148"/>
      <p:bold r:id="rId149"/>
      <p:italic r:id="rId150"/>
      <p:boldItalic r:id="rId151"/>
    </p:embeddedFont>
    <p:embeddedFont>
      <p:font typeface="Prompt"/>
      <p:regular r:id="rId152"/>
      <p:bold r:id="rId153"/>
      <p:italic r:id="rId154"/>
      <p:boldItalic r:id="rId155"/>
    </p:embeddedFont>
    <p:embeddedFont>
      <p:font typeface="Asap"/>
      <p:regular r:id="rId160"/>
      <p:bold r:id="rId161"/>
      <p:italic r:id="rId162"/>
      <p:boldItalic r:id="rId16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521415D9-36F7-43E2-AB2F-B90AF26B5E84}">
      <p14:sectionLst>
        <p14:section name="Apertura" id="{C44A3A0F-A0F2-5D86-975C-D7593144B6CD}">
          <p14:sldIdLst>
            <p14:sldId id="256"/>
            <p14:sldId id="257"/>
            <p14:sldId id="258"/>
            <p14:sldId id="259"/>
          </p14:sldIdLst>
        </p14:section>
        <p14:section name="1. Por qué ahora" id="{7D986DB4-6AC5-5603-BC22-7671D71CCA37}">
          <p14:sldIdLst>
            <p14:sldId id="260"/>
            <p14:sldId id="261"/>
            <p14:sldId id="262"/>
            <p14:sldId id="263"/>
            <p14:sldId id="264"/>
            <p14:sldId id="265"/>
            <p14:sldId id="266"/>
            <p14:sldId id="267"/>
            <p14:sldId id="268"/>
          </p14:sldIdLst>
        </p14:section>
        <p14:section name="2. Spec Driven Development" id="{EF335164-9292-5087-A78F-BA296771D3FD}">
          <p14:sldIdLst>
            <p14:sldId id="269"/>
            <p14:sldId id="270"/>
            <p14:sldId id="271"/>
            <p14:sldId id="272"/>
            <p14:sldId id="273"/>
            <p14:sldId id="274"/>
            <p14:sldId id="275"/>
            <p14:sldId id="276"/>
            <p14:sldId id="277"/>
            <p14:sldId id="278"/>
            <p14:sldId id="279"/>
          </p14:sldIdLst>
        </p14:section>
        <p14:section name="3. El proyecto" id="{E750502F-06BA-5460-BD2A-39BF519DC7FA}">
          <p14:sldIdLst>
            <p14:sldId id="280"/>
            <p14:sldId id="281"/>
            <p14:sldId id="282"/>
            <p14:sldId id="283"/>
            <p14:sldId id="284"/>
          </p14:sldIdLst>
        </p14:section>
        <p14:section name="4. Tipos de prueba" id="{784DADD0-245B-51F2-8DD0-FC70FAEE9192}">
          <p14:sldIdLst>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Lst>
        </p14:section>
        <p14:section name="5. DevSecOps y CI" id="{4302BFCA-3044-53F4-848B-338433E558D2}">
          <p14:sldIdLst>
            <p14:sldId id="304"/>
            <p14:sldId id="305"/>
            <p14:sldId id="306"/>
            <p14:sldId id="307"/>
            <p14:sldId id="308"/>
            <p14:sldId id="309"/>
            <p14:sldId id="310"/>
            <p14:sldId id="311"/>
            <p14:sldId id="312"/>
            <p14:sldId id="313"/>
            <p14:sldId id="314"/>
            <p14:sldId id="315"/>
          </p14:sldIdLst>
        </p14:section>
        <p14:section name="6. Evidencia en el PR" id="{50101091-C382-5082-B3FA-46E7EEE30F01}">
          <p14:sldIdLst>
            <p14:sldId id="316"/>
            <p14:sldId id="317"/>
            <p14:sldId id="318"/>
            <p14:sldId id="319"/>
          </p14:sldIdLst>
        </p14:section>
        <p14:section name="7. Actividad práctica" id="{9E65D432-4D12-5800-8024-E6D86A2E99D3}">
          <p14:sldIdLst>
            <p14:sldId id="320"/>
            <p14:sldId id="321"/>
            <p14:sldId id="322"/>
            <p14:sldId id="323"/>
          </p14:sldIdLst>
        </p14:section>
        <p14:section name="Cierre" id="{F132BEB3-F123-555F-84D2-0EDEFEF9BA6E}">
          <p14:sldIdLst>
            <p14:sldId id="324"/>
            <p14:sldId id="325"/>
            <p14:sldId id="326"/>
          </p14:sldIdLst>
        </p14:section>
      </p14:section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5" Type="http://schemas.openxmlformats.org/officeDocument/2006/relationships/slideMaster" Target="slideMasters/slideMaster2.xml"/><Relationship Id="rId6" Type="http://schemas.openxmlformats.org/officeDocument/2006/relationships/slideMaster" Target="slideMasters/slideMaster3.xml"/><Relationship Id="rId11" Type="http://schemas.openxmlformats.org/officeDocument/2006/relationships/notesMaster" Target="notesMasters/notesMaster1.xml"/><Relationship Id="rId12" Type="http://schemas.openxmlformats.org/officeDocument/2006/relationships/slide" Target="slides/slide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 Id="rId64" Type="http://schemas.openxmlformats.org/officeDocument/2006/relationships/slide" Target="slides/slide42.xml"/><Relationship Id="rId65" Type="http://schemas.openxmlformats.org/officeDocument/2006/relationships/slide" Target="slides/slide43.xml"/><Relationship Id="rId66" Type="http://schemas.openxmlformats.org/officeDocument/2006/relationships/slide" Target="slides/slide44.xml"/><Relationship Id="rId67" Type="http://schemas.openxmlformats.org/officeDocument/2006/relationships/slide" Target="slides/slide45.xml"/><Relationship Id="rId68" Type="http://schemas.openxmlformats.org/officeDocument/2006/relationships/slide" Target="slides/slide46.xml"/><Relationship Id="rId69" Type="http://schemas.openxmlformats.org/officeDocument/2006/relationships/slide" Target="slides/slide47.xml"/><Relationship Id="rId70" Type="http://schemas.openxmlformats.org/officeDocument/2006/relationships/slide" Target="slides/slide48.xml"/><Relationship Id="rId71" Type="http://schemas.openxmlformats.org/officeDocument/2006/relationships/slide" Target="slides/slide49.xml"/><Relationship Id="rId72" Type="http://schemas.openxmlformats.org/officeDocument/2006/relationships/slide" Target="slides/slide50.xml"/><Relationship Id="rId73" Type="http://schemas.openxmlformats.org/officeDocument/2006/relationships/slide" Target="slides/slide51.xml"/><Relationship Id="rId74" Type="http://schemas.openxmlformats.org/officeDocument/2006/relationships/slide" Target="slides/slide52.xml"/><Relationship Id="rId75" Type="http://schemas.openxmlformats.org/officeDocument/2006/relationships/slide" Target="slides/slide53.xml"/><Relationship Id="rId76" Type="http://schemas.openxmlformats.org/officeDocument/2006/relationships/slide" Target="slides/slide54.xml"/><Relationship Id="rId77" Type="http://schemas.openxmlformats.org/officeDocument/2006/relationships/slide" Target="slides/slide55.xml"/><Relationship Id="rId78" Type="http://schemas.openxmlformats.org/officeDocument/2006/relationships/slide" Target="slides/slide56.xml"/><Relationship Id="rId79" Type="http://schemas.openxmlformats.org/officeDocument/2006/relationships/slide" Target="slides/slide57.xml"/><Relationship Id="rId80" Type="http://schemas.openxmlformats.org/officeDocument/2006/relationships/slide" Target="slides/slide58.xml"/><Relationship Id="rId81" Type="http://schemas.openxmlformats.org/officeDocument/2006/relationships/slide" Target="slides/slide59.xml"/><Relationship Id="rId82" Type="http://schemas.openxmlformats.org/officeDocument/2006/relationships/slide" Target="slides/slide60.xml"/><Relationship Id="rId83" Type="http://schemas.openxmlformats.org/officeDocument/2006/relationships/slide" Target="slides/slide61.xml"/><Relationship Id="rId84" Type="http://schemas.openxmlformats.org/officeDocument/2006/relationships/slide" Target="slides/slide62.xml"/><Relationship Id="rId85" Type="http://schemas.openxmlformats.org/officeDocument/2006/relationships/slide" Target="slides/slide63.xml"/><Relationship Id="rId86" Type="http://schemas.openxmlformats.org/officeDocument/2006/relationships/slide" Target="slides/slide64.xml"/><Relationship Id="rId87" Type="http://schemas.openxmlformats.org/officeDocument/2006/relationships/slide" Target="slides/slide65.xml"/><Relationship Id="rId88" Type="http://schemas.openxmlformats.org/officeDocument/2006/relationships/slide" Target="slides/slide66.xml"/><Relationship Id="rId89" Type="http://schemas.openxmlformats.org/officeDocument/2006/relationships/slide" Target="slides/slide67.xml"/><Relationship Id="rId90" Type="http://schemas.openxmlformats.org/officeDocument/2006/relationships/slide" Target="slides/slide68.xml"/><Relationship Id="rId91" Type="http://schemas.openxmlformats.org/officeDocument/2006/relationships/slide" Target="slides/slide69.xml"/><Relationship Id="rId92" Type="http://schemas.openxmlformats.org/officeDocument/2006/relationships/slide" Target="slides/slide70.xml"/><Relationship Id="rId93" Type="http://schemas.openxmlformats.org/officeDocument/2006/relationships/slide" Target="slides/slide71.xml"/><Relationship Id="rId142" Type="http://schemas.openxmlformats.org/officeDocument/2006/relationships/font" Target="fonts/Inter-regular.fntdata"/><Relationship Id="rId143" Type="http://schemas.openxmlformats.org/officeDocument/2006/relationships/font" Target="fonts/Inter-bold.fntdata"/><Relationship Id="rId144" Type="http://schemas.openxmlformats.org/officeDocument/2006/relationships/font" Target="fonts/Inter-italic.fntdata"/><Relationship Id="rId145" Type="http://schemas.openxmlformats.org/officeDocument/2006/relationships/font" Target="fonts/Inter-boldItalic.fntdata"/><Relationship Id="rId148" Type="http://schemas.openxmlformats.org/officeDocument/2006/relationships/font" Target="fonts/Bitter-regular.fntdata"/><Relationship Id="rId149" Type="http://schemas.openxmlformats.org/officeDocument/2006/relationships/font" Target="fonts/Bitter-bold.fntdata"/><Relationship Id="rId150" Type="http://schemas.openxmlformats.org/officeDocument/2006/relationships/font" Target="fonts/Bitter-italic.fntdata"/><Relationship Id="rId151" Type="http://schemas.openxmlformats.org/officeDocument/2006/relationships/font" Target="fonts/Bitter-boldItalic.fntdata"/><Relationship Id="rId152" Type="http://schemas.openxmlformats.org/officeDocument/2006/relationships/font" Target="fonts/Prompt-regular.fntdata"/><Relationship Id="rId153" Type="http://schemas.openxmlformats.org/officeDocument/2006/relationships/font" Target="fonts/Prompt-bold.fntdata"/><Relationship Id="rId154" Type="http://schemas.openxmlformats.org/officeDocument/2006/relationships/font" Target="fonts/Prompt-italic.fntdata"/><Relationship Id="rId155" Type="http://schemas.openxmlformats.org/officeDocument/2006/relationships/font" Target="fonts/Prompt-boldItalic.fntdata"/><Relationship Id="rId160" Type="http://schemas.openxmlformats.org/officeDocument/2006/relationships/font" Target="fonts/Asap-regular.fntdata"/><Relationship Id="rId161" Type="http://schemas.openxmlformats.org/officeDocument/2006/relationships/font" Target="fonts/Asap-bold.fntdata"/><Relationship Id="rId162" Type="http://schemas.openxmlformats.org/officeDocument/2006/relationships/font" Target="fonts/Asap-italic.fntdata"/><Relationship Id="rId163" Type="http://schemas.openxmlformats.org/officeDocument/2006/relationships/font" Target="fonts/Asap-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Bienvenida. Esta es una clase práctica: vamos a recorrer un proyecto real (Biblioteca UC, NestJS más Next.js) y su pipeline de CI. La pregunta que guía toda la clase es cómo aprovechar la IA para escribir software y tests sin terminar con miles de tests que no aportan. La base es el libro Full Stack Testing de Gayathri Mohan, segunda edición (O'Reilly 2026). El repo está en GitHub: UC-IIC-3143-Software-Development/full_stack_testing.</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Siete partes y un cierre. Las partes 1 y 2 son el marco: por qué la IA cambia la forma de testear y cómo Spec Driven Development pone orden. Las partes 3 y 4 son el proyecto y cada tipo de prueba con su código. La parte 5 es DevSecOps y el pipeline, la 6 es la evidencia que queda en cada PR y la 7 es la actividad práctica donde ustedes implementan una feature nueva con un agente de IA.</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Cuatro verbos. Al final de la clase cada estudiante debería poder explicar, especificar, elegir y leer. Fíjate que ninguno dice escribir tests: escribir tests ya lo hace la IA en segundos. Lo que no hace bien es decidir cuáles valen la pena, en qué capa van y cómo se verifican en CI.</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Frase para abrir la discusión. Pregunta al curso: si un agente te entrega 80 tests en un PR y todos pasan, ¿lo aceptas? La respuesta de esta clase es: depende de en qué capa están, qué regla verifica cada uno y si detectan defectos reales. Eso es lo que vamos a aprender a medir.</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Primera parte: la evidencia del libro y de la industria sobre la IA generando tests.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Tres datos del libro. Uno: con un prompt amplio, Claude entregó entre 70 y 80 casos para el home de Amazon, muchos duplicados o superficiales, y a veces inventó lógica de negocio. Con un alcance pequeño (solo la búsqueda) los casos fueron buenos: el alcance acotado es la mejor forma de usar estas herramientas. Dos: Claude Code generó 30 tests de API desde un OpenAPI, pero las validaciones de campos que incluyó van en unit. Tres: la conclusión del capítulo 3, la IA genera en lote y sin respetar capas. La cita de DORA resume la idea: el problema es del sistema de trabajo, no de la herramienta.</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tabla 3-1 del libro ordena los tipos de test por alcance. Micro: unit, integración y contrato. Macro: servicio, UI y end to end. A medida que sube el alcance sube el esfuerzo y el tiempo. El recuadro de la derecha es la pregunta que el libro recomienda hacerse cada vez que alguien, persona o agente, quiere agregar un test de UI.</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pirámide de Mike Cohn: por cada x tests de UI, unos 5x de servicio y 10x de unit e integración. No es una regla matemática, es una guía de costo: más arriba, más lento y más caro de mantener. El caso del libro es muy concreto: un equipo pasó de más de 200 tests de UI que tardaban 8 horas a 470 tests en total con feedback en 35 minutos. Tener más tests no fue el problema, el problema era dónde estaban.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dos antipatrones del libro. Cono de helado: la pirámide invertida, muchos tests de UI y pocos micro. Síntomas: esperas largas, defectos en la etapa de release y pruebas manuales aunque haya automatización. Cupcake: el mismo caso se prueba en todas las capas, por ejemplo los logins inválidos en unit y otra vez en UI. El libro dice explícitamente que usar IA para subir la cobertura rápido aumenta la probabilidad del cupcake. La solución que propone: acordar en el kickoff de cada historia qué tests van en cada capa y dejarlo escrito. En este proyecto eso queda escrito en la spec.</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Cobertura de código y mutation testing no miden lo mismo. La cobertura solo dice qué líneas nunca se ejecutaron. El libro advierte que incluso con 100 por ciento de cobertura de automatización aparecen bugs, y que el porcentaje puede ser alto aunque un módulo entero no tenga tests. Mutation testing responde otra pregunta: si meto un bug, ¿algún test lo detecta? El ejemplo es real del proyecto: si cambio mayor o igual por mayor en el límite de préstamos y nadie prueba el caso de 3 préstamos exactos, el mutante sobrevive. Es la forma más honesta de evaluar una suite generada por IA.</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Estas son las 7 reglas de la constitución del proyecto, el archivo specs/constitution.md, principio P4. Salen del libro: la capa más baja posible (p. 71 y 102), una conducta por test y tests independientes (p. 107), no duplicar tests (instrucciones de Copilot, p. 90), generar un test a la vez (p. 94) y el flujo de dos pasos donde la persona elige qué casos automatizar en cada capa (p. 96). La última columna es lo importante: una regla que nadie verifica es una sugerencia. Por eso cada regla tiene un mecanismo, desde un script en CI hasta el revisor de IA.</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 reglas se hacen cumplir en tres niveles. Primero las instrucciones: CLAUDE.md, AGENTS.md y la constitución, que el agente lee antes de escribir. Ayudan, pero un agente puede ignorarlas. Segundo el linter: el ESLint del frontend prohíbe vi.fn, toBeTruthy y waitForTimeout, y exige que cada título de test empiece con un ID de regla. Esto falla en segundos, en el editor o en el hook. Semgrep hace lo mismo con reglas de arquitectura. Tercero el CI: spec-trace, mutación y el revisor de IA fallan el PR. Mientras más abajo en esta lista, más difícil es saltarse la regla.</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Cuatro referencias de la industria, para que vean que esto no es teoría. Meta con TestGen-LLM (paper de FSE 2024): los tests que genera el LLM pasan por filtros automáticos antes de que un ingeniero los vea, y solo una fracción sobrevive. Meta con ACH (2025): usa mutantes para guiar la generación, el test existe para matar un bug concreto. Google lleva años corriendo mutation testing en code review, pero solo sobre las líneas cambiadas, porque correrlo completo es caro. Y Google Research mostró en 2023 un modelo que propone cómo resolver comentarios de revisión, siempre con una persona que decide. Ojo: no hay que memorizar cifras, la idea es el patrón: filtrar, medir con mutación y dejar la decisión a una persona.</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Segunda parte: cómo una spec con reglas identificadas ordena el trabajo de personas y agentes.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libro define Spec Driven Development como un término nuevo de 2026: escribes una spec con el requisito, el diseño técnico y la arquitectura, y los agentes desarrollan la feature completa, incluidos los tests. Menciona Kiro de AWS, Spec Kit de GitHub y Tessl. También menciona la crítica: que se vuelve mantener documentos largos. En este proyecto la respuesta es mantener specs cortas y ejecutables, con IDs que los tests citan. El ciclo de la derecha es el principio P1 de la constitución: spec, contrato, tests que fallan, código y tests verdes. Siempre en ese orden.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es la estructura que usamos, basada en el ejemplo de spec del curso (SPECS_EJEMPLO1): un encabezado con ID y versión, contexto, supuestos, reglas numeradas con ID, comportamiento en la interfaz, criterios de aceptación como tabla regla a test y fuera de alcance. Los supuestos son clave para la IA: le dicen qué puede dar por hecho, por ejemplo que el reloj es un puerto inyectable. Fuera de alcance evita que el agente invente funcionalidades. Y la regla de oro, que está en CLAUDE.md: si algo no está en la spec, el agente se detiene y propone la spec primero.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un extracto literal de la spec de préstamos del repo. Fíjate en cinco cosas. Cada regla tiene un ID que los tests citan en su título. El código de error, por ejemplo LOAN_LIMIT_REACHED, es el mismo en el contrato OpenAPI, en el backend y en los mensajes de la interfaz. El límite de 3 es un valor límite explícito, que pide un test justo en el borde. La concurrencia por la última copia se dice en la spec, así que exige un test de integración con base de datos real. Y la tabla final dice en qué capa va cada test, que es exactamente la conversación que el libro recomienda tener en el kickoff de la historia.</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Además de la spec de feature, cada capa tiene su propio SPEC.md con la plantilla de specs/templates. Es la spec que se le da al agente cuando construye esa capa. Lo más valioso es la sección de qué no se prueba aquí: por ejemplo, la capa de dominio no prueba HTTP ni base de datos. Esa línea, escrita, es lo que evita que el agente duplique el mismo caso en tres capas. Y las dependencias permitidas no son solo texto: dependency-cruiser las verifica en CI.</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trazabilidad es lo que convierte la spec en algo verificable. El script tools/spec-trace.mjs lee las reglas en negrita de las specs, los flujos de los archivos feature y los títulos de los tests. Falla en cuatro casos: una regla sin tests, un test sin ID (huérfano), un test que cita un ID que no existe y una regla que supera el presupuesto de tests por capa. Ese presupuesto es la defensa más directa contra la IA que genera 30 variantes del mismo caso. La salida es real: mientras agentes de IA construían este mismo repo, BOOK-R1 llegó a 11 tests unitarios y el script lo detectó. Es exactamente el problema de esta clase, atrapado por una baranda automática.</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contrato de la API vive en specs/api/openapi.yaml, en OpenAPI 3.1, y es la única fuente de verdad (principio P2). Todo cambio de API parte por este archivo. Fíjate que la descripción del 409 nombra las reglas LOAN-R1, LOAN-R2 y LOAN-R4: el contrato también está trazado a la spec. Un mismo archivo alimenta al backend, a los tipos del frontend, a los mocks del frontend, al linter Spectral y a las herramientas de seguridad que atacan la API.</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Antes de una sola línea de código, el contrato pasa tres controles. Spectral es un linter de contratos: parte del ruleset oficial de OpenAPI y agrega reglas del curso, por ejemplo que todo 4xx use application/problem+json, porque la interfaz muestra mensajes según el campo code. oasdiff compara el contrato del PR con el de main y falla si el cambio rompe a los clientes, por ejemplo si se borra un endpoint o se agrega un campo obligatorio. Y api:check regenera los tipos del frontend y falla si no coinciden con lo que está commiteado: eso es drift entre contrato y código.</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flujos de usuario también son spec. Están en specs/flows en Gherkin y en español. playwright-bdd lee estos archivos (comando bddgen) y genera los tests de Playwright. Los pasos se implementan una sola vez en frontend/tests/e2e/steps, así que agregar un escenario nuevo es escribir texto. El tag smoke marca los flujos que también corren contra el stack real. Fíjate en la fecha de devolución: 16-03-2026 es exactamente el reloj fijo más 14 días (LOAN-R3), por eso el reloj fijo es parte de la spec.</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Así usamos la IA dentro de SDD. Paso uno: el agente lee la spec y propone una tabla de casos con regla, capa y partición, sin escribir código. Tú apruebas o podas, por ejemplo eliminas el caso de UI porque ya lo cubre un flujo E2E. Paso dos: el agente escribe un test a la vez, verifica que falla por la razón correcta y recién ahí implementa. Al final, un revisor con otro modelo actúa como juez. Todo esto viene del libro: generar un test a la vez (p. 94), el flujo de dos pasos (p. 96) y el patrón LLM as the judge (p. 103). Y está escrito en CLAUDE.md y AGENTS.md del repo.</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workflow es la versión con barandas del ejemplo del libro, donde Claude Code en GitHub Actions genera tests REST Assured desde un OpenAPI y abre un PR (p. 139 a 143). Aquí se dispara a mano para una sola operación del contrato, nunca para todo el OpenAPI. El agente primero escribe un plan con partición, código esperado, capa e ID de regla, y los casos que pertenecen a unit los deja fuera. Después escribe solo los casos nuevos, verifica que compilan y que spec-trace sigue en verde, y abre un PR en borrador con un checklist que una persona tiene que marcar. Es la regla P4.7 hecha automatización: la IA propone, una persona aprueba.</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Tercera parte: el proyecto de ejemplo que usaremos para mostrar cada tipo de prueba.</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monorepo tiene cuatro carpetas importantes. specs es la fuente de verdad. backend es una API REST en NestJS con PostgreSQL y TypeORM. frontend es Next.js con MSW como mock server. tools tiene los scripts de CI: trazabilidad de specs, smoke de la API y la evidencia del PR. Los colores del stack se repiten en toda la clase: verde para pruebas, rojo para seguridad, naranjo para frontend y build.</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Así se ve la app. A la izquierda el catálogo: cada libro muestra una insignia verde con las copias disponibles o roja si está agotado, y el botón Pedir prestado se deshabilita si no hay copias. A la derecha, el detalle de un libro cuando una persona que ya tiene 3 préstamos intenta pedir un cuarto: aparece el mensaje exacto que pide la spec. Estas imágenes no son mockups: son capturas que Playwright toma en cada ejecución de los flujos y que el pipeline publica en el PR.</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 dependencias apuntan hacia adentro. En el backend, el dominio no conoce frameworks ni base de datos, la aplicación orquesta el dominio a través de puertos (interfaces de repositorio y reloj) y la infraestructura implementa esos puertos con TypeORM. En el frontend las rutas componen componentes, los componentes usan hooks y los hooks usan el cliente generado desde OpenAPI. Las funciones puras, como el color de cada estado de préstamo, viven en shared/domain y se prueban con unit sin mocks. Cada regla ARCH tiene un ID, igual que las reglas de negocio.</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arquitectura también se prueba. El libro, en el capítulo 10 de requisitos transversales, muestra ArchUnit para Java. En TypeScript usamos dependency-cruiser: cada regla ARCH de la spec se traduce en una regla forbidden. Si un agente, por comodidad, importa algo de Nest dentro del dominio, el pipeline falla en la etapa 2 con el ID de la regla. Esto es especialmente útil con IA porque los agentes tienden a importar lo que tienen más cerca.</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Cuarta parte. Cada tipo de prueba tiene la misma estructura para que sea fácil compararlos.</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mapa completo. Tres franjas: las pruebas micro del backend, el frontend probado sin backend gracias al mock server, y las pruebas de sistema y transversales. El número de cada caja es la etapa del pipeline donde corre. Vamos a ver cada una con la misma estructura: qué es, qué detecta, herramienta, dónde corre, página del libro y un ejemplo del repo.</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Repaso rápido de dobles de prueba, que ya vieron en la clase de testing: dummy, stub, fake y mock. La política del proyecto es usar fakes por defecto: un repositorio en memoria y un reloj fijo. Un mock verifica interacciones, el cómo, y por eso se rompe al refactorizar. El riesgo de los fakes es que se alejen del comportamiento real. La solución es una suite de contrato del puerto que corre dos veces: contra el fake y contra el repositorio real en PostgreSQL. Si el fake miente, falla.</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 unitarias de dominio son la base de la pirámide. Prueban reglas puras, sin Nest y sin base de datos, así que corren en milisegundos y no necesitan dobles. Fíjate en las particiones: un ISBN con guiones que se normaliza, el prefijo 979 que también es válido y un dígito verificador incorrecto. Una partición, un test, no treinta variantes del mismo caso. El valor esperado está escrito literal, nunca recalculado con la misma lógica de producción.</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En la capa de aplicación probamos casos de uso. No hay mocks: el repositorio en memoria es una implementación real y simple del puerto, y el reloj fijo hace que las fechas sean deterministas. El test verifica el resultado y el estado final: el error es LoanLimitReachedError y las copias del libro siguen siendo 3. No verifica qué métodos se llamaron. Si la IA te propone un jest.fn para el repositorio, el linter lo rechaza y la constitución pide justificarlo por escrito.</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 pruebas de integración usan Testcontainers: cada corrida levanta un PostgreSQL limpio en Docker, en un puerto al azar, corre las migraciones reales y cada test vacía las tablas antes de empezar. El libro lo recomienda porque una base compartida está contaminada por el desarrollo activo (p. 179). Fíjate en la última parte: la misma suite de contrato del repositorio que corre contra el fake en memoria corre aquí contra PostgreSQL. Así el fake no puede mentir.</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capítulo 5 del libro trata data testing. En este proyecto hay tres cosas que solo la base de datos garantiza: que las migraciones funcionen, que las restricciones existan y que la concurrencia se resuelva bien. El caso estrella es LOAN-R1: cinco personas piden la última copia al mismo tiempo. La spec exige que exactamente una gane, y eso se garantiza con una actualización condicional dentro de una transacción. El test real usa una barrera: otra transacción bloquea la fila con FOR UPDATE, las cinco solicitudes quedan esperando y al liberar compiten de verdad. Un fake en memoria nunca va a reproducir esa carrera, así que este test vive en la capa de integración y en ninguna otra.</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contrato se prueba por los dos lados. Del lado del proveedor, los tests de contrato del backend usan supertest contra la app Nest real, con PostgreSQL en Testcontainers, y validan cada respuesta contra el schema del OpenAPI. Del lado del consumidor, los mocks de MSW que usa el frontend también se validan contra el mismo OpenAPI. Así ninguno de los dos lados puede divergir en silencio. El libro presenta Pact, que es consumer-driven: tiene sentido con muchos consumidores y equipos. Con un solo frontend, validar ambos lados contra el OpenAPI es más simple y suficiente.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test de contrato del proveedor: supertest entra por el controller y recorre todo el flujo hasta PostgreSQL real en Testcontainers. Pero ojo con el cupcake: aquí no se prueban todas las validaciones de campos, eso ya está en unit. Aquí se prueba un caso por código de respuesta del contrato y se valida que la forma de la respuesta coincida con el OpenAPI. El reporte contract-coverage.json alimenta la tabla de endpoints que aparece en el PR.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es la forma sana de generar muchos casos: no con un LLM que escribe 500 tests que hay que mantener, sino con una herramienta determinista que explora el espacio de entradas del contrato cada vez que corre. Schemathesis lee el OpenAPI y genera requests con valores límite y tipos inesperados. Detecta respuestas 500 y respuestas que no cumplen el schema. No queda código que mantener: si cambia el contrato, cambian los casos.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Idea clave de esta diapositiva: para probar el frontend no hace falta levantar el backend. MSW, Mock Service Worker, intercepta las requests a nivel de red: en el navegador con un Service Worker y en Node con un interceptor. La app hace fetch normal y no sabe que está mockeada. Los mismos handlers sirven para los tests de componentes, para los E2E de Playwright en CI y para desarrollar sin backend. Y como los handlers se validan contra el OpenAPI, no pueden inventar respuestas que el backend nunca daría.</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En el frontend la mayoría de los casos se prueban a nivel de componente: rápido y sin navegador real. Fíjate en server.use: para este test el mock server responde 409 y verificamos que la persona ve el mensaje exacto de la spec, UI-LOAN-4. Las consultas son por rol y por etiqueta, como las usaría una persona o un lector de pantalla, no por clases CSS. Esto es behaviour testing, como vimos en la clase de frontend.</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E2E son pocos y recorren flujos, no validan campos. Cada escenario de los archivos feature es un test. En la etapa 7 corren contra Next con MSW, sin backend, así que son rápidos y estables. Los marcados smoke corren otra vez en la etapa 9 contra el stack real con PostgreSQL. Fíjate en la configuración: screenshot y video siempre activados. Eso es lo que después se publica como evidencia en el PR.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capítulo 6 del libro trata visual testing. Playwright trae toHaveScreenshot, que compara contra una referencia usando pixelmatch. Tres consejos prácticos: las referencias se generan en el mismo sistema operativo que el CI (por eso en contenedor Linux), los datos y el reloj tienen que ser fijos, y actualizar una referencia es un cambio que alguien revisa en el PR, no un comando que se corre para que el CI quede verde.</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¿Cómo verificar que algo cambió de color o de posición? Una captura completa detecta todo, pero falla por cualquier píxel y no dice qué se rompió. Estas pruebas son más precisas: toHaveCSS verifica que la insignia Agotado tenga exactamente el rojo del token de diseño #B42318, y boundingBox verifica que la insignia esté en la esquina superior derecha de la tarjeta y que la grilla tenga 3 columnas en escritorio y 1 en móvil. Cuando fallan, el mensaje dice exactamente qué regla de la spec se rompió.</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Accesibilidad, capítulo 9 del libro. axe-core es el motor que usan muchas herramientas, y con @axe-core/playwright se integra en los mismos E2E. Detecta problemas objetivos como inputs sin etiqueta o contraste insuficiente, que en este proyecto importa porque los estados usan colores. Pero el libro es claro: la auditoría automática no reemplaza probar con teclado y lector de pantalla.</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Performance, capítulo 8. El libro muestra JMeter y Gatling para APIs y Lighthouse para frontend, con un dato muy bueno: Zalando bajó su feedback de performance de un día a 15 minutos con Lighthouse CI (p. 270). Aquí usamos k6 porque los scripts son JavaScript. En el PR corre una prueba de humo: 5 usuarios virtuales durante 20 segundos, con umbrales de percentil 95 bajo 500 milisegundos y menos de 1 por ciento de errores. Detecta regresiones gruesas, como una consulta sin índice. Las pruebas de carga de verdad necesitan un ambiente dedicado.</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¿Tiene sentido la mutación en el pipeline? Sí, pero no completa en cada PR, porque es lenta: el libro dice que es muy efectiva pero consume tiempo y hay que usarla con criterio. La respuesta de la industria es la de Google: mutar solo las líneas cambiadas durante el code review. Aquí corre completa en el pipeline nocturno y en modo incremental cuando se pide. Se muta solo dominio y aplicación, que es donde están las reglas, y el build falla si el puntaje baja de 60. El reporte es la mejor medida de si una suite generada por IA sirve.</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revisor de IA es un chatbot de code review, pero con una diferencia importante: no revisa con criterio genérico, revisa contra las reglas escritas en las specs y cita el ID de la regla que se incumple. El libro describe este patrón como reviewer agent y LLM as the judge: un modelo distinto al que generó el código evalúa con criterios explícitos y puntaje de 0 a 1. Solo comenta, la decisión de merge es humana. Y si el repo es público, el secreto de la API no está disponible en PRs desde forks, así que el job tiene que tolerar esa ausencia.</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Quinta parte: DevSecOps, estrategias de ramas y el pipeline del repo etapa por etapa.</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DevOps es el lazo infinito: planificar, programar, construir, probar, liberar, desplegar, operar y monitorear, y volver a empezar. DevSecOps agrega seguridad en el centro: cada etapa tiene un control automático, en vez de una auditoría al final antes de salir a producción. El principio P5 de la constitución lo dice: seguridad desde el inicio. En la siguiente diapositiva vemos qué control va en cada etapa.</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tabla baja DevSecOps a tierra. En Plan, modelado de amenazas con STRIDE, que el libro explica en el capítulo 7. En Code, evitar que un secreto llegue al repo, con un pre-commit como Talisman o con gitleaks. En Build, análisis estático y de dependencias. En Test, ataques reales contra la app corriendo. En Release, escanear la imagen y generar el SBOM. Deploy y Operate quedan fuera porque hoy no hacemos CD, pero los Dockerfile ya corren sin root. Monitor: una dependencia que hoy está limpia mañana puede tener una CVE nueva, por eso hay escaneo nocturno.</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Shift left es la idea central del libro: hacer las pruebas al principio y durante todo el desarrollo en vez de al final, porque un defecto cuesta más mientras más tarde se encuentra. El libro lo baja a prácticas: un kickoff de cada historia con negocio, desarrollo y testing, los tres amigos, y propone sumar a la IA como cuarto amigo, para proponer casos y amenazas que el equipo discute. Fíjate en la palabra discute: la IA aporta ideas, el equipo decide.</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Git Flow, de Vincent Driessen, 2010. Dos ramas permanentes: main con lo liberado y develop con lo integrado. Las features salen de develop y vuelven cuando terminan, que puede ser semanas después. Para liberar se crea una rama release que se estabiliza y se fusiona a main y a develop. Los hotfix salen de main. Funciona cuando hay versiones numeradas que conviven, por ejemplo una app móvil o una librería. El costo: integración tardía y merges grandes.</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Trunk based development: todos integran a main, el tronco, en ramas que duran horas o a lo más un par de días. La constitución del proyecto lo fija en menos de 2 días. Cada PR corre el pipeline completo y main tiene que estar siempre verde. Lo que no está terminado se integra igual, pero apagado detrás de un feature flag, por ejemplo la renovación de préstamos que harán en la actividad. El libro lo dice al hablar de control de versiones: una rama de feature de larga vida es un antipatrón.</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Comparación directa. Git Flow tiene sentido con varias versiones vivas, por ejemplo apps instaladas que no se actualizan solas. Para un servicio web con CI confiable, trunk based gana. Las métricas DORA del libro (p. 144) lo explican: lead time corto y despliegues frecuentes requieren lotes pequeños. Y con IA esto se vuelve más importante: si cada persona produce el triple de código, las ramas largas generan conflictos enormes y PRs que nadie revisa de verdad. Pregunta para el curso: ¿qué usan hoy en el proyecto del curso?</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es la diapositiva de qué es esto. SAST analiza el código sin ejecutarlo, como revisar los planos de un edificio. DAST ataca la aplicación ya corriendo, desde afuera, como probar las puertas del edificio terminado. SCA revisa las dependencias, los materiales que compraste. El escaneo de secretos busca llaves y tokens, también en el historial de git, porque borrar un archivo no borra el commit. IaC revisa la infraestructura como código, por ejemplo un Dockerfile que corre como root. Y el SBOM es la lista de ingredientes: cuando sale una CVE nueva, responde en minutos si te afecta.</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estas son las herramientas concretas del pipeline. gitleaks para secretos. Semgrep y CodeQL para SAST: Semgrep con reglas legibles, incluso reglas propias del curso, y CodeQL con análisis de flujo de datos. Dependency Review y Trivy para dependencias. Trivy es la navaja suiza: escanea dependencias, secretos, configuración e imágenes. hadolint revisa el Dockerfile. El SBOM se genera en formato CycloneDX. OWASP ZAP es el DAST, el libro lo trabaja en la p. 229. Y Schemathesis hace fuzzing desde el contrato. Los resultados en formato SARIF aparecen en la pestaña Security de GitHub.</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Semgrep es el SAST principal del pipeline. Además de las reglas genéricas del registro, el repo tiene reglas propias que salen de las specs. Esta, por ejemplo, prohíbe leer la hora del sistema en el dominio y en la aplicación, porque LOAN-R6 calcula el estado vencido con el reloj y los tests necesitan un reloj fijo. Si un agente escribe new Date() en un caso de uso, el PR falla con un mensaje que cita la regla de la spec. Otras reglas prohíben SQL concatenado (inyección SQL) y fetch directo en componentes (ARCH-R7). CodeQL complementa con análisis de flujo de datos.</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OWASP ZAP es el DAST: ataca la aplicación ya corriendo, por HTTP, sin mirar el código. Corre en la etapa 9, cuando el stack completo está levantado con Docker. Hace un baseline sobre el frontend y un API scan que usa el OpenAPI para saber qué endpoints atacar. Lo importante didácticamente es este archivo: cada alerta que se ignora tiene su justificación escrita y versionada, igual que el código. Así el equipo no silencia alertas sin explicar por qué. Una alerta High no ignorada rompe el build.</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pipeline del repo. Diez etapas en el PR: secretos primero porque es lo más barato y lo más grave, después calidad y spec, SAST y dependencias. Luego las pruebas: unit, integración y contrato, y E2E con el mock server. Después se construyen las imágenes, se levanta el stack real y se ataca con ZAP. Al final se publica la evidencia en el PR. En la práctica varias etapas corren en paralelo, y un job inicial (etapa 0) detecta qué carpetas cambiaron para no correr lo que no hace falta. Lo que tarda mucho, como mutación o los flujos en Firefox y WebKit, va en el pipeline nocturno. El objetivo del libro para el build and test es el tiempo de una taza de té (p. 127).</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Sexta parte: qué publica el pipeline en cada Pull Request y por qué.</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principio P6 dice que todo cambio entra por PR con evidencia. Concretamente se publican cuatro cosas: capturas de cada paso de los flujos, videos convertidos a GIF para verlos directamente en GitHub, la tabla de endpoints que probó el contrato y un resumen de seguridad. Todo sale de archivos con formato acordado en specs/architecture.md: el manifest.json del frontend y el contract-coverage.json del backend. Un script en tools arma un solo comentario que se actualiza en cada push.</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mockup del comentario que deja el pipeline. Arriba, los flujos de usuario con sus capturas y el GIF del recorrido, cada uno con su ID, por ejemplo FLOW-PRE-03 que muestra el error de límite de préstamos. A la derecha, la tabla de endpoints con los status que efectivamente probó el contrato, sale de contract-coverage.json. Abajo, el resumen de seguridad. Un revisor puede entender el PR sin clonar ni levantar nada. El repo tiene un ejemplo real generado en docs/ejemplo-comentario-pr.md.</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inspiración viene del libro: en el capítulo 3, con Selenium, toma una captura en el teardown cada vez que un test falla en CI, porque es lo más útil para depurar. Nosotros vamos un paso más allá: capturas y video siempre, no solo al fallar, porque además sirven como evidencia para el revisor. Todo corre en Chromium headless, que es Chrome sin ventana. Lighthouse usa el mismo motor para medir performance y accesibilidad, y DevTools queda para la exploración manual.</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Séptima parte: la actividad práctica. Se trabaja en parejas, con el repo clonado.</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Siete pasos, más o menos 90 minutos. Primero escriben la spec con la plantilla, después cambian el contrato y lo verifican con Spectral y oasdiff. Recién ahí le piden al agente un plan de tests, lo revisan y lo podan. Después rojo y verde, un test a la vez. Al final abren el PR y leen la evidencia. La regla más importante: si el agente se adelanta y escribe código sin plan aprobado, se descarta. El objetivo no es terminar rápido, es practicar el proceso.</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un borrador para partir. Las reglas son simples a propósito: solo se renuevan préstamos activos, una vez, y la fecha se extiende 7 días. Lo interesante son las preguntas de la derecha. ¿Qué pasa el día exacto del vencimiento? Esa es una partición de valor límite que conecta con LOAN-R6. Los nuevos códigos de error obligan a cambiar el enum del contrato, y oasdiff les va a decir si ese cambio rompe a los clientes. Y el flujo de UI se escribe en Gherkin, así el test E2E sale solo.</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prompt es corto a propósito: el libro advierte que las instrucciones muy largas se ignoran (p. 96). Lo importante ya está en la constitución, el prompt solo apunta a los archivos y fija el orden de trabajo. A la derecha está el checklist que revisa la pareja antes de pedir revisión. Si todo está bien, el comentario de evidencia debería mostrar el nuevo flujo de renovación con su video y la tabla de endpoints con el nuevo endpoint.</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Cinco ideas para llevarse. Uno: si la IA escribe el código, la spec es lo que de verdad programas. Dos: cada test en la capa más baja que detecta el defecto. Tres: la IA propone y tú decides, con un plan aprobado y un test a la vez. Cuatro: mide con trazabilidad y mutación, no con cantidad de tests ni porcentaje de cobertura. Cinco: la seguridad y la evidencia son parte de cada PR.</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Preguntas para cerrar en plenario. La primera obliga a pensar en el valor de cada test. La segunda es la situación real que van a vivir con agentes. La tercera obliga a priorizar etapas del pipeline. La cuarta conecta con su proyecto del curso. No hay una respuesta correcta, lo importante es que argumenten con lo visto en clase.</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Referencias de la clase. El libro base es la segunda edición de Full Stack Testing. Los papers de Meta y Google son lectura recomendada para quien quiera profundizar en generación de tests con LLM y mutation testing a escala. Todas las herramientas del proyecto son open source y están configuradas en el repo.</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3" name="Shape 53"/>
        <p:cNvGrpSpPr/>
        <p:nvPr/>
      </p:nvGrpSpPr>
      <p:grpSpPr>
        <a:xfrm>
          <a:off x="0" y="0"/>
          <a:ext cx="0" cy="0"/>
          <a:chOff x="0" y="0"/>
          <a:chExt cx="0" cy="0"/>
        </a:xfrm>
      </p:grpSpPr>
      <p:sp>
        <p:nvSpPr>
          <p:cNvPr id="54" name="Google Shape;54;p14"/>
          <p:cNvSpPr txBox="1"/>
          <p:nvPr>
            <p:ph type="ctrTitle"/>
          </p:nvPr>
        </p:nvSpPr>
        <p:spPr>
          <a:xfrm>
            <a:off x="713225" y="701700"/>
            <a:ext cx="4459800" cy="2528700"/>
          </a:xfrm>
          <a:prstGeom prst="rect">
            <a:avLst/>
          </a:prstGeom>
        </p:spPr>
        <p:txBody>
          <a:bodyPr anchorCtr="0" anchor="b" bIns="91425" lIns="91425" spcFirstLastPara="1" rIns="91425" wrap="square" tIns="91425">
            <a:noAutofit/>
          </a:bodyPr>
          <a:lstStyle>
            <a:lvl1pPr lvl="0" algn="l">
              <a:spcBef>
                <a:spcPts val="0"/>
              </a:spcBef>
              <a:spcAft>
                <a:spcPts val="0"/>
              </a:spcAft>
              <a:buSzPts val="5200"/>
              <a:buNone/>
              <a:defRPr sz="4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55" name="Google Shape;55;p14"/>
          <p:cNvSpPr txBox="1"/>
          <p:nvPr>
            <p:ph idx="1" type="subTitle"/>
          </p:nvPr>
        </p:nvSpPr>
        <p:spPr>
          <a:xfrm>
            <a:off x="713225" y="3191175"/>
            <a:ext cx="4459800" cy="415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800"/>
              <a:buNone/>
              <a:defRPr sz="14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grpSp>
        <p:nvGrpSpPr>
          <p:cNvPr id="56" name="Google Shape;56;p14"/>
          <p:cNvGrpSpPr/>
          <p:nvPr/>
        </p:nvGrpSpPr>
        <p:grpSpPr>
          <a:xfrm>
            <a:off x="6844224" y="991907"/>
            <a:ext cx="2528583" cy="3403880"/>
            <a:chOff x="3074425" y="836100"/>
            <a:chExt cx="1472075" cy="1981650"/>
          </a:xfrm>
        </p:grpSpPr>
        <p:sp>
          <p:nvSpPr>
            <p:cNvPr id="57" name="Google Shape;57;p14"/>
            <p:cNvSpPr/>
            <p:nvPr/>
          </p:nvSpPr>
          <p:spPr>
            <a:xfrm>
              <a:off x="4381300" y="1216050"/>
              <a:ext cx="165200" cy="1601700"/>
            </a:xfrm>
            <a:custGeom>
              <a:rect b="b" l="l" r="r" t="t"/>
              <a:pathLst>
                <a:path extrusionOk="0" h="64068" w="6608">
                  <a:moveTo>
                    <a:pt x="1" y="0"/>
                  </a:moveTo>
                  <a:lnTo>
                    <a:pt x="1" y="64067"/>
                  </a:lnTo>
                  <a:lnTo>
                    <a:pt x="6608" y="64067"/>
                  </a:lnTo>
                  <a:lnTo>
                    <a:pt x="6608"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14"/>
            <p:cNvSpPr/>
            <p:nvPr/>
          </p:nvSpPr>
          <p:spPr>
            <a:xfrm>
              <a:off x="4063600" y="930150"/>
              <a:ext cx="317725" cy="1887600"/>
            </a:xfrm>
            <a:custGeom>
              <a:rect b="b" l="l" r="r" t="t"/>
              <a:pathLst>
                <a:path extrusionOk="0" h="75504" w="12709">
                  <a:moveTo>
                    <a:pt x="0" y="1"/>
                  </a:moveTo>
                  <a:lnTo>
                    <a:pt x="0" y="75503"/>
                  </a:lnTo>
                  <a:lnTo>
                    <a:pt x="12709" y="75503"/>
                  </a:lnTo>
                  <a:lnTo>
                    <a:pt x="12709"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14"/>
            <p:cNvSpPr/>
            <p:nvPr/>
          </p:nvSpPr>
          <p:spPr>
            <a:xfrm>
              <a:off x="3656050" y="1110775"/>
              <a:ext cx="407575" cy="1706975"/>
            </a:xfrm>
            <a:custGeom>
              <a:rect b="b" l="l" r="r" t="t"/>
              <a:pathLst>
                <a:path extrusionOk="0" h="68279" w="16303">
                  <a:moveTo>
                    <a:pt x="0" y="0"/>
                  </a:moveTo>
                  <a:lnTo>
                    <a:pt x="0" y="68278"/>
                  </a:lnTo>
                  <a:lnTo>
                    <a:pt x="16302" y="68278"/>
                  </a:lnTo>
                  <a:lnTo>
                    <a:pt x="16302"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14"/>
            <p:cNvSpPr/>
            <p:nvPr/>
          </p:nvSpPr>
          <p:spPr>
            <a:xfrm>
              <a:off x="3074425" y="1576350"/>
              <a:ext cx="581650" cy="1241400"/>
            </a:xfrm>
            <a:custGeom>
              <a:rect b="b" l="l" r="r" t="t"/>
              <a:pathLst>
                <a:path extrusionOk="0" h="49656" w="23266">
                  <a:moveTo>
                    <a:pt x="1" y="0"/>
                  </a:moveTo>
                  <a:lnTo>
                    <a:pt x="1" y="49655"/>
                  </a:lnTo>
                  <a:lnTo>
                    <a:pt x="23265" y="49655"/>
                  </a:lnTo>
                  <a:lnTo>
                    <a:pt x="23265"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14"/>
            <p:cNvSpPr/>
            <p:nvPr/>
          </p:nvSpPr>
          <p:spPr>
            <a:xfrm>
              <a:off x="3137600" y="1514100"/>
              <a:ext cx="451100" cy="62275"/>
            </a:xfrm>
            <a:custGeom>
              <a:rect b="b" l="l" r="r" t="t"/>
              <a:pathLst>
                <a:path extrusionOk="0" h="2491" w="18044">
                  <a:moveTo>
                    <a:pt x="0" y="1"/>
                  </a:moveTo>
                  <a:lnTo>
                    <a:pt x="0" y="2490"/>
                  </a:lnTo>
                  <a:lnTo>
                    <a:pt x="18043" y="2490"/>
                  </a:lnTo>
                  <a:lnTo>
                    <a:pt x="18043"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14"/>
            <p:cNvSpPr/>
            <p:nvPr/>
          </p:nvSpPr>
          <p:spPr>
            <a:xfrm>
              <a:off x="3247550" y="1321325"/>
              <a:ext cx="226025" cy="192800"/>
            </a:xfrm>
            <a:custGeom>
              <a:rect b="b" l="l" r="r" t="t"/>
              <a:pathLst>
                <a:path extrusionOk="0" h="7712" w="9041">
                  <a:moveTo>
                    <a:pt x="1" y="1"/>
                  </a:moveTo>
                  <a:lnTo>
                    <a:pt x="1" y="7712"/>
                  </a:lnTo>
                  <a:lnTo>
                    <a:pt x="9041" y="7712"/>
                  </a:lnTo>
                  <a:lnTo>
                    <a:pt x="9041"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14"/>
            <p:cNvSpPr/>
            <p:nvPr/>
          </p:nvSpPr>
          <p:spPr>
            <a:xfrm>
              <a:off x="3685050" y="1038250"/>
              <a:ext cx="130100" cy="72550"/>
            </a:xfrm>
            <a:custGeom>
              <a:rect b="b" l="l" r="r" t="t"/>
              <a:pathLst>
                <a:path extrusionOk="0" h="2902" w="5204">
                  <a:moveTo>
                    <a:pt x="1" y="0"/>
                  </a:moveTo>
                  <a:lnTo>
                    <a:pt x="1" y="2901"/>
                  </a:lnTo>
                  <a:lnTo>
                    <a:pt x="5204" y="2901"/>
                  </a:lnTo>
                  <a:lnTo>
                    <a:pt x="5204"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14"/>
            <p:cNvSpPr/>
            <p:nvPr/>
          </p:nvSpPr>
          <p:spPr>
            <a:xfrm>
              <a:off x="4291475" y="836100"/>
              <a:ext cx="39800" cy="93600"/>
            </a:xfrm>
            <a:custGeom>
              <a:rect b="b" l="l" r="r" t="t"/>
              <a:pathLst>
                <a:path extrusionOk="0" h="3744" w="1592">
                  <a:moveTo>
                    <a:pt x="0" y="1"/>
                  </a:moveTo>
                  <a:lnTo>
                    <a:pt x="0" y="3744"/>
                  </a:lnTo>
                  <a:lnTo>
                    <a:pt x="1591" y="3744"/>
                  </a:lnTo>
                  <a:lnTo>
                    <a:pt x="1591"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5" name="Google Shape;65;p14"/>
          <p:cNvGrpSpPr/>
          <p:nvPr/>
        </p:nvGrpSpPr>
        <p:grpSpPr>
          <a:xfrm>
            <a:off x="5353357" y="1166011"/>
            <a:ext cx="1511499" cy="3290861"/>
            <a:chOff x="1622025" y="238125"/>
            <a:chExt cx="746825" cy="1626000"/>
          </a:xfrm>
        </p:grpSpPr>
        <p:sp>
          <p:nvSpPr>
            <p:cNvPr id="66" name="Google Shape;66;p14"/>
            <p:cNvSpPr/>
            <p:nvPr/>
          </p:nvSpPr>
          <p:spPr>
            <a:xfrm>
              <a:off x="1622025" y="304550"/>
              <a:ext cx="214800" cy="1559575"/>
            </a:xfrm>
            <a:custGeom>
              <a:rect b="b" l="l" r="r" t="t"/>
              <a:pathLst>
                <a:path extrusionOk="0" h="62383" w="8592">
                  <a:moveTo>
                    <a:pt x="1" y="1"/>
                  </a:moveTo>
                  <a:lnTo>
                    <a:pt x="1" y="62383"/>
                  </a:lnTo>
                  <a:lnTo>
                    <a:pt x="8592" y="62383"/>
                  </a:lnTo>
                  <a:lnTo>
                    <a:pt x="8592"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14"/>
            <p:cNvSpPr/>
            <p:nvPr/>
          </p:nvSpPr>
          <p:spPr>
            <a:xfrm>
              <a:off x="1836800" y="729900"/>
              <a:ext cx="532050" cy="1134225"/>
            </a:xfrm>
            <a:custGeom>
              <a:rect b="b" l="l" r="r" t="t"/>
              <a:pathLst>
                <a:path extrusionOk="0" h="45369" w="21282">
                  <a:moveTo>
                    <a:pt x="1" y="0"/>
                  </a:moveTo>
                  <a:lnTo>
                    <a:pt x="1" y="45369"/>
                  </a:lnTo>
                  <a:lnTo>
                    <a:pt x="21281" y="45369"/>
                  </a:lnTo>
                  <a:lnTo>
                    <a:pt x="21281"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14"/>
            <p:cNvSpPr/>
            <p:nvPr/>
          </p:nvSpPr>
          <p:spPr>
            <a:xfrm>
              <a:off x="1898575" y="672800"/>
              <a:ext cx="412250" cy="57125"/>
            </a:xfrm>
            <a:custGeom>
              <a:rect b="b" l="l" r="r" t="t"/>
              <a:pathLst>
                <a:path extrusionOk="0" h="2285" w="16490">
                  <a:moveTo>
                    <a:pt x="0" y="1"/>
                  </a:moveTo>
                  <a:lnTo>
                    <a:pt x="0" y="2284"/>
                  </a:lnTo>
                  <a:lnTo>
                    <a:pt x="16490" y="2284"/>
                  </a:lnTo>
                  <a:lnTo>
                    <a:pt x="16490"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14"/>
            <p:cNvSpPr/>
            <p:nvPr/>
          </p:nvSpPr>
          <p:spPr>
            <a:xfrm>
              <a:off x="2004325" y="496875"/>
              <a:ext cx="205900" cy="175950"/>
            </a:xfrm>
            <a:custGeom>
              <a:rect b="b" l="l" r="r" t="t"/>
              <a:pathLst>
                <a:path extrusionOk="0" h="7038" w="8236">
                  <a:moveTo>
                    <a:pt x="0" y="0"/>
                  </a:moveTo>
                  <a:lnTo>
                    <a:pt x="0" y="7038"/>
                  </a:lnTo>
                  <a:lnTo>
                    <a:pt x="8236" y="7038"/>
                  </a:lnTo>
                  <a:lnTo>
                    <a:pt x="8236"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14"/>
            <p:cNvSpPr/>
            <p:nvPr/>
          </p:nvSpPr>
          <p:spPr>
            <a:xfrm>
              <a:off x="1691750" y="238125"/>
              <a:ext cx="118875" cy="66450"/>
            </a:xfrm>
            <a:custGeom>
              <a:rect b="b" l="l" r="r" t="t"/>
              <a:pathLst>
                <a:path extrusionOk="0" h="2658" w="4755">
                  <a:moveTo>
                    <a:pt x="1" y="0"/>
                  </a:moveTo>
                  <a:lnTo>
                    <a:pt x="1" y="2658"/>
                  </a:lnTo>
                  <a:lnTo>
                    <a:pt x="4755" y="2658"/>
                  </a:lnTo>
                  <a:lnTo>
                    <a:pt x="4755"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1" name="Google Shape;71;p14"/>
          <p:cNvGrpSpPr/>
          <p:nvPr/>
        </p:nvGrpSpPr>
        <p:grpSpPr>
          <a:xfrm>
            <a:off x="7189504" y="2296000"/>
            <a:ext cx="954842" cy="1856849"/>
            <a:chOff x="4087800" y="723675"/>
            <a:chExt cx="700750" cy="1362725"/>
          </a:xfrm>
        </p:grpSpPr>
        <p:sp>
          <p:nvSpPr>
            <p:cNvPr id="72" name="Google Shape;72;p14"/>
            <p:cNvSpPr/>
            <p:nvPr/>
          </p:nvSpPr>
          <p:spPr>
            <a:xfrm>
              <a:off x="4255125" y="723675"/>
              <a:ext cx="342125" cy="111600"/>
            </a:xfrm>
            <a:custGeom>
              <a:rect b="b" l="l" r="r" t="t"/>
              <a:pathLst>
                <a:path extrusionOk="0" h="4464" w="13685">
                  <a:moveTo>
                    <a:pt x="1" y="1"/>
                  </a:moveTo>
                  <a:lnTo>
                    <a:pt x="1" y="4463"/>
                  </a:lnTo>
                  <a:lnTo>
                    <a:pt x="13685" y="4463"/>
                  </a:lnTo>
                  <a:lnTo>
                    <a:pt x="13685" y="1"/>
                  </a:lnTo>
                  <a:close/>
                </a:path>
              </a:pathLst>
            </a:custGeom>
            <a:solidFill>
              <a:srgbClr val="87C9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14"/>
            <p:cNvSpPr/>
            <p:nvPr/>
          </p:nvSpPr>
          <p:spPr>
            <a:xfrm>
              <a:off x="4512250" y="723675"/>
              <a:ext cx="85000" cy="111600"/>
            </a:xfrm>
            <a:custGeom>
              <a:rect b="b" l="l" r="r" t="t"/>
              <a:pathLst>
                <a:path extrusionOk="0" h="4464" w="3400">
                  <a:moveTo>
                    <a:pt x="0" y="1"/>
                  </a:moveTo>
                  <a:lnTo>
                    <a:pt x="0" y="4463"/>
                  </a:lnTo>
                  <a:lnTo>
                    <a:pt x="3400" y="4463"/>
                  </a:lnTo>
                  <a:lnTo>
                    <a:pt x="3400"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14"/>
            <p:cNvSpPr/>
            <p:nvPr/>
          </p:nvSpPr>
          <p:spPr>
            <a:xfrm>
              <a:off x="4087800" y="816075"/>
              <a:ext cx="700750" cy="1270325"/>
            </a:xfrm>
            <a:custGeom>
              <a:rect b="b" l="l" r="r" t="t"/>
              <a:pathLst>
                <a:path extrusionOk="0" h="50813" w="28030">
                  <a:moveTo>
                    <a:pt x="0" y="0"/>
                  </a:moveTo>
                  <a:lnTo>
                    <a:pt x="0" y="50812"/>
                  </a:lnTo>
                  <a:lnTo>
                    <a:pt x="28030" y="50812"/>
                  </a:lnTo>
                  <a:lnTo>
                    <a:pt x="28030" y="0"/>
                  </a:lnTo>
                  <a:close/>
                </a:path>
              </a:pathLst>
            </a:custGeom>
            <a:solidFill>
              <a:srgbClr val="87C9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14"/>
            <p:cNvSpPr/>
            <p:nvPr/>
          </p:nvSpPr>
          <p:spPr>
            <a:xfrm>
              <a:off x="4582400" y="816075"/>
              <a:ext cx="206150" cy="1270325"/>
            </a:xfrm>
            <a:custGeom>
              <a:rect b="b" l="l" r="r" t="t"/>
              <a:pathLst>
                <a:path extrusionOk="0" h="50813" w="8246">
                  <a:moveTo>
                    <a:pt x="1" y="0"/>
                  </a:moveTo>
                  <a:lnTo>
                    <a:pt x="1" y="50812"/>
                  </a:lnTo>
                  <a:lnTo>
                    <a:pt x="8246" y="50812"/>
                  </a:lnTo>
                  <a:lnTo>
                    <a:pt x="8246"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14"/>
            <p:cNvSpPr/>
            <p:nvPr/>
          </p:nvSpPr>
          <p:spPr>
            <a:xfrm>
              <a:off x="4138350" y="942875"/>
              <a:ext cx="68450" cy="68875"/>
            </a:xfrm>
            <a:custGeom>
              <a:rect b="b" l="l" r="r" t="t"/>
              <a:pathLst>
                <a:path extrusionOk="0" h="2755" w="2738">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14"/>
            <p:cNvSpPr/>
            <p:nvPr/>
          </p:nvSpPr>
          <p:spPr>
            <a:xfrm>
              <a:off x="4297850" y="942875"/>
              <a:ext cx="68875" cy="68875"/>
            </a:xfrm>
            <a:custGeom>
              <a:rect b="b" l="l" r="r" t="t"/>
              <a:pathLst>
                <a:path extrusionOk="0" h="2755" w="2755">
                  <a:moveTo>
                    <a:pt x="0" y="1"/>
                  </a:moveTo>
                  <a:lnTo>
                    <a:pt x="0" y="2755"/>
                  </a:lnTo>
                  <a:lnTo>
                    <a:pt x="2754" y="2755"/>
                  </a:lnTo>
                  <a:lnTo>
                    <a:pt x="2754"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4"/>
            <p:cNvSpPr/>
            <p:nvPr/>
          </p:nvSpPr>
          <p:spPr>
            <a:xfrm>
              <a:off x="4456475" y="942875"/>
              <a:ext cx="68425" cy="68875"/>
            </a:xfrm>
            <a:custGeom>
              <a:rect b="b" l="l" r="r" t="t"/>
              <a:pathLst>
                <a:path extrusionOk="0" h="2755" w="2737">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14"/>
            <p:cNvSpPr/>
            <p:nvPr/>
          </p:nvSpPr>
          <p:spPr>
            <a:xfrm>
              <a:off x="4138350" y="1088425"/>
              <a:ext cx="68450" cy="68875"/>
            </a:xfrm>
            <a:custGeom>
              <a:rect b="b" l="l" r="r" t="t"/>
              <a:pathLst>
                <a:path extrusionOk="0" h="2755" w="2738">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14"/>
            <p:cNvSpPr/>
            <p:nvPr/>
          </p:nvSpPr>
          <p:spPr>
            <a:xfrm>
              <a:off x="4297850" y="1088425"/>
              <a:ext cx="68875" cy="68875"/>
            </a:xfrm>
            <a:custGeom>
              <a:rect b="b" l="l" r="r" t="t"/>
              <a:pathLst>
                <a:path extrusionOk="0" h="2755" w="2755">
                  <a:moveTo>
                    <a:pt x="0" y="1"/>
                  </a:moveTo>
                  <a:lnTo>
                    <a:pt x="0" y="2755"/>
                  </a:lnTo>
                  <a:lnTo>
                    <a:pt x="2754" y="2755"/>
                  </a:lnTo>
                  <a:lnTo>
                    <a:pt x="2754"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14"/>
            <p:cNvSpPr/>
            <p:nvPr/>
          </p:nvSpPr>
          <p:spPr>
            <a:xfrm>
              <a:off x="4456475" y="1088425"/>
              <a:ext cx="68425" cy="68875"/>
            </a:xfrm>
            <a:custGeom>
              <a:rect b="b" l="l" r="r" t="t"/>
              <a:pathLst>
                <a:path extrusionOk="0" h="2755" w="2737">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4"/>
            <p:cNvSpPr/>
            <p:nvPr/>
          </p:nvSpPr>
          <p:spPr>
            <a:xfrm>
              <a:off x="4138350" y="1233975"/>
              <a:ext cx="68450" cy="68450"/>
            </a:xfrm>
            <a:custGeom>
              <a:rect b="b" l="l" r="r" t="t"/>
              <a:pathLst>
                <a:path extrusionOk="0" h="2738" w="2738">
                  <a:moveTo>
                    <a:pt x="0" y="1"/>
                  </a:moveTo>
                  <a:lnTo>
                    <a:pt x="0" y="2737"/>
                  </a:lnTo>
                  <a:lnTo>
                    <a:pt x="2737" y="2737"/>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14"/>
            <p:cNvSpPr/>
            <p:nvPr/>
          </p:nvSpPr>
          <p:spPr>
            <a:xfrm>
              <a:off x="4297850" y="1233975"/>
              <a:ext cx="68875" cy="68450"/>
            </a:xfrm>
            <a:custGeom>
              <a:rect b="b" l="l" r="r" t="t"/>
              <a:pathLst>
                <a:path extrusionOk="0" h="2738" w="2755">
                  <a:moveTo>
                    <a:pt x="0" y="1"/>
                  </a:moveTo>
                  <a:lnTo>
                    <a:pt x="0" y="2737"/>
                  </a:lnTo>
                  <a:lnTo>
                    <a:pt x="2754" y="2737"/>
                  </a:lnTo>
                  <a:lnTo>
                    <a:pt x="2754"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14"/>
            <p:cNvSpPr/>
            <p:nvPr/>
          </p:nvSpPr>
          <p:spPr>
            <a:xfrm>
              <a:off x="4456475" y="1233975"/>
              <a:ext cx="68425" cy="68450"/>
            </a:xfrm>
            <a:custGeom>
              <a:rect b="b" l="l" r="r" t="t"/>
              <a:pathLst>
                <a:path extrusionOk="0" h="2738" w="2737">
                  <a:moveTo>
                    <a:pt x="0" y="1"/>
                  </a:moveTo>
                  <a:lnTo>
                    <a:pt x="0" y="2737"/>
                  </a:lnTo>
                  <a:lnTo>
                    <a:pt x="2737" y="2737"/>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14"/>
            <p:cNvSpPr/>
            <p:nvPr/>
          </p:nvSpPr>
          <p:spPr>
            <a:xfrm>
              <a:off x="4138350" y="1379100"/>
              <a:ext cx="68450" cy="68875"/>
            </a:xfrm>
            <a:custGeom>
              <a:rect b="b" l="l" r="r" t="t"/>
              <a:pathLst>
                <a:path extrusionOk="0" h="2755" w="2738">
                  <a:moveTo>
                    <a:pt x="0" y="0"/>
                  </a:moveTo>
                  <a:lnTo>
                    <a:pt x="0" y="2754"/>
                  </a:lnTo>
                  <a:lnTo>
                    <a:pt x="2737" y="2754"/>
                  </a:lnTo>
                  <a:lnTo>
                    <a:pt x="273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14"/>
            <p:cNvSpPr/>
            <p:nvPr/>
          </p:nvSpPr>
          <p:spPr>
            <a:xfrm>
              <a:off x="4297850" y="1379100"/>
              <a:ext cx="68875" cy="68875"/>
            </a:xfrm>
            <a:custGeom>
              <a:rect b="b" l="l" r="r" t="t"/>
              <a:pathLst>
                <a:path extrusionOk="0" h="2755" w="2755">
                  <a:moveTo>
                    <a:pt x="0" y="0"/>
                  </a:moveTo>
                  <a:lnTo>
                    <a:pt x="0" y="2754"/>
                  </a:lnTo>
                  <a:lnTo>
                    <a:pt x="2754" y="2754"/>
                  </a:lnTo>
                  <a:lnTo>
                    <a:pt x="2754"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14"/>
            <p:cNvSpPr/>
            <p:nvPr/>
          </p:nvSpPr>
          <p:spPr>
            <a:xfrm>
              <a:off x="4456475" y="1379100"/>
              <a:ext cx="68425" cy="68875"/>
            </a:xfrm>
            <a:custGeom>
              <a:rect b="b" l="l" r="r" t="t"/>
              <a:pathLst>
                <a:path extrusionOk="0" h="2755" w="2737">
                  <a:moveTo>
                    <a:pt x="0" y="0"/>
                  </a:moveTo>
                  <a:lnTo>
                    <a:pt x="0" y="2754"/>
                  </a:lnTo>
                  <a:lnTo>
                    <a:pt x="2737" y="2754"/>
                  </a:lnTo>
                  <a:lnTo>
                    <a:pt x="273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14"/>
            <p:cNvSpPr/>
            <p:nvPr/>
          </p:nvSpPr>
          <p:spPr>
            <a:xfrm>
              <a:off x="4138350" y="1524650"/>
              <a:ext cx="68450" cy="68875"/>
            </a:xfrm>
            <a:custGeom>
              <a:rect b="b" l="l" r="r" t="t"/>
              <a:pathLst>
                <a:path extrusionOk="0" h="2755" w="2738">
                  <a:moveTo>
                    <a:pt x="0" y="0"/>
                  </a:moveTo>
                  <a:lnTo>
                    <a:pt x="0" y="2754"/>
                  </a:lnTo>
                  <a:lnTo>
                    <a:pt x="2737" y="2754"/>
                  </a:lnTo>
                  <a:lnTo>
                    <a:pt x="273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14"/>
            <p:cNvSpPr/>
            <p:nvPr/>
          </p:nvSpPr>
          <p:spPr>
            <a:xfrm>
              <a:off x="4297850" y="1524650"/>
              <a:ext cx="68875" cy="68875"/>
            </a:xfrm>
            <a:custGeom>
              <a:rect b="b" l="l" r="r" t="t"/>
              <a:pathLst>
                <a:path extrusionOk="0" h="2755" w="2755">
                  <a:moveTo>
                    <a:pt x="0" y="0"/>
                  </a:moveTo>
                  <a:lnTo>
                    <a:pt x="0" y="2754"/>
                  </a:lnTo>
                  <a:lnTo>
                    <a:pt x="2754" y="2754"/>
                  </a:lnTo>
                  <a:lnTo>
                    <a:pt x="2754"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14"/>
            <p:cNvSpPr/>
            <p:nvPr/>
          </p:nvSpPr>
          <p:spPr>
            <a:xfrm>
              <a:off x="4456475" y="1524650"/>
              <a:ext cx="68425" cy="68875"/>
            </a:xfrm>
            <a:custGeom>
              <a:rect b="b" l="l" r="r" t="t"/>
              <a:pathLst>
                <a:path extrusionOk="0" h="2755" w="2737">
                  <a:moveTo>
                    <a:pt x="0" y="0"/>
                  </a:moveTo>
                  <a:lnTo>
                    <a:pt x="0" y="2754"/>
                  </a:lnTo>
                  <a:lnTo>
                    <a:pt x="2737" y="2754"/>
                  </a:lnTo>
                  <a:lnTo>
                    <a:pt x="273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4"/>
            <p:cNvSpPr/>
            <p:nvPr/>
          </p:nvSpPr>
          <p:spPr>
            <a:xfrm>
              <a:off x="4138350" y="1668875"/>
              <a:ext cx="68450" cy="68900"/>
            </a:xfrm>
            <a:custGeom>
              <a:rect b="b" l="l" r="r" t="t"/>
              <a:pathLst>
                <a:path extrusionOk="0" h="2756" w="2738">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14"/>
            <p:cNvSpPr/>
            <p:nvPr/>
          </p:nvSpPr>
          <p:spPr>
            <a:xfrm>
              <a:off x="4297850" y="1668875"/>
              <a:ext cx="68875" cy="68900"/>
            </a:xfrm>
            <a:custGeom>
              <a:rect b="b" l="l" r="r" t="t"/>
              <a:pathLst>
                <a:path extrusionOk="0" h="2756" w="2755">
                  <a:moveTo>
                    <a:pt x="0" y="1"/>
                  </a:moveTo>
                  <a:lnTo>
                    <a:pt x="0" y="2755"/>
                  </a:lnTo>
                  <a:lnTo>
                    <a:pt x="2754" y="2755"/>
                  </a:lnTo>
                  <a:lnTo>
                    <a:pt x="2754"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14"/>
            <p:cNvSpPr/>
            <p:nvPr/>
          </p:nvSpPr>
          <p:spPr>
            <a:xfrm>
              <a:off x="4456475" y="1668875"/>
              <a:ext cx="68425" cy="68900"/>
            </a:xfrm>
            <a:custGeom>
              <a:rect b="b" l="l" r="r" t="t"/>
              <a:pathLst>
                <a:path extrusionOk="0" h="2756" w="2737">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 name="Google Shape;94;p14"/>
          <p:cNvGrpSpPr/>
          <p:nvPr/>
        </p:nvGrpSpPr>
        <p:grpSpPr>
          <a:xfrm>
            <a:off x="6125063" y="2365317"/>
            <a:ext cx="1004134" cy="1939934"/>
            <a:chOff x="3308625" y="459175"/>
            <a:chExt cx="736925" cy="1423700"/>
          </a:xfrm>
        </p:grpSpPr>
        <p:sp>
          <p:nvSpPr>
            <p:cNvPr id="95" name="Google Shape;95;p14"/>
            <p:cNvSpPr/>
            <p:nvPr/>
          </p:nvSpPr>
          <p:spPr>
            <a:xfrm>
              <a:off x="3308625" y="459175"/>
              <a:ext cx="736925" cy="1423700"/>
            </a:xfrm>
            <a:custGeom>
              <a:rect b="b" l="l" r="r" t="t"/>
              <a:pathLst>
                <a:path extrusionOk="0" h="56948" w="29477">
                  <a:moveTo>
                    <a:pt x="0" y="0"/>
                  </a:moveTo>
                  <a:lnTo>
                    <a:pt x="0" y="56948"/>
                  </a:lnTo>
                  <a:lnTo>
                    <a:pt x="29477" y="56948"/>
                  </a:lnTo>
                  <a:lnTo>
                    <a:pt x="29477" y="0"/>
                  </a:lnTo>
                  <a:close/>
                </a:path>
              </a:pathLst>
            </a:custGeom>
            <a:solidFill>
              <a:srgbClr val="87C9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14"/>
            <p:cNvSpPr/>
            <p:nvPr/>
          </p:nvSpPr>
          <p:spPr>
            <a:xfrm>
              <a:off x="3352625" y="748525"/>
              <a:ext cx="109850" cy="148175"/>
            </a:xfrm>
            <a:custGeom>
              <a:rect b="b" l="l" r="r" t="t"/>
              <a:pathLst>
                <a:path extrusionOk="0" h="5927" w="4394">
                  <a:moveTo>
                    <a:pt x="2197" y="0"/>
                  </a:moveTo>
                  <a:cubicBezTo>
                    <a:pt x="977" y="0"/>
                    <a:pt x="1" y="994"/>
                    <a:pt x="1" y="2214"/>
                  </a:cubicBezTo>
                  <a:lnTo>
                    <a:pt x="1" y="5927"/>
                  </a:lnTo>
                  <a:lnTo>
                    <a:pt x="4394" y="5927"/>
                  </a:lnTo>
                  <a:lnTo>
                    <a:pt x="4394" y="2197"/>
                  </a:lnTo>
                  <a:cubicBezTo>
                    <a:pt x="4394" y="994"/>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14"/>
            <p:cNvSpPr/>
            <p:nvPr/>
          </p:nvSpPr>
          <p:spPr>
            <a:xfrm>
              <a:off x="3499500" y="748525"/>
              <a:ext cx="109825" cy="148175"/>
            </a:xfrm>
            <a:custGeom>
              <a:rect b="b" l="l" r="r" t="t"/>
              <a:pathLst>
                <a:path extrusionOk="0" h="5927" w="4393">
                  <a:moveTo>
                    <a:pt x="2197" y="0"/>
                  </a:moveTo>
                  <a:cubicBezTo>
                    <a:pt x="994" y="0"/>
                    <a:pt x="0" y="994"/>
                    <a:pt x="0" y="2214"/>
                  </a:cubicBezTo>
                  <a:lnTo>
                    <a:pt x="0" y="5927"/>
                  </a:lnTo>
                  <a:lnTo>
                    <a:pt x="4393" y="5927"/>
                  </a:lnTo>
                  <a:lnTo>
                    <a:pt x="4393" y="2214"/>
                  </a:lnTo>
                  <a:cubicBezTo>
                    <a:pt x="4393" y="994"/>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4"/>
            <p:cNvSpPr/>
            <p:nvPr/>
          </p:nvSpPr>
          <p:spPr>
            <a:xfrm>
              <a:off x="3646350" y="748525"/>
              <a:ext cx="110275" cy="148175"/>
            </a:xfrm>
            <a:custGeom>
              <a:rect b="b" l="l" r="r" t="t"/>
              <a:pathLst>
                <a:path extrusionOk="0" h="5927" w="4411">
                  <a:moveTo>
                    <a:pt x="2214" y="0"/>
                  </a:moveTo>
                  <a:cubicBezTo>
                    <a:pt x="994" y="0"/>
                    <a:pt x="1" y="994"/>
                    <a:pt x="1" y="2214"/>
                  </a:cubicBezTo>
                  <a:lnTo>
                    <a:pt x="1" y="5927"/>
                  </a:lnTo>
                  <a:lnTo>
                    <a:pt x="4411" y="5927"/>
                  </a:lnTo>
                  <a:lnTo>
                    <a:pt x="4411" y="2214"/>
                  </a:lnTo>
                  <a:cubicBezTo>
                    <a:pt x="4411" y="994"/>
                    <a:pt x="3417" y="0"/>
                    <a:pt x="2214"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4"/>
            <p:cNvSpPr/>
            <p:nvPr/>
          </p:nvSpPr>
          <p:spPr>
            <a:xfrm>
              <a:off x="3352625" y="554600"/>
              <a:ext cx="109850" cy="148200"/>
            </a:xfrm>
            <a:custGeom>
              <a:rect b="b" l="l" r="r" t="t"/>
              <a:pathLst>
                <a:path extrusionOk="0" h="5928" w="4394">
                  <a:moveTo>
                    <a:pt x="2197" y="0"/>
                  </a:moveTo>
                  <a:cubicBezTo>
                    <a:pt x="977" y="0"/>
                    <a:pt x="1" y="994"/>
                    <a:pt x="1" y="2197"/>
                  </a:cubicBezTo>
                  <a:lnTo>
                    <a:pt x="1" y="5927"/>
                  </a:lnTo>
                  <a:lnTo>
                    <a:pt x="4394" y="5927"/>
                  </a:lnTo>
                  <a:lnTo>
                    <a:pt x="4394" y="2197"/>
                  </a:lnTo>
                  <a:cubicBezTo>
                    <a:pt x="4394" y="977"/>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4"/>
            <p:cNvSpPr/>
            <p:nvPr/>
          </p:nvSpPr>
          <p:spPr>
            <a:xfrm>
              <a:off x="3499500" y="554600"/>
              <a:ext cx="109825" cy="148200"/>
            </a:xfrm>
            <a:custGeom>
              <a:rect b="b" l="l" r="r" t="t"/>
              <a:pathLst>
                <a:path extrusionOk="0" h="5928" w="4393">
                  <a:moveTo>
                    <a:pt x="2197" y="0"/>
                  </a:moveTo>
                  <a:cubicBezTo>
                    <a:pt x="994" y="0"/>
                    <a:pt x="0" y="994"/>
                    <a:pt x="0" y="2197"/>
                  </a:cubicBezTo>
                  <a:lnTo>
                    <a:pt x="0" y="5927"/>
                  </a:lnTo>
                  <a:lnTo>
                    <a:pt x="4393" y="5927"/>
                  </a:lnTo>
                  <a:lnTo>
                    <a:pt x="4393" y="2197"/>
                  </a:lnTo>
                  <a:cubicBezTo>
                    <a:pt x="4393" y="994"/>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4"/>
            <p:cNvSpPr/>
            <p:nvPr/>
          </p:nvSpPr>
          <p:spPr>
            <a:xfrm>
              <a:off x="3646350" y="554600"/>
              <a:ext cx="110275" cy="148200"/>
            </a:xfrm>
            <a:custGeom>
              <a:rect b="b" l="l" r="r" t="t"/>
              <a:pathLst>
                <a:path extrusionOk="0" h="5928" w="4411">
                  <a:moveTo>
                    <a:pt x="2214" y="0"/>
                  </a:moveTo>
                  <a:cubicBezTo>
                    <a:pt x="994" y="0"/>
                    <a:pt x="1" y="994"/>
                    <a:pt x="1" y="2197"/>
                  </a:cubicBezTo>
                  <a:lnTo>
                    <a:pt x="1" y="5927"/>
                  </a:lnTo>
                  <a:lnTo>
                    <a:pt x="4411" y="5927"/>
                  </a:lnTo>
                  <a:lnTo>
                    <a:pt x="4411" y="2197"/>
                  </a:lnTo>
                  <a:cubicBezTo>
                    <a:pt x="4411" y="994"/>
                    <a:pt x="3417" y="0"/>
                    <a:pt x="2214"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4"/>
            <p:cNvSpPr/>
            <p:nvPr/>
          </p:nvSpPr>
          <p:spPr>
            <a:xfrm>
              <a:off x="3352625" y="956825"/>
              <a:ext cx="109850" cy="148200"/>
            </a:xfrm>
            <a:custGeom>
              <a:rect b="b" l="l" r="r" t="t"/>
              <a:pathLst>
                <a:path extrusionOk="0" h="5928" w="4394">
                  <a:moveTo>
                    <a:pt x="2197" y="0"/>
                  </a:moveTo>
                  <a:cubicBezTo>
                    <a:pt x="977" y="0"/>
                    <a:pt x="1" y="994"/>
                    <a:pt x="1" y="2197"/>
                  </a:cubicBezTo>
                  <a:lnTo>
                    <a:pt x="1" y="5927"/>
                  </a:lnTo>
                  <a:lnTo>
                    <a:pt x="4394" y="5927"/>
                  </a:lnTo>
                  <a:lnTo>
                    <a:pt x="4394" y="2197"/>
                  </a:lnTo>
                  <a:cubicBezTo>
                    <a:pt x="4394" y="977"/>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14"/>
            <p:cNvSpPr/>
            <p:nvPr/>
          </p:nvSpPr>
          <p:spPr>
            <a:xfrm>
              <a:off x="3499500" y="956825"/>
              <a:ext cx="109825" cy="148200"/>
            </a:xfrm>
            <a:custGeom>
              <a:rect b="b" l="l" r="r" t="t"/>
              <a:pathLst>
                <a:path extrusionOk="0" h="5928" w="4393">
                  <a:moveTo>
                    <a:pt x="2197" y="0"/>
                  </a:moveTo>
                  <a:cubicBezTo>
                    <a:pt x="994" y="0"/>
                    <a:pt x="0" y="994"/>
                    <a:pt x="0" y="2197"/>
                  </a:cubicBezTo>
                  <a:lnTo>
                    <a:pt x="0" y="5927"/>
                  </a:lnTo>
                  <a:lnTo>
                    <a:pt x="4393" y="5927"/>
                  </a:lnTo>
                  <a:lnTo>
                    <a:pt x="4393" y="2197"/>
                  </a:lnTo>
                  <a:cubicBezTo>
                    <a:pt x="4393" y="994"/>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14"/>
            <p:cNvSpPr/>
            <p:nvPr/>
          </p:nvSpPr>
          <p:spPr>
            <a:xfrm>
              <a:off x="3646350" y="956825"/>
              <a:ext cx="110275" cy="148200"/>
            </a:xfrm>
            <a:custGeom>
              <a:rect b="b" l="l" r="r" t="t"/>
              <a:pathLst>
                <a:path extrusionOk="0" h="5928" w="4411">
                  <a:moveTo>
                    <a:pt x="2214" y="0"/>
                  </a:moveTo>
                  <a:cubicBezTo>
                    <a:pt x="994" y="0"/>
                    <a:pt x="1" y="994"/>
                    <a:pt x="1" y="2197"/>
                  </a:cubicBezTo>
                  <a:lnTo>
                    <a:pt x="1" y="5927"/>
                  </a:lnTo>
                  <a:lnTo>
                    <a:pt x="4411" y="5927"/>
                  </a:lnTo>
                  <a:lnTo>
                    <a:pt x="4411" y="2197"/>
                  </a:lnTo>
                  <a:cubicBezTo>
                    <a:pt x="4411" y="994"/>
                    <a:pt x="3417" y="0"/>
                    <a:pt x="2214"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14"/>
            <p:cNvSpPr/>
            <p:nvPr/>
          </p:nvSpPr>
          <p:spPr>
            <a:xfrm>
              <a:off x="3354825" y="1356000"/>
              <a:ext cx="110275" cy="148175"/>
            </a:xfrm>
            <a:custGeom>
              <a:rect b="b" l="l" r="r" t="t"/>
              <a:pathLst>
                <a:path extrusionOk="0" h="5927" w="4411">
                  <a:moveTo>
                    <a:pt x="2196" y="0"/>
                  </a:moveTo>
                  <a:cubicBezTo>
                    <a:pt x="994" y="0"/>
                    <a:pt x="0" y="994"/>
                    <a:pt x="0" y="2197"/>
                  </a:cubicBezTo>
                  <a:lnTo>
                    <a:pt x="0" y="5927"/>
                  </a:lnTo>
                  <a:lnTo>
                    <a:pt x="4410" y="5927"/>
                  </a:lnTo>
                  <a:lnTo>
                    <a:pt x="4410" y="2197"/>
                  </a:lnTo>
                  <a:cubicBezTo>
                    <a:pt x="4410" y="994"/>
                    <a:pt x="3417" y="0"/>
                    <a:pt x="2196"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14"/>
            <p:cNvSpPr/>
            <p:nvPr/>
          </p:nvSpPr>
          <p:spPr>
            <a:xfrm>
              <a:off x="3501675" y="1356000"/>
              <a:ext cx="110275" cy="148175"/>
            </a:xfrm>
            <a:custGeom>
              <a:rect b="b" l="l" r="r" t="t"/>
              <a:pathLst>
                <a:path extrusionOk="0" h="5927" w="4411">
                  <a:moveTo>
                    <a:pt x="2214" y="0"/>
                  </a:moveTo>
                  <a:cubicBezTo>
                    <a:pt x="994" y="0"/>
                    <a:pt x="0" y="994"/>
                    <a:pt x="18" y="2197"/>
                  </a:cubicBezTo>
                  <a:lnTo>
                    <a:pt x="18" y="5927"/>
                  </a:lnTo>
                  <a:lnTo>
                    <a:pt x="4411" y="5927"/>
                  </a:lnTo>
                  <a:lnTo>
                    <a:pt x="4411" y="2197"/>
                  </a:lnTo>
                  <a:cubicBezTo>
                    <a:pt x="4411" y="994"/>
                    <a:pt x="3417" y="0"/>
                    <a:pt x="2214"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4"/>
            <p:cNvSpPr/>
            <p:nvPr/>
          </p:nvSpPr>
          <p:spPr>
            <a:xfrm>
              <a:off x="3648975" y="1356000"/>
              <a:ext cx="109825" cy="148175"/>
            </a:xfrm>
            <a:custGeom>
              <a:rect b="b" l="l" r="r" t="t"/>
              <a:pathLst>
                <a:path extrusionOk="0" h="5927" w="4393">
                  <a:moveTo>
                    <a:pt x="2197" y="0"/>
                  </a:moveTo>
                  <a:cubicBezTo>
                    <a:pt x="976" y="0"/>
                    <a:pt x="0" y="994"/>
                    <a:pt x="0" y="2197"/>
                  </a:cubicBezTo>
                  <a:lnTo>
                    <a:pt x="0" y="5927"/>
                  </a:lnTo>
                  <a:lnTo>
                    <a:pt x="4393" y="5927"/>
                  </a:lnTo>
                  <a:lnTo>
                    <a:pt x="4393" y="2197"/>
                  </a:lnTo>
                  <a:cubicBezTo>
                    <a:pt x="4393" y="994"/>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4"/>
            <p:cNvSpPr/>
            <p:nvPr/>
          </p:nvSpPr>
          <p:spPr>
            <a:xfrm>
              <a:off x="3354825" y="1562125"/>
              <a:ext cx="110275" cy="148175"/>
            </a:xfrm>
            <a:custGeom>
              <a:rect b="b" l="l" r="r" t="t"/>
              <a:pathLst>
                <a:path extrusionOk="0" h="5927" w="4411">
                  <a:moveTo>
                    <a:pt x="2196" y="0"/>
                  </a:moveTo>
                  <a:cubicBezTo>
                    <a:pt x="994" y="0"/>
                    <a:pt x="0" y="976"/>
                    <a:pt x="0" y="2197"/>
                  </a:cubicBezTo>
                  <a:lnTo>
                    <a:pt x="0" y="5927"/>
                  </a:lnTo>
                  <a:lnTo>
                    <a:pt x="4410" y="5927"/>
                  </a:lnTo>
                  <a:lnTo>
                    <a:pt x="4410" y="2197"/>
                  </a:lnTo>
                  <a:cubicBezTo>
                    <a:pt x="4410" y="976"/>
                    <a:pt x="3417" y="0"/>
                    <a:pt x="2196"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4"/>
            <p:cNvSpPr/>
            <p:nvPr/>
          </p:nvSpPr>
          <p:spPr>
            <a:xfrm>
              <a:off x="3501675" y="1562125"/>
              <a:ext cx="110275" cy="148175"/>
            </a:xfrm>
            <a:custGeom>
              <a:rect b="b" l="l" r="r" t="t"/>
              <a:pathLst>
                <a:path extrusionOk="0" h="5927" w="4411">
                  <a:moveTo>
                    <a:pt x="2214" y="0"/>
                  </a:moveTo>
                  <a:cubicBezTo>
                    <a:pt x="994" y="0"/>
                    <a:pt x="0" y="976"/>
                    <a:pt x="18" y="2197"/>
                  </a:cubicBezTo>
                  <a:lnTo>
                    <a:pt x="18" y="5927"/>
                  </a:lnTo>
                  <a:lnTo>
                    <a:pt x="4411" y="5927"/>
                  </a:lnTo>
                  <a:lnTo>
                    <a:pt x="4411" y="2197"/>
                  </a:lnTo>
                  <a:cubicBezTo>
                    <a:pt x="4411" y="976"/>
                    <a:pt x="3417" y="0"/>
                    <a:pt x="2214"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4"/>
            <p:cNvSpPr/>
            <p:nvPr/>
          </p:nvSpPr>
          <p:spPr>
            <a:xfrm>
              <a:off x="3648975" y="1562125"/>
              <a:ext cx="109825" cy="148175"/>
            </a:xfrm>
            <a:custGeom>
              <a:rect b="b" l="l" r="r" t="t"/>
              <a:pathLst>
                <a:path extrusionOk="0" h="5927" w="4393">
                  <a:moveTo>
                    <a:pt x="2197" y="0"/>
                  </a:moveTo>
                  <a:cubicBezTo>
                    <a:pt x="976" y="0"/>
                    <a:pt x="0" y="976"/>
                    <a:pt x="0" y="2197"/>
                  </a:cubicBezTo>
                  <a:lnTo>
                    <a:pt x="0" y="5927"/>
                  </a:lnTo>
                  <a:lnTo>
                    <a:pt x="4393" y="5927"/>
                  </a:lnTo>
                  <a:lnTo>
                    <a:pt x="4393" y="2197"/>
                  </a:lnTo>
                  <a:cubicBezTo>
                    <a:pt x="4393" y="976"/>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4"/>
            <p:cNvSpPr/>
            <p:nvPr/>
          </p:nvSpPr>
          <p:spPr>
            <a:xfrm>
              <a:off x="3352625" y="1156400"/>
              <a:ext cx="109850" cy="148200"/>
            </a:xfrm>
            <a:custGeom>
              <a:rect b="b" l="l" r="r" t="t"/>
              <a:pathLst>
                <a:path extrusionOk="0" h="5928" w="4394">
                  <a:moveTo>
                    <a:pt x="2197" y="1"/>
                  </a:moveTo>
                  <a:cubicBezTo>
                    <a:pt x="977" y="1"/>
                    <a:pt x="1" y="994"/>
                    <a:pt x="1" y="2197"/>
                  </a:cubicBezTo>
                  <a:lnTo>
                    <a:pt x="1" y="5927"/>
                  </a:lnTo>
                  <a:lnTo>
                    <a:pt x="4394" y="5927"/>
                  </a:lnTo>
                  <a:lnTo>
                    <a:pt x="4394" y="2197"/>
                  </a:lnTo>
                  <a:cubicBezTo>
                    <a:pt x="4394" y="977"/>
                    <a:pt x="3417" y="1"/>
                    <a:pt x="2197" y="1"/>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4"/>
            <p:cNvSpPr/>
            <p:nvPr/>
          </p:nvSpPr>
          <p:spPr>
            <a:xfrm>
              <a:off x="3499500" y="1156400"/>
              <a:ext cx="109825" cy="148200"/>
            </a:xfrm>
            <a:custGeom>
              <a:rect b="b" l="l" r="r" t="t"/>
              <a:pathLst>
                <a:path extrusionOk="0" h="5928" w="4393">
                  <a:moveTo>
                    <a:pt x="2197" y="1"/>
                  </a:moveTo>
                  <a:cubicBezTo>
                    <a:pt x="994" y="1"/>
                    <a:pt x="0" y="994"/>
                    <a:pt x="0" y="2197"/>
                  </a:cubicBezTo>
                  <a:lnTo>
                    <a:pt x="0" y="5927"/>
                  </a:lnTo>
                  <a:lnTo>
                    <a:pt x="4393" y="5927"/>
                  </a:lnTo>
                  <a:lnTo>
                    <a:pt x="4393" y="2197"/>
                  </a:lnTo>
                  <a:cubicBezTo>
                    <a:pt x="4393" y="994"/>
                    <a:pt x="3417" y="1"/>
                    <a:pt x="2197" y="1"/>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4"/>
            <p:cNvSpPr/>
            <p:nvPr/>
          </p:nvSpPr>
          <p:spPr>
            <a:xfrm>
              <a:off x="3646350" y="1156400"/>
              <a:ext cx="110275" cy="148200"/>
            </a:xfrm>
            <a:custGeom>
              <a:rect b="b" l="l" r="r" t="t"/>
              <a:pathLst>
                <a:path extrusionOk="0" h="5928" w="4411">
                  <a:moveTo>
                    <a:pt x="2214" y="1"/>
                  </a:moveTo>
                  <a:cubicBezTo>
                    <a:pt x="994" y="1"/>
                    <a:pt x="1" y="994"/>
                    <a:pt x="1" y="2197"/>
                  </a:cubicBezTo>
                  <a:lnTo>
                    <a:pt x="1" y="5927"/>
                  </a:lnTo>
                  <a:lnTo>
                    <a:pt x="4411" y="5927"/>
                  </a:lnTo>
                  <a:lnTo>
                    <a:pt x="4411" y="2197"/>
                  </a:lnTo>
                  <a:cubicBezTo>
                    <a:pt x="4411" y="994"/>
                    <a:pt x="3417" y="1"/>
                    <a:pt x="2214" y="1"/>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4"/>
            <p:cNvSpPr/>
            <p:nvPr/>
          </p:nvSpPr>
          <p:spPr>
            <a:xfrm>
              <a:off x="3813700" y="459175"/>
              <a:ext cx="231850" cy="1423700"/>
            </a:xfrm>
            <a:custGeom>
              <a:rect b="b" l="l" r="r" t="t"/>
              <a:pathLst>
                <a:path extrusionOk="0" h="56948" w="9274">
                  <a:moveTo>
                    <a:pt x="0" y="0"/>
                  </a:moveTo>
                  <a:lnTo>
                    <a:pt x="0" y="56948"/>
                  </a:lnTo>
                  <a:lnTo>
                    <a:pt x="9274" y="56948"/>
                  </a:lnTo>
                  <a:lnTo>
                    <a:pt x="9274"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 name="Google Shape;115;p14"/>
          <p:cNvGrpSpPr/>
          <p:nvPr/>
        </p:nvGrpSpPr>
        <p:grpSpPr>
          <a:xfrm>
            <a:off x="5172958" y="2730008"/>
            <a:ext cx="891924" cy="1726789"/>
            <a:chOff x="2607875" y="643925"/>
            <a:chExt cx="654575" cy="1267275"/>
          </a:xfrm>
        </p:grpSpPr>
        <p:sp>
          <p:nvSpPr>
            <p:cNvPr id="116" name="Google Shape;116;p14"/>
            <p:cNvSpPr/>
            <p:nvPr/>
          </p:nvSpPr>
          <p:spPr>
            <a:xfrm>
              <a:off x="2607875" y="643925"/>
              <a:ext cx="654575" cy="1267275"/>
            </a:xfrm>
            <a:custGeom>
              <a:rect b="b" l="l" r="r" t="t"/>
              <a:pathLst>
                <a:path extrusionOk="0" h="50691" w="26183">
                  <a:moveTo>
                    <a:pt x="1" y="1"/>
                  </a:moveTo>
                  <a:lnTo>
                    <a:pt x="1" y="50691"/>
                  </a:lnTo>
                  <a:lnTo>
                    <a:pt x="26183" y="50691"/>
                  </a:lnTo>
                  <a:lnTo>
                    <a:pt x="26183" y="1"/>
                  </a:lnTo>
                  <a:close/>
                </a:path>
              </a:pathLst>
            </a:custGeom>
            <a:solidFill>
              <a:srgbClr val="87C9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4"/>
            <p:cNvSpPr/>
            <p:nvPr/>
          </p:nvSpPr>
          <p:spPr>
            <a:xfrm>
              <a:off x="2667150" y="718450"/>
              <a:ext cx="51875" cy="210500"/>
            </a:xfrm>
            <a:custGeom>
              <a:rect b="b" l="l" r="r" t="t"/>
              <a:pathLst>
                <a:path extrusionOk="0" h="8420" w="2075">
                  <a:moveTo>
                    <a:pt x="1" y="1"/>
                  </a:moveTo>
                  <a:lnTo>
                    <a:pt x="1" y="8420"/>
                  </a:lnTo>
                  <a:lnTo>
                    <a:pt x="2075" y="8420"/>
                  </a:lnTo>
                  <a:lnTo>
                    <a:pt x="2075"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4"/>
            <p:cNvSpPr/>
            <p:nvPr/>
          </p:nvSpPr>
          <p:spPr>
            <a:xfrm>
              <a:off x="2765200" y="718450"/>
              <a:ext cx="51450" cy="210500"/>
            </a:xfrm>
            <a:custGeom>
              <a:rect b="b" l="l" r="r" t="t"/>
              <a:pathLst>
                <a:path extrusionOk="0" h="8420" w="2058">
                  <a:moveTo>
                    <a:pt x="1" y="1"/>
                  </a:moveTo>
                  <a:lnTo>
                    <a:pt x="1" y="8420"/>
                  </a:lnTo>
                  <a:lnTo>
                    <a:pt x="2058" y="8420"/>
                  </a:lnTo>
                  <a:lnTo>
                    <a:pt x="2058"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4"/>
            <p:cNvSpPr/>
            <p:nvPr/>
          </p:nvSpPr>
          <p:spPr>
            <a:xfrm>
              <a:off x="2863250" y="718450"/>
              <a:ext cx="51450" cy="210500"/>
            </a:xfrm>
            <a:custGeom>
              <a:rect b="b" l="l" r="r" t="t"/>
              <a:pathLst>
                <a:path extrusionOk="0" h="8420" w="2058">
                  <a:moveTo>
                    <a:pt x="1" y="1"/>
                  </a:moveTo>
                  <a:lnTo>
                    <a:pt x="1" y="8420"/>
                  </a:lnTo>
                  <a:lnTo>
                    <a:pt x="2058" y="8420"/>
                  </a:lnTo>
                  <a:lnTo>
                    <a:pt x="2058"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4"/>
            <p:cNvSpPr/>
            <p:nvPr/>
          </p:nvSpPr>
          <p:spPr>
            <a:xfrm>
              <a:off x="2960875" y="718450"/>
              <a:ext cx="51450" cy="210500"/>
            </a:xfrm>
            <a:custGeom>
              <a:rect b="b" l="l" r="r" t="t"/>
              <a:pathLst>
                <a:path extrusionOk="0" h="8420"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4"/>
            <p:cNvSpPr/>
            <p:nvPr/>
          </p:nvSpPr>
          <p:spPr>
            <a:xfrm>
              <a:off x="2667150" y="1012175"/>
              <a:ext cx="51875" cy="210500"/>
            </a:xfrm>
            <a:custGeom>
              <a:rect b="b" l="l" r="r" t="t"/>
              <a:pathLst>
                <a:path extrusionOk="0" h="8420" w="2075">
                  <a:moveTo>
                    <a:pt x="1" y="0"/>
                  </a:moveTo>
                  <a:lnTo>
                    <a:pt x="1" y="8419"/>
                  </a:lnTo>
                  <a:lnTo>
                    <a:pt x="2075" y="8419"/>
                  </a:lnTo>
                  <a:lnTo>
                    <a:pt x="2075"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4"/>
            <p:cNvSpPr/>
            <p:nvPr/>
          </p:nvSpPr>
          <p:spPr>
            <a:xfrm>
              <a:off x="2765200" y="1012175"/>
              <a:ext cx="51450" cy="210500"/>
            </a:xfrm>
            <a:custGeom>
              <a:rect b="b" l="l" r="r" t="t"/>
              <a:pathLst>
                <a:path extrusionOk="0" h="8420" w="2058">
                  <a:moveTo>
                    <a:pt x="1" y="0"/>
                  </a:moveTo>
                  <a:lnTo>
                    <a:pt x="1" y="8419"/>
                  </a:lnTo>
                  <a:lnTo>
                    <a:pt x="2058" y="8419"/>
                  </a:lnTo>
                  <a:lnTo>
                    <a:pt x="2058"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4"/>
            <p:cNvSpPr/>
            <p:nvPr/>
          </p:nvSpPr>
          <p:spPr>
            <a:xfrm>
              <a:off x="2863250" y="1012175"/>
              <a:ext cx="51450" cy="210500"/>
            </a:xfrm>
            <a:custGeom>
              <a:rect b="b" l="l" r="r" t="t"/>
              <a:pathLst>
                <a:path extrusionOk="0" h="8420" w="2058">
                  <a:moveTo>
                    <a:pt x="1" y="0"/>
                  </a:moveTo>
                  <a:lnTo>
                    <a:pt x="1" y="8419"/>
                  </a:lnTo>
                  <a:lnTo>
                    <a:pt x="2058" y="8419"/>
                  </a:lnTo>
                  <a:lnTo>
                    <a:pt x="2058"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4"/>
            <p:cNvSpPr/>
            <p:nvPr/>
          </p:nvSpPr>
          <p:spPr>
            <a:xfrm>
              <a:off x="2960875" y="1012175"/>
              <a:ext cx="51450" cy="210500"/>
            </a:xfrm>
            <a:custGeom>
              <a:rect b="b" l="l" r="r" t="t"/>
              <a:pathLst>
                <a:path extrusionOk="0" h="8420" w="2058">
                  <a:moveTo>
                    <a:pt x="0" y="0"/>
                  </a:moveTo>
                  <a:lnTo>
                    <a:pt x="0" y="8419"/>
                  </a:lnTo>
                  <a:lnTo>
                    <a:pt x="2057" y="8419"/>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14"/>
            <p:cNvSpPr/>
            <p:nvPr/>
          </p:nvSpPr>
          <p:spPr>
            <a:xfrm>
              <a:off x="2667150" y="1294125"/>
              <a:ext cx="51875" cy="210050"/>
            </a:xfrm>
            <a:custGeom>
              <a:rect b="b" l="l" r="r" t="t"/>
              <a:pathLst>
                <a:path extrusionOk="0" h="8402" w="2075">
                  <a:moveTo>
                    <a:pt x="1" y="0"/>
                  </a:moveTo>
                  <a:lnTo>
                    <a:pt x="1" y="8402"/>
                  </a:lnTo>
                  <a:lnTo>
                    <a:pt x="2075" y="8402"/>
                  </a:lnTo>
                  <a:lnTo>
                    <a:pt x="2075"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14"/>
            <p:cNvSpPr/>
            <p:nvPr/>
          </p:nvSpPr>
          <p:spPr>
            <a:xfrm>
              <a:off x="2765200" y="1294125"/>
              <a:ext cx="51450" cy="210050"/>
            </a:xfrm>
            <a:custGeom>
              <a:rect b="b" l="l" r="r" t="t"/>
              <a:pathLst>
                <a:path extrusionOk="0" h="8402" w="2058">
                  <a:moveTo>
                    <a:pt x="1" y="0"/>
                  </a:moveTo>
                  <a:lnTo>
                    <a:pt x="1" y="8402"/>
                  </a:lnTo>
                  <a:lnTo>
                    <a:pt x="2058" y="8402"/>
                  </a:lnTo>
                  <a:lnTo>
                    <a:pt x="2058"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4"/>
            <p:cNvSpPr/>
            <p:nvPr/>
          </p:nvSpPr>
          <p:spPr>
            <a:xfrm>
              <a:off x="2863250" y="1294125"/>
              <a:ext cx="51450" cy="210050"/>
            </a:xfrm>
            <a:custGeom>
              <a:rect b="b" l="l" r="r" t="t"/>
              <a:pathLst>
                <a:path extrusionOk="0" h="8402" w="2058">
                  <a:moveTo>
                    <a:pt x="1" y="0"/>
                  </a:moveTo>
                  <a:lnTo>
                    <a:pt x="1" y="8402"/>
                  </a:lnTo>
                  <a:lnTo>
                    <a:pt x="2058" y="8402"/>
                  </a:lnTo>
                  <a:lnTo>
                    <a:pt x="2058"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4"/>
            <p:cNvSpPr/>
            <p:nvPr/>
          </p:nvSpPr>
          <p:spPr>
            <a:xfrm>
              <a:off x="2960875" y="1294125"/>
              <a:ext cx="51450" cy="210050"/>
            </a:xfrm>
            <a:custGeom>
              <a:rect b="b" l="l" r="r" t="t"/>
              <a:pathLst>
                <a:path extrusionOk="0" h="8402" w="2058">
                  <a:moveTo>
                    <a:pt x="0" y="0"/>
                  </a:moveTo>
                  <a:lnTo>
                    <a:pt x="0" y="8402"/>
                  </a:lnTo>
                  <a:lnTo>
                    <a:pt x="2057" y="8402"/>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14"/>
            <p:cNvSpPr/>
            <p:nvPr/>
          </p:nvSpPr>
          <p:spPr>
            <a:xfrm>
              <a:off x="2667150" y="1568650"/>
              <a:ext cx="51875" cy="210525"/>
            </a:xfrm>
            <a:custGeom>
              <a:rect b="b" l="l" r="r" t="t"/>
              <a:pathLst>
                <a:path extrusionOk="0" h="8421" w="2075">
                  <a:moveTo>
                    <a:pt x="1" y="1"/>
                  </a:moveTo>
                  <a:lnTo>
                    <a:pt x="1" y="8420"/>
                  </a:lnTo>
                  <a:lnTo>
                    <a:pt x="2075" y="8420"/>
                  </a:lnTo>
                  <a:lnTo>
                    <a:pt x="2075"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14"/>
            <p:cNvSpPr/>
            <p:nvPr/>
          </p:nvSpPr>
          <p:spPr>
            <a:xfrm>
              <a:off x="2765200" y="1568650"/>
              <a:ext cx="51450" cy="210525"/>
            </a:xfrm>
            <a:custGeom>
              <a:rect b="b" l="l" r="r" t="t"/>
              <a:pathLst>
                <a:path extrusionOk="0" h="8421" w="2058">
                  <a:moveTo>
                    <a:pt x="1" y="1"/>
                  </a:moveTo>
                  <a:lnTo>
                    <a:pt x="1" y="8420"/>
                  </a:lnTo>
                  <a:lnTo>
                    <a:pt x="2058" y="8420"/>
                  </a:lnTo>
                  <a:lnTo>
                    <a:pt x="2058"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4"/>
            <p:cNvSpPr/>
            <p:nvPr/>
          </p:nvSpPr>
          <p:spPr>
            <a:xfrm>
              <a:off x="2863250" y="1568650"/>
              <a:ext cx="51450" cy="210525"/>
            </a:xfrm>
            <a:custGeom>
              <a:rect b="b" l="l" r="r" t="t"/>
              <a:pathLst>
                <a:path extrusionOk="0" h="8421" w="2058">
                  <a:moveTo>
                    <a:pt x="1" y="1"/>
                  </a:moveTo>
                  <a:lnTo>
                    <a:pt x="1" y="8420"/>
                  </a:lnTo>
                  <a:lnTo>
                    <a:pt x="2058" y="8420"/>
                  </a:lnTo>
                  <a:lnTo>
                    <a:pt x="2058"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14"/>
            <p:cNvSpPr/>
            <p:nvPr/>
          </p:nvSpPr>
          <p:spPr>
            <a:xfrm>
              <a:off x="2960875" y="1568650"/>
              <a:ext cx="51450" cy="210525"/>
            </a:xfrm>
            <a:custGeom>
              <a:rect b="b" l="l" r="r" t="t"/>
              <a:pathLst>
                <a:path extrusionOk="0" h="8421"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4"/>
            <p:cNvSpPr/>
            <p:nvPr/>
          </p:nvSpPr>
          <p:spPr>
            <a:xfrm>
              <a:off x="3099450" y="643925"/>
              <a:ext cx="163000" cy="1267275"/>
            </a:xfrm>
            <a:custGeom>
              <a:rect b="b" l="l" r="r" t="t"/>
              <a:pathLst>
                <a:path extrusionOk="0" h="50691" w="6520">
                  <a:moveTo>
                    <a:pt x="0" y="1"/>
                  </a:moveTo>
                  <a:lnTo>
                    <a:pt x="0" y="50691"/>
                  </a:lnTo>
                  <a:lnTo>
                    <a:pt x="6520" y="50691"/>
                  </a:lnTo>
                  <a:lnTo>
                    <a:pt x="6520"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4" name="Google Shape;134;p14"/>
          <p:cNvGrpSpPr/>
          <p:nvPr/>
        </p:nvGrpSpPr>
        <p:grpSpPr>
          <a:xfrm>
            <a:off x="8195375" y="1969419"/>
            <a:ext cx="891345" cy="1727368"/>
            <a:chOff x="4826000" y="484000"/>
            <a:chExt cx="654150" cy="1267700"/>
          </a:xfrm>
        </p:grpSpPr>
        <p:sp>
          <p:nvSpPr>
            <p:cNvPr id="135" name="Google Shape;135;p14"/>
            <p:cNvSpPr/>
            <p:nvPr/>
          </p:nvSpPr>
          <p:spPr>
            <a:xfrm>
              <a:off x="4826000" y="484000"/>
              <a:ext cx="654150" cy="1267700"/>
            </a:xfrm>
            <a:custGeom>
              <a:rect b="b" l="l" r="r" t="t"/>
              <a:pathLst>
                <a:path extrusionOk="0" h="50708" w="26166">
                  <a:moveTo>
                    <a:pt x="1" y="1"/>
                  </a:moveTo>
                  <a:lnTo>
                    <a:pt x="1" y="50708"/>
                  </a:lnTo>
                  <a:lnTo>
                    <a:pt x="26165" y="50708"/>
                  </a:lnTo>
                  <a:lnTo>
                    <a:pt x="26165" y="1"/>
                  </a:lnTo>
                  <a:close/>
                </a:path>
              </a:pathLst>
            </a:custGeom>
            <a:solidFill>
              <a:srgbClr val="87C9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4"/>
            <p:cNvSpPr/>
            <p:nvPr/>
          </p:nvSpPr>
          <p:spPr>
            <a:xfrm>
              <a:off x="4885275" y="558950"/>
              <a:ext cx="51450" cy="210500"/>
            </a:xfrm>
            <a:custGeom>
              <a:rect b="b" l="l" r="r" t="t"/>
              <a:pathLst>
                <a:path extrusionOk="0" h="8420" w="2058">
                  <a:moveTo>
                    <a:pt x="1" y="1"/>
                  </a:moveTo>
                  <a:lnTo>
                    <a:pt x="1"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4"/>
            <p:cNvSpPr/>
            <p:nvPr/>
          </p:nvSpPr>
          <p:spPr>
            <a:xfrm>
              <a:off x="4982900" y="558950"/>
              <a:ext cx="51450" cy="210500"/>
            </a:xfrm>
            <a:custGeom>
              <a:rect b="b" l="l" r="r" t="t"/>
              <a:pathLst>
                <a:path extrusionOk="0" h="8420"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4"/>
            <p:cNvSpPr/>
            <p:nvPr/>
          </p:nvSpPr>
          <p:spPr>
            <a:xfrm>
              <a:off x="5080950" y="558950"/>
              <a:ext cx="51450" cy="210500"/>
            </a:xfrm>
            <a:custGeom>
              <a:rect b="b" l="l" r="r" t="t"/>
              <a:pathLst>
                <a:path extrusionOk="0" h="8420"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4"/>
            <p:cNvSpPr/>
            <p:nvPr/>
          </p:nvSpPr>
          <p:spPr>
            <a:xfrm>
              <a:off x="5179000" y="558950"/>
              <a:ext cx="51450" cy="210500"/>
            </a:xfrm>
            <a:custGeom>
              <a:rect b="b" l="l" r="r" t="t"/>
              <a:pathLst>
                <a:path extrusionOk="0" h="8420"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14"/>
            <p:cNvSpPr/>
            <p:nvPr/>
          </p:nvSpPr>
          <p:spPr>
            <a:xfrm>
              <a:off x="4885275" y="852675"/>
              <a:ext cx="51450" cy="210500"/>
            </a:xfrm>
            <a:custGeom>
              <a:rect b="b" l="l" r="r" t="t"/>
              <a:pathLst>
                <a:path extrusionOk="0" h="8420" w="2058">
                  <a:moveTo>
                    <a:pt x="1" y="0"/>
                  </a:moveTo>
                  <a:lnTo>
                    <a:pt x="1" y="8420"/>
                  </a:lnTo>
                  <a:lnTo>
                    <a:pt x="2057" y="8420"/>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4"/>
            <p:cNvSpPr/>
            <p:nvPr/>
          </p:nvSpPr>
          <p:spPr>
            <a:xfrm>
              <a:off x="4982900" y="852675"/>
              <a:ext cx="51450" cy="210500"/>
            </a:xfrm>
            <a:custGeom>
              <a:rect b="b" l="l" r="r" t="t"/>
              <a:pathLst>
                <a:path extrusionOk="0" h="8420" w="2058">
                  <a:moveTo>
                    <a:pt x="0" y="0"/>
                  </a:moveTo>
                  <a:lnTo>
                    <a:pt x="0" y="8420"/>
                  </a:lnTo>
                  <a:lnTo>
                    <a:pt x="2057" y="8420"/>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4"/>
            <p:cNvSpPr/>
            <p:nvPr/>
          </p:nvSpPr>
          <p:spPr>
            <a:xfrm>
              <a:off x="5080950" y="852675"/>
              <a:ext cx="51450" cy="210500"/>
            </a:xfrm>
            <a:custGeom>
              <a:rect b="b" l="l" r="r" t="t"/>
              <a:pathLst>
                <a:path extrusionOk="0" h="8420" w="2058">
                  <a:moveTo>
                    <a:pt x="0" y="0"/>
                  </a:moveTo>
                  <a:lnTo>
                    <a:pt x="0" y="8420"/>
                  </a:lnTo>
                  <a:lnTo>
                    <a:pt x="2057" y="8420"/>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4"/>
            <p:cNvSpPr/>
            <p:nvPr/>
          </p:nvSpPr>
          <p:spPr>
            <a:xfrm>
              <a:off x="5179000" y="852675"/>
              <a:ext cx="51450" cy="210500"/>
            </a:xfrm>
            <a:custGeom>
              <a:rect b="b" l="l" r="r" t="t"/>
              <a:pathLst>
                <a:path extrusionOk="0" h="8420" w="2058">
                  <a:moveTo>
                    <a:pt x="0" y="0"/>
                  </a:moveTo>
                  <a:lnTo>
                    <a:pt x="0" y="8420"/>
                  </a:lnTo>
                  <a:lnTo>
                    <a:pt x="2057" y="8420"/>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4"/>
            <p:cNvSpPr/>
            <p:nvPr/>
          </p:nvSpPr>
          <p:spPr>
            <a:xfrm>
              <a:off x="4885275" y="1134175"/>
              <a:ext cx="51450" cy="210525"/>
            </a:xfrm>
            <a:custGeom>
              <a:rect b="b" l="l" r="r" t="t"/>
              <a:pathLst>
                <a:path extrusionOk="0" h="8421" w="2058">
                  <a:moveTo>
                    <a:pt x="1" y="1"/>
                  </a:moveTo>
                  <a:lnTo>
                    <a:pt x="1"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4"/>
            <p:cNvSpPr/>
            <p:nvPr/>
          </p:nvSpPr>
          <p:spPr>
            <a:xfrm>
              <a:off x="4982900" y="1134175"/>
              <a:ext cx="51450" cy="210525"/>
            </a:xfrm>
            <a:custGeom>
              <a:rect b="b" l="l" r="r" t="t"/>
              <a:pathLst>
                <a:path extrusionOk="0" h="8421"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4"/>
            <p:cNvSpPr/>
            <p:nvPr/>
          </p:nvSpPr>
          <p:spPr>
            <a:xfrm>
              <a:off x="5080950" y="1134175"/>
              <a:ext cx="51450" cy="210525"/>
            </a:xfrm>
            <a:custGeom>
              <a:rect b="b" l="l" r="r" t="t"/>
              <a:pathLst>
                <a:path extrusionOk="0" h="8421"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4"/>
            <p:cNvSpPr/>
            <p:nvPr/>
          </p:nvSpPr>
          <p:spPr>
            <a:xfrm>
              <a:off x="5179000" y="1134175"/>
              <a:ext cx="51450" cy="210525"/>
            </a:xfrm>
            <a:custGeom>
              <a:rect b="b" l="l" r="r" t="t"/>
              <a:pathLst>
                <a:path extrusionOk="0" h="8421"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14"/>
            <p:cNvSpPr/>
            <p:nvPr/>
          </p:nvSpPr>
          <p:spPr>
            <a:xfrm>
              <a:off x="4885275" y="1409150"/>
              <a:ext cx="51450" cy="210075"/>
            </a:xfrm>
            <a:custGeom>
              <a:rect b="b" l="l" r="r" t="t"/>
              <a:pathLst>
                <a:path extrusionOk="0" h="8403" w="2058">
                  <a:moveTo>
                    <a:pt x="1" y="1"/>
                  </a:moveTo>
                  <a:lnTo>
                    <a:pt x="1" y="8403"/>
                  </a:lnTo>
                  <a:lnTo>
                    <a:pt x="2057" y="8403"/>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4"/>
            <p:cNvSpPr/>
            <p:nvPr/>
          </p:nvSpPr>
          <p:spPr>
            <a:xfrm>
              <a:off x="4982900" y="1409150"/>
              <a:ext cx="51450" cy="210075"/>
            </a:xfrm>
            <a:custGeom>
              <a:rect b="b" l="l" r="r" t="t"/>
              <a:pathLst>
                <a:path extrusionOk="0" h="8403" w="2058">
                  <a:moveTo>
                    <a:pt x="0" y="1"/>
                  </a:moveTo>
                  <a:lnTo>
                    <a:pt x="0" y="8403"/>
                  </a:lnTo>
                  <a:lnTo>
                    <a:pt x="2057" y="8403"/>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4"/>
            <p:cNvSpPr/>
            <p:nvPr/>
          </p:nvSpPr>
          <p:spPr>
            <a:xfrm>
              <a:off x="5080950" y="1409150"/>
              <a:ext cx="51450" cy="210075"/>
            </a:xfrm>
            <a:custGeom>
              <a:rect b="b" l="l" r="r" t="t"/>
              <a:pathLst>
                <a:path extrusionOk="0" h="8403" w="2058">
                  <a:moveTo>
                    <a:pt x="0" y="1"/>
                  </a:moveTo>
                  <a:lnTo>
                    <a:pt x="0" y="8403"/>
                  </a:lnTo>
                  <a:lnTo>
                    <a:pt x="2057" y="8403"/>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4"/>
            <p:cNvSpPr/>
            <p:nvPr/>
          </p:nvSpPr>
          <p:spPr>
            <a:xfrm>
              <a:off x="5179000" y="1409150"/>
              <a:ext cx="51450" cy="210075"/>
            </a:xfrm>
            <a:custGeom>
              <a:rect b="b" l="l" r="r" t="t"/>
              <a:pathLst>
                <a:path extrusionOk="0" h="8403" w="2058">
                  <a:moveTo>
                    <a:pt x="0" y="1"/>
                  </a:moveTo>
                  <a:lnTo>
                    <a:pt x="0" y="8403"/>
                  </a:lnTo>
                  <a:lnTo>
                    <a:pt x="2057" y="8403"/>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4"/>
            <p:cNvSpPr/>
            <p:nvPr/>
          </p:nvSpPr>
          <p:spPr>
            <a:xfrm>
              <a:off x="5317575" y="484000"/>
              <a:ext cx="162575" cy="1267700"/>
            </a:xfrm>
            <a:custGeom>
              <a:rect b="b" l="l" r="r" t="t"/>
              <a:pathLst>
                <a:path extrusionOk="0" h="50708" w="6503">
                  <a:moveTo>
                    <a:pt x="0" y="1"/>
                  </a:moveTo>
                  <a:lnTo>
                    <a:pt x="0" y="50708"/>
                  </a:lnTo>
                  <a:lnTo>
                    <a:pt x="6502" y="50708"/>
                  </a:lnTo>
                  <a:lnTo>
                    <a:pt x="6502"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 name="Google Shape;153;p14"/>
          <p:cNvGrpSpPr/>
          <p:nvPr/>
        </p:nvGrpSpPr>
        <p:grpSpPr>
          <a:xfrm>
            <a:off x="6157382" y="2265586"/>
            <a:ext cx="1184079" cy="2130184"/>
            <a:chOff x="5195125" y="2889950"/>
            <a:chExt cx="787025" cy="1415875"/>
          </a:xfrm>
        </p:grpSpPr>
        <p:sp>
          <p:nvSpPr>
            <p:cNvPr id="154" name="Google Shape;154;p14"/>
            <p:cNvSpPr/>
            <p:nvPr/>
          </p:nvSpPr>
          <p:spPr>
            <a:xfrm>
              <a:off x="5291425" y="3540550"/>
              <a:ext cx="25" cy="692925"/>
            </a:xfrm>
            <a:custGeom>
              <a:rect b="b" l="l" r="r" t="t"/>
              <a:pathLst>
                <a:path extrusionOk="0" fill="none" h="27717" w="1">
                  <a:moveTo>
                    <a:pt x="0" y="1"/>
                  </a:moveTo>
                  <a:lnTo>
                    <a:pt x="0" y="27716"/>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4"/>
            <p:cNvSpPr/>
            <p:nvPr/>
          </p:nvSpPr>
          <p:spPr>
            <a:xfrm>
              <a:off x="5345900" y="3298700"/>
              <a:ext cx="25" cy="934775"/>
            </a:xfrm>
            <a:custGeom>
              <a:rect b="b" l="l" r="r" t="t"/>
              <a:pathLst>
                <a:path extrusionOk="0" fill="none" h="37391" w="1">
                  <a:moveTo>
                    <a:pt x="0" y="1"/>
                  </a:moveTo>
                  <a:lnTo>
                    <a:pt x="0" y="3739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4"/>
            <p:cNvSpPr/>
            <p:nvPr/>
          </p:nvSpPr>
          <p:spPr>
            <a:xfrm>
              <a:off x="5238250" y="3536200"/>
              <a:ext cx="25" cy="755675"/>
            </a:xfrm>
            <a:custGeom>
              <a:rect b="b" l="l" r="r" t="t"/>
              <a:pathLst>
                <a:path extrusionOk="0" fill="none" h="30227" w="1">
                  <a:moveTo>
                    <a:pt x="1" y="1"/>
                  </a:moveTo>
                  <a:lnTo>
                    <a:pt x="1" y="30226"/>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4"/>
            <p:cNvSpPr/>
            <p:nvPr/>
          </p:nvSpPr>
          <p:spPr>
            <a:xfrm>
              <a:off x="5433925" y="2889950"/>
              <a:ext cx="25" cy="1335250"/>
            </a:xfrm>
            <a:custGeom>
              <a:rect b="b" l="l" r="r" t="t"/>
              <a:pathLst>
                <a:path extrusionOk="0" fill="none" h="53410" w="1">
                  <a:moveTo>
                    <a:pt x="0" y="0"/>
                  </a:moveTo>
                  <a:lnTo>
                    <a:pt x="0" y="53409"/>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4"/>
            <p:cNvSpPr/>
            <p:nvPr/>
          </p:nvSpPr>
          <p:spPr>
            <a:xfrm>
              <a:off x="5504075" y="2970550"/>
              <a:ext cx="25" cy="1335275"/>
            </a:xfrm>
            <a:custGeom>
              <a:rect b="b" l="l" r="r" t="t"/>
              <a:pathLst>
                <a:path extrusionOk="0" fill="none" h="53411" w="1">
                  <a:moveTo>
                    <a:pt x="1" y="1"/>
                  </a:moveTo>
                  <a:lnTo>
                    <a:pt x="1" y="5341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4"/>
            <p:cNvSpPr/>
            <p:nvPr/>
          </p:nvSpPr>
          <p:spPr>
            <a:xfrm>
              <a:off x="5574250" y="2889950"/>
              <a:ext cx="25" cy="1335250"/>
            </a:xfrm>
            <a:custGeom>
              <a:rect b="b" l="l" r="r" t="t"/>
              <a:pathLst>
                <a:path extrusionOk="0" fill="none" h="53410" w="1">
                  <a:moveTo>
                    <a:pt x="0" y="0"/>
                  </a:moveTo>
                  <a:lnTo>
                    <a:pt x="0" y="53409"/>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14"/>
            <p:cNvSpPr/>
            <p:nvPr/>
          </p:nvSpPr>
          <p:spPr>
            <a:xfrm>
              <a:off x="5574250" y="2889950"/>
              <a:ext cx="25" cy="1335250"/>
            </a:xfrm>
            <a:custGeom>
              <a:rect b="b" l="l" r="r" t="t"/>
              <a:pathLst>
                <a:path extrusionOk="0" fill="none" h="53410" w="1">
                  <a:moveTo>
                    <a:pt x="0" y="0"/>
                  </a:moveTo>
                  <a:lnTo>
                    <a:pt x="0" y="53409"/>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14"/>
            <p:cNvSpPr/>
            <p:nvPr/>
          </p:nvSpPr>
          <p:spPr>
            <a:xfrm>
              <a:off x="5643975" y="2937000"/>
              <a:ext cx="25" cy="1335250"/>
            </a:xfrm>
            <a:custGeom>
              <a:rect b="b" l="l" r="r" t="t"/>
              <a:pathLst>
                <a:path extrusionOk="0" fill="none" h="53410" w="1">
                  <a:moveTo>
                    <a:pt x="0" y="1"/>
                  </a:moveTo>
                  <a:lnTo>
                    <a:pt x="0" y="5341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14"/>
            <p:cNvSpPr/>
            <p:nvPr/>
          </p:nvSpPr>
          <p:spPr>
            <a:xfrm>
              <a:off x="5714125" y="2889950"/>
              <a:ext cx="25" cy="1335250"/>
            </a:xfrm>
            <a:custGeom>
              <a:rect b="b" l="l" r="r" t="t"/>
              <a:pathLst>
                <a:path extrusionOk="0" fill="none" h="53410" w="1">
                  <a:moveTo>
                    <a:pt x="1" y="0"/>
                  </a:moveTo>
                  <a:lnTo>
                    <a:pt x="1" y="53409"/>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4"/>
            <p:cNvSpPr/>
            <p:nvPr/>
          </p:nvSpPr>
          <p:spPr>
            <a:xfrm>
              <a:off x="5784300" y="2889950"/>
              <a:ext cx="25" cy="1335250"/>
            </a:xfrm>
            <a:custGeom>
              <a:rect b="b" l="l" r="r" t="t"/>
              <a:pathLst>
                <a:path extrusionOk="0" fill="none" h="53410" w="1">
                  <a:moveTo>
                    <a:pt x="0" y="0"/>
                  </a:moveTo>
                  <a:lnTo>
                    <a:pt x="0" y="53409"/>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4"/>
            <p:cNvSpPr/>
            <p:nvPr/>
          </p:nvSpPr>
          <p:spPr>
            <a:xfrm>
              <a:off x="5827425" y="3031575"/>
              <a:ext cx="25" cy="1210175"/>
            </a:xfrm>
            <a:custGeom>
              <a:rect b="b" l="l" r="r" t="t"/>
              <a:pathLst>
                <a:path extrusionOk="0" fill="none" h="48407" w="1">
                  <a:moveTo>
                    <a:pt x="1" y="0"/>
                  </a:moveTo>
                  <a:lnTo>
                    <a:pt x="1" y="48407"/>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4"/>
            <p:cNvSpPr/>
            <p:nvPr/>
          </p:nvSpPr>
          <p:spPr>
            <a:xfrm>
              <a:off x="5897600" y="3273425"/>
              <a:ext cx="25" cy="970950"/>
            </a:xfrm>
            <a:custGeom>
              <a:rect b="b" l="l" r="r" t="t"/>
              <a:pathLst>
                <a:path extrusionOk="0" fill="none" h="38838" w="1">
                  <a:moveTo>
                    <a:pt x="0" y="1"/>
                  </a:moveTo>
                  <a:lnTo>
                    <a:pt x="0" y="38837"/>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14"/>
            <p:cNvSpPr/>
            <p:nvPr/>
          </p:nvSpPr>
          <p:spPr>
            <a:xfrm>
              <a:off x="5407350" y="3131800"/>
              <a:ext cx="466300" cy="25"/>
            </a:xfrm>
            <a:custGeom>
              <a:rect b="b" l="l" r="r" t="t"/>
              <a:pathLst>
                <a:path extrusionOk="0" fill="none" h="1" w="18652">
                  <a:moveTo>
                    <a:pt x="0" y="0"/>
                  </a:moveTo>
                  <a:lnTo>
                    <a:pt x="18652" y="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4"/>
            <p:cNvSpPr/>
            <p:nvPr/>
          </p:nvSpPr>
          <p:spPr>
            <a:xfrm>
              <a:off x="5332825" y="3201075"/>
              <a:ext cx="649325" cy="25"/>
            </a:xfrm>
            <a:custGeom>
              <a:rect b="b" l="l" r="r" t="t"/>
              <a:pathLst>
                <a:path extrusionOk="0" fill="none" h="1" w="25973">
                  <a:moveTo>
                    <a:pt x="0" y="1"/>
                  </a:moveTo>
                  <a:lnTo>
                    <a:pt x="25973" y="1"/>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4"/>
            <p:cNvSpPr/>
            <p:nvPr/>
          </p:nvSpPr>
          <p:spPr>
            <a:xfrm>
              <a:off x="5332825" y="3251200"/>
              <a:ext cx="649325" cy="25"/>
            </a:xfrm>
            <a:custGeom>
              <a:rect b="b" l="l" r="r" t="t"/>
              <a:pathLst>
                <a:path extrusionOk="0" fill="none" h="1" w="25973">
                  <a:moveTo>
                    <a:pt x="0" y="1"/>
                  </a:moveTo>
                  <a:lnTo>
                    <a:pt x="25973" y="1"/>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4"/>
            <p:cNvSpPr/>
            <p:nvPr/>
          </p:nvSpPr>
          <p:spPr>
            <a:xfrm>
              <a:off x="5332825" y="3304375"/>
              <a:ext cx="649325" cy="25"/>
            </a:xfrm>
            <a:custGeom>
              <a:rect b="b" l="l" r="r" t="t"/>
              <a:pathLst>
                <a:path extrusionOk="0" fill="none" h="1" w="25973">
                  <a:moveTo>
                    <a:pt x="0" y="0"/>
                  </a:moveTo>
                  <a:lnTo>
                    <a:pt x="25973" y="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4"/>
            <p:cNvSpPr/>
            <p:nvPr/>
          </p:nvSpPr>
          <p:spPr>
            <a:xfrm>
              <a:off x="5332825" y="3404150"/>
              <a:ext cx="649325" cy="25"/>
            </a:xfrm>
            <a:custGeom>
              <a:rect b="b" l="l" r="r" t="t"/>
              <a:pathLst>
                <a:path extrusionOk="0" fill="none" h="1" w="25973">
                  <a:moveTo>
                    <a:pt x="0" y="1"/>
                  </a:moveTo>
                  <a:lnTo>
                    <a:pt x="25973" y="1"/>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4"/>
            <p:cNvSpPr/>
            <p:nvPr/>
          </p:nvSpPr>
          <p:spPr>
            <a:xfrm>
              <a:off x="5332825" y="3404150"/>
              <a:ext cx="649325" cy="25"/>
            </a:xfrm>
            <a:custGeom>
              <a:rect b="b" l="l" r="r" t="t"/>
              <a:pathLst>
                <a:path extrusionOk="0" fill="none" h="1" w="25973">
                  <a:moveTo>
                    <a:pt x="0" y="1"/>
                  </a:moveTo>
                  <a:lnTo>
                    <a:pt x="25973" y="1"/>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4"/>
            <p:cNvSpPr/>
            <p:nvPr/>
          </p:nvSpPr>
          <p:spPr>
            <a:xfrm>
              <a:off x="5332825" y="3504400"/>
              <a:ext cx="649325" cy="25"/>
            </a:xfrm>
            <a:custGeom>
              <a:rect b="b" l="l" r="r" t="t"/>
              <a:pathLst>
                <a:path extrusionOk="0" fill="none" h="1" w="25973">
                  <a:moveTo>
                    <a:pt x="0" y="0"/>
                  </a:moveTo>
                  <a:lnTo>
                    <a:pt x="25973" y="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4"/>
            <p:cNvSpPr/>
            <p:nvPr/>
          </p:nvSpPr>
          <p:spPr>
            <a:xfrm>
              <a:off x="5332825" y="3504400"/>
              <a:ext cx="649325" cy="25"/>
            </a:xfrm>
            <a:custGeom>
              <a:rect b="b" l="l" r="r" t="t"/>
              <a:pathLst>
                <a:path extrusionOk="0" fill="none" h="1" w="25973">
                  <a:moveTo>
                    <a:pt x="0" y="0"/>
                  </a:moveTo>
                  <a:lnTo>
                    <a:pt x="25973" y="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4"/>
            <p:cNvSpPr/>
            <p:nvPr/>
          </p:nvSpPr>
          <p:spPr>
            <a:xfrm>
              <a:off x="5332825" y="3604625"/>
              <a:ext cx="649325" cy="25"/>
            </a:xfrm>
            <a:custGeom>
              <a:rect b="b" l="l" r="r" t="t"/>
              <a:pathLst>
                <a:path extrusionOk="0" fill="none" h="1" w="25973">
                  <a:moveTo>
                    <a:pt x="0" y="0"/>
                  </a:moveTo>
                  <a:lnTo>
                    <a:pt x="25973" y="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4"/>
            <p:cNvSpPr/>
            <p:nvPr/>
          </p:nvSpPr>
          <p:spPr>
            <a:xfrm>
              <a:off x="5195125" y="3604625"/>
              <a:ext cx="787025" cy="25"/>
            </a:xfrm>
            <a:custGeom>
              <a:rect b="b" l="l" r="r" t="t"/>
              <a:pathLst>
                <a:path extrusionOk="0" fill="none" h="1" w="31481">
                  <a:moveTo>
                    <a:pt x="0" y="0"/>
                  </a:moveTo>
                  <a:lnTo>
                    <a:pt x="31481" y="0"/>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4"/>
            <p:cNvSpPr/>
            <p:nvPr/>
          </p:nvSpPr>
          <p:spPr>
            <a:xfrm>
              <a:off x="5195125" y="3704850"/>
              <a:ext cx="787025" cy="25"/>
            </a:xfrm>
            <a:custGeom>
              <a:rect b="b" l="l" r="r" t="t"/>
              <a:pathLst>
                <a:path extrusionOk="0" fill="none" h="1" w="31481">
                  <a:moveTo>
                    <a:pt x="0" y="0"/>
                  </a:moveTo>
                  <a:lnTo>
                    <a:pt x="31481" y="0"/>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4"/>
            <p:cNvSpPr/>
            <p:nvPr/>
          </p:nvSpPr>
          <p:spPr>
            <a:xfrm>
              <a:off x="5195125" y="3791125"/>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4"/>
            <p:cNvSpPr/>
            <p:nvPr/>
          </p:nvSpPr>
          <p:spPr>
            <a:xfrm>
              <a:off x="5195125" y="3791125"/>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4"/>
            <p:cNvSpPr/>
            <p:nvPr/>
          </p:nvSpPr>
          <p:spPr>
            <a:xfrm>
              <a:off x="5195125" y="3877425"/>
              <a:ext cx="787025" cy="25"/>
            </a:xfrm>
            <a:custGeom>
              <a:rect b="b" l="l" r="r" t="t"/>
              <a:pathLst>
                <a:path extrusionOk="0" fill="none" h="1" w="31481">
                  <a:moveTo>
                    <a:pt x="0" y="0"/>
                  </a:moveTo>
                  <a:lnTo>
                    <a:pt x="31481" y="0"/>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4"/>
            <p:cNvSpPr/>
            <p:nvPr/>
          </p:nvSpPr>
          <p:spPr>
            <a:xfrm>
              <a:off x="5195125" y="3877425"/>
              <a:ext cx="787025" cy="25"/>
            </a:xfrm>
            <a:custGeom>
              <a:rect b="b" l="l" r="r" t="t"/>
              <a:pathLst>
                <a:path extrusionOk="0" fill="none" h="1" w="31481">
                  <a:moveTo>
                    <a:pt x="0" y="0"/>
                  </a:moveTo>
                  <a:lnTo>
                    <a:pt x="31481" y="0"/>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4"/>
            <p:cNvSpPr/>
            <p:nvPr/>
          </p:nvSpPr>
          <p:spPr>
            <a:xfrm>
              <a:off x="5195125" y="3963700"/>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4"/>
            <p:cNvSpPr/>
            <p:nvPr/>
          </p:nvSpPr>
          <p:spPr>
            <a:xfrm>
              <a:off x="5195125" y="3963700"/>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4"/>
            <p:cNvSpPr/>
            <p:nvPr/>
          </p:nvSpPr>
          <p:spPr>
            <a:xfrm>
              <a:off x="5195125" y="4049550"/>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4"/>
            <p:cNvSpPr/>
            <p:nvPr/>
          </p:nvSpPr>
          <p:spPr>
            <a:xfrm>
              <a:off x="5195125" y="4049550"/>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4"/>
            <p:cNvSpPr/>
            <p:nvPr/>
          </p:nvSpPr>
          <p:spPr>
            <a:xfrm>
              <a:off x="5195125" y="4135825"/>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6" name="Google Shape;186;p14"/>
          <p:cNvGrpSpPr/>
          <p:nvPr/>
        </p:nvGrpSpPr>
        <p:grpSpPr>
          <a:xfrm>
            <a:off x="7341438" y="1489938"/>
            <a:ext cx="1782332" cy="2212156"/>
            <a:chOff x="5932450" y="2691225"/>
            <a:chExt cx="1445525" cy="1794125"/>
          </a:xfrm>
        </p:grpSpPr>
        <p:sp>
          <p:nvSpPr>
            <p:cNvPr id="187" name="Google Shape;187;p14"/>
            <p:cNvSpPr/>
            <p:nvPr/>
          </p:nvSpPr>
          <p:spPr>
            <a:xfrm>
              <a:off x="6817975" y="3120900"/>
              <a:ext cx="0" cy="1364450"/>
            </a:xfrm>
            <a:custGeom>
              <a:rect b="b" l="l" r="r" t="t"/>
              <a:pathLst>
                <a:path extrusionOk="0" fill="none" h="54578" w="0">
                  <a:moveTo>
                    <a:pt x="0" y="1"/>
                  </a:moveTo>
                  <a:lnTo>
                    <a:pt x="0" y="54578"/>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4"/>
            <p:cNvSpPr/>
            <p:nvPr/>
          </p:nvSpPr>
          <p:spPr>
            <a:xfrm>
              <a:off x="6775700" y="3120900"/>
              <a:ext cx="25" cy="1364450"/>
            </a:xfrm>
            <a:custGeom>
              <a:rect b="b" l="l" r="r" t="t"/>
              <a:pathLst>
                <a:path extrusionOk="0" fill="none" h="54578" w="1">
                  <a:moveTo>
                    <a:pt x="0" y="1"/>
                  </a:moveTo>
                  <a:lnTo>
                    <a:pt x="0" y="54578"/>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6776125" y="3153575"/>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4"/>
            <p:cNvSpPr/>
            <p:nvPr/>
          </p:nvSpPr>
          <p:spPr>
            <a:xfrm>
              <a:off x="6776125" y="3209375"/>
              <a:ext cx="41850" cy="54500"/>
            </a:xfrm>
            <a:custGeom>
              <a:rect b="b" l="l" r="r" t="t"/>
              <a:pathLst>
                <a:path extrusionOk="0" fill="none" h="2180" w="1674">
                  <a:moveTo>
                    <a:pt x="1569" y="70"/>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4"/>
            <p:cNvSpPr/>
            <p:nvPr/>
          </p:nvSpPr>
          <p:spPr>
            <a:xfrm>
              <a:off x="6776125" y="3209375"/>
              <a:ext cx="41850" cy="54500"/>
            </a:xfrm>
            <a:custGeom>
              <a:rect b="b" l="l" r="r" t="t"/>
              <a:pathLst>
                <a:path extrusionOk="0" fill="none" h="2180" w="1674">
                  <a:moveTo>
                    <a:pt x="1569" y="70"/>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4"/>
            <p:cNvSpPr/>
            <p:nvPr/>
          </p:nvSpPr>
          <p:spPr>
            <a:xfrm>
              <a:off x="6776125" y="3265575"/>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4"/>
            <p:cNvSpPr/>
            <p:nvPr/>
          </p:nvSpPr>
          <p:spPr>
            <a:xfrm>
              <a:off x="6776125" y="3265575"/>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4"/>
            <p:cNvSpPr/>
            <p:nvPr/>
          </p:nvSpPr>
          <p:spPr>
            <a:xfrm>
              <a:off x="6776125" y="3321350"/>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4"/>
            <p:cNvSpPr/>
            <p:nvPr/>
          </p:nvSpPr>
          <p:spPr>
            <a:xfrm>
              <a:off x="6776125" y="3321350"/>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4"/>
            <p:cNvSpPr/>
            <p:nvPr/>
          </p:nvSpPr>
          <p:spPr>
            <a:xfrm>
              <a:off x="6776125" y="3377150"/>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4"/>
            <p:cNvSpPr/>
            <p:nvPr/>
          </p:nvSpPr>
          <p:spPr>
            <a:xfrm>
              <a:off x="6776125" y="3377150"/>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4"/>
            <p:cNvSpPr/>
            <p:nvPr/>
          </p:nvSpPr>
          <p:spPr>
            <a:xfrm>
              <a:off x="6776125" y="3433350"/>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4"/>
            <p:cNvSpPr/>
            <p:nvPr/>
          </p:nvSpPr>
          <p:spPr>
            <a:xfrm>
              <a:off x="6776125" y="3433350"/>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4"/>
            <p:cNvSpPr/>
            <p:nvPr/>
          </p:nvSpPr>
          <p:spPr>
            <a:xfrm>
              <a:off x="6776125" y="348915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4"/>
            <p:cNvSpPr/>
            <p:nvPr/>
          </p:nvSpPr>
          <p:spPr>
            <a:xfrm>
              <a:off x="6776125" y="348915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4"/>
            <p:cNvSpPr/>
            <p:nvPr/>
          </p:nvSpPr>
          <p:spPr>
            <a:xfrm>
              <a:off x="6776125" y="3544925"/>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14"/>
            <p:cNvSpPr/>
            <p:nvPr/>
          </p:nvSpPr>
          <p:spPr>
            <a:xfrm>
              <a:off x="6776125" y="3544925"/>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4"/>
            <p:cNvSpPr/>
            <p:nvPr/>
          </p:nvSpPr>
          <p:spPr>
            <a:xfrm>
              <a:off x="6776125" y="3601125"/>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4"/>
            <p:cNvSpPr/>
            <p:nvPr/>
          </p:nvSpPr>
          <p:spPr>
            <a:xfrm>
              <a:off x="6776125" y="3601125"/>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4"/>
            <p:cNvSpPr/>
            <p:nvPr/>
          </p:nvSpPr>
          <p:spPr>
            <a:xfrm>
              <a:off x="6776125" y="365692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4"/>
            <p:cNvSpPr/>
            <p:nvPr/>
          </p:nvSpPr>
          <p:spPr>
            <a:xfrm>
              <a:off x="6776125" y="365692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4"/>
            <p:cNvSpPr/>
            <p:nvPr/>
          </p:nvSpPr>
          <p:spPr>
            <a:xfrm>
              <a:off x="6776125" y="3712700"/>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4"/>
            <p:cNvSpPr/>
            <p:nvPr/>
          </p:nvSpPr>
          <p:spPr>
            <a:xfrm>
              <a:off x="6776125" y="3712700"/>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4"/>
            <p:cNvSpPr/>
            <p:nvPr/>
          </p:nvSpPr>
          <p:spPr>
            <a:xfrm>
              <a:off x="6776125" y="376847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4"/>
            <p:cNvSpPr/>
            <p:nvPr/>
          </p:nvSpPr>
          <p:spPr>
            <a:xfrm>
              <a:off x="6776125" y="376847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4"/>
            <p:cNvSpPr/>
            <p:nvPr/>
          </p:nvSpPr>
          <p:spPr>
            <a:xfrm>
              <a:off x="6776125" y="382470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4"/>
            <p:cNvSpPr/>
            <p:nvPr/>
          </p:nvSpPr>
          <p:spPr>
            <a:xfrm>
              <a:off x="6776125" y="382470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14"/>
            <p:cNvSpPr/>
            <p:nvPr/>
          </p:nvSpPr>
          <p:spPr>
            <a:xfrm>
              <a:off x="6776125" y="3880475"/>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4"/>
            <p:cNvSpPr/>
            <p:nvPr/>
          </p:nvSpPr>
          <p:spPr>
            <a:xfrm>
              <a:off x="6776125" y="3880475"/>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4"/>
            <p:cNvSpPr/>
            <p:nvPr/>
          </p:nvSpPr>
          <p:spPr>
            <a:xfrm>
              <a:off x="6776125" y="3936250"/>
              <a:ext cx="41850" cy="54925"/>
            </a:xfrm>
            <a:custGeom>
              <a:rect b="b" l="l" r="r" t="t"/>
              <a:pathLst>
                <a:path extrusionOk="0" fill="none" h="2197" w="1674">
                  <a:moveTo>
                    <a:pt x="1569" y="70"/>
                  </a:moveTo>
                  <a:lnTo>
                    <a:pt x="1" y="2197"/>
                  </a:lnTo>
                  <a:lnTo>
                    <a:pt x="1674" y="2197"/>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14"/>
            <p:cNvSpPr/>
            <p:nvPr/>
          </p:nvSpPr>
          <p:spPr>
            <a:xfrm>
              <a:off x="6776125" y="3936250"/>
              <a:ext cx="41850" cy="54925"/>
            </a:xfrm>
            <a:custGeom>
              <a:rect b="b" l="l" r="r" t="t"/>
              <a:pathLst>
                <a:path extrusionOk="0" fill="none" h="2197" w="1674">
                  <a:moveTo>
                    <a:pt x="1569" y="70"/>
                  </a:moveTo>
                  <a:lnTo>
                    <a:pt x="1" y="2197"/>
                  </a:lnTo>
                  <a:lnTo>
                    <a:pt x="1674" y="2197"/>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4"/>
            <p:cNvSpPr/>
            <p:nvPr/>
          </p:nvSpPr>
          <p:spPr>
            <a:xfrm>
              <a:off x="6776125" y="399247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4"/>
            <p:cNvSpPr/>
            <p:nvPr/>
          </p:nvSpPr>
          <p:spPr>
            <a:xfrm>
              <a:off x="6776125" y="399247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4"/>
            <p:cNvSpPr/>
            <p:nvPr/>
          </p:nvSpPr>
          <p:spPr>
            <a:xfrm>
              <a:off x="6776125" y="399247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4"/>
            <p:cNvSpPr/>
            <p:nvPr/>
          </p:nvSpPr>
          <p:spPr>
            <a:xfrm>
              <a:off x="6776125" y="4048250"/>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4"/>
            <p:cNvSpPr/>
            <p:nvPr/>
          </p:nvSpPr>
          <p:spPr>
            <a:xfrm>
              <a:off x="6776125" y="4048250"/>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4"/>
            <p:cNvSpPr/>
            <p:nvPr/>
          </p:nvSpPr>
          <p:spPr>
            <a:xfrm>
              <a:off x="6776125" y="410402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4"/>
            <p:cNvSpPr/>
            <p:nvPr/>
          </p:nvSpPr>
          <p:spPr>
            <a:xfrm>
              <a:off x="6776125" y="410402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4"/>
            <p:cNvSpPr/>
            <p:nvPr/>
          </p:nvSpPr>
          <p:spPr>
            <a:xfrm>
              <a:off x="6776125" y="416025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4"/>
            <p:cNvSpPr/>
            <p:nvPr/>
          </p:nvSpPr>
          <p:spPr>
            <a:xfrm>
              <a:off x="6776125" y="416025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4"/>
            <p:cNvSpPr/>
            <p:nvPr/>
          </p:nvSpPr>
          <p:spPr>
            <a:xfrm>
              <a:off x="6776125" y="421602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4"/>
            <p:cNvSpPr/>
            <p:nvPr/>
          </p:nvSpPr>
          <p:spPr>
            <a:xfrm>
              <a:off x="6776125" y="421602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4"/>
            <p:cNvSpPr/>
            <p:nvPr/>
          </p:nvSpPr>
          <p:spPr>
            <a:xfrm>
              <a:off x="6776125" y="4271800"/>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4"/>
            <p:cNvSpPr/>
            <p:nvPr/>
          </p:nvSpPr>
          <p:spPr>
            <a:xfrm>
              <a:off x="6776125" y="4271800"/>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4"/>
            <p:cNvSpPr/>
            <p:nvPr/>
          </p:nvSpPr>
          <p:spPr>
            <a:xfrm>
              <a:off x="6776125" y="432802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4"/>
            <p:cNvSpPr/>
            <p:nvPr/>
          </p:nvSpPr>
          <p:spPr>
            <a:xfrm>
              <a:off x="6776125" y="432802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4"/>
            <p:cNvSpPr/>
            <p:nvPr/>
          </p:nvSpPr>
          <p:spPr>
            <a:xfrm>
              <a:off x="6776125" y="4383800"/>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4"/>
            <p:cNvSpPr/>
            <p:nvPr/>
          </p:nvSpPr>
          <p:spPr>
            <a:xfrm>
              <a:off x="6722100" y="2980150"/>
              <a:ext cx="118550" cy="144700"/>
            </a:xfrm>
            <a:custGeom>
              <a:rect b="b" l="l" r="r" t="t"/>
              <a:pathLst>
                <a:path extrusionOk="0" h="5788" w="4742">
                  <a:moveTo>
                    <a:pt x="0" y="0"/>
                  </a:moveTo>
                  <a:lnTo>
                    <a:pt x="0" y="5788"/>
                  </a:lnTo>
                  <a:lnTo>
                    <a:pt x="4741" y="5788"/>
                  </a:lnTo>
                  <a:lnTo>
                    <a:pt x="474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4"/>
            <p:cNvSpPr/>
            <p:nvPr/>
          </p:nvSpPr>
          <p:spPr>
            <a:xfrm>
              <a:off x="6227050" y="2692975"/>
              <a:ext cx="686375" cy="264100"/>
            </a:xfrm>
            <a:custGeom>
              <a:rect b="b" l="l" r="r" t="t"/>
              <a:pathLst>
                <a:path extrusionOk="0" fill="none" h="10564" w="27455">
                  <a:moveTo>
                    <a:pt x="27454" y="0"/>
                  </a:moveTo>
                  <a:lnTo>
                    <a:pt x="0" y="10564"/>
                  </a:lnTo>
                </a:path>
              </a:pathLst>
            </a:custGeom>
            <a:noFill/>
            <a:ln cap="flat" cmpd="sng" w="2625">
              <a:solidFill>
                <a:schemeClr val="lt1"/>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4"/>
            <p:cNvSpPr/>
            <p:nvPr/>
          </p:nvSpPr>
          <p:spPr>
            <a:xfrm>
              <a:off x="6454525" y="2692975"/>
              <a:ext cx="460200" cy="237525"/>
            </a:xfrm>
            <a:custGeom>
              <a:rect b="b" l="l" r="r" t="t"/>
              <a:pathLst>
                <a:path extrusionOk="0" fill="none" h="9501" w="18408">
                  <a:moveTo>
                    <a:pt x="18408" y="0"/>
                  </a:moveTo>
                  <a:lnTo>
                    <a:pt x="1691" y="9500"/>
                  </a:lnTo>
                  <a:lnTo>
                    <a:pt x="0" y="7060"/>
                  </a:lnTo>
                </a:path>
              </a:pathLst>
            </a:custGeom>
            <a:noFill/>
            <a:ln cap="flat" cmpd="sng" w="2625">
              <a:solidFill>
                <a:schemeClr val="lt1"/>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4"/>
            <p:cNvSpPr/>
            <p:nvPr/>
          </p:nvSpPr>
          <p:spPr>
            <a:xfrm>
              <a:off x="6912525" y="2691225"/>
              <a:ext cx="160400" cy="232300"/>
            </a:xfrm>
            <a:custGeom>
              <a:rect b="b" l="l" r="r" t="t"/>
              <a:pathLst>
                <a:path extrusionOk="0" fill="none" h="9292" w="6416">
                  <a:moveTo>
                    <a:pt x="1" y="1"/>
                  </a:moveTo>
                  <a:lnTo>
                    <a:pt x="6415" y="9291"/>
                  </a:lnTo>
                </a:path>
              </a:pathLst>
            </a:custGeom>
            <a:noFill/>
            <a:ln cap="flat" cmpd="sng" w="2625">
              <a:solidFill>
                <a:schemeClr val="lt1"/>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4"/>
            <p:cNvSpPr/>
            <p:nvPr/>
          </p:nvSpPr>
          <p:spPr>
            <a:xfrm>
              <a:off x="5932450" y="2897775"/>
              <a:ext cx="1445525" cy="86325"/>
            </a:xfrm>
            <a:custGeom>
              <a:rect b="b" l="l" r="r" t="t"/>
              <a:pathLst>
                <a:path extrusionOk="0" h="3453" w="57821">
                  <a:moveTo>
                    <a:pt x="39796" y="175"/>
                  </a:moveTo>
                  <a:lnTo>
                    <a:pt x="44119" y="977"/>
                  </a:lnTo>
                  <a:lnTo>
                    <a:pt x="44241" y="994"/>
                  </a:lnTo>
                  <a:lnTo>
                    <a:pt x="48059" y="1709"/>
                  </a:lnTo>
                  <a:lnTo>
                    <a:pt x="48163" y="1727"/>
                  </a:lnTo>
                  <a:lnTo>
                    <a:pt x="51998" y="2441"/>
                  </a:lnTo>
                  <a:lnTo>
                    <a:pt x="52103" y="2459"/>
                  </a:lnTo>
                  <a:lnTo>
                    <a:pt x="57193" y="3348"/>
                  </a:lnTo>
                  <a:lnTo>
                    <a:pt x="1343" y="3348"/>
                  </a:lnTo>
                  <a:lnTo>
                    <a:pt x="7374" y="2825"/>
                  </a:lnTo>
                  <a:lnTo>
                    <a:pt x="7496" y="2825"/>
                  </a:lnTo>
                  <a:lnTo>
                    <a:pt x="11767" y="2476"/>
                  </a:lnTo>
                  <a:lnTo>
                    <a:pt x="11871" y="2476"/>
                  </a:lnTo>
                  <a:lnTo>
                    <a:pt x="15619" y="2162"/>
                  </a:lnTo>
                  <a:lnTo>
                    <a:pt x="15724" y="2162"/>
                  </a:lnTo>
                  <a:lnTo>
                    <a:pt x="19576" y="1831"/>
                  </a:lnTo>
                  <a:lnTo>
                    <a:pt x="19698" y="1831"/>
                  </a:lnTo>
                  <a:lnTo>
                    <a:pt x="23620" y="1500"/>
                  </a:lnTo>
                  <a:lnTo>
                    <a:pt x="23725" y="1500"/>
                  </a:lnTo>
                  <a:lnTo>
                    <a:pt x="27368" y="1186"/>
                  </a:lnTo>
                  <a:lnTo>
                    <a:pt x="27472" y="1186"/>
                  </a:lnTo>
                  <a:lnTo>
                    <a:pt x="31377" y="855"/>
                  </a:lnTo>
                  <a:lnTo>
                    <a:pt x="31482" y="855"/>
                  </a:lnTo>
                  <a:lnTo>
                    <a:pt x="35386" y="524"/>
                  </a:lnTo>
                  <a:lnTo>
                    <a:pt x="35491" y="524"/>
                  </a:lnTo>
                  <a:lnTo>
                    <a:pt x="39692" y="175"/>
                  </a:lnTo>
                  <a:close/>
                  <a:moveTo>
                    <a:pt x="39692" y="1"/>
                  </a:moveTo>
                  <a:lnTo>
                    <a:pt x="35491" y="350"/>
                  </a:lnTo>
                  <a:lnTo>
                    <a:pt x="35386" y="350"/>
                  </a:lnTo>
                  <a:lnTo>
                    <a:pt x="31499" y="681"/>
                  </a:lnTo>
                  <a:lnTo>
                    <a:pt x="31377" y="698"/>
                  </a:lnTo>
                  <a:lnTo>
                    <a:pt x="27490" y="1012"/>
                  </a:lnTo>
                  <a:lnTo>
                    <a:pt x="27385" y="1012"/>
                  </a:lnTo>
                  <a:lnTo>
                    <a:pt x="11837" y="2319"/>
                  </a:lnTo>
                  <a:lnTo>
                    <a:pt x="11767" y="2319"/>
                  </a:lnTo>
                  <a:lnTo>
                    <a:pt x="7461" y="2685"/>
                  </a:lnTo>
                  <a:lnTo>
                    <a:pt x="7392" y="2685"/>
                  </a:lnTo>
                  <a:lnTo>
                    <a:pt x="53" y="3348"/>
                  </a:lnTo>
                  <a:cubicBezTo>
                    <a:pt x="36" y="3348"/>
                    <a:pt x="1" y="3365"/>
                    <a:pt x="1" y="3400"/>
                  </a:cubicBezTo>
                  <a:cubicBezTo>
                    <a:pt x="1" y="3417"/>
                    <a:pt x="36" y="3452"/>
                    <a:pt x="53" y="3452"/>
                  </a:cubicBezTo>
                  <a:lnTo>
                    <a:pt x="57768" y="3452"/>
                  </a:lnTo>
                  <a:cubicBezTo>
                    <a:pt x="57803" y="3452"/>
                    <a:pt x="57820" y="3417"/>
                    <a:pt x="57820" y="3400"/>
                  </a:cubicBezTo>
                  <a:cubicBezTo>
                    <a:pt x="57820" y="3365"/>
                    <a:pt x="57803" y="3348"/>
                    <a:pt x="57785" y="3348"/>
                  </a:cubicBezTo>
                  <a:lnTo>
                    <a:pt x="52120" y="2284"/>
                  </a:lnTo>
                  <a:lnTo>
                    <a:pt x="51998" y="2267"/>
                  </a:lnTo>
                  <a:lnTo>
                    <a:pt x="48181" y="1552"/>
                  </a:lnTo>
                  <a:lnTo>
                    <a:pt x="48076" y="1535"/>
                  </a:lnTo>
                  <a:lnTo>
                    <a:pt x="44259" y="820"/>
                  </a:lnTo>
                  <a:lnTo>
                    <a:pt x="44137" y="803"/>
                  </a:lnTo>
                  <a:lnTo>
                    <a:pt x="398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4"/>
            <p:cNvSpPr/>
            <p:nvPr/>
          </p:nvSpPr>
          <p:spPr>
            <a:xfrm>
              <a:off x="6117225" y="2965325"/>
              <a:ext cx="2650" cy="18325"/>
            </a:xfrm>
            <a:custGeom>
              <a:rect b="b" l="l" r="r" t="t"/>
              <a:pathLst>
                <a:path extrusionOk="0" h="733" w="106">
                  <a:moveTo>
                    <a:pt x="53" y="1"/>
                  </a:moveTo>
                  <a:cubicBezTo>
                    <a:pt x="27" y="1"/>
                    <a:pt x="1" y="18"/>
                    <a:pt x="1" y="53"/>
                  </a:cubicBezTo>
                  <a:lnTo>
                    <a:pt x="1" y="663"/>
                  </a:lnTo>
                  <a:cubicBezTo>
                    <a:pt x="1" y="698"/>
                    <a:pt x="18" y="733"/>
                    <a:pt x="53" y="733"/>
                  </a:cubicBezTo>
                  <a:cubicBezTo>
                    <a:pt x="88" y="733"/>
                    <a:pt x="105" y="698"/>
                    <a:pt x="105" y="663"/>
                  </a:cubicBezTo>
                  <a:lnTo>
                    <a:pt x="105" y="53"/>
                  </a:lnTo>
                  <a:cubicBezTo>
                    <a:pt x="105" y="18"/>
                    <a:pt x="79" y="1"/>
                    <a:pt x="53"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4"/>
            <p:cNvSpPr/>
            <p:nvPr/>
          </p:nvSpPr>
          <p:spPr>
            <a:xfrm>
              <a:off x="6226400" y="2956175"/>
              <a:ext cx="3075" cy="26600"/>
            </a:xfrm>
            <a:custGeom>
              <a:rect b="b" l="l" r="r" t="t"/>
              <a:pathLst>
                <a:path extrusionOk="0" h="1064" w="123">
                  <a:moveTo>
                    <a:pt x="61" y="1"/>
                  </a:moveTo>
                  <a:cubicBezTo>
                    <a:pt x="31" y="1"/>
                    <a:pt x="0" y="18"/>
                    <a:pt x="9" y="53"/>
                  </a:cubicBezTo>
                  <a:lnTo>
                    <a:pt x="9" y="1012"/>
                  </a:lnTo>
                  <a:cubicBezTo>
                    <a:pt x="9" y="1047"/>
                    <a:pt x="26" y="1064"/>
                    <a:pt x="61" y="1064"/>
                  </a:cubicBezTo>
                  <a:cubicBezTo>
                    <a:pt x="96" y="1064"/>
                    <a:pt x="113" y="1047"/>
                    <a:pt x="113" y="1012"/>
                  </a:cubicBezTo>
                  <a:lnTo>
                    <a:pt x="113" y="53"/>
                  </a:lnTo>
                  <a:cubicBezTo>
                    <a:pt x="122" y="18"/>
                    <a:pt x="92" y="1"/>
                    <a:pt x="61"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4"/>
            <p:cNvSpPr/>
            <p:nvPr/>
          </p:nvSpPr>
          <p:spPr>
            <a:xfrm>
              <a:off x="6322925" y="2948775"/>
              <a:ext cx="2625" cy="34000"/>
            </a:xfrm>
            <a:custGeom>
              <a:rect b="b" l="l" r="r" t="t"/>
              <a:pathLst>
                <a:path extrusionOk="0" h="1360" w="105">
                  <a:moveTo>
                    <a:pt x="52" y="0"/>
                  </a:moveTo>
                  <a:cubicBezTo>
                    <a:pt x="35" y="0"/>
                    <a:pt x="0" y="18"/>
                    <a:pt x="0" y="53"/>
                  </a:cubicBezTo>
                  <a:lnTo>
                    <a:pt x="0" y="1308"/>
                  </a:lnTo>
                  <a:cubicBezTo>
                    <a:pt x="0" y="1343"/>
                    <a:pt x="35" y="1360"/>
                    <a:pt x="52" y="1360"/>
                  </a:cubicBezTo>
                  <a:cubicBezTo>
                    <a:pt x="87" y="1360"/>
                    <a:pt x="105" y="1343"/>
                    <a:pt x="105" y="1308"/>
                  </a:cubicBezTo>
                  <a:lnTo>
                    <a:pt x="105" y="53"/>
                  </a:lnTo>
                  <a:cubicBezTo>
                    <a:pt x="105" y="18"/>
                    <a:pt x="87" y="0"/>
                    <a:pt x="52"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4"/>
            <p:cNvSpPr/>
            <p:nvPr/>
          </p:nvSpPr>
          <p:spPr>
            <a:xfrm>
              <a:off x="6422275" y="2940500"/>
              <a:ext cx="2650" cy="42275"/>
            </a:xfrm>
            <a:custGeom>
              <a:rect b="b" l="l" r="r" t="t"/>
              <a:pathLst>
                <a:path extrusionOk="0" h="1691" w="106">
                  <a:moveTo>
                    <a:pt x="53" y="0"/>
                  </a:moveTo>
                  <a:cubicBezTo>
                    <a:pt x="27" y="0"/>
                    <a:pt x="0" y="18"/>
                    <a:pt x="0" y="52"/>
                  </a:cubicBezTo>
                  <a:lnTo>
                    <a:pt x="0" y="1639"/>
                  </a:lnTo>
                  <a:cubicBezTo>
                    <a:pt x="0" y="1674"/>
                    <a:pt x="18" y="1691"/>
                    <a:pt x="53" y="1691"/>
                  </a:cubicBezTo>
                  <a:cubicBezTo>
                    <a:pt x="88" y="1691"/>
                    <a:pt x="105" y="1674"/>
                    <a:pt x="105" y="1639"/>
                  </a:cubicBezTo>
                  <a:lnTo>
                    <a:pt x="105" y="52"/>
                  </a:lnTo>
                  <a:cubicBezTo>
                    <a:pt x="105" y="18"/>
                    <a:pt x="79" y="0"/>
                    <a:pt x="5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4"/>
            <p:cNvSpPr/>
            <p:nvPr/>
          </p:nvSpPr>
          <p:spPr>
            <a:xfrm>
              <a:off x="6523150" y="2932200"/>
              <a:ext cx="3075" cy="50575"/>
            </a:xfrm>
            <a:custGeom>
              <a:rect b="b" l="l" r="r" t="t"/>
              <a:pathLst>
                <a:path extrusionOk="0" h="2023" w="123">
                  <a:moveTo>
                    <a:pt x="62" y="1"/>
                  </a:moveTo>
                  <a:cubicBezTo>
                    <a:pt x="31" y="1"/>
                    <a:pt x="1" y="18"/>
                    <a:pt x="10" y="53"/>
                  </a:cubicBezTo>
                  <a:lnTo>
                    <a:pt x="10" y="1971"/>
                  </a:lnTo>
                  <a:cubicBezTo>
                    <a:pt x="10" y="2006"/>
                    <a:pt x="27" y="2023"/>
                    <a:pt x="62" y="2023"/>
                  </a:cubicBezTo>
                  <a:cubicBezTo>
                    <a:pt x="79" y="2023"/>
                    <a:pt x="114" y="2006"/>
                    <a:pt x="114" y="1971"/>
                  </a:cubicBezTo>
                  <a:lnTo>
                    <a:pt x="114" y="53"/>
                  </a:lnTo>
                  <a:cubicBezTo>
                    <a:pt x="123" y="18"/>
                    <a:pt x="92" y="1"/>
                    <a:pt x="62"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14"/>
            <p:cNvSpPr/>
            <p:nvPr/>
          </p:nvSpPr>
          <p:spPr>
            <a:xfrm>
              <a:off x="6617075" y="2923500"/>
              <a:ext cx="2625" cy="59275"/>
            </a:xfrm>
            <a:custGeom>
              <a:rect b="b" l="l" r="r" t="t"/>
              <a:pathLst>
                <a:path extrusionOk="0" h="2371" w="105">
                  <a:moveTo>
                    <a:pt x="105" y="0"/>
                  </a:moveTo>
                  <a:lnTo>
                    <a:pt x="0" y="18"/>
                  </a:lnTo>
                  <a:lnTo>
                    <a:pt x="0" y="2319"/>
                  </a:lnTo>
                  <a:cubicBezTo>
                    <a:pt x="9" y="2354"/>
                    <a:pt x="35" y="2371"/>
                    <a:pt x="59" y="2371"/>
                  </a:cubicBezTo>
                  <a:cubicBezTo>
                    <a:pt x="83" y="2371"/>
                    <a:pt x="105" y="2354"/>
                    <a:pt x="105" y="2319"/>
                  </a:cubicBezTo>
                  <a:lnTo>
                    <a:pt x="10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4"/>
            <p:cNvSpPr/>
            <p:nvPr/>
          </p:nvSpPr>
          <p:spPr>
            <a:xfrm>
              <a:off x="6717300" y="2915225"/>
              <a:ext cx="2625" cy="67900"/>
            </a:xfrm>
            <a:custGeom>
              <a:rect b="b" l="l" r="r" t="t"/>
              <a:pathLst>
                <a:path extrusionOk="0" h="2716" w="105">
                  <a:moveTo>
                    <a:pt x="105" y="0"/>
                  </a:moveTo>
                  <a:lnTo>
                    <a:pt x="0" y="18"/>
                  </a:lnTo>
                  <a:lnTo>
                    <a:pt x="0" y="2650"/>
                  </a:lnTo>
                  <a:cubicBezTo>
                    <a:pt x="0" y="2693"/>
                    <a:pt x="27" y="2715"/>
                    <a:pt x="53" y="2715"/>
                  </a:cubicBezTo>
                  <a:cubicBezTo>
                    <a:pt x="79" y="2715"/>
                    <a:pt x="105" y="2693"/>
                    <a:pt x="105" y="2650"/>
                  </a:cubicBezTo>
                  <a:lnTo>
                    <a:pt x="10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4"/>
            <p:cNvSpPr/>
            <p:nvPr/>
          </p:nvSpPr>
          <p:spPr>
            <a:xfrm>
              <a:off x="6717300" y="2915225"/>
              <a:ext cx="2625" cy="67900"/>
            </a:xfrm>
            <a:custGeom>
              <a:rect b="b" l="l" r="r" t="t"/>
              <a:pathLst>
                <a:path extrusionOk="0" h="2716" w="105">
                  <a:moveTo>
                    <a:pt x="105" y="0"/>
                  </a:moveTo>
                  <a:lnTo>
                    <a:pt x="0" y="18"/>
                  </a:lnTo>
                  <a:lnTo>
                    <a:pt x="0" y="2650"/>
                  </a:lnTo>
                  <a:cubicBezTo>
                    <a:pt x="0" y="2693"/>
                    <a:pt x="27" y="2715"/>
                    <a:pt x="53" y="2715"/>
                  </a:cubicBezTo>
                  <a:cubicBezTo>
                    <a:pt x="79" y="2715"/>
                    <a:pt x="105" y="2693"/>
                    <a:pt x="105" y="2650"/>
                  </a:cubicBezTo>
                  <a:lnTo>
                    <a:pt x="10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4"/>
            <p:cNvSpPr/>
            <p:nvPr/>
          </p:nvSpPr>
          <p:spPr>
            <a:xfrm>
              <a:off x="6817525" y="2906925"/>
              <a:ext cx="2650" cy="75850"/>
            </a:xfrm>
            <a:custGeom>
              <a:rect b="b" l="l" r="r" t="t"/>
              <a:pathLst>
                <a:path extrusionOk="0" h="3034" w="106">
                  <a:moveTo>
                    <a:pt x="1" y="1"/>
                  </a:moveTo>
                  <a:lnTo>
                    <a:pt x="1" y="2982"/>
                  </a:lnTo>
                  <a:cubicBezTo>
                    <a:pt x="1" y="3017"/>
                    <a:pt x="18" y="3034"/>
                    <a:pt x="53" y="3034"/>
                  </a:cubicBezTo>
                  <a:cubicBezTo>
                    <a:pt x="70" y="3034"/>
                    <a:pt x="105" y="3017"/>
                    <a:pt x="105" y="2982"/>
                  </a:cubicBezTo>
                  <a:lnTo>
                    <a:pt x="10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4"/>
            <p:cNvSpPr/>
            <p:nvPr/>
          </p:nvSpPr>
          <p:spPr>
            <a:xfrm>
              <a:off x="6817525" y="2906925"/>
              <a:ext cx="2650" cy="75850"/>
            </a:xfrm>
            <a:custGeom>
              <a:rect b="b" l="l" r="r" t="t"/>
              <a:pathLst>
                <a:path extrusionOk="0" h="3034" w="106">
                  <a:moveTo>
                    <a:pt x="1" y="1"/>
                  </a:moveTo>
                  <a:lnTo>
                    <a:pt x="1" y="2982"/>
                  </a:lnTo>
                  <a:cubicBezTo>
                    <a:pt x="1" y="3017"/>
                    <a:pt x="18" y="3034"/>
                    <a:pt x="53" y="3034"/>
                  </a:cubicBezTo>
                  <a:cubicBezTo>
                    <a:pt x="70" y="3034"/>
                    <a:pt x="105" y="3017"/>
                    <a:pt x="105" y="2982"/>
                  </a:cubicBezTo>
                  <a:lnTo>
                    <a:pt x="10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4"/>
            <p:cNvSpPr/>
            <p:nvPr/>
          </p:nvSpPr>
          <p:spPr>
            <a:xfrm>
              <a:off x="7036300" y="2917825"/>
              <a:ext cx="2625" cy="64950"/>
            </a:xfrm>
            <a:custGeom>
              <a:rect b="b" l="l" r="r" t="t"/>
              <a:pathLst>
                <a:path extrusionOk="0" h="2598" w="105">
                  <a:moveTo>
                    <a:pt x="0" y="1"/>
                  </a:moveTo>
                  <a:lnTo>
                    <a:pt x="0" y="2546"/>
                  </a:lnTo>
                  <a:cubicBezTo>
                    <a:pt x="0" y="2581"/>
                    <a:pt x="17" y="2598"/>
                    <a:pt x="52" y="2598"/>
                  </a:cubicBezTo>
                  <a:cubicBezTo>
                    <a:pt x="87" y="2598"/>
                    <a:pt x="105" y="2581"/>
                    <a:pt x="105" y="2546"/>
                  </a:cubicBezTo>
                  <a:lnTo>
                    <a:pt x="105" y="18"/>
                  </a:lnTo>
                  <a:lnTo>
                    <a:pt x="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4"/>
            <p:cNvSpPr/>
            <p:nvPr/>
          </p:nvSpPr>
          <p:spPr>
            <a:xfrm>
              <a:off x="7134350" y="2936125"/>
              <a:ext cx="3075" cy="46650"/>
            </a:xfrm>
            <a:custGeom>
              <a:rect b="b" l="l" r="r" t="t"/>
              <a:pathLst>
                <a:path extrusionOk="0" h="1866" w="123">
                  <a:moveTo>
                    <a:pt x="0" y="1"/>
                  </a:moveTo>
                  <a:lnTo>
                    <a:pt x="0" y="1814"/>
                  </a:lnTo>
                  <a:cubicBezTo>
                    <a:pt x="9" y="1849"/>
                    <a:pt x="35" y="1866"/>
                    <a:pt x="61" y="1866"/>
                  </a:cubicBezTo>
                  <a:cubicBezTo>
                    <a:pt x="87" y="1866"/>
                    <a:pt x="113" y="1849"/>
                    <a:pt x="122" y="1814"/>
                  </a:cubicBezTo>
                  <a:lnTo>
                    <a:pt x="122" y="18"/>
                  </a:lnTo>
                  <a:lnTo>
                    <a:pt x="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4"/>
            <p:cNvSpPr/>
            <p:nvPr/>
          </p:nvSpPr>
          <p:spPr>
            <a:xfrm>
              <a:off x="7134350" y="2936125"/>
              <a:ext cx="3075" cy="46650"/>
            </a:xfrm>
            <a:custGeom>
              <a:rect b="b" l="l" r="r" t="t"/>
              <a:pathLst>
                <a:path extrusionOk="0" h="1866" w="123">
                  <a:moveTo>
                    <a:pt x="0" y="1"/>
                  </a:moveTo>
                  <a:lnTo>
                    <a:pt x="0" y="1814"/>
                  </a:lnTo>
                  <a:cubicBezTo>
                    <a:pt x="9" y="1849"/>
                    <a:pt x="35" y="1866"/>
                    <a:pt x="61" y="1866"/>
                  </a:cubicBezTo>
                  <a:cubicBezTo>
                    <a:pt x="87" y="1866"/>
                    <a:pt x="113" y="1849"/>
                    <a:pt x="122" y="1814"/>
                  </a:cubicBezTo>
                  <a:lnTo>
                    <a:pt x="122" y="18"/>
                  </a:lnTo>
                  <a:lnTo>
                    <a:pt x="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4"/>
            <p:cNvSpPr/>
            <p:nvPr/>
          </p:nvSpPr>
          <p:spPr>
            <a:xfrm>
              <a:off x="7232825" y="2954425"/>
              <a:ext cx="2650" cy="28350"/>
            </a:xfrm>
            <a:custGeom>
              <a:rect b="b" l="l" r="r" t="t"/>
              <a:pathLst>
                <a:path extrusionOk="0" h="1134" w="106">
                  <a:moveTo>
                    <a:pt x="1" y="1"/>
                  </a:moveTo>
                  <a:lnTo>
                    <a:pt x="1" y="1082"/>
                  </a:lnTo>
                  <a:cubicBezTo>
                    <a:pt x="1" y="1117"/>
                    <a:pt x="18" y="1134"/>
                    <a:pt x="53" y="1134"/>
                  </a:cubicBezTo>
                  <a:cubicBezTo>
                    <a:pt x="88" y="1134"/>
                    <a:pt x="105" y="1117"/>
                    <a:pt x="105" y="1082"/>
                  </a:cubicBezTo>
                  <a:lnTo>
                    <a:pt x="105" y="18"/>
                  </a:lnTo>
                  <a:lnTo>
                    <a:pt x="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4"/>
            <p:cNvSpPr/>
            <p:nvPr/>
          </p:nvSpPr>
          <p:spPr>
            <a:xfrm>
              <a:off x="6925175" y="2897775"/>
              <a:ext cx="2625" cy="85000"/>
            </a:xfrm>
            <a:custGeom>
              <a:rect b="b" l="l" r="r" t="t"/>
              <a:pathLst>
                <a:path extrusionOk="0" h="3400" w="105">
                  <a:moveTo>
                    <a:pt x="0" y="1"/>
                  </a:moveTo>
                  <a:lnTo>
                    <a:pt x="0" y="3348"/>
                  </a:lnTo>
                  <a:cubicBezTo>
                    <a:pt x="0" y="3383"/>
                    <a:pt x="18" y="3400"/>
                    <a:pt x="52" y="3400"/>
                  </a:cubicBezTo>
                  <a:cubicBezTo>
                    <a:pt x="70" y="3400"/>
                    <a:pt x="105" y="3383"/>
                    <a:pt x="105" y="3348"/>
                  </a:cubicBezTo>
                  <a:lnTo>
                    <a:pt x="10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4"/>
            <p:cNvSpPr/>
            <p:nvPr/>
          </p:nvSpPr>
          <p:spPr>
            <a:xfrm>
              <a:off x="6925175" y="2897775"/>
              <a:ext cx="2625" cy="85000"/>
            </a:xfrm>
            <a:custGeom>
              <a:rect b="b" l="l" r="r" t="t"/>
              <a:pathLst>
                <a:path extrusionOk="0" h="3400" w="105">
                  <a:moveTo>
                    <a:pt x="0" y="1"/>
                  </a:moveTo>
                  <a:lnTo>
                    <a:pt x="0" y="3348"/>
                  </a:lnTo>
                  <a:cubicBezTo>
                    <a:pt x="0" y="3383"/>
                    <a:pt x="18" y="3400"/>
                    <a:pt x="52" y="3400"/>
                  </a:cubicBezTo>
                  <a:cubicBezTo>
                    <a:pt x="70" y="3400"/>
                    <a:pt x="105" y="3383"/>
                    <a:pt x="105" y="3348"/>
                  </a:cubicBezTo>
                  <a:lnTo>
                    <a:pt x="10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4"/>
            <p:cNvSpPr/>
            <p:nvPr/>
          </p:nvSpPr>
          <p:spPr>
            <a:xfrm>
              <a:off x="6224425" y="2983200"/>
              <a:ext cx="122475" cy="346900"/>
            </a:xfrm>
            <a:custGeom>
              <a:rect b="b" l="l" r="r" t="t"/>
              <a:pathLst>
                <a:path extrusionOk="0" fill="none" h="13876" w="4899">
                  <a:moveTo>
                    <a:pt x="4899" y="0"/>
                  </a:moveTo>
                  <a:lnTo>
                    <a:pt x="4899" y="5822"/>
                  </a:lnTo>
                  <a:lnTo>
                    <a:pt x="1" y="13876"/>
                  </a:lnTo>
                </a:path>
              </a:pathLst>
            </a:custGeom>
            <a:noFill/>
            <a:ln cap="rnd" cmpd="sng" w="262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14"/>
            <p:cNvSpPr/>
            <p:nvPr/>
          </p:nvSpPr>
          <p:spPr>
            <a:xfrm>
              <a:off x="6346875" y="3128750"/>
              <a:ext cx="96350" cy="195250"/>
            </a:xfrm>
            <a:custGeom>
              <a:rect b="b" l="l" r="r" t="t"/>
              <a:pathLst>
                <a:path extrusionOk="0" fill="none" h="7810" w="3854">
                  <a:moveTo>
                    <a:pt x="1" y="0"/>
                  </a:moveTo>
                  <a:lnTo>
                    <a:pt x="3853" y="7810"/>
                  </a:lnTo>
                </a:path>
              </a:pathLst>
            </a:custGeom>
            <a:noFill/>
            <a:ln cap="rnd" cmpd="sng" w="262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4"/>
            <p:cNvSpPr/>
            <p:nvPr/>
          </p:nvSpPr>
          <p:spPr>
            <a:xfrm>
              <a:off x="6177800" y="3308300"/>
              <a:ext cx="331225" cy="178250"/>
            </a:xfrm>
            <a:custGeom>
              <a:rect b="b" l="l" r="r" t="t"/>
              <a:pathLst>
                <a:path extrusionOk="0" h="7130" w="13249">
                  <a:moveTo>
                    <a:pt x="1" y="0"/>
                  </a:moveTo>
                  <a:lnTo>
                    <a:pt x="1" y="7129"/>
                  </a:lnTo>
                  <a:lnTo>
                    <a:pt x="13248" y="7129"/>
                  </a:lnTo>
                  <a:lnTo>
                    <a:pt x="13248"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4"/>
            <p:cNvSpPr/>
            <p:nvPr/>
          </p:nvSpPr>
          <p:spPr>
            <a:xfrm>
              <a:off x="6438400" y="3308300"/>
              <a:ext cx="70625" cy="178250"/>
            </a:xfrm>
            <a:custGeom>
              <a:rect b="b" l="l" r="r" t="t"/>
              <a:pathLst>
                <a:path extrusionOk="0" h="7130" w="2825">
                  <a:moveTo>
                    <a:pt x="0" y="0"/>
                  </a:moveTo>
                  <a:lnTo>
                    <a:pt x="0" y="7129"/>
                  </a:lnTo>
                  <a:lnTo>
                    <a:pt x="2824" y="7129"/>
                  </a:lnTo>
                  <a:lnTo>
                    <a:pt x="2824"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9" name="Google Shape;259;p14"/>
          <p:cNvGrpSpPr/>
          <p:nvPr/>
        </p:nvGrpSpPr>
        <p:grpSpPr>
          <a:xfrm>
            <a:off x="-381000" y="3714140"/>
            <a:ext cx="9870375" cy="1455000"/>
            <a:chOff x="-381000" y="2758675"/>
            <a:chExt cx="9870375" cy="1455000"/>
          </a:xfrm>
        </p:grpSpPr>
        <p:sp>
          <p:nvSpPr>
            <p:cNvPr id="260" name="Google Shape;260;p14"/>
            <p:cNvSpPr/>
            <p:nvPr/>
          </p:nvSpPr>
          <p:spPr>
            <a:xfrm>
              <a:off x="1524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4"/>
            <p:cNvSpPr/>
            <p:nvPr/>
          </p:nvSpPr>
          <p:spPr>
            <a:xfrm>
              <a:off x="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4"/>
            <p:cNvSpPr/>
            <p:nvPr/>
          </p:nvSpPr>
          <p:spPr>
            <a:xfrm>
              <a:off x="762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4"/>
            <p:cNvSpPr/>
            <p:nvPr/>
          </p:nvSpPr>
          <p:spPr>
            <a:xfrm>
              <a:off x="3810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4"/>
            <p:cNvSpPr/>
            <p:nvPr/>
          </p:nvSpPr>
          <p:spPr>
            <a:xfrm>
              <a:off x="2286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4"/>
            <p:cNvSpPr/>
            <p:nvPr/>
          </p:nvSpPr>
          <p:spPr>
            <a:xfrm>
              <a:off x="3048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4"/>
            <p:cNvSpPr/>
            <p:nvPr/>
          </p:nvSpPr>
          <p:spPr>
            <a:xfrm>
              <a:off x="6096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4"/>
            <p:cNvSpPr/>
            <p:nvPr/>
          </p:nvSpPr>
          <p:spPr>
            <a:xfrm>
              <a:off x="4572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4"/>
            <p:cNvSpPr/>
            <p:nvPr/>
          </p:nvSpPr>
          <p:spPr>
            <a:xfrm>
              <a:off x="5334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14"/>
            <p:cNvSpPr/>
            <p:nvPr/>
          </p:nvSpPr>
          <p:spPr>
            <a:xfrm>
              <a:off x="7620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4"/>
            <p:cNvSpPr/>
            <p:nvPr/>
          </p:nvSpPr>
          <p:spPr>
            <a:xfrm>
              <a:off x="6858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14"/>
            <p:cNvSpPr/>
            <p:nvPr/>
          </p:nvSpPr>
          <p:spPr>
            <a:xfrm>
              <a:off x="8382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4"/>
            <p:cNvSpPr/>
            <p:nvPr/>
          </p:nvSpPr>
          <p:spPr>
            <a:xfrm>
              <a:off x="1869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14"/>
            <p:cNvSpPr/>
            <p:nvPr/>
          </p:nvSpPr>
          <p:spPr>
            <a:xfrm>
              <a:off x="3764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4"/>
            <p:cNvSpPr/>
            <p:nvPr/>
          </p:nvSpPr>
          <p:spPr>
            <a:xfrm>
              <a:off x="1107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4"/>
            <p:cNvSpPr/>
            <p:nvPr/>
          </p:nvSpPr>
          <p:spPr>
            <a:xfrm>
              <a:off x="4155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14"/>
            <p:cNvSpPr/>
            <p:nvPr/>
          </p:nvSpPr>
          <p:spPr>
            <a:xfrm>
              <a:off x="2631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14"/>
            <p:cNvSpPr/>
            <p:nvPr/>
          </p:nvSpPr>
          <p:spPr>
            <a:xfrm>
              <a:off x="3393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4"/>
            <p:cNvSpPr/>
            <p:nvPr/>
          </p:nvSpPr>
          <p:spPr>
            <a:xfrm>
              <a:off x="6441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4"/>
            <p:cNvSpPr/>
            <p:nvPr/>
          </p:nvSpPr>
          <p:spPr>
            <a:xfrm>
              <a:off x="4917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4"/>
            <p:cNvSpPr/>
            <p:nvPr/>
          </p:nvSpPr>
          <p:spPr>
            <a:xfrm>
              <a:off x="5679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4"/>
            <p:cNvSpPr/>
            <p:nvPr/>
          </p:nvSpPr>
          <p:spPr>
            <a:xfrm>
              <a:off x="7965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4"/>
            <p:cNvSpPr/>
            <p:nvPr/>
          </p:nvSpPr>
          <p:spPr>
            <a:xfrm>
              <a:off x="7203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4"/>
            <p:cNvSpPr/>
            <p:nvPr/>
          </p:nvSpPr>
          <p:spPr>
            <a:xfrm>
              <a:off x="8727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4"/>
            <p:cNvSpPr/>
            <p:nvPr/>
          </p:nvSpPr>
          <p:spPr>
            <a:xfrm>
              <a:off x="-381000"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4"/>
            <p:cNvSpPr/>
            <p:nvPr/>
          </p:nvSpPr>
          <p:spPr>
            <a:xfrm>
              <a:off x="1524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4"/>
            <p:cNvSpPr/>
            <p:nvPr/>
          </p:nvSpPr>
          <p:spPr>
            <a:xfrm>
              <a:off x="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4"/>
            <p:cNvSpPr/>
            <p:nvPr/>
          </p:nvSpPr>
          <p:spPr>
            <a:xfrm>
              <a:off x="762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14"/>
            <p:cNvSpPr/>
            <p:nvPr/>
          </p:nvSpPr>
          <p:spPr>
            <a:xfrm>
              <a:off x="3810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4"/>
            <p:cNvSpPr/>
            <p:nvPr/>
          </p:nvSpPr>
          <p:spPr>
            <a:xfrm>
              <a:off x="2286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4"/>
            <p:cNvSpPr/>
            <p:nvPr/>
          </p:nvSpPr>
          <p:spPr>
            <a:xfrm>
              <a:off x="3048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4"/>
            <p:cNvSpPr/>
            <p:nvPr/>
          </p:nvSpPr>
          <p:spPr>
            <a:xfrm>
              <a:off x="6096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4"/>
            <p:cNvSpPr/>
            <p:nvPr/>
          </p:nvSpPr>
          <p:spPr>
            <a:xfrm>
              <a:off x="4572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4"/>
            <p:cNvSpPr/>
            <p:nvPr/>
          </p:nvSpPr>
          <p:spPr>
            <a:xfrm>
              <a:off x="5334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4"/>
            <p:cNvSpPr/>
            <p:nvPr/>
          </p:nvSpPr>
          <p:spPr>
            <a:xfrm>
              <a:off x="7620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4"/>
            <p:cNvSpPr/>
            <p:nvPr/>
          </p:nvSpPr>
          <p:spPr>
            <a:xfrm>
              <a:off x="6858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4"/>
            <p:cNvSpPr/>
            <p:nvPr/>
          </p:nvSpPr>
          <p:spPr>
            <a:xfrm>
              <a:off x="8382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4"/>
            <p:cNvSpPr/>
            <p:nvPr/>
          </p:nvSpPr>
          <p:spPr>
            <a:xfrm>
              <a:off x="1869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4"/>
            <p:cNvSpPr/>
            <p:nvPr/>
          </p:nvSpPr>
          <p:spPr>
            <a:xfrm>
              <a:off x="3764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4"/>
            <p:cNvSpPr/>
            <p:nvPr/>
          </p:nvSpPr>
          <p:spPr>
            <a:xfrm>
              <a:off x="1107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4"/>
            <p:cNvSpPr/>
            <p:nvPr/>
          </p:nvSpPr>
          <p:spPr>
            <a:xfrm>
              <a:off x="2631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4"/>
            <p:cNvSpPr/>
            <p:nvPr/>
          </p:nvSpPr>
          <p:spPr>
            <a:xfrm>
              <a:off x="6441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4"/>
            <p:cNvSpPr/>
            <p:nvPr/>
          </p:nvSpPr>
          <p:spPr>
            <a:xfrm>
              <a:off x="7965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4"/>
            <p:cNvSpPr/>
            <p:nvPr/>
          </p:nvSpPr>
          <p:spPr>
            <a:xfrm>
              <a:off x="7203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4"/>
            <p:cNvSpPr/>
            <p:nvPr/>
          </p:nvSpPr>
          <p:spPr>
            <a:xfrm>
              <a:off x="8727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4"/>
            <p:cNvSpPr/>
            <p:nvPr/>
          </p:nvSpPr>
          <p:spPr>
            <a:xfrm>
              <a:off x="-381000"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4"/>
            <p:cNvSpPr/>
            <p:nvPr/>
          </p:nvSpPr>
          <p:spPr>
            <a:xfrm>
              <a:off x="7620000" y="2758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4"/>
            <p:cNvSpPr/>
            <p:nvPr/>
          </p:nvSpPr>
          <p:spPr>
            <a:xfrm>
              <a:off x="6858000" y="2758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4"/>
            <p:cNvSpPr/>
            <p:nvPr/>
          </p:nvSpPr>
          <p:spPr>
            <a:xfrm>
              <a:off x="8382000" y="2758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14"/>
            <p:cNvSpPr/>
            <p:nvPr/>
          </p:nvSpPr>
          <p:spPr>
            <a:xfrm>
              <a:off x="0" y="2758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0" name="Google Shape;310;p14"/>
          <p:cNvSpPr/>
          <p:nvPr/>
        </p:nvSpPr>
        <p:spPr>
          <a:xfrm>
            <a:off x="0" y="3714150"/>
            <a:ext cx="2898900" cy="1174500"/>
          </a:xfrm>
          <a:prstGeom prst="rtTriangle">
            <a:avLst/>
          </a:pr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4"/>
          <p:cNvSpPr/>
          <p:nvPr/>
        </p:nvSpPr>
        <p:spPr>
          <a:xfrm>
            <a:off x="0" y="4879925"/>
            <a:ext cx="9144000" cy="2979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4"/>
          <p:cNvSpPr/>
          <p:nvPr/>
        </p:nvSpPr>
        <p:spPr>
          <a:xfrm>
            <a:off x="0" y="4521719"/>
            <a:ext cx="1727303" cy="361353"/>
          </a:xfrm>
          <a:custGeom>
            <a:rect b="b" l="l" r="r" t="t"/>
            <a:pathLst>
              <a:path extrusionOk="0" h="9113" w="43561">
                <a:moveTo>
                  <a:pt x="21427" y="0"/>
                </a:moveTo>
                <a:cubicBezTo>
                  <a:pt x="20938" y="0"/>
                  <a:pt x="20447" y="28"/>
                  <a:pt x="19959" y="83"/>
                </a:cubicBezTo>
                <a:cubicBezTo>
                  <a:pt x="16072" y="554"/>
                  <a:pt x="12638" y="2803"/>
                  <a:pt x="10616" y="6149"/>
                </a:cubicBezTo>
                <a:cubicBezTo>
                  <a:pt x="10058" y="5452"/>
                  <a:pt x="9378" y="5365"/>
                  <a:pt x="8576" y="4947"/>
                </a:cubicBezTo>
                <a:cubicBezTo>
                  <a:pt x="7417" y="4361"/>
                  <a:pt x="6105" y="4015"/>
                  <a:pt x="4806" y="4015"/>
                </a:cubicBezTo>
                <a:cubicBezTo>
                  <a:pt x="4249" y="4015"/>
                  <a:pt x="3694" y="4079"/>
                  <a:pt x="3155" y="4215"/>
                </a:cubicBezTo>
                <a:cubicBezTo>
                  <a:pt x="1917" y="4511"/>
                  <a:pt x="819" y="5191"/>
                  <a:pt x="0" y="6149"/>
                </a:cubicBezTo>
                <a:lnTo>
                  <a:pt x="0" y="9113"/>
                </a:lnTo>
                <a:lnTo>
                  <a:pt x="43404" y="8991"/>
                </a:lnTo>
                <a:cubicBezTo>
                  <a:pt x="43561" y="8991"/>
                  <a:pt x="42968" y="8468"/>
                  <a:pt x="43125" y="8468"/>
                </a:cubicBezTo>
                <a:cubicBezTo>
                  <a:pt x="41626" y="6463"/>
                  <a:pt x="39848" y="4598"/>
                  <a:pt x="37582" y="3552"/>
                </a:cubicBezTo>
                <a:cubicBezTo>
                  <a:pt x="36461" y="3026"/>
                  <a:pt x="35204" y="2731"/>
                  <a:pt x="33966" y="2731"/>
                </a:cubicBezTo>
                <a:cubicBezTo>
                  <a:pt x="32701" y="2731"/>
                  <a:pt x="31457" y="3039"/>
                  <a:pt x="30400" y="3727"/>
                </a:cubicBezTo>
                <a:cubicBezTo>
                  <a:pt x="28103" y="1293"/>
                  <a:pt x="24784" y="0"/>
                  <a:pt x="21427"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2742610" y="4791913"/>
            <a:ext cx="2036911" cy="361376"/>
          </a:xfrm>
          <a:custGeom>
            <a:rect b="b" l="l" r="r" t="t"/>
            <a:pathLst>
              <a:path extrusionOk="0" h="4636" w="26131">
                <a:moveTo>
                  <a:pt x="13371" y="1"/>
                </a:moveTo>
                <a:cubicBezTo>
                  <a:pt x="10517" y="1"/>
                  <a:pt x="7646" y="1516"/>
                  <a:pt x="6049" y="3886"/>
                </a:cubicBezTo>
                <a:cubicBezTo>
                  <a:pt x="5404" y="3324"/>
                  <a:pt x="4545" y="3066"/>
                  <a:pt x="3680" y="3066"/>
                </a:cubicBezTo>
                <a:cubicBezTo>
                  <a:pt x="3285" y="3066"/>
                  <a:pt x="2888" y="3120"/>
                  <a:pt x="2511" y="3224"/>
                </a:cubicBezTo>
                <a:cubicBezTo>
                  <a:pt x="1587" y="3503"/>
                  <a:pt x="733" y="3991"/>
                  <a:pt x="1" y="4636"/>
                </a:cubicBezTo>
                <a:lnTo>
                  <a:pt x="26130" y="4636"/>
                </a:lnTo>
                <a:cubicBezTo>
                  <a:pt x="25363" y="3642"/>
                  <a:pt x="24265" y="2962"/>
                  <a:pt x="23027" y="2753"/>
                </a:cubicBezTo>
                <a:cubicBezTo>
                  <a:pt x="22764" y="2715"/>
                  <a:pt x="22499" y="2696"/>
                  <a:pt x="22235" y="2696"/>
                </a:cubicBezTo>
                <a:cubicBezTo>
                  <a:pt x="21068" y="2696"/>
                  <a:pt x="19918" y="3068"/>
                  <a:pt x="18966" y="3764"/>
                </a:cubicBezTo>
                <a:cubicBezTo>
                  <a:pt x="18722" y="2649"/>
                  <a:pt x="18042" y="1655"/>
                  <a:pt x="17083" y="1045"/>
                </a:cubicBezTo>
                <a:cubicBezTo>
                  <a:pt x="16107" y="418"/>
                  <a:pt x="15009" y="69"/>
                  <a:pt x="13876" y="17"/>
                </a:cubicBezTo>
                <a:cubicBezTo>
                  <a:pt x="13708" y="6"/>
                  <a:pt x="13540" y="1"/>
                  <a:pt x="1337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4"/>
          <p:cNvSpPr/>
          <p:nvPr/>
        </p:nvSpPr>
        <p:spPr>
          <a:xfrm>
            <a:off x="0" y="5025282"/>
            <a:ext cx="653285" cy="235097"/>
          </a:xfrm>
          <a:custGeom>
            <a:rect b="b" l="l" r="r" t="t"/>
            <a:pathLst>
              <a:path extrusionOk="0" h="3187" w="8856">
                <a:moveTo>
                  <a:pt x="4158" y="1"/>
                </a:moveTo>
                <a:cubicBezTo>
                  <a:pt x="2578" y="1"/>
                  <a:pt x="1059" y="686"/>
                  <a:pt x="0" y="1896"/>
                </a:cubicBezTo>
                <a:lnTo>
                  <a:pt x="0" y="3186"/>
                </a:lnTo>
                <a:lnTo>
                  <a:pt x="8855" y="3186"/>
                </a:lnTo>
                <a:cubicBezTo>
                  <a:pt x="8140" y="1530"/>
                  <a:pt x="6659" y="362"/>
                  <a:pt x="4881" y="49"/>
                </a:cubicBezTo>
                <a:cubicBezTo>
                  <a:pt x="4639" y="16"/>
                  <a:pt x="4398" y="1"/>
                  <a:pt x="415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4"/>
          <p:cNvSpPr/>
          <p:nvPr/>
        </p:nvSpPr>
        <p:spPr>
          <a:xfrm>
            <a:off x="370767" y="326051"/>
            <a:ext cx="1247187" cy="176528"/>
          </a:xfrm>
          <a:custGeom>
            <a:rect b="b" l="l" r="r" t="t"/>
            <a:pathLst>
              <a:path extrusionOk="0" h="4118" w="29094">
                <a:moveTo>
                  <a:pt x="13836" y="0"/>
                </a:moveTo>
                <a:cubicBezTo>
                  <a:pt x="11279" y="0"/>
                  <a:pt x="8807" y="1206"/>
                  <a:pt x="7078" y="3089"/>
                </a:cubicBezTo>
                <a:cubicBezTo>
                  <a:pt x="6200" y="2686"/>
                  <a:pt x="5264" y="2489"/>
                  <a:pt x="4335" y="2489"/>
                </a:cubicBezTo>
                <a:cubicBezTo>
                  <a:pt x="2771" y="2489"/>
                  <a:pt x="1225" y="3046"/>
                  <a:pt x="1" y="4117"/>
                </a:cubicBezTo>
                <a:lnTo>
                  <a:pt x="29093" y="4117"/>
                </a:lnTo>
                <a:cubicBezTo>
                  <a:pt x="28361" y="3385"/>
                  <a:pt x="27350" y="2949"/>
                  <a:pt x="26322" y="2723"/>
                </a:cubicBezTo>
                <a:cubicBezTo>
                  <a:pt x="25657" y="2586"/>
                  <a:pt x="24998" y="2511"/>
                  <a:pt x="24350" y="2511"/>
                </a:cubicBezTo>
                <a:cubicBezTo>
                  <a:pt x="23179" y="2511"/>
                  <a:pt x="22041" y="2754"/>
                  <a:pt x="20953" y="3315"/>
                </a:cubicBezTo>
                <a:cubicBezTo>
                  <a:pt x="19227" y="1276"/>
                  <a:pt x="16717" y="73"/>
                  <a:pt x="14050" y="3"/>
                </a:cubicBezTo>
                <a:cubicBezTo>
                  <a:pt x="13979" y="1"/>
                  <a:pt x="13907" y="0"/>
                  <a:pt x="1383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6716384" y="1142647"/>
            <a:ext cx="1422800" cy="201218"/>
          </a:xfrm>
          <a:custGeom>
            <a:rect b="b" l="l" r="r" t="t"/>
            <a:pathLst>
              <a:path extrusionOk="0" h="4117" w="29111">
                <a:moveTo>
                  <a:pt x="13885" y="1"/>
                </a:moveTo>
                <a:cubicBezTo>
                  <a:pt x="11311" y="1"/>
                  <a:pt x="8818" y="1194"/>
                  <a:pt x="7077" y="3105"/>
                </a:cubicBezTo>
                <a:cubicBezTo>
                  <a:pt x="6194" y="2693"/>
                  <a:pt x="5252" y="2492"/>
                  <a:pt x="4317" y="2492"/>
                </a:cubicBezTo>
                <a:cubicBezTo>
                  <a:pt x="2759" y="2492"/>
                  <a:pt x="1220" y="3049"/>
                  <a:pt x="0" y="4116"/>
                </a:cubicBezTo>
                <a:lnTo>
                  <a:pt x="29110" y="4116"/>
                </a:lnTo>
                <a:cubicBezTo>
                  <a:pt x="28361" y="3384"/>
                  <a:pt x="27350" y="2948"/>
                  <a:pt x="26321" y="2739"/>
                </a:cubicBezTo>
                <a:cubicBezTo>
                  <a:pt x="25644" y="2600"/>
                  <a:pt x="24973" y="2523"/>
                  <a:pt x="24312" y="2523"/>
                </a:cubicBezTo>
                <a:cubicBezTo>
                  <a:pt x="23155" y="2523"/>
                  <a:pt x="22029" y="2760"/>
                  <a:pt x="20953" y="3314"/>
                </a:cubicBezTo>
                <a:cubicBezTo>
                  <a:pt x="19227" y="1292"/>
                  <a:pt x="16717" y="90"/>
                  <a:pt x="14050" y="3"/>
                </a:cubicBezTo>
                <a:cubicBezTo>
                  <a:pt x="13995" y="1"/>
                  <a:pt x="13940" y="1"/>
                  <a:pt x="1388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17" name="Google Shape;317;p14"/>
          <p:cNvGrpSpPr/>
          <p:nvPr/>
        </p:nvGrpSpPr>
        <p:grpSpPr>
          <a:xfrm>
            <a:off x="6258499" y="4642"/>
            <a:ext cx="1874021" cy="991923"/>
            <a:chOff x="3927875" y="2818025"/>
            <a:chExt cx="1071175" cy="566975"/>
          </a:xfrm>
        </p:grpSpPr>
        <p:sp>
          <p:nvSpPr>
            <p:cNvPr id="318" name="Google Shape;318;p14"/>
            <p:cNvSpPr/>
            <p:nvPr/>
          </p:nvSpPr>
          <p:spPr>
            <a:xfrm>
              <a:off x="3927875" y="3269075"/>
              <a:ext cx="1071175" cy="115925"/>
            </a:xfrm>
            <a:custGeom>
              <a:rect b="b" l="l" r="r" t="t"/>
              <a:pathLst>
                <a:path extrusionOk="0" h="4637" w="42847">
                  <a:moveTo>
                    <a:pt x="0" y="192"/>
                  </a:moveTo>
                  <a:cubicBezTo>
                    <a:pt x="0" y="192"/>
                    <a:pt x="0" y="192"/>
                    <a:pt x="0" y="192"/>
                  </a:cubicBezTo>
                  <a:lnTo>
                    <a:pt x="0" y="192"/>
                  </a:lnTo>
                  <a:lnTo>
                    <a:pt x="0" y="192"/>
                  </a:lnTo>
                  <a:close/>
                  <a:moveTo>
                    <a:pt x="42846" y="0"/>
                  </a:moveTo>
                  <a:lnTo>
                    <a:pt x="40005" y="35"/>
                  </a:lnTo>
                  <a:cubicBezTo>
                    <a:pt x="32108" y="87"/>
                    <a:pt x="10093" y="227"/>
                    <a:pt x="2563" y="227"/>
                  </a:cubicBezTo>
                  <a:cubicBezTo>
                    <a:pt x="973" y="227"/>
                    <a:pt x="18" y="210"/>
                    <a:pt x="0" y="192"/>
                  </a:cubicBezTo>
                  <a:lnTo>
                    <a:pt x="0" y="192"/>
                  </a:lnTo>
                  <a:lnTo>
                    <a:pt x="2022" y="4236"/>
                  </a:lnTo>
                  <a:lnTo>
                    <a:pt x="2231" y="4637"/>
                  </a:lnTo>
                  <a:lnTo>
                    <a:pt x="40719" y="4637"/>
                  </a:lnTo>
                  <a:lnTo>
                    <a:pt x="42375" y="1029"/>
                  </a:lnTo>
                  <a:lnTo>
                    <a:pt x="4284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947050" y="3252075"/>
              <a:ext cx="1032825" cy="25"/>
            </a:xfrm>
            <a:custGeom>
              <a:rect b="b" l="l" r="r" t="t"/>
              <a:pathLst>
                <a:path extrusionOk="0" fill="none" h="1" w="41313">
                  <a:moveTo>
                    <a:pt x="0" y="0"/>
                  </a:moveTo>
                  <a:lnTo>
                    <a:pt x="41312" y="0"/>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4"/>
            <p:cNvSpPr/>
            <p:nvPr/>
          </p:nvSpPr>
          <p:spPr>
            <a:xfrm>
              <a:off x="3991925" y="3253375"/>
              <a:ext cx="25" cy="35775"/>
            </a:xfrm>
            <a:custGeom>
              <a:rect b="b" l="l" r="r" t="t"/>
              <a:pathLst>
                <a:path extrusionOk="0" fill="none" h="1431" w="1">
                  <a:moveTo>
                    <a:pt x="1" y="1"/>
                  </a:moveTo>
                  <a:lnTo>
                    <a:pt x="1" y="1430"/>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4927550" y="3253375"/>
              <a:ext cx="25" cy="35775"/>
            </a:xfrm>
            <a:custGeom>
              <a:rect b="b" l="l" r="r" t="t"/>
              <a:pathLst>
                <a:path extrusionOk="0" fill="none" h="1431" w="1">
                  <a:moveTo>
                    <a:pt x="0" y="1"/>
                  </a:moveTo>
                  <a:lnTo>
                    <a:pt x="0" y="1430"/>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4"/>
            <p:cNvSpPr/>
            <p:nvPr/>
          </p:nvSpPr>
          <p:spPr>
            <a:xfrm>
              <a:off x="3978425" y="3294775"/>
              <a:ext cx="1008850" cy="90225"/>
            </a:xfrm>
            <a:custGeom>
              <a:rect b="b" l="l" r="r" t="t"/>
              <a:pathLst>
                <a:path extrusionOk="0" h="3609" w="40354">
                  <a:moveTo>
                    <a:pt x="40353" y="1"/>
                  </a:moveTo>
                  <a:lnTo>
                    <a:pt x="0" y="3208"/>
                  </a:lnTo>
                  <a:lnTo>
                    <a:pt x="209" y="3609"/>
                  </a:lnTo>
                  <a:lnTo>
                    <a:pt x="38680" y="3609"/>
                  </a:lnTo>
                  <a:lnTo>
                    <a:pt x="40353"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4044225" y="2940925"/>
              <a:ext cx="152975" cy="335575"/>
            </a:xfrm>
            <a:custGeom>
              <a:rect b="b" l="l" r="r" t="t"/>
              <a:pathLst>
                <a:path extrusionOk="0" fill="none" h="13423" w="6119">
                  <a:moveTo>
                    <a:pt x="0" y="13423"/>
                  </a:moveTo>
                  <a:lnTo>
                    <a:pt x="4131" y="1"/>
                  </a:lnTo>
                  <a:lnTo>
                    <a:pt x="6119" y="13423"/>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4"/>
            <p:cNvSpPr/>
            <p:nvPr/>
          </p:nvSpPr>
          <p:spPr>
            <a:xfrm>
              <a:off x="4133550" y="2913900"/>
              <a:ext cx="28350" cy="28350"/>
            </a:xfrm>
            <a:custGeom>
              <a:rect b="b" l="l" r="r" t="t"/>
              <a:pathLst>
                <a:path extrusionOk="0" fill="none" h="1134" w="1134">
                  <a:moveTo>
                    <a:pt x="1134" y="559"/>
                  </a:moveTo>
                  <a:cubicBezTo>
                    <a:pt x="1134" y="872"/>
                    <a:pt x="872" y="1134"/>
                    <a:pt x="558" y="1134"/>
                  </a:cubicBezTo>
                  <a:cubicBezTo>
                    <a:pt x="245" y="1134"/>
                    <a:pt x="1" y="872"/>
                    <a:pt x="1" y="559"/>
                  </a:cubicBezTo>
                  <a:cubicBezTo>
                    <a:pt x="1" y="245"/>
                    <a:pt x="245" y="1"/>
                    <a:pt x="558" y="1"/>
                  </a:cubicBezTo>
                  <a:cubicBezTo>
                    <a:pt x="872" y="1"/>
                    <a:pt x="1134" y="245"/>
                    <a:pt x="1134" y="559"/>
                  </a:cubicBezTo>
                  <a:close/>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146625" y="2818025"/>
              <a:ext cx="900" cy="95900"/>
            </a:xfrm>
            <a:custGeom>
              <a:rect b="b" l="l" r="r" t="t"/>
              <a:pathLst>
                <a:path extrusionOk="0" fill="none" h="3836" w="36">
                  <a:moveTo>
                    <a:pt x="35" y="3836"/>
                  </a:moveTo>
                  <a:lnTo>
                    <a:pt x="1" y="1"/>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4"/>
            <p:cNvSpPr/>
            <p:nvPr/>
          </p:nvSpPr>
          <p:spPr>
            <a:xfrm>
              <a:off x="4736675" y="2938300"/>
              <a:ext cx="153425" cy="335575"/>
            </a:xfrm>
            <a:custGeom>
              <a:rect b="b" l="l" r="r" t="t"/>
              <a:pathLst>
                <a:path extrusionOk="0" fill="none" h="13423" w="6137">
                  <a:moveTo>
                    <a:pt x="6136" y="13423"/>
                  </a:moveTo>
                  <a:lnTo>
                    <a:pt x="2005" y="1"/>
                  </a:lnTo>
                  <a:lnTo>
                    <a:pt x="0" y="13423"/>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4771975" y="2911300"/>
              <a:ext cx="28775" cy="28775"/>
            </a:xfrm>
            <a:custGeom>
              <a:rect b="b" l="l" r="r" t="t"/>
              <a:pathLst>
                <a:path extrusionOk="0" fill="none" h="1151" w="1151">
                  <a:moveTo>
                    <a:pt x="1151" y="575"/>
                  </a:moveTo>
                  <a:cubicBezTo>
                    <a:pt x="1151" y="889"/>
                    <a:pt x="889" y="1151"/>
                    <a:pt x="576" y="1151"/>
                  </a:cubicBezTo>
                  <a:cubicBezTo>
                    <a:pt x="262" y="1151"/>
                    <a:pt x="0" y="889"/>
                    <a:pt x="0" y="575"/>
                  </a:cubicBezTo>
                  <a:cubicBezTo>
                    <a:pt x="0" y="262"/>
                    <a:pt x="262" y="0"/>
                    <a:pt x="576" y="0"/>
                  </a:cubicBezTo>
                  <a:cubicBezTo>
                    <a:pt x="889" y="0"/>
                    <a:pt x="1151" y="262"/>
                    <a:pt x="1151" y="575"/>
                  </a:cubicBezTo>
                  <a:close/>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4"/>
            <p:cNvSpPr/>
            <p:nvPr/>
          </p:nvSpPr>
          <p:spPr>
            <a:xfrm>
              <a:off x="4786350" y="2818900"/>
              <a:ext cx="900" cy="92425"/>
            </a:xfrm>
            <a:custGeom>
              <a:rect b="b" l="l" r="r" t="t"/>
              <a:pathLst>
                <a:path extrusionOk="0" fill="none" h="3697" w="36">
                  <a:moveTo>
                    <a:pt x="1" y="3696"/>
                  </a:moveTo>
                  <a:lnTo>
                    <a:pt x="36" y="1"/>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29" name="Google Shape;329;p14"/>
          <p:cNvSpPr/>
          <p:nvPr/>
        </p:nvSpPr>
        <p:spPr>
          <a:xfrm>
            <a:off x="8244388" y="4530058"/>
            <a:ext cx="928204" cy="430572"/>
          </a:xfrm>
          <a:custGeom>
            <a:rect b="b" l="l" r="r" t="t"/>
            <a:pathLst>
              <a:path extrusionOk="0" h="5143" w="11087">
                <a:moveTo>
                  <a:pt x="11087" y="0"/>
                </a:moveTo>
                <a:cubicBezTo>
                  <a:pt x="10790" y="35"/>
                  <a:pt x="10511" y="105"/>
                  <a:pt x="10232" y="192"/>
                </a:cubicBezTo>
                <a:cubicBezTo>
                  <a:pt x="8611" y="715"/>
                  <a:pt x="7164" y="1813"/>
                  <a:pt x="6084" y="3121"/>
                </a:cubicBezTo>
                <a:cubicBezTo>
                  <a:pt x="5658" y="2742"/>
                  <a:pt x="5079" y="2596"/>
                  <a:pt x="4490" y="2596"/>
                </a:cubicBezTo>
                <a:cubicBezTo>
                  <a:pt x="4211" y="2596"/>
                  <a:pt x="3930" y="2629"/>
                  <a:pt x="3661" y="2685"/>
                </a:cubicBezTo>
                <a:cubicBezTo>
                  <a:pt x="2179" y="3016"/>
                  <a:pt x="872" y="3887"/>
                  <a:pt x="0" y="5143"/>
                </a:cubicBezTo>
                <a:lnTo>
                  <a:pt x="11087" y="5143"/>
                </a:lnTo>
                <a:lnTo>
                  <a:pt x="110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ubtitle and body" type="tx">
  <p:cSld name="TITLE_AND_BODY">
    <p:spTree>
      <p:nvGrpSpPr>
        <p:cNvPr id="3317" name="Shape 3317"/>
        <p:cNvGrpSpPr/>
        <p:nvPr/>
      </p:nvGrpSpPr>
      <p:grpSpPr>
        <a:xfrm>
          <a:off x="0" y="0"/>
          <a:ext cx="0" cy="0"/>
          <a:chOff x="0" y="0"/>
          <a:chExt cx="0" cy="0"/>
        </a:xfrm>
      </p:grpSpPr>
      <p:sp>
        <p:nvSpPr>
          <p:cNvPr id="3318" name="Google Shape;3318;p49"/>
          <p:cNvSpPr txBox="1"/>
          <p:nvPr>
            <p:ph type="title"/>
          </p:nvPr>
        </p:nvSpPr>
        <p:spPr>
          <a:xfrm>
            <a:off x="369000" y="365700"/>
            <a:ext cx="8406000" cy="5727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319" name="Google Shape;3319;p49"/>
          <p:cNvSpPr txBox="1"/>
          <p:nvPr>
            <p:ph idx="1" type="body"/>
          </p:nvPr>
        </p:nvSpPr>
        <p:spPr>
          <a:xfrm>
            <a:off x="369000" y="1361400"/>
            <a:ext cx="8406000" cy="3416400"/>
          </a:xfrm>
          <a:prstGeom prst="rect">
            <a:avLst/>
          </a:prstGeom>
          <a:noFill/>
          <a:ln>
            <a:noFill/>
          </a:ln>
        </p:spPr>
        <p:txBody>
          <a:bodyPr anchorCtr="0" anchor="t" bIns="0" lIns="0" spcFirstLastPara="1" rIns="0" wrap="square" tIns="0">
            <a:normAutofit/>
          </a:bodyPr>
          <a:lstStyle>
            <a:lvl1pPr indent="-330200" lvl="0" marL="457200" algn="l">
              <a:lnSpc>
                <a:spcPct val="115000"/>
              </a:lnSpc>
              <a:spcBef>
                <a:spcPts val="0"/>
              </a:spcBef>
              <a:spcAft>
                <a:spcPts val="0"/>
              </a:spcAft>
              <a:buSzPts val="1600"/>
              <a:buChar char="●"/>
              <a:defRPr sz="16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320" name="Google Shape;3320;p4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3321" name="Google Shape;3321;p49"/>
          <p:cNvSpPr txBox="1"/>
          <p:nvPr>
            <p:ph idx="2" type="subTitle"/>
          </p:nvPr>
        </p:nvSpPr>
        <p:spPr>
          <a:xfrm>
            <a:off x="374450" y="857600"/>
            <a:ext cx="8406000" cy="42660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000000"/>
              </a:buClr>
              <a:buSzPts val="1600"/>
              <a:buFont typeface="Inter"/>
              <a:buNone/>
              <a:defRPr sz="1600">
                <a:solidFill>
                  <a:srgbClr val="000000"/>
                </a:solidFill>
                <a:latin typeface="Inter"/>
                <a:ea typeface="Inter"/>
                <a:cs typeface="Inter"/>
                <a:sym typeface="Inter"/>
              </a:defRPr>
            </a:lvl1pPr>
            <a:lvl2pPr lvl="1" algn="l">
              <a:lnSpc>
                <a:spcPct val="115000"/>
              </a:lnSpc>
              <a:spcBef>
                <a:spcPts val="0"/>
              </a:spcBef>
              <a:spcAft>
                <a:spcPts val="0"/>
              </a:spcAft>
              <a:buSzPts val="1200"/>
              <a:buNone/>
              <a:defRPr/>
            </a:lvl2pPr>
            <a:lvl3pPr lvl="2" algn="l">
              <a:lnSpc>
                <a:spcPct val="115000"/>
              </a:lnSpc>
              <a:spcBef>
                <a:spcPts val="0"/>
              </a:spcBef>
              <a:spcAft>
                <a:spcPts val="0"/>
              </a:spcAft>
              <a:buSzPts val="1200"/>
              <a:buNone/>
              <a:defRPr/>
            </a:lvl3pPr>
            <a:lvl4pPr lvl="3" algn="l">
              <a:lnSpc>
                <a:spcPct val="115000"/>
              </a:lnSpc>
              <a:spcBef>
                <a:spcPts val="0"/>
              </a:spcBef>
              <a:spcAft>
                <a:spcPts val="0"/>
              </a:spcAft>
              <a:buSzPts val="1200"/>
              <a:buNone/>
              <a:defRPr/>
            </a:lvl4pPr>
            <a:lvl5pPr lvl="4" algn="l">
              <a:lnSpc>
                <a:spcPct val="115000"/>
              </a:lnSpc>
              <a:spcBef>
                <a:spcPts val="0"/>
              </a:spcBef>
              <a:spcAft>
                <a:spcPts val="0"/>
              </a:spcAft>
              <a:buSzPts val="1200"/>
              <a:buNone/>
              <a:defRPr/>
            </a:lvl5pPr>
            <a:lvl6pPr lvl="5" algn="l">
              <a:lnSpc>
                <a:spcPct val="115000"/>
              </a:lnSpc>
              <a:spcBef>
                <a:spcPts val="0"/>
              </a:spcBef>
              <a:spcAft>
                <a:spcPts val="0"/>
              </a:spcAft>
              <a:buSzPts val="1200"/>
              <a:buNone/>
              <a:defRPr/>
            </a:lvl6pPr>
            <a:lvl7pPr lvl="6" algn="l">
              <a:lnSpc>
                <a:spcPct val="115000"/>
              </a:lnSpc>
              <a:spcBef>
                <a:spcPts val="0"/>
              </a:spcBef>
              <a:spcAft>
                <a:spcPts val="0"/>
              </a:spcAft>
              <a:buSzPts val="1200"/>
              <a:buNone/>
              <a:defRPr/>
            </a:lvl7pPr>
            <a:lvl8pPr lvl="7" algn="l">
              <a:lnSpc>
                <a:spcPct val="115000"/>
              </a:lnSpc>
              <a:spcBef>
                <a:spcPts val="0"/>
              </a:spcBef>
              <a:spcAft>
                <a:spcPts val="0"/>
              </a:spcAft>
              <a:buSzPts val="1200"/>
              <a:buNone/>
              <a:defRPr/>
            </a:lvl8pPr>
            <a:lvl9pPr lvl="8" algn="l">
              <a:lnSpc>
                <a:spcPct val="115000"/>
              </a:lnSpc>
              <a:spcBef>
                <a:spcPts val="0"/>
              </a:spcBef>
              <a:spcAft>
                <a:spcPts val="0"/>
              </a:spcAft>
              <a:buSzPts val="1200"/>
              <a:buNone/>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parator">
  <p:cSld name="TITLE_2">
    <p:bg>
      <p:bgPr>
        <a:solidFill>
          <a:schemeClr val="accent1"/>
        </a:solidFill>
      </p:bgPr>
    </p:bg>
    <p:spTree>
      <p:nvGrpSpPr>
        <p:cNvPr id="3322" name="Shape 3322"/>
        <p:cNvGrpSpPr/>
        <p:nvPr/>
      </p:nvGrpSpPr>
      <p:grpSpPr>
        <a:xfrm>
          <a:off x="0" y="0"/>
          <a:ext cx="0" cy="0"/>
          <a:chOff x="0" y="0"/>
          <a:chExt cx="0" cy="0"/>
        </a:xfrm>
      </p:grpSpPr>
      <p:sp>
        <p:nvSpPr>
          <p:cNvPr id="3323" name="Google Shape;3323;p50"/>
          <p:cNvSpPr txBox="1"/>
          <p:nvPr>
            <p:ph type="ctrTitle"/>
          </p:nvPr>
        </p:nvSpPr>
        <p:spPr>
          <a:xfrm>
            <a:off x="369000" y="365700"/>
            <a:ext cx="8463300" cy="3925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2"/>
              </a:buClr>
              <a:buSzPts val="3200"/>
              <a:buNone/>
              <a:defRPr sz="3200">
                <a:solidFill>
                  <a:schemeClr val="lt2"/>
                </a:solidFill>
              </a:defRPr>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3324"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25" name="Shape 3325"/>
        <p:cNvGrpSpPr/>
        <p:nvPr/>
      </p:nvGrpSpPr>
      <p:grpSpPr>
        <a:xfrm>
          <a:off x="0" y="0"/>
          <a:ext cx="0" cy="0"/>
          <a:chOff x="0" y="0"/>
          <a:chExt cx="0" cy="0"/>
        </a:xfrm>
      </p:grpSpPr>
      <p:sp>
        <p:nvSpPr>
          <p:cNvPr id="3326" name="Google Shape;3326;p51"/>
          <p:cNvSpPr txBox="1"/>
          <p:nvPr>
            <p:ph type="title"/>
          </p:nvPr>
        </p:nvSpPr>
        <p:spPr>
          <a:xfrm>
            <a:off x="369000" y="365700"/>
            <a:ext cx="8406000" cy="5727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327"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66" name="Shape 3366"/>
        <p:cNvGrpSpPr/>
        <p:nvPr/>
      </p:nvGrpSpPr>
      <p:grpSpPr>
        <a:xfrm>
          <a:off x="0" y="0"/>
          <a:ext cx="0" cy="0"/>
          <a:chOff x="0" y="0"/>
          <a:chExt cx="0" cy="0"/>
        </a:xfrm>
      </p:grpSpPr>
      <p:sp>
        <p:nvSpPr>
          <p:cNvPr id="3367" name="Google Shape;3367;p6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33" Type="http://schemas.openxmlformats.org/officeDocument/2006/relationships/theme" Target="../theme/theme7.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15" Type="http://schemas.openxmlformats.org/officeDocument/2006/relationships/slideLayout" Target="../slideLayouts/slideLayout58.xml"/><Relationship Id="rId17" Type="http://schemas.openxmlformats.org/officeDocument/2006/relationships/theme" Target="../theme/theme4.xml"/></Relationships>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2"/>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713250" y="539500"/>
            <a:ext cx="7717500" cy="5727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1pPr>
            <a:lvl2pPr lvl="1"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2pPr>
            <a:lvl3pPr lvl="2"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3pPr>
            <a:lvl4pPr lvl="3"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4pPr>
            <a:lvl5pPr lvl="4"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5pPr>
            <a:lvl6pPr lvl="5"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6pPr>
            <a:lvl7pPr lvl="6"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7pPr>
            <a:lvl8pPr lvl="7"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8pPr>
            <a:lvl9pPr lvl="8"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9pPr>
          </a:lstStyle>
          <a:p/>
        </p:txBody>
      </p:sp>
      <p:sp>
        <p:nvSpPr>
          <p:cNvPr id="52" name="Google Shape;52;p13"/>
          <p:cNvSpPr txBox="1"/>
          <p:nvPr>
            <p:ph idx="1" type="body"/>
          </p:nvPr>
        </p:nvSpPr>
        <p:spPr>
          <a:xfrm>
            <a:off x="713250" y="1187600"/>
            <a:ext cx="7717500" cy="3416400"/>
          </a:xfrm>
          <a:prstGeom prst="rect">
            <a:avLst/>
          </a:prstGeom>
          <a:noFill/>
          <a:ln>
            <a:noFill/>
          </a:ln>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1pPr>
            <a:lvl2pPr indent="-317500" lvl="1" marL="9144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2pPr>
            <a:lvl3pPr indent="-317500" lvl="2" marL="13716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3pPr>
            <a:lvl4pPr indent="-317500" lvl="3" marL="18288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4pPr>
            <a:lvl5pPr indent="-317500" lvl="4" marL="22860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5pPr>
            <a:lvl6pPr indent="-317500" lvl="5" marL="27432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6pPr>
            <a:lvl7pPr indent="-317500" lvl="6" marL="32004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7pPr>
            <a:lvl8pPr indent="-317500" lvl="7" marL="36576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8pPr>
            <a:lvl9pPr indent="-317500" lvl="8" marL="41148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9pPr>
          </a:lstStyle>
          <a:p/>
        </p:txBody>
      </p:sp>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3306" name="Shape 3306"/>
        <p:cNvGrpSpPr/>
        <p:nvPr/>
      </p:nvGrpSpPr>
      <p:grpSpPr>
        <a:xfrm>
          <a:off x="0" y="0"/>
          <a:ext cx="0" cy="0"/>
          <a:chOff x="0" y="0"/>
          <a:chExt cx="0" cy="0"/>
        </a:xfrm>
      </p:grpSpPr>
      <p:sp>
        <p:nvSpPr>
          <p:cNvPr id="3307" name="Google Shape;3307;p46"/>
          <p:cNvSpPr txBox="1"/>
          <p:nvPr>
            <p:ph type="title"/>
          </p:nvPr>
        </p:nvSpPr>
        <p:spPr>
          <a:xfrm>
            <a:off x="369000" y="365700"/>
            <a:ext cx="8463300" cy="572700"/>
          </a:xfrm>
          <a:prstGeom prst="rect">
            <a:avLst/>
          </a:prstGeom>
          <a:noFill/>
          <a:ln>
            <a:noFill/>
          </a:ln>
        </p:spPr>
        <p:txBody>
          <a:bodyPr anchorCtr="0" anchor="t" bIns="0" lIns="0" spcFirstLastPara="1" rIns="0" wrap="square" tIns="0">
            <a:noAutofit/>
          </a:bodyPr>
          <a:lstStyle>
            <a:lvl1pPr lvl="0" marR="0" algn="l">
              <a:lnSpc>
                <a:spcPct val="100000"/>
              </a:lnSpc>
              <a:spcBef>
                <a:spcPts val="0"/>
              </a:spcBef>
              <a:spcAft>
                <a:spcPts val="0"/>
              </a:spcAft>
              <a:buClr>
                <a:schemeClr val="dk1"/>
              </a:buClr>
              <a:buSzPts val="2800"/>
              <a:buFont typeface="Bitter"/>
              <a:buNone/>
              <a:defRPr b="1" i="0" sz="2800" u="none" cap="none" strike="noStrike">
                <a:solidFill>
                  <a:schemeClr val="dk1"/>
                </a:solidFill>
                <a:latin typeface="Bitter"/>
                <a:ea typeface="Bitter"/>
                <a:cs typeface="Bitter"/>
                <a:sym typeface="Bitter"/>
              </a:defRPr>
            </a:lvl1pPr>
            <a:lvl2pPr lvl="1"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3308" name="Google Shape;3308;p46"/>
          <p:cNvSpPr txBox="1"/>
          <p:nvPr>
            <p:ph idx="1" type="body"/>
          </p:nvPr>
        </p:nvSpPr>
        <p:spPr>
          <a:xfrm>
            <a:off x="369000" y="1361400"/>
            <a:ext cx="8406000" cy="3416400"/>
          </a:xfrm>
          <a:prstGeom prst="rect">
            <a:avLst/>
          </a:prstGeom>
          <a:noFill/>
          <a:ln>
            <a:noFill/>
          </a:ln>
        </p:spPr>
        <p:txBody>
          <a:bodyPr anchorCtr="0" anchor="t" bIns="0" lIns="0" spcFirstLastPara="1" rIns="0" wrap="square" tIns="0">
            <a:normAutofit/>
          </a:bodyPr>
          <a:lstStyle>
            <a:lvl1pPr indent="-330200" lvl="0" marL="457200" marR="0" algn="l">
              <a:lnSpc>
                <a:spcPct val="115000"/>
              </a:lnSpc>
              <a:spcBef>
                <a:spcPts val="0"/>
              </a:spcBef>
              <a:spcAft>
                <a:spcPts val="0"/>
              </a:spcAft>
              <a:buClr>
                <a:schemeClr val="dk1"/>
              </a:buClr>
              <a:buSzPts val="1600"/>
              <a:buFont typeface="Inter"/>
              <a:buChar char="●"/>
              <a:defRPr b="0" i="0" sz="1600" u="none" cap="none" strike="noStrike">
                <a:solidFill>
                  <a:schemeClr val="dk1"/>
                </a:solidFill>
                <a:latin typeface="Inter"/>
                <a:ea typeface="Inter"/>
                <a:cs typeface="Inter"/>
                <a:sym typeface="Inter"/>
              </a:defRPr>
            </a:lvl1pPr>
            <a:lvl2pPr indent="-304800" lvl="1" marL="9144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2pPr>
            <a:lvl3pPr indent="-304800" lvl="2" marL="13716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3pPr>
            <a:lvl4pPr indent="-304800" lvl="3" marL="18288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4pPr>
            <a:lvl5pPr indent="-304800" lvl="4" marL="22860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5pPr>
            <a:lvl6pPr indent="-304800" lvl="5" marL="27432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6pPr>
            <a:lvl7pPr indent="-304800" lvl="6" marL="32004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7pPr>
            <a:lvl8pPr indent="-304800" lvl="7" marL="36576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8pPr>
            <a:lvl9pPr indent="-304800" lvl="8" marL="41148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9pPr>
          </a:lstStyle>
          <a:p/>
        </p:txBody>
      </p:sp>
      <p:sp>
        <p:nvSpPr>
          <p:cNvPr id="3309" name="Google Shape;3309;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 accent1="accent1" accent2="accent2" accent3="accent3" accent4="accent4" accent5="accent5" accent6="accent6" bg1="lt1" bg2="dk2" tx1="dk1" tx2="lt2" folHlink="folHlink" hlink="hlink"/>
  <p:sldLayoutIdLst>
    <p:sldLayoutId id="2147483693" r:id="rId3"/>
    <p:sldLayoutId id="2147483694" r:id="rId4"/>
    <p:sldLayoutId id="2147483695" r:id="rId5"/>
    <p:sldLayoutId id="2147483705"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32">
          <p15:clr>
            <a:srgbClr val="EA4335"/>
          </p15:clr>
        </p15:guide>
        <p15:guide id="2" orient="horz" pos="230">
          <p15:clr>
            <a:srgbClr val="EA4335"/>
          </p15:clr>
        </p15:guide>
        <p15:guide id="3" orient="horz" pos="3010">
          <p15:clr>
            <a:srgbClr val="EA4335"/>
          </p15:clr>
        </p15:guide>
        <p15:guide id="4" pos="5528">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6" name="Shape 3556"/>
        <p:cNvGrpSpPr/>
        <p:nvPr/>
      </p:nvGrpSpPr>
      <p:grpSpPr>
        <a:xfrm>
          <a:off x="0" y="0"/>
          <a:ext cx="0" cy="0"/>
          <a:chOff x="0" y="0"/>
          <a:chExt cx="0" cy="0"/>
        </a:xfrm>
      </p:grpSpPr>
      <p:sp>
        <p:nvSpPr>
          <p:cNvPr id="3557" name="Google Shape;3557;p106"/>
          <p:cNvSpPr txBox="1"/>
          <p:nvPr>
            <p:ph type="ctrTitle"/>
          </p:nvPr>
        </p:nvSpPr>
        <p:spPr>
          <a:xfrm>
            <a:off x="1181300" y="707825"/>
            <a:ext cx="3713700" cy="2528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s-CL" sz="3000"/>
              <a:t>Full Stack Testing moderno con IA y DevSecOps</a:t>
            </a:r>
            <a:endParaRPr/>
          </a:p>
        </p:txBody>
      </p:sp>
      <p:sp>
        <p:nvSpPr>
          <p:cNvPr id="3558" name="Google Shape;3558;p106"/>
          <p:cNvSpPr txBox="1"/>
          <p:nvPr>
            <p:ph idx="1" type="subTitle"/>
          </p:nvPr>
        </p:nvSpPr>
        <p:spPr>
          <a:xfrm>
            <a:off x="1243000" y="3200400"/>
            <a:ext cx="3651900" cy="64008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CL" sz="1100"/>
              <a:t>Clase práctica · IIC3143 Desarrollo de Software</a:t>
            </a:r>
            <a:endParaRPr/>
          </a:p>
          <a:p>
            <a:pPr indent="0" lvl="0" marL="0" rtl="0" algn="l">
              <a:spcBef>
                <a:spcPts val="0"/>
              </a:spcBef>
              <a:spcAft>
                <a:spcPts val="0"/>
              </a:spcAft>
              <a:buNone/>
            </a:pPr>
            <a:r>
              <a:rPr lang="es-CL" sz="1100"/>
              <a:t>Gonzalo Martínez · gonzalo.martinez@uc.cl</a:t>
            </a:r>
            <a:endParaRPr/>
          </a:p>
        </p:txBody>
      </p:sp>
      <p:grpSp>
        <p:nvGrpSpPr>
          <p:cNvPr id="3559" name="Google Shape;3559;p106"/>
          <p:cNvGrpSpPr/>
          <p:nvPr/>
        </p:nvGrpSpPr>
        <p:grpSpPr>
          <a:xfrm>
            <a:off x="4895009" y="2385100"/>
            <a:ext cx="4080950" cy="3063373"/>
            <a:chOff x="408500" y="2277325"/>
            <a:chExt cx="2731925" cy="2050725"/>
          </a:xfrm>
        </p:grpSpPr>
        <p:sp>
          <p:nvSpPr>
            <p:cNvPr id="3560" name="Google Shape;3560;p106"/>
            <p:cNvSpPr/>
            <p:nvPr/>
          </p:nvSpPr>
          <p:spPr>
            <a:xfrm>
              <a:off x="1266125" y="2953575"/>
              <a:ext cx="1106475" cy="1013475"/>
            </a:xfrm>
            <a:custGeom>
              <a:rect b="b" l="l" r="r" t="t"/>
              <a:pathLst>
                <a:path extrusionOk="0" h="40539" w="44259">
                  <a:moveTo>
                    <a:pt x="31655" y="0"/>
                  </a:moveTo>
                  <a:lnTo>
                    <a:pt x="0" y="610"/>
                  </a:lnTo>
                  <a:cubicBezTo>
                    <a:pt x="0" y="610"/>
                    <a:pt x="5526" y="4480"/>
                    <a:pt x="7461" y="12585"/>
                  </a:cubicBezTo>
                  <a:cubicBezTo>
                    <a:pt x="9413" y="20708"/>
                    <a:pt x="12620" y="40423"/>
                    <a:pt x="12620" y="40423"/>
                  </a:cubicBezTo>
                  <a:cubicBezTo>
                    <a:pt x="12620" y="40423"/>
                    <a:pt x="14792" y="40538"/>
                    <a:pt x="18097" y="40538"/>
                  </a:cubicBezTo>
                  <a:cubicBezTo>
                    <a:pt x="24921" y="40538"/>
                    <a:pt x="36576" y="40048"/>
                    <a:pt x="43927" y="37041"/>
                  </a:cubicBezTo>
                  <a:cubicBezTo>
                    <a:pt x="43927" y="37041"/>
                    <a:pt x="44258" y="22312"/>
                    <a:pt x="40789" y="14712"/>
                  </a:cubicBezTo>
                  <a:cubicBezTo>
                    <a:pt x="37320" y="7095"/>
                    <a:pt x="31655" y="0"/>
                    <a:pt x="3165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1" name="Google Shape;3561;p106"/>
            <p:cNvSpPr/>
            <p:nvPr/>
          </p:nvSpPr>
          <p:spPr>
            <a:xfrm>
              <a:off x="1408175" y="2983200"/>
              <a:ext cx="899050" cy="900775"/>
            </a:xfrm>
            <a:custGeom>
              <a:rect b="b" l="l" r="r" t="t"/>
              <a:pathLst>
                <a:path extrusionOk="0" fill="none" h="36031" w="35962">
                  <a:moveTo>
                    <a:pt x="1" y="332"/>
                  </a:moveTo>
                  <a:cubicBezTo>
                    <a:pt x="1" y="332"/>
                    <a:pt x="5335" y="8611"/>
                    <a:pt x="7287" y="16072"/>
                  </a:cubicBezTo>
                  <a:cubicBezTo>
                    <a:pt x="9222" y="23515"/>
                    <a:pt x="10756" y="36031"/>
                    <a:pt x="10756" y="36031"/>
                  </a:cubicBezTo>
                  <a:lnTo>
                    <a:pt x="35961" y="33416"/>
                  </a:lnTo>
                  <a:cubicBezTo>
                    <a:pt x="35961" y="33416"/>
                    <a:pt x="33172" y="14294"/>
                    <a:pt x="30802" y="9047"/>
                  </a:cubicBezTo>
                  <a:cubicBezTo>
                    <a:pt x="29338" y="5840"/>
                    <a:pt x="27525" y="2789"/>
                    <a:pt x="25381" y="0"/>
                  </a:cubicBez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2" name="Google Shape;3562;p106"/>
            <p:cNvSpPr/>
            <p:nvPr/>
          </p:nvSpPr>
          <p:spPr>
            <a:xfrm>
              <a:off x="1459175" y="2974475"/>
              <a:ext cx="268450" cy="915600"/>
            </a:xfrm>
            <a:custGeom>
              <a:rect b="b" l="l" r="r" t="t"/>
              <a:pathLst>
                <a:path extrusionOk="0" fill="none" h="36624" w="10738">
                  <a:moveTo>
                    <a:pt x="0" y="1"/>
                  </a:moveTo>
                  <a:cubicBezTo>
                    <a:pt x="0" y="1"/>
                    <a:pt x="5840" y="9902"/>
                    <a:pt x="7356" y="16491"/>
                  </a:cubicBezTo>
                  <a:cubicBezTo>
                    <a:pt x="8664" y="22191"/>
                    <a:pt x="10738" y="36624"/>
                    <a:pt x="10738" y="36624"/>
                  </a:cubicBez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3" name="Google Shape;3563;p106"/>
            <p:cNvSpPr/>
            <p:nvPr/>
          </p:nvSpPr>
          <p:spPr>
            <a:xfrm>
              <a:off x="1992125" y="2968375"/>
              <a:ext cx="272825" cy="873325"/>
            </a:xfrm>
            <a:custGeom>
              <a:rect b="b" l="l" r="r" t="t"/>
              <a:pathLst>
                <a:path extrusionOk="0" fill="none" h="34933" w="10913">
                  <a:moveTo>
                    <a:pt x="1" y="1"/>
                  </a:moveTo>
                  <a:cubicBezTo>
                    <a:pt x="1" y="1"/>
                    <a:pt x="6520" y="9222"/>
                    <a:pt x="7862" y="16822"/>
                  </a:cubicBezTo>
                  <a:cubicBezTo>
                    <a:pt x="9222" y="24439"/>
                    <a:pt x="10913" y="34933"/>
                    <a:pt x="10913" y="34933"/>
                  </a:cubicBez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4" name="Google Shape;3564;p106"/>
            <p:cNvSpPr/>
            <p:nvPr/>
          </p:nvSpPr>
          <p:spPr>
            <a:xfrm>
              <a:off x="1402075" y="3012825"/>
              <a:ext cx="687250" cy="29225"/>
            </a:xfrm>
            <a:custGeom>
              <a:rect b="b" l="l" r="r" t="t"/>
              <a:pathLst>
                <a:path extrusionOk="0" fill="none" h="1169" w="27490">
                  <a:moveTo>
                    <a:pt x="1" y="1169"/>
                  </a:moveTo>
                  <a:lnTo>
                    <a:pt x="27490" y="1"/>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5" name="Google Shape;3565;p106"/>
            <p:cNvSpPr/>
            <p:nvPr/>
          </p:nvSpPr>
          <p:spPr>
            <a:xfrm>
              <a:off x="1634350" y="3771525"/>
              <a:ext cx="691600" cy="72350"/>
            </a:xfrm>
            <a:custGeom>
              <a:rect b="b" l="l" r="r" t="t"/>
              <a:pathLst>
                <a:path extrusionOk="0" fill="none" h="2894" w="27664">
                  <a:moveTo>
                    <a:pt x="1" y="2894"/>
                  </a:moveTo>
                  <a:lnTo>
                    <a:pt x="27664" y="0"/>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6" name="Google Shape;3566;p106"/>
            <p:cNvSpPr/>
            <p:nvPr/>
          </p:nvSpPr>
          <p:spPr>
            <a:xfrm>
              <a:off x="1543700" y="3046375"/>
              <a:ext cx="359550" cy="310750"/>
            </a:xfrm>
            <a:custGeom>
              <a:rect b="b" l="l" r="r" t="t"/>
              <a:pathLst>
                <a:path extrusionOk="0" fill="none" h="12430" w="14382">
                  <a:moveTo>
                    <a:pt x="1" y="419"/>
                  </a:moveTo>
                  <a:cubicBezTo>
                    <a:pt x="1" y="419"/>
                    <a:pt x="3714" y="7531"/>
                    <a:pt x="4899" y="12429"/>
                  </a:cubicBezTo>
                  <a:lnTo>
                    <a:pt x="14382" y="11506"/>
                  </a:lnTo>
                  <a:lnTo>
                    <a:pt x="10233" y="1"/>
                  </a:ln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106"/>
            <p:cNvSpPr/>
            <p:nvPr/>
          </p:nvSpPr>
          <p:spPr>
            <a:xfrm>
              <a:off x="1680100" y="3095625"/>
              <a:ext cx="188725" cy="153850"/>
            </a:xfrm>
            <a:custGeom>
              <a:rect b="b" l="l" r="r" t="t"/>
              <a:pathLst>
                <a:path extrusionOk="0" fill="none" h="6154" w="7549">
                  <a:moveTo>
                    <a:pt x="5457" y="1"/>
                  </a:moveTo>
                  <a:lnTo>
                    <a:pt x="1" y="436"/>
                  </a:lnTo>
                  <a:lnTo>
                    <a:pt x="2337" y="6154"/>
                  </a:lnTo>
                  <a:lnTo>
                    <a:pt x="7549" y="5718"/>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8" name="Google Shape;3568;p106"/>
            <p:cNvSpPr/>
            <p:nvPr/>
          </p:nvSpPr>
          <p:spPr>
            <a:xfrm>
              <a:off x="1776850" y="3110875"/>
              <a:ext cx="50575" cy="53625"/>
            </a:xfrm>
            <a:custGeom>
              <a:rect b="b" l="l" r="r" t="t"/>
              <a:pathLst>
                <a:path extrusionOk="0" fill="none" h="2145" w="2023">
                  <a:moveTo>
                    <a:pt x="1" y="123"/>
                  </a:moveTo>
                  <a:lnTo>
                    <a:pt x="750" y="2145"/>
                  </a:lnTo>
                  <a:lnTo>
                    <a:pt x="2023" y="1970"/>
                  </a:lnTo>
                  <a:lnTo>
                    <a:pt x="1291" y="1"/>
                  </a:ln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9" name="Google Shape;3569;p106"/>
            <p:cNvSpPr/>
            <p:nvPr/>
          </p:nvSpPr>
          <p:spPr>
            <a:xfrm>
              <a:off x="1799075" y="3174500"/>
              <a:ext cx="50575" cy="53625"/>
            </a:xfrm>
            <a:custGeom>
              <a:rect b="b" l="l" r="r" t="t"/>
              <a:pathLst>
                <a:path extrusionOk="0" fill="none" h="2145" w="2023">
                  <a:moveTo>
                    <a:pt x="1" y="123"/>
                  </a:moveTo>
                  <a:lnTo>
                    <a:pt x="768" y="2145"/>
                  </a:lnTo>
                  <a:lnTo>
                    <a:pt x="2023" y="1970"/>
                  </a:lnTo>
                  <a:lnTo>
                    <a:pt x="1308" y="1"/>
                  </a:ln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106"/>
            <p:cNvSpPr/>
            <p:nvPr/>
          </p:nvSpPr>
          <p:spPr>
            <a:xfrm>
              <a:off x="1752875" y="3100425"/>
              <a:ext cx="53200" cy="143400"/>
            </a:xfrm>
            <a:custGeom>
              <a:rect b="b" l="l" r="r" t="t"/>
              <a:pathLst>
                <a:path extrusionOk="0" fill="none" h="5736" w="2128">
                  <a:moveTo>
                    <a:pt x="1" y="0"/>
                  </a:moveTo>
                  <a:lnTo>
                    <a:pt x="2128" y="5735"/>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106"/>
            <p:cNvSpPr/>
            <p:nvPr/>
          </p:nvSpPr>
          <p:spPr>
            <a:xfrm>
              <a:off x="1595125" y="3141825"/>
              <a:ext cx="72375" cy="106775"/>
            </a:xfrm>
            <a:custGeom>
              <a:rect b="b" l="l" r="r" t="t"/>
              <a:pathLst>
                <a:path extrusionOk="0" fill="none" h="4271" w="2895">
                  <a:moveTo>
                    <a:pt x="1" y="53"/>
                  </a:moveTo>
                  <a:lnTo>
                    <a:pt x="1744" y="4271"/>
                  </a:lnTo>
                  <a:lnTo>
                    <a:pt x="2894" y="4149"/>
                  </a:lnTo>
                  <a:lnTo>
                    <a:pt x="1204" y="0"/>
                  </a:ln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106"/>
            <p:cNvSpPr/>
            <p:nvPr/>
          </p:nvSpPr>
          <p:spPr>
            <a:xfrm>
              <a:off x="1820425" y="3038100"/>
              <a:ext cx="326000" cy="292875"/>
            </a:xfrm>
            <a:custGeom>
              <a:rect b="b" l="l" r="r" t="t"/>
              <a:pathLst>
                <a:path extrusionOk="0" fill="none" h="11715" w="13040">
                  <a:moveTo>
                    <a:pt x="1" y="297"/>
                  </a:moveTo>
                  <a:lnTo>
                    <a:pt x="4045" y="11714"/>
                  </a:lnTo>
                  <a:lnTo>
                    <a:pt x="13039" y="10529"/>
                  </a:lnTo>
                  <a:cubicBezTo>
                    <a:pt x="13039" y="10529"/>
                    <a:pt x="11052" y="5701"/>
                    <a:pt x="9954" y="3557"/>
                  </a:cubicBezTo>
                  <a:cubicBezTo>
                    <a:pt x="8856" y="1413"/>
                    <a:pt x="8054" y="1"/>
                    <a:pt x="8054" y="1"/>
                  </a:cubicBez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106"/>
            <p:cNvSpPr/>
            <p:nvPr/>
          </p:nvSpPr>
          <p:spPr>
            <a:xfrm>
              <a:off x="1938100" y="3042025"/>
              <a:ext cx="123775" cy="85875"/>
            </a:xfrm>
            <a:custGeom>
              <a:rect b="b" l="l" r="r" t="t"/>
              <a:pathLst>
                <a:path extrusionOk="0" fill="none" h="3435" w="4951">
                  <a:moveTo>
                    <a:pt x="0" y="1"/>
                  </a:moveTo>
                  <a:lnTo>
                    <a:pt x="1726" y="3435"/>
                  </a:lnTo>
                  <a:lnTo>
                    <a:pt x="4951" y="2929"/>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4" name="Google Shape;3574;p106"/>
            <p:cNvSpPr/>
            <p:nvPr/>
          </p:nvSpPr>
          <p:spPr>
            <a:xfrm>
              <a:off x="1912375" y="3044200"/>
              <a:ext cx="119875" cy="271950"/>
            </a:xfrm>
            <a:custGeom>
              <a:rect b="b" l="l" r="r" t="t"/>
              <a:pathLst>
                <a:path extrusionOk="0" fill="none" h="10878" w="4795">
                  <a:moveTo>
                    <a:pt x="1" y="1"/>
                  </a:moveTo>
                  <a:cubicBezTo>
                    <a:pt x="1" y="1"/>
                    <a:pt x="4027" y="8681"/>
                    <a:pt x="4794" y="10878"/>
                  </a:cubicBez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106"/>
            <p:cNvSpPr/>
            <p:nvPr/>
          </p:nvSpPr>
          <p:spPr>
            <a:xfrm>
              <a:off x="1879700" y="3190200"/>
              <a:ext cx="99375" cy="12650"/>
            </a:xfrm>
            <a:custGeom>
              <a:rect b="b" l="l" r="r" t="t"/>
              <a:pathLst>
                <a:path extrusionOk="0" fill="none" h="506" w="3975">
                  <a:moveTo>
                    <a:pt x="0" y="506"/>
                  </a:moveTo>
                  <a:lnTo>
                    <a:pt x="3975" y="0"/>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6" name="Google Shape;3576;p106"/>
            <p:cNvSpPr/>
            <p:nvPr/>
          </p:nvSpPr>
          <p:spPr>
            <a:xfrm>
              <a:off x="1673575" y="3363625"/>
              <a:ext cx="342550" cy="441050"/>
            </a:xfrm>
            <a:custGeom>
              <a:rect b="b" l="l" r="r" t="t"/>
              <a:pathLst>
                <a:path extrusionOk="0" fill="none" h="17642" w="13702">
                  <a:moveTo>
                    <a:pt x="0" y="698"/>
                  </a:moveTo>
                  <a:cubicBezTo>
                    <a:pt x="0" y="698"/>
                    <a:pt x="2476" y="11993"/>
                    <a:pt x="2859" y="17641"/>
                  </a:cubicBezTo>
                  <a:lnTo>
                    <a:pt x="13701" y="16438"/>
                  </a:lnTo>
                  <a:lnTo>
                    <a:pt x="11749" y="3749"/>
                  </a:lnTo>
                  <a:lnTo>
                    <a:pt x="9204" y="4062"/>
                  </a:lnTo>
                  <a:lnTo>
                    <a:pt x="8193" y="1"/>
                  </a:ln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106"/>
            <p:cNvSpPr/>
            <p:nvPr/>
          </p:nvSpPr>
          <p:spPr>
            <a:xfrm>
              <a:off x="1927625" y="3323975"/>
              <a:ext cx="298100" cy="439300"/>
            </a:xfrm>
            <a:custGeom>
              <a:rect b="b" l="l" r="r" t="t"/>
              <a:pathLst>
                <a:path extrusionOk="0" fill="none" h="17572" w="11924">
                  <a:moveTo>
                    <a:pt x="1" y="1273"/>
                  </a:moveTo>
                  <a:lnTo>
                    <a:pt x="820" y="4376"/>
                  </a:lnTo>
                  <a:lnTo>
                    <a:pt x="2964" y="4184"/>
                  </a:lnTo>
                  <a:lnTo>
                    <a:pt x="5073" y="17571"/>
                  </a:lnTo>
                  <a:lnTo>
                    <a:pt x="11924" y="16874"/>
                  </a:lnTo>
                  <a:cubicBezTo>
                    <a:pt x="11924" y="16874"/>
                    <a:pt x="10338" y="3940"/>
                    <a:pt x="8751" y="1"/>
                  </a:cubicBez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8" name="Google Shape;3578;p106"/>
            <p:cNvSpPr/>
            <p:nvPr/>
          </p:nvSpPr>
          <p:spPr>
            <a:xfrm>
              <a:off x="1678375" y="3395450"/>
              <a:ext cx="168225" cy="115500"/>
            </a:xfrm>
            <a:custGeom>
              <a:rect b="b" l="l" r="r" t="t"/>
              <a:pathLst>
                <a:path extrusionOk="0" fill="none" h="4620" w="6729">
                  <a:moveTo>
                    <a:pt x="959" y="4620"/>
                  </a:moveTo>
                  <a:lnTo>
                    <a:pt x="6729" y="4062"/>
                  </a:lnTo>
                  <a:lnTo>
                    <a:pt x="5840" y="0"/>
                  </a:lnTo>
                  <a:lnTo>
                    <a:pt x="0" y="506"/>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9" name="Google Shape;3579;p106"/>
            <p:cNvSpPr/>
            <p:nvPr/>
          </p:nvSpPr>
          <p:spPr>
            <a:xfrm>
              <a:off x="1367650" y="3159375"/>
              <a:ext cx="211825" cy="348100"/>
            </a:xfrm>
            <a:custGeom>
              <a:rect b="b" l="l" r="r" t="t"/>
              <a:pathLst>
                <a:path extrusionOk="0" h="13924" w="8473">
                  <a:moveTo>
                    <a:pt x="5785" y="0"/>
                  </a:moveTo>
                  <a:cubicBezTo>
                    <a:pt x="5752" y="0"/>
                    <a:pt x="5718" y="4"/>
                    <a:pt x="5683" y="13"/>
                  </a:cubicBezTo>
                  <a:cubicBezTo>
                    <a:pt x="4570" y="309"/>
                    <a:pt x="4689" y="4911"/>
                    <a:pt x="3806" y="4911"/>
                  </a:cubicBezTo>
                  <a:cubicBezTo>
                    <a:pt x="3804" y="4911"/>
                    <a:pt x="3802" y="4911"/>
                    <a:pt x="3801" y="4911"/>
                  </a:cubicBezTo>
                  <a:cubicBezTo>
                    <a:pt x="2912" y="4876"/>
                    <a:pt x="2929" y="2697"/>
                    <a:pt x="2929" y="2697"/>
                  </a:cubicBezTo>
                  <a:lnTo>
                    <a:pt x="2162" y="553"/>
                  </a:lnTo>
                  <a:cubicBezTo>
                    <a:pt x="1622" y="1286"/>
                    <a:pt x="1151" y="2087"/>
                    <a:pt x="750" y="2907"/>
                  </a:cubicBezTo>
                  <a:cubicBezTo>
                    <a:pt x="1" y="4423"/>
                    <a:pt x="314" y="5120"/>
                    <a:pt x="158" y="6079"/>
                  </a:cubicBezTo>
                  <a:cubicBezTo>
                    <a:pt x="53" y="6619"/>
                    <a:pt x="140" y="7177"/>
                    <a:pt x="402" y="7665"/>
                  </a:cubicBezTo>
                  <a:cubicBezTo>
                    <a:pt x="471" y="8049"/>
                    <a:pt x="489" y="8450"/>
                    <a:pt x="437" y="8833"/>
                  </a:cubicBezTo>
                  <a:cubicBezTo>
                    <a:pt x="367" y="9600"/>
                    <a:pt x="1709" y="10646"/>
                    <a:pt x="2877" y="11779"/>
                  </a:cubicBezTo>
                  <a:cubicBezTo>
                    <a:pt x="3574" y="12459"/>
                    <a:pt x="4237" y="13174"/>
                    <a:pt x="4847" y="13923"/>
                  </a:cubicBezTo>
                  <a:lnTo>
                    <a:pt x="8472" y="10106"/>
                  </a:lnTo>
                  <a:cubicBezTo>
                    <a:pt x="8472" y="10106"/>
                    <a:pt x="7705" y="6619"/>
                    <a:pt x="7479" y="5312"/>
                  </a:cubicBezTo>
                  <a:cubicBezTo>
                    <a:pt x="7276" y="4063"/>
                    <a:pt x="6812" y="0"/>
                    <a:pt x="5785" y="0"/>
                  </a:cubicBezTo>
                  <a:close/>
                </a:path>
              </a:pathLst>
            </a:custGeom>
            <a:solidFill>
              <a:schemeClr val="lt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0" name="Google Shape;3580;p106"/>
            <p:cNvSpPr/>
            <p:nvPr/>
          </p:nvSpPr>
          <p:spPr>
            <a:xfrm>
              <a:off x="1488800" y="3412450"/>
              <a:ext cx="676350" cy="507550"/>
            </a:xfrm>
            <a:custGeom>
              <a:rect b="b" l="l" r="r" t="t"/>
              <a:pathLst>
                <a:path extrusionOk="0" h="20302" w="27054">
                  <a:moveTo>
                    <a:pt x="3626" y="0"/>
                  </a:moveTo>
                  <a:lnTo>
                    <a:pt x="1" y="3800"/>
                  </a:lnTo>
                  <a:cubicBezTo>
                    <a:pt x="1" y="3800"/>
                    <a:pt x="8173" y="20301"/>
                    <a:pt x="18573" y="20301"/>
                  </a:cubicBezTo>
                  <a:cubicBezTo>
                    <a:pt x="19168" y="20301"/>
                    <a:pt x="19770" y="20247"/>
                    <a:pt x="20378" y="20133"/>
                  </a:cubicBezTo>
                  <a:lnTo>
                    <a:pt x="27054" y="13858"/>
                  </a:lnTo>
                  <a:lnTo>
                    <a:pt x="21894" y="1778"/>
                  </a:lnTo>
                  <a:lnTo>
                    <a:pt x="15724" y="9971"/>
                  </a:lnTo>
                  <a:lnTo>
                    <a:pt x="362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1" name="Google Shape;3581;p106"/>
            <p:cNvSpPr/>
            <p:nvPr/>
          </p:nvSpPr>
          <p:spPr>
            <a:xfrm>
              <a:off x="2922075" y="3826875"/>
              <a:ext cx="180000" cy="213550"/>
            </a:xfrm>
            <a:custGeom>
              <a:rect b="b" l="l" r="r" t="t"/>
              <a:pathLst>
                <a:path extrusionOk="0" h="8542" w="7200">
                  <a:moveTo>
                    <a:pt x="1" y="0"/>
                  </a:moveTo>
                  <a:lnTo>
                    <a:pt x="2459" y="8541"/>
                  </a:lnTo>
                  <a:cubicBezTo>
                    <a:pt x="2459" y="8541"/>
                    <a:pt x="6607" y="6258"/>
                    <a:pt x="720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2" name="Google Shape;3582;p106"/>
            <p:cNvSpPr/>
            <p:nvPr/>
          </p:nvSpPr>
          <p:spPr>
            <a:xfrm>
              <a:off x="2958250" y="3174950"/>
              <a:ext cx="182175" cy="683325"/>
            </a:xfrm>
            <a:custGeom>
              <a:rect b="b" l="l" r="r" t="t"/>
              <a:pathLst>
                <a:path extrusionOk="0" h="27333" w="7287">
                  <a:moveTo>
                    <a:pt x="1081" y="0"/>
                  </a:moveTo>
                  <a:lnTo>
                    <a:pt x="1" y="27332"/>
                  </a:lnTo>
                  <a:lnTo>
                    <a:pt x="7287" y="26321"/>
                  </a:lnTo>
                  <a:cubicBezTo>
                    <a:pt x="7287" y="26321"/>
                    <a:pt x="6938" y="19140"/>
                    <a:pt x="5753" y="11278"/>
                  </a:cubicBezTo>
                  <a:cubicBezTo>
                    <a:pt x="4568" y="3399"/>
                    <a:pt x="1081" y="0"/>
                    <a:pt x="1081"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106"/>
            <p:cNvSpPr/>
            <p:nvPr/>
          </p:nvSpPr>
          <p:spPr>
            <a:xfrm>
              <a:off x="1829150" y="3223300"/>
              <a:ext cx="513800" cy="711225"/>
            </a:xfrm>
            <a:custGeom>
              <a:rect b="b" l="l" r="r" t="t"/>
              <a:pathLst>
                <a:path extrusionOk="0" h="28449" w="20552">
                  <a:moveTo>
                    <a:pt x="15218" y="1"/>
                  </a:moveTo>
                  <a:cubicBezTo>
                    <a:pt x="15061" y="18"/>
                    <a:pt x="14922" y="53"/>
                    <a:pt x="14782" y="106"/>
                  </a:cubicBezTo>
                  <a:cubicBezTo>
                    <a:pt x="10372" y="1552"/>
                    <a:pt x="0" y="15515"/>
                    <a:pt x="0" y="15515"/>
                  </a:cubicBezTo>
                  <a:lnTo>
                    <a:pt x="6433" y="28449"/>
                  </a:lnTo>
                  <a:lnTo>
                    <a:pt x="13963" y="22539"/>
                  </a:lnTo>
                  <a:lnTo>
                    <a:pt x="14015" y="22853"/>
                  </a:lnTo>
                  <a:lnTo>
                    <a:pt x="14608" y="26984"/>
                  </a:lnTo>
                  <a:lnTo>
                    <a:pt x="14643" y="27176"/>
                  </a:lnTo>
                  <a:lnTo>
                    <a:pt x="15322" y="27438"/>
                  </a:lnTo>
                  <a:lnTo>
                    <a:pt x="15532" y="27141"/>
                  </a:lnTo>
                  <a:lnTo>
                    <a:pt x="16978" y="25241"/>
                  </a:lnTo>
                  <a:lnTo>
                    <a:pt x="18687" y="23045"/>
                  </a:lnTo>
                  <a:lnTo>
                    <a:pt x="20552" y="12377"/>
                  </a:lnTo>
                  <a:lnTo>
                    <a:pt x="15218"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4" name="Google Shape;3584;p106"/>
            <p:cNvSpPr/>
            <p:nvPr/>
          </p:nvSpPr>
          <p:spPr>
            <a:xfrm>
              <a:off x="2195200" y="3084000"/>
              <a:ext cx="856325" cy="1210050"/>
            </a:xfrm>
            <a:custGeom>
              <a:rect b="b" l="l" r="r" t="t"/>
              <a:pathLst>
                <a:path extrusionOk="0" h="48402" w="34253">
                  <a:moveTo>
                    <a:pt x="16913" y="0"/>
                  </a:moveTo>
                  <a:cubicBezTo>
                    <a:pt x="15173" y="0"/>
                    <a:pt x="13303" y="109"/>
                    <a:pt x="11313" y="361"/>
                  </a:cubicBezTo>
                  <a:cubicBezTo>
                    <a:pt x="11313" y="361"/>
                    <a:pt x="3278" y="2801"/>
                    <a:pt x="105" y="5556"/>
                  </a:cubicBezTo>
                  <a:cubicBezTo>
                    <a:pt x="105" y="5556"/>
                    <a:pt x="123" y="5590"/>
                    <a:pt x="140" y="5660"/>
                  </a:cubicBezTo>
                  <a:cubicBezTo>
                    <a:pt x="489" y="6828"/>
                    <a:pt x="3435" y="16816"/>
                    <a:pt x="3034" y="23022"/>
                  </a:cubicBezTo>
                  <a:cubicBezTo>
                    <a:pt x="2912" y="25288"/>
                    <a:pt x="2441" y="27519"/>
                    <a:pt x="1639" y="29628"/>
                  </a:cubicBezTo>
                  <a:cubicBezTo>
                    <a:pt x="1360" y="30395"/>
                    <a:pt x="1012" y="31145"/>
                    <a:pt x="593" y="31842"/>
                  </a:cubicBezTo>
                  <a:cubicBezTo>
                    <a:pt x="419" y="32173"/>
                    <a:pt x="227" y="32487"/>
                    <a:pt x="1" y="32783"/>
                  </a:cubicBezTo>
                  <a:lnTo>
                    <a:pt x="70" y="34195"/>
                  </a:lnTo>
                  <a:lnTo>
                    <a:pt x="280" y="38535"/>
                  </a:lnTo>
                  <a:lnTo>
                    <a:pt x="419" y="41411"/>
                  </a:lnTo>
                  <a:lnTo>
                    <a:pt x="646" y="45769"/>
                  </a:lnTo>
                  <a:lnTo>
                    <a:pt x="768" y="48332"/>
                  </a:lnTo>
                  <a:lnTo>
                    <a:pt x="6258" y="48332"/>
                  </a:lnTo>
                  <a:lnTo>
                    <a:pt x="32632" y="48401"/>
                  </a:lnTo>
                  <a:cubicBezTo>
                    <a:pt x="32632" y="48401"/>
                    <a:pt x="32649" y="47460"/>
                    <a:pt x="32684" y="45891"/>
                  </a:cubicBezTo>
                  <a:cubicBezTo>
                    <a:pt x="32702" y="44549"/>
                    <a:pt x="32736" y="42771"/>
                    <a:pt x="32789" y="40749"/>
                  </a:cubicBezTo>
                  <a:cubicBezTo>
                    <a:pt x="32789" y="40087"/>
                    <a:pt x="32806" y="39389"/>
                    <a:pt x="32824" y="38692"/>
                  </a:cubicBezTo>
                  <a:cubicBezTo>
                    <a:pt x="32858" y="37036"/>
                    <a:pt x="32911" y="35293"/>
                    <a:pt x="32946" y="33533"/>
                  </a:cubicBezTo>
                  <a:cubicBezTo>
                    <a:pt x="33120" y="26508"/>
                    <a:pt x="33364" y="19169"/>
                    <a:pt x="33660" y="16938"/>
                  </a:cubicBezTo>
                  <a:cubicBezTo>
                    <a:pt x="34253" y="12284"/>
                    <a:pt x="33242" y="5050"/>
                    <a:pt x="31725" y="3621"/>
                  </a:cubicBezTo>
                  <a:cubicBezTo>
                    <a:pt x="30473" y="2440"/>
                    <a:pt x="25156" y="0"/>
                    <a:pt x="16913"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5" name="Google Shape;3585;p106"/>
            <p:cNvSpPr/>
            <p:nvPr/>
          </p:nvSpPr>
          <p:spPr>
            <a:xfrm>
              <a:off x="2196500" y="3922300"/>
              <a:ext cx="822350" cy="142650"/>
            </a:xfrm>
            <a:custGeom>
              <a:rect b="b" l="l" r="r" t="t"/>
              <a:pathLst>
                <a:path extrusionOk="0" h="5706" w="32894">
                  <a:moveTo>
                    <a:pt x="32894" y="1"/>
                  </a:moveTo>
                  <a:lnTo>
                    <a:pt x="32894" y="1"/>
                  </a:lnTo>
                  <a:cubicBezTo>
                    <a:pt x="28057" y="968"/>
                    <a:pt x="21755" y="1261"/>
                    <a:pt x="15903" y="1261"/>
                  </a:cubicBezTo>
                  <a:cubicBezTo>
                    <a:pt x="8786" y="1261"/>
                    <a:pt x="2335" y="827"/>
                    <a:pt x="1" y="646"/>
                  </a:cubicBezTo>
                  <a:lnTo>
                    <a:pt x="1" y="646"/>
                  </a:lnTo>
                  <a:lnTo>
                    <a:pt x="228" y="4986"/>
                  </a:lnTo>
                  <a:cubicBezTo>
                    <a:pt x="3601" y="5528"/>
                    <a:pt x="8710" y="5705"/>
                    <a:pt x="13959" y="5705"/>
                  </a:cubicBezTo>
                  <a:cubicBezTo>
                    <a:pt x="21540" y="5705"/>
                    <a:pt x="29414" y="5335"/>
                    <a:pt x="32772" y="5160"/>
                  </a:cubicBezTo>
                  <a:cubicBezTo>
                    <a:pt x="32806" y="3504"/>
                    <a:pt x="32859" y="1761"/>
                    <a:pt x="328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6" name="Google Shape;3586;p106"/>
            <p:cNvSpPr/>
            <p:nvPr/>
          </p:nvSpPr>
          <p:spPr>
            <a:xfrm>
              <a:off x="2205225" y="4113600"/>
              <a:ext cx="809700" cy="131125"/>
            </a:xfrm>
            <a:custGeom>
              <a:rect b="b" l="l" r="r" t="t"/>
              <a:pathLst>
                <a:path extrusionOk="0" h="5245" w="32388">
                  <a:moveTo>
                    <a:pt x="32388" y="1"/>
                  </a:moveTo>
                  <a:lnTo>
                    <a:pt x="32388" y="1"/>
                  </a:lnTo>
                  <a:cubicBezTo>
                    <a:pt x="27857" y="530"/>
                    <a:pt x="22060" y="705"/>
                    <a:pt x="16558" y="705"/>
                  </a:cubicBezTo>
                  <a:cubicBezTo>
                    <a:pt x="9380" y="705"/>
                    <a:pt x="2704" y="407"/>
                    <a:pt x="1" y="210"/>
                  </a:cubicBezTo>
                  <a:lnTo>
                    <a:pt x="1" y="210"/>
                  </a:lnTo>
                  <a:lnTo>
                    <a:pt x="227" y="4568"/>
                  </a:lnTo>
                  <a:cubicBezTo>
                    <a:pt x="3612" y="5077"/>
                    <a:pt x="8573" y="5245"/>
                    <a:pt x="13660" y="5245"/>
                  </a:cubicBezTo>
                  <a:cubicBezTo>
                    <a:pt x="21121" y="5245"/>
                    <a:pt x="28853" y="4883"/>
                    <a:pt x="32283" y="4707"/>
                  </a:cubicBezTo>
                  <a:cubicBezTo>
                    <a:pt x="32301" y="3365"/>
                    <a:pt x="32335" y="2040"/>
                    <a:pt x="323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7" name="Google Shape;3587;p106"/>
            <p:cNvSpPr/>
            <p:nvPr/>
          </p:nvSpPr>
          <p:spPr>
            <a:xfrm>
              <a:off x="2178200" y="3786775"/>
              <a:ext cx="173475" cy="505525"/>
            </a:xfrm>
            <a:custGeom>
              <a:rect b="b" l="l" r="r" t="t"/>
              <a:pathLst>
                <a:path extrusionOk="0" h="20221" w="6939">
                  <a:moveTo>
                    <a:pt x="1" y="0"/>
                  </a:moveTo>
                  <a:lnTo>
                    <a:pt x="36" y="314"/>
                  </a:lnTo>
                  <a:lnTo>
                    <a:pt x="663" y="4637"/>
                  </a:lnTo>
                  <a:lnTo>
                    <a:pt x="733" y="6067"/>
                  </a:lnTo>
                  <a:lnTo>
                    <a:pt x="960" y="10407"/>
                  </a:lnTo>
                  <a:lnTo>
                    <a:pt x="1099" y="13283"/>
                  </a:lnTo>
                  <a:lnTo>
                    <a:pt x="1308" y="17641"/>
                  </a:lnTo>
                  <a:lnTo>
                    <a:pt x="1430" y="20203"/>
                  </a:lnTo>
                  <a:lnTo>
                    <a:pt x="3836" y="20221"/>
                  </a:lnTo>
                  <a:lnTo>
                    <a:pt x="6938" y="20221"/>
                  </a:lnTo>
                  <a:lnTo>
                    <a:pt x="1570" y="4602"/>
                  </a:lnTo>
                  <a:lnTo>
                    <a:pt x="1273" y="3731"/>
                  </a:lnTo>
                  <a:lnTo>
                    <a:pt x="1"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8" name="Google Shape;3588;p106"/>
            <p:cNvSpPr/>
            <p:nvPr/>
          </p:nvSpPr>
          <p:spPr>
            <a:xfrm>
              <a:off x="2178200" y="3758025"/>
              <a:ext cx="43175" cy="139900"/>
            </a:xfrm>
            <a:custGeom>
              <a:rect b="b" l="l" r="r" t="t"/>
              <a:pathLst>
                <a:path extrusionOk="0" h="5596" w="1727">
                  <a:moveTo>
                    <a:pt x="1726" y="0"/>
                  </a:moveTo>
                  <a:lnTo>
                    <a:pt x="1" y="1150"/>
                  </a:lnTo>
                  <a:lnTo>
                    <a:pt x="36" y="1464"/>
                  </a:lnTo>
                  <a:lnTo>
                    <a:pt x="646" y="5595"/>
                  </a:lnTo>
                  <a:lnTo>
                    <a:pt x="1726"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9" name="Google Shape;3589;p106"/>
            <p:cNvSpPr/>
            <p:nvPr/>
          </p:nvSpPr>
          <p:spPr>
            <a:xfrm>
              <a:off x="2155975" y="2529125"/>
              <a:ext cx="828450" cy="790150"/>
            </a:xfrm>
            <a:custGeom>
              <a:rect b="b" l="l" r="r" t="t"/>
              <a:pathLst>
                <a:path extrusionOk="0" h="31606" w="33138">
                  <a:moveTo>
                    <a:pt x="19315" y="0"/>
                  </a:moveTo>
                  <a:cubicBezTo>
                    <a:pt x="18565" y="0"/>
                    <a:pt x="17833" y="87"/>
                    <a:pt x="17118" y="262"/>
                  </a:cubicBezTo>
                  <a:cubicBezTo>
                    <a:pt x="16996" y="279"/>
                    <a:pt x="16857" y="314"/>
                    <a:pt x="16735" y="349"/>
                  </a:cubicBezTo>
                  <a:cubicBezTo>
                    <a:pt x="15846" y="593"/>
                    <a:pt x="15009" y="959"/>
                    <a:pt x="14207" y="1429"/>
                  </a:cubicBezTo>
                  <a:cubicBezTo>
                    <a:pt x="13946" y="1586"/>
                    <a:pt x="13684" y="1743"/>
                    <a:pt x="13423" y="1935"/>
                  </a:cubicBezTo>
                  <a:cubicBezTo>
                    <a:pt x="11680" y="3155"/>
                    <a:pt x="10233" y="4724"/>
                    <a:pt x="9170" y="6572"/>
                  </a:cubicBezTo>
                  <a:cubicBezTo>
                    <a:pt x="8455" y="7792"/>
                    <a:pt x="7880" y="9082"/>
                    <a:pt x="7444" y="10441"/>
                  </a:cubicBezTo>
                  <a:cubicBezTo>
                    <a:pt x="7304" y="10895"/>
                    <a:pt x="7182" y="11348"/>
                    <a:pt x="7060" y="11801"/>
                  </a:cubicBezTo>
                  <a:cubicBezTo>
                    <a:pt x="6520" y="13962"/>
                    <a:pt x="6729" y="16333"/>
                    <a:pt x="5317" y="18146"/>
                  </a:cubicBezTo>
                  <a:cubicBezTo>
                    <a:pt x="4115" y="19662"/>
                    <a:pt x="2319" y="20621"/>
                    <a:pt x="1238" y="22225"/>
                  </a:cubicBezTo>
                  <a:cubicBezTo>
                    <a:pt x="36" y="23968"/>
                    <a:pt x="1" y="26199"/>
                    <a:pt x="262" y="28204"/>
                  </a:cubicBezTo>
                  <a:cubicBezTo>
                    <a:pt x="262" y="28396"/>
                    <a:pt x="332" y="28570"/>
                    <a:pt x="419" y="28744"/>
                  </a:cubicBezTo>
                  <a:cubicBezTo>
                    <a:pt x="593" y="28936"/>
                    <a:pt x="838" y="29093"/>
                    <a:pt x="1116" y="29145"/>
                  </a:cubicBezTo>
                  <a:lnTo>
                    <a:pt x="1273" y="29180"/>
                  </a:lnTo>
                  <a:cubicBezTo>
                    <a:pt x="1866" y="29372"/>
                    <a:pt x="2476" y="29546"/>
                    <a:pt x="3069" y="29703"/>
                  </a:cubicBezTo>
                  <a:lnTo>
                    <a:pt x="3104" y="29720"/>
                  </a:lnTo>
                  <a:cubicBezTo>
                    <a:pt x="3121" y="29651"/>
                    <a:pt x="3138" y="29581"/>
                    <a:pt x="3138" y="29494"/>
                  </a:cubicBezTo>
                  <a:cubicBezTo>
                    <a:pt x="3278" y="28134"/>
                    <a:pt x="3714" y="26827"/>
                    <a:pt x="4446" y="25676"/>
                  </a:cubicBezTo>
                  <a:lnTo>
                    <a:pt x="4446" y="25676"/>
                  </a:lnTo>
                  <a:cubicBezTo>
                    <a:pt x="4411" y="26286"/>
                    <a:pt x="4481" y="26687"/>
                    <a:pt x="4498" y="27315"/>
                  </a:cubicBezTo>
                  <a:cubicBezTo>
                    <a:pt x="4515" y="28291"/>
                    <a:pt x="4655" y="29250"/>
                    <a:pt x="4934" y="30191"/>
                  </a:cubicBezTo>
                  <a:cubicBezTo>
                    <a:pt x="7060" y="30696"/>
                    <a:pt x="9204" y="31080"/>
                    <a:pt x="11383" y="31324"/>
                  </a:cubicBezTo>
                  <a:cubicBezTo>
                    <a:pt x="11436" y="31324"/>
                    <a:pt x="11488" y="31341"/>
                    <a:pt x="11540" y="31341"/>
                  </a:cubicBezTo>
                  <a:cubicBezTo>
                    <a:pt x="12917" y="31498"/>
                    <a:pt x="14294" y="31568"/>
                    <a:pt x="15671" y="31603"/>
                  </a:cubicBezTo>
                  <a:lnTo>
                    <a:pt x="15811" y="31603"/>
                  </a:lnTo>
                  <a:cubicBezTo>
                    <a:pt x="15967" y="31605"/>
                    <a:pt x="16123" y="31606"/>
                    <a:pt x="16279" y="31606"/>
                  </a:cubicBezTo>
                  <a:cubicBezTo>
                    <a:pt x="18775" y="31606"/>
                    <a:pt x="21282" y="31344"/>
                    <a:pt x="23742" y="30836"/>
                  </a:cubicBezTo>
                  <a:lnTo>
                    <a:pt x="23899" y="30801"/>
                  </a:lnTo>
                  <a:cubicBezTo>
                    <a:pt x="24980" y="30574"/>
                    <a:pt x="26043" y="30278"/>
                    <a:pt x="27071" y="29929"/>
                  </a:cubicBezTo>
                  <a:lnTo>
                    <a:pt x="27228" y="29877"/>
                  </a:lnTo>
                  <a:cubicBezTo>
                    <a:pt x="28205" y="29546"/>
                    <a:pt x="29181" y="29162"/>
                    <a:pt x="30105" y="28727"/>
                  </a:cubicBezTo>
                  <a:cubicBezTo>
                    <a:pt x="30174" y="27907"/>
                    <a:pt x="30105" y="27106"/>
                    <a:pt x="29895" y="26321"/>
                  </a:cubicBezTo>
                  <a:cubicBezTo>
                    <a:pt x="29634" y="25293"/>
                    <a:pt x="29303" y="24282"/>
                    <a:pt x="28884" y="23306"/>
                  </a:cubicBezTo>
                  <a:lnTo>
                    <a:pt x="28884" y="23306"/>
                  </a:lnTo>
                  <a:cubicBezTo>
                    <a:pt x="30139" y="24630"/>
                    <a:pt x="31046" y="26234"/>
                    <a:pt x="31534" y="27977"/>
                  </a:cubicBezTo>
                  <a:cubicBezTo>
                    <a:pt x="31795" y="27838"/>
                    <a:pt x="32039" y="27681"/>
                    <a:pt x="32301" y="27524"/>
                  </a:cubicBezTo>
                  <a:cubicBezTo>
                    <a:pt x="32545" y="27384"/>
                    <a:pt x="32754" y="27193"/>
                    <a:pt x="32928" y="26966"/>
                  </a:cubicBezTo>
                  <a:cubicBezTo>
                    <a:pt x="32946" y="26949"/>
                    <a:pt x="32946" y="26914"/>
                    <a:pt x="32963" y="26896"/>
                  </a:cubicBezTo>
                  <a:cubicBezTo>
                    <a:pt x="33016" y="26757"/>
                    <a:pt x="33068" y="26635"/>
                    <a:pt x="33085" y="26496"/>
                  </a:cubicBezTo>
                  <a:cubicBezTo>
                    <a:pt x="33085" y="26391"/>
                    <a:pt x="33103" y="26304"/>
                    <a:pt x="33103" y="26199"/>
                  </a:cubicBezTo>
                  <a:cubicBezTo>
                    <a:pt x="33138" y="25467"/>
                    <a:pt x="32998" y="24752"/>
                    <a:pt x="32719" y="24090"/>
                  </a:cubicBezTo>
                  <a:cubicBezTo>
                    <a:pt x="32632" y="23898"/>
                    <a:pt x="32527" y="23707"/>
                    <a:pt x="32423" y="23515"/>
                  </a:cubicBezTo>
                  <a:cubicBezTo>
                    <a:pt x="31569" y="22051"/>
                    <a:pt x="30174" y="20900"/>
                    <a:pt x="29582" y="18599"/>
                  </a:cubicBezTo>
                  <a:cubicBezTo>
                    <a:pt x="29547" y="18442"/>
                    <a:pt x="29512" y="18285"/>
                    <a:pt x="29477" y="18146"/>
                  </a:cubicBezTo>
                  <a:cubicBezTo>
                    <a:pt x="29460" y="18059"/>
                    <a:pt x="29442" y="17972"/>
                    <a:pt x="29442" y="17885"/>
                  </a:cubicBezTo>
                  <a:cubicBezTo>
                    <a:pt x="29407" y="17675"/>
                    <a:pt x="29372" y="17484"/>
                    <a:pt x="29355" y="17274"/>
                  </a:cubicBezTo>
                  <a:cubicBezTo>
                    <a:pt x="29163" y="15601"/>
                    <a:pt x="29372" y="13980"/>
                    <a:pt x="29407" y="12237"/>
                  </a:cubicBezTo>
                  <a:lnTo>
                    <a:pt x="29407" y="11888"/>
                  </a:lnTo>
                  <a:lnTo>
                    <a:pt x="29407" y="11470"/>
                  </a:lnTo>
                  <a:cubicBezTo>
                    <a:pt x="29390" y="9273"/>
                    <a:pt x="29250" y="7077"/>
                    <a:pt x="28396" y="5020"/>
                  </a:cubicBezTo>
                  <a:cubicBezTo>
                    <a:pt x="27734" y="3434"/>
                    <a:pt x="26444" y="2214"/>
                    <a:pt x="24893" y="1377"/>
                  </a:cubicBezTo>
                  <a:lnTo>
                    <a:pt x="24788" y="1307"/>
                  </a:lnTo>
                  <a:cubicBezTo>
                    <a:pt x="24352" y="1081"/>
                    <a:pt x="23916" y="889"/>
                    <a:pt x="23481" y="715"/>
                  </a:cubicBezTo>
                  <a:lnTo>
                    <a:pt x="23341" y="680"/>
                  </a:lnTo>
                  <a:cubicBezTo>
                    <a:pt x="23027" y="558"/>
                    <a:pt x="22696" y="453"/>
                    <a:pt x="22365" y="366"/>
                  </a:cubicBezTo>
                  <a:lnTo>
                    <a:pt x="22226" y="331"/>
                  </a:lnTo>
                  <a:cubicBezTo>
                    <a:pt x="22034" y="296"/>
                    <a:pt x="21860" y="244"/>
                    <a:pt x="21668" y="209"/>
                  </a:cubicBezTo>
                  <a:cubicBezTo>
                    <a:pt x="21616" y="192"/>
                    <a:pt x="21563" y="174"/>
                    <a:pt x="21511" y="174"/>
                  </a:cubicBezTo>
                  <a:cubicBezTo>
                    <a:pt x="21127" y="105"/>
                    <a:pt x="20744" y="52"/>
                    <a:pt x="20343" y="18"/>
                  </a:cubicBezTo>
                  <a:cubicBezTo>
                    <a:pt x="20320" y="18"/>
                    <a:pt x="20297" y="25"/>
                    <a:pt x="20263" y="25"/>
                  </a:cubicBezTo>
                  <a:cubicBezTo>
                    <a:pt x="20246" y="25"/>
                    <a:pt x="20227" y="23"/>
                    <a:pt x="20204" y="18"/>
                  </a:cubicBezTo>
                  <a:cubicBezTo>
                    <a:pt x="20134" y="0"/>
                    <a:pt x="20064" y="0"/>
                    <a:pt x="1997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0" name="Google Shape;3590;p106"/>
            <p:cNvSpPr/>
            <p:nvPr/>
          </p:nvSpPr>
          <p:spPr>
            <a:xfrm>
              <a:off x="2160775" y="2564850"/>
              <a:ext cx="350400" cy="694225"/>
            </a:xfrm>
            <a:custGeom>
              <a:rect b="b" l="l" r="r" t="t"/>
              <a:pathLst>
                <a:path extrusionOk="0" h="27769" w="14016">
                  <a:moveTo>
                    <a:pt x="14015" y="0"/>
                  </a:moveTo>
                  <a:lnTo>
                    <a:pt x="14015" y="0"/>
                  </a:lnTo>
                  <a:cubicBezTo>
                    <a:pt x="13736" y="157"/>
                    <a:pt x="13475" y="332"/>
                    <a:pt x="13213" y="506"/>
                  </a:cubicBezTo>
                  <a:cubicBezTo>
                    <a:pt x="11714" y="1883"/>
                    <a:pt x="10512" y="3574"/>
                    <a:pt x="9727" y="5456"/>
                  </a:cubicBezTo>
                  <a:cubicBezTo>
                    <a:pt x="8890" y="7444"/>
                    <a:pt x="8559" y="9605"/>
                    <a:pt x="8350" y="11261"/>
                  </a:cubicBezTo>
                  <a:lnTo>
                    <a:pt x="8298" y="11644"/>
                  </a:lnTo>
                  <a:cubicBezTo>
                    <a:pt x="8106" y="13213"/>
                    <a:pt x="7914" y="14817"/>
                    <a:pt x="7060" y="16124"/>
                  </a:cubicBezTo>
                  <a:cubicBezTo>
                    <a:pt x="6398" y="17153"/>
                    <a:pt x="5387" y="17902"/>
                    <a:pt x="4411" y="18634"/>
                  </a:cubicBezTo>
                  <a:cubicBezTo>
                    <a:pt x="3661" y="19157"/>
                    <a:pt x="2964" y="19750"/>
                    <a:pt x="2336" y="20395"/>
                  </a:cubicBezTo>
                  <a:cubicBezTo>
                    <a:pt x="558" y="22400"/>
                    <a:pt x="1" y="25206"/>
                    <a:pt x="907" y="27716"/>
                  </a:cubicBezTo>
                  <a:lnTo>
                    <a:pt x="1064" y="27768"/>
                  </a:lnTo>
                  <a:cubicBezTo>
                    <a:pt x="140" y="25276"/>
                    <a:pt x="663" y="22469"/>
                    <a:pt x="2423" y="20482"/>
                  </a:cubicBezTo>
                  <a:cubicBezTo>
                    <a:pt x="3068" y="19837"/>
                    <a:pt x="3748" y="19262"/>
                    <a:pt x="4498" y="18739"/>
                  </a:cubicBezTo>
                  <a:cubicBezTo>
                    <a:pt x="5474" y="18007"/>
                    <a:pt x="6502" y="17240"/>
                    <a:pt x="7182" y="16194"/>
                  </a:cubicBezTo>
                  <a:cubicBezTo>
                    <a:pt x="8054" y="14869"/>
                    <a:pt x="8246" y="13231"/>
                    <a:pt x="8437" y="11662"/>
                  </a:cubicBezTo>
                  <a:lnTo>
                    <a:pt x="8472" y="11278"/>
                  </a:lnTo>
                  <a:cubicBezTo>
                    <a:pt x="8681" y="9622"/>
                    <a:pt x="9012" y="7478"/>
                    <a:pt x="9849" y="5509"/>
                  </a:cubicBezTo>
                  <a:cubicBezTo>
                    <a:pt x="10756" y="3347"/>
                    <a:pt x="12185" y="1465"/>
                    <a:pt x="14015" y="0"/>
                  </a:cubicBez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1" name="Google Shape;3591;p106"/>
            <p:cNvSpPr/>
            <p:nvPr/>
          </p:nvSpPr>
          <p:spPr>
            <a:xfrm>
              <a:off x="2206975" y="2535650"/>
              <a:ext cx="376975" cy="736500"/>
            </a:xfrm>
            <a:custGeom>
              <a:rect b="b" l="l" r="r" t="t"/>
              <a:pathLst>
                <a:path extrusionOk="0" h="29460" w="15079">
                  <a:moveTo>
                    <a:pt x="15078" y="1"/>
                  </a:moveTo>
                  <a:lnTo>
                    <a:pt x="15078" y="1"/>
                  </a:lnTo>
                  <a:cubicBezTo>
                    <a:pt x="14956" y="18"/>
                    <a:pt x="14834" y="53"/>
                    <a:pt x="14695" y="88"/>
                  </a:cubicBezTo>
                  <a:cubicBezTo>
                    <a:pt x="11121" y="2546"/>
                    <a:pt x="8698" y="6572"/>
                    <a:pt x="8420" y="10843"/>
                  </a:cubicBezTo>
                  <a:cubicBezTo>
                    <a:pt x="8385" y="11139"/>
                    <a:pt x="8385" y="11435"/>
                    <a:pt x="8367" y="11732"/>
                  </a:cubicBezTo>
                  <a:cubicBezTo>
                    <a:pt x="8367" y="12516"/>
                    <a:pt x="8280" y="13283"/>
                    <a:pt x="8123" y="14033"/>
                  </a:cubicBezTo>
                  <a:cubicBezTo>
                    <a:pt x="7670" y="15741"/>
                    <a:pt x="6398" y="17118"/>
                    <a:pt x="5212" y="18251"/>
                  </a:cubicBezTo>
                  <a:cubicBezTo>
                    <a:pt x="4968" y="18478"/>
                    <a:pt x="4724" y="18704"/>
                    <a:pt x="4480" y="18913"/>
                  </a:cubicBezTo>
                  <a:cubicBezTo>
                    <a:pt x="3434" y="19872"/>
                    <a:pt x="2371" y="20848"/>
                    <a:pt x="1604" y="22051"/>
                  </a:cubicBezTo>
                  <a:cubicBezTo>
                    <a:pt x="227" y="24265"/>
                    <a:pt x="0" y="27036"/>
                    <a:pt x="1011" y="29459"/>
                  </a:cubicBezTo>
                  <a:lnTo>
                    <a:pt x="1046" y="29459"/>
                  </a:lnTo>
                  <a:cubicBezTo>
                    <a:pt x="1064" y="29390"/>
                    <a:pt x="1081" y="29320"/>
                    <a:pt x="1081" y="29250"/>
                  </a:cubicBezTo>
                  <a:cubicBezTo>
                    <a:pt x="157" y="26897"/>
                    <a:pt x="384" y="24247"/>
                    <a:pt x="1726" y="22121"/>
                  </a:cubicBezTo>
                  <a:cubicBezTo>
                    <a:pt x="2475" y="20935"/>
                    <a:pt x="3539" y="19959"/>
                    <a:pt x="4567" y="19018"/>
                  </a:cubicBezTo>
                  <a:cubicBezTo>
                    <a:pt x="4829" y="18791"/>
                    <a:pt x="5073" y="18565"/>
                    <a:pt x="5317" y="18338"/>
                  </a:cubicBezTo>
                  <a:cubicBezTo>
                    <a:pt x="6502" y="17205"/>
                    <a:pt x="7792" y="15811"/>
                    <a:pt x="8245" y="14068"/>
                  </a:cubicBezTo>
                  <a:cubicBezTo>
                    <a:pt x="8420" y="13301"/>
                    <a:pt x="8507" y="12516"/>
                    <a:pt x="8507" y="11749"/>
                  </a:cubicBezTo>
                  <a:cubicBezTo>
                    <a:pt x="8524" y="11453"/>
                    <a:pt x="8524" y="11139"/>
                    <a:pt x="8559" y="10860"/>
                  </a:cubicBezTo>
                  <a:cubicBezTo>
                    <a:pt x="8855" y="6520"/>
                    <a:pt x="11365" y="2406"/>
                    <a:pt x="15078" y="1"/>
                  </a:cubicBez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106"/>
            <p:cNvSpPr/>
            <p:nvPr/>
          </p:nvSpPr>
          <p:spPr>
            <a:xfrm>
              <a:off x="2434875" y="2529125"/>
              <a:ext cx="209650" cy="783975"/>
            </a:xfrm>
            <a:custGeom>
              <a:rect b="b" l="l" r="r" t="t"/>
              <a:pathLst>
                <a:path extrusionOk="0" h="31359" w="8386">
                  <a:moveTo>
                    <a:pt x="8159" y="0"/>
                  </a:moveTo>
                  <a:cubicBezTo>
                    <a:pt x="6084" y="1464"/>
                    <a:pt x="4376" y="3382"/>
                    <a:pt x="3138" y="5596"/>
                  </a:cubicBezTo>
                  <a:cubicBezTo>
                    <a:pt x="1587" y="8332"/>
                    <a:pt x="960" y="11470"/>
                    <a:pt x="1326" y="14590"/>
                  </a:cubicBezTo>
                  <a:cubicBezTo>
                    <a:pt x="1448" y="15514"/>
                    <a:pt x="1657" y="16473"/>
                    <a:pt x="1883" y="17379"/>
                  </a:cubicBezTo>
                  <a:cubicBezTo>
                    <a:pt x="2319" y="19296"/>
                    <a:pt x="2772" y="21284"/>
                    <a:pt x="2319" y="23201"/>
                  </a:cubicBezTo>
                  <a:cubicBezTo>
                    <a:pt x="2075" y="24107"/>
                    <a:pt x="1726" y="25014"/>
                    <a:pt x="1273" y="25851"/>
                  </a:cubicBezTo>
                  <a:cubicBezTo>
                    <a:pt x="820" y="26757"/>
                    <a:pt x="367" y="27716"/>
                    <a:pt x="175" y="28727"/>
                  </a:cubicBezTo>
                  <a:cubicBezTo>
                    <a:pt x="1" y="29581"/>
                    <a:pt x="18" y="30487"/>
                    <a:pt x="227" y="31341"/>
                  </a:cubicBezTo>
                  <a:cubicBezTo>
                    <a:pt x="280" y="31341"/>
                    <a:pt x="315" y="31359"/>
                    <a:pt x="367" y="31359"/>
                  </a:cubicBezTo>
                  <a:cubicBezTo>
                    <a:pt x="158" y="30505"/>
                    <a:pt x="123" y="29598"/>
                    <a:pt x="297" y="28744"/>
                  </a:cubicBezTo>
                  <a:cubicBezTo>
                    <a:pt x="489" y="27751"/>
                    <a:pt x="960" y="26809"/>
                    <a:pt x="1395" y="25903"/>
                  </a:cubicBezTo>
                  <a:cubicBezTo>
                    <a:pt x="1831" y="25049"/>
                    <a:pt x="2197" y="24142"/>
                    <a:pt x="2459" y="23218"/>
                  </a:cubicBezTo>
                  <a:cubicBezTo>
                    <a:pt x="2912" y="21266"/>
                    <a:pt x="2459" y="19279"/>
                    <a:pt x="2023" y="17344"/>
                  </a:cubicBezTo>
                  <a:cubicBezTo>
                    <a:pt x="1796" y="16438"/>
                    <a:pt x="1587" y="15496"/>
                    <a:pt x="1465" y="14555"/>
                  </a:cubicBezTo>
                  <a:cubicBezTo>
                    <a:pt x="1099" y="11470"/>
                    <a:pt x="1726" y="8350"/>
                    <a:pt x="3243" y="5648"/>
                  </a:cubicBezTo>
                  <a:cubicBezTo>
                    <a:pt x="4515" y="3399"/>
                    <a:pt x="6259" y="1464"/>
                    <a:pt x="8385" y="0"/>
                  </a:cubicBez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3" name="Google Shape;3593;p106"/>
            <p:cNvSpPr/>
            <p:nvPr/>
          </p:nvSpPr>
          <p:spPr>
            <a:xfrm>
              <a:off x="2482825" y="2529125"/>
              <a:ext cx="178700" cy="790075"/>
            </a:xfrm>
            <a:custGeom>
              <a:rect b="b" l="l" r="r" t="t"/>
              <a:pathLst>
                <a:path extrusionOk="0" h="31603" w="7148">
                  <a:moveTo>
                    <a:pt x="6938" y="0"/>
                  </a:moveTo>
                  <a:cubicBezTo>
                    <a:pt x="4707" y="1499"/>
                    <a:pt x="2824" y="3818"/>
                    <a:pt x="1517" y="6694"/>
                  </a:cubicBezTo>
                  <a:cubicBezTo>
                    <a:pt x="419" y="9134"/>
                    <a:pt x="0" y="11400"/>
                    <a:pt x="279" y="13422"/>
                  </a:cubicBezTo>
                  <a:cubicBezTo>
                    <a:pt x="506" y="15200"/>
                    <a:pt x="1290" y="16856"/>
                    <a:pt x="2040" y="18460"/>
                  </a:cubicBezTo>
                  <a:cubicBezTo>
                    <a:pt x="2667" y="19837"/>
                    <a:pt x="3330" y="21249"/>
                    <a:pt x="3661" y="22730"/>
                  </a:cubicBezTo>
                  <a:cubicBezTo>
                    <a:pt x="4323" y="25711"/>
                    <a:pt x="3591" y="28814"/>
                    <a:pt x="2597" y="31603"/>
                  </a:cubicBezTo>
                  <a:lnTo>
                    <a:pt x="2737" y="31603"/>
                  </a:lnTo>
                  <a:cubicBezTo>
                    <a:pt x="3731" y="28814"/>
                    <a:pt x="4445" y="25694"/>
                    <a:pt x="3783" y="22696"/>
                  </a:cubicBezTo>
                  <a:cubicBezTo>
                    <a:pt x="3452" y="21196"/>
                    <a:pt x="2789" y="19784"/>
                    <a:pt x="2144" y="18407"/>
                  </a:cubicBezTo>
                  <a:cubicBezTo>
                    <a:pt x="1395" y="16804"/>
                    <a:pt x="628" y="15148"/>
                    <a:pt x="384" y="13405"/>
                  </a:cubicBezTo>
                  <a:cubicBezTo>
                    <a:pt x="122" y="11418"/>
                    <a:pt x="541" y="9169"/>
                    <a:pt x="1621" y="6763"/>
                  </a:cubicBezTo>
                  <a:cubicBezTo>
                    <a:pt x="2946" y="3835"/>
                    <a:pt x="4864" y="1499"/>
                    <a:pt x="7147" y="18"/>
                  </a:cubicBezTo>
                  <a:cubicBezTo>
                    <a:pt x="7077" y="0"/>
                    <a:pt x="7008" y="0"/>
                    <a:pt x="6938" y="0"/>
                  </a:cubicBez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4" name="Google Shape;3594;p106"/>
            <p:cNvSpPr/>
            <p:nvPr/>
          </p:nvSpPr>
          <p:spPr>
            <a:xfrm>
              <a:off x="2623150" y="2533900"/>
              <a:ext cx="157775" cy="766125"/>
            </a:xfrm>
            <a:custGeom>
              <a:rect b="b" l="l" r="r" t="t"/>
              <a:pathLst>
                <a:path extrusionOk="0" h="30645" w="6311">
                  <a:moveTo>
                    <a:pt x="2824" y="1"/>
                  </a:moveTo>
                  <a:cubicBezTo>
                    <a:pt x="1464" y="1343"/>
                    <a:pt x="575" y="3086"/>
                    <a:pt x="262" y="4969"/>
                  </a:cubicBezTo>
                  <a:cubicBezTo>
                    <a:pt x="0" y="6660"/>
                    <a:pt x="192" y="8560"/>
                    <a:pt x="872" y="10616"/>
                  </a:cubicBezTo>
                  <a:cubicBezTo>
                    <a:pt x="1412" y="12150"/>
                    <a:pt x="2040" y="13632"/>
                    <a:pt x="2754" y="15079"/>
                  </a:cubicBezTo>
                  <a:cubicBezTo>
                    <a:pt x="2876" y="15358"/>
                    <a:pt x="3016" y="15619"/>
                    <a:pt x="3138" y="15881"/>
                  </a:cubicBezTo>
                  <a:cubicBezTo>
                    <a:pt x="4323" y="18426"/>
                    <a:pt x="5473" y="21180"/>
                    <a:pt x="5857" y="24056"/>
                  </a:cubicBezTo>
                  <a:cubicBezTo>
                    <a:pt x="6171" y="26461"/>
                    <a:pt x="5892" y="28745"/>
                    <a:pt x="5055" y="30645"/>
                  </a:cubicBezTo>
                  <a:lnTo>
                    <a:pt x="5229" y="30610"/>
                  </a:lnTo>
                  <a:cubicBezTo>
                    <a:pt x="6031" y="28693"/>
                    <a:pt x="6310" y="26427"/>
                    <a:pt x="5979" y="24038"/>
                  </a:cubicBezTo>
                  <a:cubicBezTo>
                    <a:pt x="5595" y="21145"/>
                    <a:pt x="4445" y="18391"/>
                    <a:pt x="3242" y="15828"/>
                  </a:cubicBezTo>
                  <a:lnTo>
                    <a:pt x="2876" y="15027"/>
                  </a:lnTo>
                  <a:cubicBezTo>
                    <a:pt x="2162" y="13580"/>
                    <a:pt x="1534" y="12098"/>
                    <a:pt x="994" y="10582"/>
                  </a:cubicBezTo>
                  <a:cubicBezTo>
                    <a:pt x="331" y="8542"/>
                    <a:pt x="122" y="6660"/>
                    <a:pt x="401" y="5004"/>
                  </a:cubicBezTo>
                  <a:cubicBezTo>
                    <a:pt x="697" y="3104"/>
                    <a:pt x="1621" y="1360"/>
                    <a:pt x="2998" y="36"/>
                  </a:cubicBezTo>
                  <a:cubicBezTo>
                    <a:pt x="2946" y="18"/>
                    <a:pt x="2876" y="1"/>
                    <a:pt x="2824" y="1"/>
                  </a:cubicBez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106"/>
            <p:cNvSpPr/>
            <p:nvPr/>
          </p:nvSpPr>
          <p:spPr>
            <a:xfrm>
              <a:off x="2644925" y="2537825"/>
              <a:ext cx="202225" cy="739550"/>
            </a:xfrm>
            <a:custGeom>
              <a:rect b="b" l="l" r="r" t="t"/>
              <a:pathLst>
                <a:path extrusionOk="0" h="29582" w="8089">
                  <a:moveTo>
                    <a:pt x="2685" y="1"/>
                  </a:moveTo>
                  <a:cubicBezTo>
                    <a:pt x="1796" y="1151"/>
                    <a:pt x="1081" y="2424"/>
                    <a:pt x="593" y="3801"/>
                  </a:cubicBezTo>
                  <a:cubicBezTo>
                    <a:pt x="210" y="4777"/>
                    <a:pt x="1" y="5823"/>
                    <a:pt x="1" y="6869"/>
                  </a:cubicBezTo>
                  <a:cubicBezTo>
                    <a:pt x="53" y="8594"/>
                    <a:pt x="785" y="10355"/>
                    <a:pt x="2336" y="12429"/>
                  </a:cubicBezTo>
                  <a:cubicBezTo>
                    <a:pt x="2720" y="12970"/>
                    <a:pt x="3138" y="13492"/>
                    <a:pt x="3539" y="13981"/>
                  </a:cubicBezTo>
                  <a:cubicBezTo>
                    <a:pt x="4393" y="15044"/>
                    <a:pt x="5282" y="16142"/>
                    <a:pt x="5945" y="17345"/>
                  </a:cubicBezTo>
                  <a:cubicBezTo>
                    <a:pt x="6781" y="18948"/>
                    <a:pt x="7357" y="20674"/>
                    <a:pt x="7601" y="22470"/>
                  </a:cubicBezTo>
                  <a:cubicBezTo>
                    <a:pt x="7967" y="24823"/>
                    <a:pt x="7932" y="27228"/>
                    <a:pt x="7513" y="29581"/>
                  </a:cubicBezTo>
                  <a:lnTo>
                    <a:pt x="7670" y="29529"/>
                  </a:lnTo>
                  <a:cubicBezTo>
                    <a:pt x="8071" y="27193"/>
                    <a:pt x="8089" y="24805"/>
                    <a:pt x="7740" y="22452"/>
                  </a:cubicBezTo>
                  <a:cubicBezTo>
                    <a:pt x="7479" y="20657"/>
                    <a:pt x="6921" y="18896"/>
                    <a:pt x="6067" y="17292"/>
                  </a:cubicBezTo>
                  <a:cubicBezTo>
                    <a:pt x="5387" y="16072"/>
                    <a:pt x="4498" y="14974"/>
                    <a:pt x="3644" y="13911"/>
                  </a:cubicBezTo>
                  <a:cubicBezTo>
                    <a:pt x="3243" y="13405"/>
                    <a:pt x="2824" y="12882"/>
                    <a:pt x="2424" y="12359"/>
                  </a:cubicBezTo>
                  <a:cubicBezTo>
                    <a:pt x="907" y="10303"/>
                    <a:pt x="175" y="8559"/>
                    <a:pt x="140" y="6869"/>
                  </a:cubicBezTo>
                  <a:cubicBezTo>
                    <a:pt x="140" y="5823"/>
                    <a:pt x="332" y="4794"/>
                    <a:pt x="715" y="3836"/>
                  </a:cubicBezTo>
                  <a:cubicBezTo>
                    <a:pt x="1203" y="2459"/>
                    <a:pt x="1918" y="1186"/>
                    <a:pt x="2824" y="36"/>
                  </a:cubicBezTo>
                  <a:lnTo>
                    <a:pt x="2685" y="1"/>
                  </a:ln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106"/>
            <p:cNvSpPr/>
            <p:nvPr/>
          </p:nvSpPr>
          <p:spPr>
            <a:xfrm>
              <a:off x="2682400" y="2546550"/>
              <a:ext cx="210500" cy="436225"/>
            </a:xfrm>
            <a:custGeom>
              <a:rect b="b" l="l" r="r" t="t"/>
              <a:pathLst>
                <a:path extrusionOk="0" h="17449" w="8420">
                  <a:moveTo>
                    <a:pt x="2302" y="0"/>
                  </a:moveTo>
                  <a:cubicBezTo>
                    <a:pt x="53" y="3312"/>
                    <a:pt x="1" y="7635"/>
                    <a:pt x="2180" y="10999"/>
                  </a:cubicBezTo>
                  <a:cubicBezTo>
                    <a:pt x="3156" y="12499"/>
                    <a:pt x="4533" y="13736"/>
                    <a:pt x="5840" y="14921"/>
                  </a:cubicBezTo>
                  <a:cubicBezTo>
                    <a:pt x="6747" y="15706"/>
                    <a:pt x="7618" y="16543"/>
                    <a:pt x="8420" y="17449"/>
                  </a:cubicBezTo>
                  <a:cubicBezTo>
                    <a:pt x="8403" y="17362"/>
                    <a:pt x="8385" y="17275"/>
                    <a:pt x="8368" y="17188"/>
                  </a:cubicBezTo>
                  <a:cubicBezTo>
                    <a:pt x="7618" y="16351"/>
                    <a:pt x="6764" y="15566"/>
                    <a:pt x="5927" y="14817"/>
                  </a:cubicBezTo>
                  <a:cubicBezTo>
                    <a:pt x="4620" y="13632"/>
                    <a:pt x="3260" y="12411"/>
                    <a:pt x="2302" y="10912"/>
                  </a:cubicBezTo>
                  <a:cubicBezTo>
                    <a:pt x="1081" y="9030"/>
                    <a:pt x="541" y="6764"/>
                    <a:pt x="768" y="4532"/>
                  </a:cubicBezTo>
                  <a:cubicBezTo>
                    <a:pt x="959" y="2929"/>
                    <a:pt x="1517" y="1377"/>
                    <a:pt x="2424" y="35"/>
                  </a:cubicBezTo>
                  <a:lnTo>
                    <a:pt x="2302" y="0"/>
                  </a:ln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106"/>
            <p:cNvSpPr/>
            <p:nvPr/>
          </p:nvSpPr>
          <p:spPr>
            <a:xfrm>
              <a:off x="2966100" y="3116975"/>
              <a:ext cx="17025" cy="84575"/>
            </a:xfrm>
            <a:custGeom>
              <a:rect b="b" l="l" r="r" t="t"/>
              <a:pathLst>
                <a:path extrusionOk="0" h="3383" w="681">
                  <a:moveTo>
                    <a:pt x="0" y="1"/>
                  </a:moveTo>
                  <a:lnTo>
                    <a:pt x="0" y="1"/>
                  </a:lnTo>
                  <a:cubicBezTo>
                    <a:pt x="332" y="1099"/>
                    <a:pt x="506" y="2232"/>
                    <a:pt x="558" y="3382"/>
                  </a:cubicBezTo>
                  <a:cubicBezTo>
                    <a:pt x="628" y="3243"/>
                    <a:pt x="663" y="3121"/>
                    <a:pt x="680" y="2982"/>
                  </a:cubicBezTo>
                  <a:cubicBezTo>
                    <a:pt x="611" y="2180"/>
                    <a:pt x="489" y="1360"/>
                    <a:pt x="297" y="576"/>
                  </a:cubicBezTo>
                  <a:cubicBezTo>
                    <a:pt x="210" y="384"/>
                    <a:pt x="122" y="175"/>
                    <a:pt x="0" y="1"/>
                  </a:cubicBezTo>
                  <a:close/>
                </a:path>
              </a:pathLst>
            </a:custGeom>
            <a:solidFill>
              <a:srgbClr val="5B3C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106"/>
            <p:cNvSpPr/>
            <p:nvPr/>
          </p:nvSpPr>
          <p:spPr>
            <a:xfrm>
              <a:off x="2753000" y="2561800"/>
              <a:ext cx="138175" cy="258450"/>
            </a:xfrm>
            <a:custGeom>
              <a:rect b="b" l="l" r="r" t="t"/>
              <a:pathLst>
                <a:path extrusionOk="0" h="10338" w="5527">
                  <a:moveTo>
                    <a:pt x="907" y="0"/>
                  </a:moveTo>
                  <a:cubicBezTo>
                    <a:pt x="210" y="1447"/>
                    <a:pt x="1" y="2894"/>
                    <a:pt x="314" y="4149"/>
                  </a:cubicBezTo>
                  <a:cubicBezTo>
                    <a:pt x="558" y="5003"/>
                    <a:pt x="959" y="5805"/>
                    <a:pt x="1517" y="6520"/>
                  </a:cubicBezTo>
                  <a:cubicBezTo>
                    <a:pt x="2249" y="7531"/>
                    <a:pt x="3121" y="8437"/>
                    <a:pt x="4097" y="9222"/>
                  </a:cubicBezTo>
                  <a:cubicBezTo>
                    <a:pt x="4306" y="9396"/>
                    <a:pt x="4533" y="9570"/>
                    <a:pt x="4742" y="9727"/>
                  </a:cubicBezTo>
                  <a:cubicBezTo>
                    <a:pt x="5003" y="9936"/>
                    <a:pt x="5265" y="10128"/>
                    <a:pt x="5526" y="10337"/>
                  </a:cubicBezTo>
                  <a:lnTo>
                    <a:pt x="5526" y="10163"/>
                  </a:lnTo>
                  <a:cubicBezTo>
                    <a:pt x="5300" y="9971"/>
                    <a:pt x="5056" y="9797"/>
                    <a:pt x="4829" y="9622"/>
                  </a:cubicBezTo>
                  <a:cubicBezTo>
                    <a:pt x="4620" y="9466"/>
                    <a:pt x="4393" y="9291"/>
                    <a:pt x="4184" y="9117"/>
                  </a:cubicBezTo>
                  <a:cubicBezTo>
                    <a:pt x="3208" y="8350"/>
                    <a:pt x="2354" y="7444"/>
                    <a:pt x="1622" y="6450"/>
                  </a:cubicBezTo>
                  <a:cubicBezTo>
                    <a:pt x="1081" y="5753"/>
                    <a:pt x="680" y="4951"/>
                    <a:pt x="436" y="4114"/>
                  </a:cubicBezTo>
                  <a:cubicBezTo>
                    <a:pt x="140" y="2894"/>
                    <a:pt x="332" y="1500"/>
                    <a:pt x="1012" y="70"/>
                  </a:cubicBezTo>
                  <a:lnTo>
                    <a:pt x="907" y="0"/>
                  </a:lnTo>
                  <a:close/>
                </a:path>
              </a:pathLst>
            </a:custGeom>
            <a:solidFill>
              <a:srgbClr val="5B3C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9" name="Google Shape;3599;p106"/>
            <p:cNvSpPr/>
            <p:nvPr/>
          </p:nvSpPr>
          <p:spPr>
            <a:xfrm>
              <a:off x="2356450" y="2678150"/>
              <a:ext cx="509875" cy="303100"/>
            </a:xfrm>
            <a:custGeom>
              <a:rect b="b" l="l" r="r" t="t"/>
              <a:pathLst>
                <a:path extrusionOk="0" h="12124" w="20395">
                  <a:moveTo>
                    <a:pt x="3852" y="1"/>
                  </a:moveTo>
                  <a:cubicBezTo>
                    <a:pt x="3452" y="18"/>
                    <a:pt x="3051" y="35"/>
                    <a:pt x="2667" y="88"/>
                  </a:cubicBezTo>
                  <a:cubicBezTo>
                    <a:pt x="2615" y="105"/>
                    <a:pt x="2563" y="105"/>
                    <a:pt x="2510" y="105"/>
                  </a:cubicBezTo>
                  <a:cubicBezTo>
                    <a:pt x="2214" y="157"/>
                    <a:pt x="1900" y="210"/>
                    <a:pt x="1604" y="297"/>
                  </a:cubicBezTo>
                  <a:cubicBezTo>
                    <a:pt x="941" y="1465"/>
                    <a:pt x="401" y="2702"/>
                    <a:pt x="0" y="3992"/>
                  </a:cubicBezTo>
                  <a:cubicBezTo>
                    <a:pt x="244" y="4759"/>
                    <a:pt x="593" y="5509"/>
                    <a:pt x="1011" y="6189"/>
                  </a:cubicBezTo>
                  <a:cubicBezTo>
                    <a:pt x="1046" y="6258"/>
                    <a:pt x="1081" y="6311"/>
                    <a:pt x="1116" y="6363"/>
                  </a:cubicBezTo>
                  <a:cubicBezTo>
                    <a:pt x="1499" y="6973"/>
                    <a:pt x="1935" y="7531"/>
                    <a:pt x="2423" y="8036"/>
                  </a:cubicBezTo>
                  <a:cubicBezTo>
                    <a:pt x="2458" y="8071"/>
                    <a:pt x="2493" y="8106"/>
                    <a:pt x="2528" y="8141"/>
                  </a:cubicBezTo>
                  <a:cubicBezTo>
                    <a:pt x="2545" y="8158"/>
                    <a:pt x="2563" y="8193"/>
                    <a:pt x="2580" y="8211"/>
                  </a:cubicBezTo>
                  <a:cubicBezTo>
                    <a:pt x="3330" y="8978"/>
                    <a:pt x="4184" y="9657"/>
                    <a:pt x="5125" y="10198"/>
                  </a:cubicBezTo>
                  <a:cubicBezTo>
                    <a:pt x="5177" y="10233"/>
                    <a:pt x="5212" y="10250"/>
                    <a:pt x="5264" y="10285"/>
                  </a:cubicBezTo>
                  <a:cubicBezTo>
                    <a:pt x="5317" y="10320"/>
                    <a:pt x="5369" y="10337"/>
                    <a:pt x="5439" y="10372"/>
                  </a:cubicBezTo>
                  <a:cubicBezTo>
                    <a:pt x="5892" y="10616"/>
                    <a:pt x="6380" y="10843"/>
                    <a:pt x="6868" y="11035"/>
                  </a:cubicBezTo>
                  <a:lnTo>
                    <a:pt x="7025" y="11104"/>
                  </a:lnTo>
                  <a:cubicBezTo>
                    <a:pt x="8887" y="11822"/>
                    <a:pt x="10902" y="12124"/>
                    <a:pt x="12923" y="12124"/>
                  </a:cubicBezTo>
                  <a:cubicBezTo>
                    <a:pt x="13456" y="12124"/>
                    <a:pt x="13989" y="12103"/>
                    <a:pt x="14520" y="12063"/>
                  </a:cubicBezTo>
                  <a:lnTo>
                    <a:pt x="14660" y="12063"/>
                  </a:lnTo>
                  <a:cubicBezTo>
                    <a:pt x="15183" y="12011"/>
                    <a:pt x="15706" y="11958"/>
                    <a:pt x="16229" y="11871"/>
                  </a:cubicBezTo>
                  <a:cubicBezTo>
                    <a:pt x="16542" y="11819"/>
                    <a:pt x="16874" y="11767"/>
                    <a:pt x="17187" y="11697"/>
                  </a:cubicBezTo>
                  <a:cubicBezTo>
                    <a:pt x="17222" y="11679"/>
                    <a:pt x="17257" y="11679"/>
                    <a:pt x="17309" y="11662"/>
                  </a:cubicBezTo>
                  <a:cubicBezTo>
                    <a:pt x="18181" y="11488"/>
                    <a:pt x="19035" y="11191"/>
                    <a:pt x="19837" y="10790"/>
                  </a:cubicBezTo>
                  <a:lnTo>
                    <a:pt x="19959" y="10721"/>
                  </a:lnTo>
                  <a:cubicBezTo>
                    <a:pt x="19994" y="10703"/>
                    <a:pt x="20029" y="10686"/>
                    <a:pt x="20064" y="10668"/>
                  </a:cubicBezTo>
                  <a:cubicBezTo>
                    <a:pt x="20168" y="10616"/>
                    <a:pt x="20273" y="10546"/>
                    <a:pt x="20360" y="10494"/>
                  </a:cubicBezTo>
                  <a:cubicBezTo>
                    <a:pt x="20186" y="8908"/>
                    <a:pt x="20377" y="7339"/>
                    <a:pt x="20395" y="5701"/>
                  </a:cubicBezTo>
                  <a:cubicBezTo>
                    <a:pt x="19628" y="5090"/>
                    <a:pt x="18808" y="4550"/>
                    <a:pt x="17937" y="4097"/>
                  </a:cubicBezTo>
                  <a:cubicBezTo>
                    <a:pt x="16525" y="3347"/>
                    <a:pt x="15061" y="2685"/>
                    <a:pt x="13579" y="2145"/>
                  </a:cubicBezTo>
                  <a:cubicBezTo>
                    <a:pt x="13527" y="2127"/>
                    <a:pt x="13475" y="2110"/>
                    <a:pt x="13440" y="2092"/>
                  </a:cubicBezTo>
                  <a:cubicBezTo>
                    <a:pt x="12760" y="1848"/>
                    <a:pt x="12097" y="1639"/>
                    <a:pt x="11418" y="1412"/>
                  </a:cubicBezTo>
                  <a:cubicBezTo>
                    <a:pt x="11383" y="1395"/>
                    <a:pt x="11330" y="1378"/>
                    <a:pt x="11296" y="1378"/>
                  </a:cubicBezTo>
                  <a:lnTo>
                    <a:pt x="10755" y="1221"/>
                  </a:lnTo>
                  <a:lnTo>
                    <a:pt x="10633" y="1186"/>
                  </a:lnTo>
                  <a:cubicBezTo>
                    <a:pt x="9797" y="942"/>
                    <a:pt x="8977" y="733"/>
                    <a:pt x="8123" y="541"/>
                  </a:cubicBezTo>
                  <a:cubicBezTo>
                    <a:pt x="7705" y="454"/>
                    <a:pt x="7286" y="349"/>
                    <a:pt x="6851" y="279"/>
                  </a:cubicBezTo>
                  <a:cubicBezTo>
                    <a:pt x="6798" y="279"/>
                    <a:pt x="6763" y="262"/>
                    <a:pt x="6711" y="262"/>
                  </a:cubicBezTo>
                  <a:cubicBezTo>
                    <a:pt x="6519" y="227"/>
                    <a:pt x="6310" y="192"/>
                    <a:pt x="6101" y="157"/>
                  </a:cubicBezTo>
                  <a:cubicBezTo>
                    <a:pt x="6049" y="140"/>
                    <a:pt x="6014" y="140"/>
                    <a:pt x="5979" y="140"/>
                  </a:cubicBezTo>
                  <a:cubicBezTo>
                    <a:pt x="5369" y="53"/>
                    <a:pt x="4741" y="1"/>
                    <a:pt x="4131" y="1"/>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106"/>
            <p:cNvSpPr/>
            <p:nvPr/>
          </p:nvSpPr>
          <p:spPr>
            <a:xfrm>
              <a:off x="2298125" y="2413825"/>
              <a:ext cx="670625" cy="526600"/>
            </a:xfrm>
            <a:custGeom>
              <a:rect b="b" l="l" r="r" t="t"/>
              <a:pathLst>
                <a:path extrusionOk="0" h="21064" w="26825">
                  <a:moveTo>
                    <a:pt x="14833" y="0"/>
                  </a:moveTo>
                  <a:cubicBezTo>
                    <a:pt x="14197" y="0"/>
                    <a:pt x="13495" y="188"/>
                    <a:pt x="13036" y="864"/>
                  </a:cubicBezTo>
                  <a:cubicBezTo>
                    <a:pt x="13036" y="864"/>
                    <a:pt x="12755" y="773"/>
                    <a:pt x="12247" y="773"/>
                  </a:cubicBezTo>
                  <a:cubicBezTo>
                    <a:pt x="11254" y="773"/>
                    <a:pt x="9393" y="1124"/>
                    <a:pt x="7074" y="3200"/>
                  </a:cubicBezTo>
                  <a:cubicBezTo>
                    <a:pt x="4216" y="5763"/>
                    <a:pt x="3693" y="7070"/>
                    <a:pt x="2891" y="8883"/>
                  </a:cubicBezTo>
                  <a:cubicBezTo>
                    <a:pt x="2891" y="8883"/>
                    <a:pt x="2681" y="8843"/>
                    <a:pt x="2394" y="8843"/>
                  </a:cubicBezTo>
                  <a:cubicBezTo>
                    <a:pt x="1539" y="8843"/>
                    <a:pt x="0" y="9194"/>
                    <a:pt x="1252" y="11985"/>
                  </a:cubicBezTo>
                  <a:cubicBezTo>
                    <a:pt x="2926" y="15733"/>
                    <a:pt x="5976" y="18208"/>
                    <a:pt x="11258" y="19795"/>
                  </a:cubicBezTo>
                  <a:cubicBezTo>
                    <a:pt x="13921" y="20602"/>
                    <a:pt x="16673" y="21064"/>
                    <a:pt x="19107" y="21064"/>
                  </a:cubicBezTo>
                  <a:cubicBezTo>
                    <a:pt x="21245" y="21064"/>
                    <a:pt x="23136" y="20707"/>
                    <a:pt x="24506" y="19917"/>
                  </a:cubicBezTo>
                  <a:cubicBezTo>
                    <a:pt x="24924" y="19690"/>
                    <a:pt x="24994" y="19132"/>
                    <a:pt x="24663" y="18801"/>
                  </a:cubicBezTo>
                  <a:lnTo>
                    <a:pt x="24645" y="18784"/>
                  </a:lnTo>
                  <a:cubicBezTo>
                    <a:pt x="24645" y="18784"/>
                    <a:pt x="25360" y="16204"/>
                    <a:pt x="24732" y="15785"/>
                  </a:cubicBezTo>
                  <a:cubicBezTo>
                    <a:pt x="24732" y="15785"/>
                    <a:pt x="26824" y="6948"/>
                    <a:pt x="21403" y="2677"/>
                  </a:cubicBezTo>
                  <a:cubicBezTo>
                    <a:pt x="21403" y="2677"/>
                    <a:pt x="19803" y="240"/>
                    <a:pt x="17005" y="240"/>
                  </a:cubicBezTo>
                  <a:cubicBezTo>
                    <a:pt x="16782" y="240"/>
                    <a:pt x="16551" y="256"/>
                    <a:pt x="16313" y="289"/>
                  </a:cubicBezTo>
                  <a:cubicBezTo>
                    <a:pt x="16313" y="289"/>
                    <a:pt x="15623" y="0"/>
                    <a:pt x="14833"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1" name="Google Shape;3601;p106"/>
            <p:cNvSpPr/>
            <p:nvPr/>
          </p:nvSpPr>
          <p:spPr>
            <a:xfrm>
              <a:off x="2370375" y="2635875"/>
              <a:ext cx="104625" cy="158225"/>
            </a:xfrm>
            <a:custGeom>
              <a:rect b="b" l="l" r="r" t="t"/>
              <a:pathLst>
                <a:path extrusionOk="0" fill="none" h="6329" w="4185">
                  <a:moveTo>
                    <a:pt x="1" y="1"/>
                  </a:moveTo>
                  <a:cubicBezTo>
                    <a:pt x="1" y="36"/>
                    <a:pt x="315" y="4271"/>
                    <a:pt x="4184" y="6328"/>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2" name="Google Shape;3602;p106"/>
            <p:cNvSpPr/>
            <p:nvPr/>
          </p:nvSpPr>
          <p:spPr>
            <a:xfrm>
              <a:off x="2468425" y="2774025"/>
              <a:ext cx="105500" cy="87625"/>
            </a:xfrm>
            <a:custGeom>
              <a:rect b="b" l="l" r="r" t="t"/>
              <a:pathLst>
                <a:path extrusionOk="0" fill="none" h="3505" w="4220">
                  <a:moveTo>
                    <a:pt x="472" y="558"/>
                  </a:moveTo>
                  <a:lnTo>
                    <a:pt x="175" y="1203"/>
                  </a:lnTo>
                  <a:cubicBezTo>
                    <a:pt x="1" y="1569"/>
                    <a:pt x="158" y="2005"/>
                    <a:pt x="524" y="2197"/>
                  </a:cubicBezTo>
                  <a:lnTo>
                    <a:pt x="2651" y="3295"/>
                  </a:lnTo>
                  <a:cubicBezTo>
                    <a:pt x="3034" y="3504"/>
                    <a:pt x="3487" y="3347"/>
                    <a:pt x="3696" y="2981"/>
                  </a:cubicBezTo>
                  <a:lnTo>
                    <a:pt x="4028" y="2319"/>
                  </a:lnTo>
                  <a:cubicBezTo>
                    <a:pt x="4219" y="1953"/>
                    <a:pt x="4080" y="1482"/>
                    <a:pt x="3696" y="1290"/>
                  </a:cubicBezTo>
                  <a:lnTo>
                    <a:pt x="1518" y="210"/>
                  </a:lnTo>
                  <a:cubicBezTo>
                    <a:pt x="1134" y="0"/>
                    <a:pt x="663" y="157"/>
                    <a:pt x="472" y="558"/>
                  </a:cubicBezTo>
                  <a:close/>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3" name="Google Shape;3603;p106"/>
            <p:cNvSpPr/>
            <p:nvPr/>
          </p:nvSpPr>
          <p:spPr>
            <a:xfrm>
              <a:off x="2565625" y="2843750"/>
              <a:ext cx="310300" cy="81075"/>
            </a:xfrm>
            <a:custGeom>
              <a:rect b="b" l="l" r="r" t="t"/>
              <a:pathLst>
                <a:path extrusionOk="0" fill="none" h="3243" w="12412">
                  <a:moveTo>
                    <a:pt x="0" y="0"/>
                  </a:moveTo>
                  <a:cubicBezTo>
                    <a:pt x="0" y="0"/>
                    <a:pt x="5125" y="3243"/>
                    <a:pt x="12411" y="1064"/>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4" name="Google Shape;3604;p106"/>
            <p:cNvSpPr/>
            <p:nvPr/>
          </p:nvSpPr>
          <p:spPr>
            <a:xfrm>
              <a:off x="2873725" y="2808450"/>
              <a:ext cx="42725" cy="85875"/>
            </a:xfrm>
            <a:custGeom>
              <a:rect b="b" l="l" r="r" t="t"/>
              <a:pathLst>
                <a:path extrusionOk="0" fill="none" h="3435" w="1709">
                  <a:moveTo>
                    <a:pt x="1708" y="0"/>
                  </a:moveTo>
                  <a:cubicBezTo>
                    <a:pt x="1708" y="0"/>
                    <a:pt x="366" y="157"/>
                    <a:pt x="261" y="872"/>
                  </a:cubicBezTo>
                  <a:cubicBezTo>
                    <a:pt x="174" y="1430"/>
                    <a:pt x="0" y="2999"/>
                    <a:pt x="227" y="3225"/>
                  </a:cubicBezTo>
                  <a:cubicBezTo>
                    <a:pt x="471" y="3434"/>
                    <a:pt x="1639" y="3016"/>
                    <a:pt x="1639" y="3016"/>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5" name="Google Shape;3605;p106"/>
            <p:cNvSpPr/>
            <p:nvPr/>
          </p:nvSpPr>
          <p:spPr>
            <a:xfrm>
              <a:off x="2624875" y="2435850"/>
              <a:ext cx="104625" cy="227075"/>
            </a:xfrm>
            <a:custGeom>
              <a:rect b="b" l="l" r="r" t="t"/>
              <a:pathLst>
                <a:path extrusionOk="0" fill="none" h="9083" w="4185">
                  <a:moveTo>
                    <a:pt x="1" y="1"/>
                  </a:moveTo>
                  <a:cubicBezTo>
                    <a:pt x="2389" y="2459"/>
                    <a:pt x="3853" y="5666"/>
                    <a:pt x="4184" y="9082"/>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6" name="Google Shape;3606;p106"/>
            <p:cNvSpPr/>
            <p:nvPr/>
          </p:nvSpPr>
          <p:spPr>
            <a:xfrm>
              <a:off x="2704625" y="2420600"/>
              <a:ext cx="84125" cy="242750"/>
            </a:xfrm>
            <a:custGeom>
              <a:rect b="b" l="l" r="r" t="t"/>
              <a:pathLst>
                <a:path extrusionOk="0" fill="none" h="9710" w="3365">
                  <a:moveTo>
                    <a:pt x="1" y="1"/>
                  </a:moveTo>
                  <a:cubicBezTo>
                    <a:pt x="1970" y="2650"/>
                    <a:pt x="3313" y="6415"/>
                    <a:pt x="3365" y="9710"/>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7" name="Google Shape;3607;p106"/>
            <p:cNvSpPr/>
            <p:nvPr/>
          </p:nvSpPr>
          <p:spPr>
            <a:xfrm>
              <a:off x="2787000" y="2441100"/>
              <a:ext cx="57100" cy="226625"/>
            </a:xfrm>
            <a:custGeom>
              <a:rect b="b" l="l" r="r" t="t"/>
              <a:pathLst>
                <a:path extrusionOk="0" fill="none" h="9065" w="2284">
                  <a:moveTo>
                    <a:pt x="0" y="0"/>
                  </a:moveTo>
                  <a:cubicBezTo>
                    <a:pt x="1499" y="2772"/>
                    <a:pt x="2284" y="5892"/>
                    <a:pt x="2231" y="9064"/>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8" name="Google Shape;3608;p106"/>
            <p:cNvSpPr/>
            <p:nvPr/>
          </p:nvSpPr>
          <p:spPr>
            <a:xfrm>
              <a:off x="2429650" y="2515925"/>
              <a:ext cx="65825" cy="65125"/>
            </a:xfrm>
            <a:custGeom>
              <a:rect b="b" l="l" r="r" t="t"/>
              <a:pathLst>
                <a:path extrusionOk="0" h="2605" w="2633">
                  <a:moveTo>
                    <a:pt x="1821" y="0"/>
                  </a:moveTo>
                  <a:cubicBezTo>
                    <a:pt x="1795" y="0"/>
                    <a:pt x="1770" y="2"/>
                    <a:pt x="1744" y="5"/>
                  </a:cubicBezTo>
                  <a:cubicBezTo>
                    <a:pt x="1447" y="40"/>
                    <a:pt x="1151" y="284"/>
                    <a:pt x="959" y="511"/>
                  </a:cubicBezTo>
                  <a:cubicBezTo>
                    <a:pt x="646" y="842"/>
                    <a:pt x="402" y="1225"/>
                    <a:pt x="192" y="1626"/>
                  </a:cubicBezTo>
                  <a:cubicBezTo>
                    <a:pt x="175" y="1679"/>
                    <a:pt x="157" y="1713"/>
                    <a:pt x="123" y="1766"/>
                  </a:cubicBezTo>
                  <a:cubicBezTo>
                    <a:pt x="35" y="1923"/>
                    <a:pt x="1" y="2114"/>
                    <a:pt x="53" y="2306"/>
                  </a:cubicBezTo>
                  <a:cubicBezTo>
                    <a:pt x="135" y="2486"/>
                    <a:pt x="323" y="2604"/>
                    <a:pt x="533" y="2604"/>
                  </a:cubicBezTo>
                  <a:cubicBezTo>
                    <a:pt x="547" y="2604"/>
                    <a:pt x="561" y="2604"/>
                    <a:pt x="576" y="2602"/>
                  </a:cubicBezTo>
                  <a:cubicBezTo>
                    <a:pt x="1116" y="2550"/>
                    <a:pt x="1604" y="2289"/>
                    <a:pt x="1935" y="1870"/>
                  </a:cubicBezTo>
                  <a:cubicBezTo>
                    <a:pt x="2302" y="1469"/>
                    <a:pt x="2633" y="946"/>
                    <a:pt x="2406" y="406"/>
                  </a:cubicBezTo>
                  <a:cubicBezTo>
                    <a:pt x="2311" y="153"/>
                    <a:pt x="2073" y="0"/>
                    <a:pt x="182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106"/>
            <p:cNvSpPr/>
            <p:nvPr/>
          </p:nvSpPr>
          <p:spPr>
            <a:xfrm>
              <a:off x="2394800" y="2591425"/>
              <a:ext cx="35750" cy="34625"/>
            </a:xfrm>
            <a:custGeom>
              <a:rect b="b" l="l" r="r" t="t"/>
              <a:pathLst>
                <a:path extrusionOk="0" h="1385" w="1430">
                  <a:moveTo>
                    <a:pt x="674" y="0"/>
                  </a:moveTo>
                  <a:cubicBezTo>
                    <a:pt x="338" y="0"/>
                    <a:pt x="104" y="373"/>
                    <a:pt x="52" y="663"/>
                  </a:cubicBezTo>
                  <a:cubicBezTo>
                    <a:pt x="0" y="890"/>
                    <a:pt x="70" y="1116"/>
                    <a:pt x="262" y="1273"/>
                  </a:cubicBezTo>
                  <a:cubicBezTo>
                    <a:pt x="358" y="1345"/>
                    <a:pt x="479" y="1384"/>
                    <a:pt x="602" y="1384"/>
                  </a:cubicBezTo>
                  <a:cubicBezTo>
                    <a:pt x="657" y="1384"/>
                    <a:pt x="713" y="1377"/>
                    <a:pt x="767" y="1360"/>
                  </a:cubicBezTo>
                  <a:cubicBezTo>
                    <a:pt x="924" y="1291"/>
                    <a:pt x="1081" y="1186"/>
                    <a:pt x="1185" y="1047"/>
                  </a:cubicBezTo>
                  <a:cubicBezTo>
                    <a:pt x="1238" y="977"/>
                    <a:pt x="1273" y="907"/>
                    <a:pt x="1290" y="820"/>
                  </a:cubicBezTo>
                  <a:cubicBezTo>
                    <a:pt x="1429" y="419"/>
                    <a:pt x="1116" y="1"/>
                    <a:pt x="697" y="1"/>
                  </a:cubicBezTo>
                  <a:cubicBezTo>
                    <a:pt x="690" y="0"/>
                    <a:pt x="682" y="0"/>
                    <a:pt x="67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0" name="Google Shape;3610;p106"/>
            <p:cNvSpPr/>
            <p:nvPr/>
          </p:nvSpPr>
          <p:spPr>
            <a:xfrm>
              <a:off x="1059550" y="3024600"/>
              <a:ext cx="435825" cy="406175"/>
            </a:xfrm>
            <a:custGeom>
              <a:rect b="b" l="l" r="r" t="t"/>
              <a:pathLst>
                <a:path extrusionOk="0" h="16247" w="17433">
                  <a:moveTo>
                    <a:pt x="10686" y="0"/>
                  </a:moveTo>
                  <a:cubicBezTo>
                    <a:pt x="10372" y="157"/>
                    <a:pt x="7653" y="3382"/>
                    <a:pt x="5893" y="5038"/>
                  </a:cubicBezTo>
                  <a:cubicBezTo>
                    <a:pt x="4115" y="6694"/>
                    <a:pt x="1" y="9256"/>
                    <a:pt x="1" y="9256"/>
                  </a:cubicBezTo>
                  <a:lnTo>
                    <a:pt x="1622" y="16246"/>
                  </a:lnTo>
                  <a:cubicBezTo>
                    <a:pt x="1622" y="16246"/>
                    <a:pt x="6259" y="11906"/>
                    <a:pt x="6991" y="11226"/>
                  </a:cubicBezTo>
                  <a:cubicBezTo>
                    <a:pt x="7723" y="10529"/>
                    <a:pt x="9205" y="10163"/>
                    <a:pt x="11087" y="8420"/>
                  </a:cubicBezTo>
                  <a:cubicBezTo>
                    <a:pt x="12307" y="7304"/>
                    <a:pt x="12883" y="5369"/>
                    <a:pt x="12883" y="5369"/>
                  </a:cubicBezTo>
                  <a:cubicBezTo>
                    <a:pt x="13283" y="4829"/>
                    <a:pt x="13754" y="4323"/>
                    <a:pt x="14260" y="3853"/>
                  </a:cubicBezTo>
                  <a:cubicBezTo>
                    <a:pt x="15061" y="3138"/>
                    <a:pt x="17432" y="872"/>
                    <a:pt x="16805" y="349"/>
                  </a:cubicBezTo>
                  <a:cubicBezTo>
                    <a:pt x="16745" y="301"/>
                    <a:pt x="16658" y="279"/>
                    <a:pt x="16549" y="279"/>
                  </a:cubicBezTo>
                  <a:cubicBezTo>
                    <a:pt x="15517" y="279"/>
                    <a:pt x="12534" y="2249"/>
                    <a:pt x="12534" y="2249"/>
                  </a:cubicBezTo>
                  <a:cubicBezTo>
                    <a:pt x="12290" y="1796"/>
                    <a:pt x="10686" y="0"/>
                    <a:pt x="1068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1" name="Google Shape;3611;p106"/>
            <p:cNvSpPr/>
            <p:nvPr/>
          </p:nvSpPr>
          <p:spPr>
            <a:xfrm>
              <a:off x="408500" y="2870325"/>
              <a:ext cx="872025" cy="1438550"/>
            </a:xfrm>
            <a:custGeom>
              <a:rect b="b" l="l" r="r" t="t"/>
              <a:pathLst>
                <a:path extrusionOk="0" h="57542" w="34881">
                  <a:moveTo>
                    <a:pt x="14137" y="1"/>
                  </a:moveTo>
                  <a:cubicBezTo>
                    <a:pt x="14137" y="1"/>
                    <a:pt x="4550" y="7043"/>
                    <a:pt x="1639" y="15915"/>
                  </a:cubicBezTo>
                  <a:cubicBezTo>
                    <a:pt x="105" y="20587"/>
                    <a:pt x="1" y="31830"/>
                    <a:pt x="262" y="41470"/>
                  </a:cubicBezTo>
                  <a:cubicBezTo>
                    <a:pt x="297" y="43003"/>
                    <a:pt x="349" y="44520"/>
                    <a:pt x="402" y="45949"/>
                  </a:cubicBezTo>
                  <a:cubicBezTo>
                    <a:pt x="436" y="46891"/>
                    <a:pt x="471" y="47832"/>
                    <a:pt x="524" y="48703"/>
                  </a:cubicBezTo>
                  <a:cubicBezTo>
                    <a:pt x="593" y="50377"/>
                    <a:pt x="663" y="51893"/>
                    <a:pt x="733" y="53183"/>
                  </a:cubicBezTo>
                  <a:cubicBezTo>
                    <a:pt x="890" y="55868"/>
                    <a:pt x="994" y="57541"/>
                    <a:pt x="994" y="57541"/>
                  </a:cubicBezTo>
                  <a:lnTo>
                    <a:pt x="34880" y="57541"/>
                  </a:lnTo>
                  <a:lnTo>
                    <a:pt x="34009" y="53044"/>
                  </a:lnTo>
                  <a:lnTo>
                    <a:pt x="33085" y="48163"/>
                  </a:lnTo>
                  <a:lnTo>
                    <a:pt x="32614" y="45792"/>
                  </a:lnTo>
                  <a:lnTo>
                    <a:pt x="31673" y="40859"/>
                  </a:lnTo>
                  <a:lnTo>
                    <a:pt x="27716" y="20291"/>
                  </a:lnTo>
                  <a:lnTo>
                    <a:pt x="27263" y="17955"/>
                  </a:lnTo>
                  <a:lnTo>
                    <a:pt x="23463" y="6154"/>
                  </a:lnTo>
                  <a:lnTo>
                    <a:pt x="1413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106"/>
            <p:cNvSpPr/>
            <p:nvPr/>
          </p:nvSpPr>
          <p:spPr>
            <a:xfrm>
              <a:off x="415050" y="3892225"/>
              <a:ext cx="809250" cy="136200"/>
            </a:xfrm>
            <a:custGeom>
              <a:rect b="b" l="l" r="r" t="t"/>
              <a:pathLst>
                <a:path extrusionOk="0" h="5448" w="32370">
                  <a:moveTo>
                    <a:pt x="31411" y="1"/>
                  </a:moveTo>
                  <a:cubicBezTo>
                    <a:pt x="26350" y="764"/>
                    <a:pt x="20136" y="1003"/>
                    <a:pt x="14319" y="1003"/>
                  </a:cubicBezTo>
                  <a:cubicBezTo>
                    <a:pt x="8716" y="1003"/>
                    <a:pt x="3481" y="782"/>
                    <a:pt x="0" y="594"/>
                  </a:cubicBezTo>
                  <a:lnTo>
                    <a:pt x="0" y="594"/>
                  </a:lnTo>
                  <a:cubicBezTo>
                    <a:pt x="52" y="2145"/>
                    <a:pt x="87" y="3644"/>
                    <a:pt x="140" y="5073"/>
                  </a:cubicBezTo>
                  <a:cubicBezTo>
                    <a:pt x="3566" y="5349"/>
                    <a:pt x="7813" y="5448"/>
                    <a:pt x="12144" y="5448"/>
                  </a:cubicBezTo>
                  <a:cubicBezTo>
                    <a:pt x="20151" y="5448"/>
                    <a:pt x="28444" y="5109"/>
                    <a:pt x="32370" y="4916"/>
                  </a:cubicBezTo>
                  <a:lnTo>
                    <a:pt x="3141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106"/>
            <p:cNvSpPr/>
            <p:nvPr/>
          </p:nvSpPr>
          <p:spPr>
            <a:xfrm>
              <a:off x="421575" y="4074825"/>
              <a:ext cx="837150" cy="134625"/>
            </a:xfrm>
            <a:custGeom>
              <a:rect b="b" l="l" r="r" t="t"/>
              <a:pathLst>
                <a:path extrusionOk="0" h="5385" w="33486">
                  <a:moveTo>
                    <a:pt x="32562" y="1"/>
                  </a:moveTo>
                  <a:cubicBezTo>
                    <a:pt x="27290" y="705"/>
                    <a:pt x="20920" y="929"/>
                    <a:pt x="14956" y="929"/>
                  </a:cubicBezTo>
                  <a:cubicBezTo>
                    <a:pt x="9108" y="929"/>
                    <a:pt x="3651" y="713"/>
                    <a:pt x="1" y="523"/>
                  </a:cubicBezTo>
                  <a:lnTo>
                    <a:pt x="1" y="523"/>
                  </a:lnTo>
                  <a:cubicBezTo>
                    <a:pt x="70" y="2214"/>
                    <a:pt x="140" y="3731"/>
                    <a:pt x="210" y="5021"/>
                  </a:cubicBezTo>
                  <a:cubicBezTo>
                    <a:pt x="3788" y="5288"/>
                    <a:pt x="8191" y="5385"/>
                    <a:pt x="12681" y="5385"/>
                  </a:cubicBezTo>
                  <a:cubicBezTo>
                    <a:pt x="20767" y="5385"/>
                    <a:pt x="29137" y="5072"/>
                    <a:pt x="33486" y="4881"/>
                  </a:cubicBezTo>
                  <a:lnTo>
                    <a:pt x="3256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106"/>
            <p:cNvSpPr/>
            <p:nvPr/>
          </p:nvSpPr>
          <p:spPr>
            <a:xfrm>
              <a:off x="761925" y="2870325"/>
              <a:ext cx="339500" cy="507725"/>
            </a:xfrm>
            <a:custGeom>
              <a:rect b="b" l="l" r="r" t="t"/>
              <a:pathLst>
                <a:path extrusionOk="0" h="20309" w="13580">
                  <a:moveTo>
                    <a:pt x="0" y="1"/>
                  </a:moveTo>
                  <a:lnTo>
                    <a:pt x="0" y="1"/>
                  </a:lnTo>
                  <a:cubicBezTo>
                    <a:pt x="1" y="1"/>
                    <a:pt x="7287" y="9082"/>
                    <a:pt x="8873" y="11732"/>
                  </a:cubicBezTo>
                  <a:cubicBezTo>
                    <a:pt x="9901" y="13458"/>
                    <a:pt x="12115" y="17571"/>
                    <a:pt x="13579" y="20308"/>
                  </a:cubicBezTo>
                  <a:lnTo>
                    <a:pt x="13126" y="17955"/>
                  </a:lnTo>
                  <a:lnTo>
                    <a:pt x="9326" y="6154"/>
                  </a:lnTo>
                  <a:lnTo>
                    <a:pt x="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106"/>
            <p:cNvSpPr/>
            <p:nvPr/>
          </p:nvSpPr>
          <p:spPr>
            <a:xfrm>
              <a:off x="653850" y="3836450"/>
              <a:ext cx="214425" cy="491600"/>
            </a:xfrm>
            <a:custGeom>
              <a:rect b="b" l="l" r="r" t="t"/>
              <a:pathLst>
                <a:path extrusionOk="0" h="19664" w="8577">
                  <a:moveTo>
                    <a:pt x="2929" y="1"/>
                  </a:moveTo>
                  <a:lnTo>
                    <a:pt x="192" y="558"/>
                  </a:lnTo>
                  <a:lnTo>
                    <a:pt x="0" y="19593"/>
                  </a:lnTo>
                  <a:lnTo>
                    <a:pt x="8577" y="19663"/>
                  </a:lnTo>
                  <a:lnTo>
                    <a:pt x="2929"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6" name="Google Shape;3616;p106"/>
            <p:cNvSpPr/>
            <p:nvPr/>
          </p:nvSpPr>
          <p:spPr>
            <a:xfrm>
              <a:off x="680875" y="3851225"/>
              <a:ext cx="327725" cy="449350"/>
            </a:xfrm>
            <a:custGeom>
              <a:rect b="b" l="l" r="r" t="t"/>
              <a:pathLst>
                <a:path extrusionOk="0" h="17974" w="13109">
                  <a:moveTo>
                    <a:pt x="619" y="1"/>
                  </a:moveTo>
                  <a:cubicBezTo>
                    <a:pt x="229" y="1"/>
                    <a:pt x="0" y="12"/>
                    <a:pt x="0" y="37"/>
                  </a:cubicBezTo>
                  <a:cubicBezTo>
                    <a:pt x="0" y="37"/>
                    <a:pt x="506" y="5964"/>
                    <a:pt x="1534" y="9589"/>
                  </a:cubicBezTo>
                  <a:cubicBezTo>
                    <a:pt x="2545" y="13233"/>
                    <a:pt x="3887" y="17974"/>
                    <a:pt x="3887" y="17974"/>
                  </a:cubicBezTo>
                  <a:lnTo>
                    <a:pt x="13108" y="17974"/>
                  </a:lnTo>
                  <a:cubicBezTo>
                    <a:pt x="13108" y="17974"/>
                    <a:pt x="11174" y="10025"/>
                    <a:pt x="11086" y="8073"/>
                  </a:cubicBezTo>
                  <a:cubicBezTo>
                    <a:pt x="10999" y="6121"/>
                    <a:pt x="10581" y="368"/>
                    <a:pt x="10581" y="368"/>
                  </a:cubicBezTo>
                  <a:cubicBezTo>
                    <a:pt x="10581" y="368"/>
                    <a:pt x="2883" y="1"/>
                    <a:pt x="61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106"/>
            <p:cNvSpPr/>
            <p:nvPr/>
          </p:nvSpPr>
          <p:spPr>
            <a:xfrm>
              <a:off x="543600" y="3142625"/>
              <a:ext cx="587025" cy="734825"/>
            </a:xfrm>
            <a:custGeom>
              <a:rect b="b" l="l" r="r" t="t"/>
              <a:pathLst>
                <a:path extrusionOk="0" h="29393" w="23481">
                  <a:moveTo>
                    <a:pt x="12529" y="1"/>
                  </a:moveTo>
                  <a:cubicBezTo>
                    <a:pt x="12305" y="1"/>
                    <a:pt x="12074" y="13"/>
                    <a:pt x="11836" y="38"/>
                  </a:cubicBezTo>
                  <a:cubicBezTo>
                    <a:pt x="0" y="1311"/>
                    <a:pt x="3382" y="29218"/>
                    <a:pt x="3382" y="29218"/>
                  </a:cubicBezTo>
                  <a:lnTo>
                    <a:pt x="18861" y="29392"/>
                  </a:lnTo>
                  <a:cubicBezTo>
                    <a:pt x="18861" y="29392"/>
                    <a:pt x="23481" y="1"/>
                    <a:pt x="1252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8" name="Google Shape;3618;p106"/>
            <p:cNvSpPr/>
            <p:nvPr/>
          </p:nvSpPr>
          <p:spPr>
            <a:xfrm>
              <a:off x="757125" y="2395650"/>
              <a:ext cx="510700" cy="628525"/>
            </a:xfrm>
            <a:custGeom>
              <a:rect b="b" l="l" r="r" t="t"/>
              <a:pathLst>
                <a:path extrusionOk="0" h="25141" w="20428">
                  <a:moveTo>
                    <a:pt x="11774" y="1"/>
                  </a:moveTo>
                  <a:cubicBezTo>
                    <a:pt x="11572" y="1"/>
                    <a:pt x="11366" y="8"/>
                    <a:pt x="11157" y="23"/>
                  </a:cubicBezTo>
                  <a:cubicBezTo>
                    <a:pt x="4690" y="458"/>
                    <a:pt x="1" y="4903"/>
                    <a:pt x="820" y="10673"/>
                  </a:cubicBezTo>
                  <a:cubicBezTo>
                    <a:pt x="820" y="10673"/>
                    <a:pt x="1012" y="13410"/>
                    <a:pt x="1639" y="15379"/>
                  </a:cubicBezTo>
                  <a:lnTo>
                    <a:pt x="175" y="18988"/>
                  </a:lnTo>
                  <a:cubicBezTo>
                    <a:pt x="175" y="18988"/>
                    <a:pt x="4864" y="23311"/>
                    <a:pt x="9501" y="25141"/>
                  </a:cubicBezTo>
                  <a:lnTo>
                    <a:pt x="10947" y="23067"/>
                  </a:lnTo>
                  <a:cubicBezTo>
                    <a:pt x="10947" y="23067"/>
                    <a:pt x="12616" y="23689"/>
                    <a:pt x="14252" y="23689"/>
                  </a:cubicBezTo>
                  <a:cubicBezTo>
                    <a:pt x="15270" y="23689"/>
                    <a:pt x="16275" y="23448"/>
                    <a:pt x="16857" y="22666"/>
                  </a:cubicBezTo>
                  <a:cubicBezTo>
                    <a:pt x="17310" y="22056"/>
                    <a:pt x="17815" y="20713"/>
                    <a:pt x="18269" y="19092"/>
                  </a:cubicBezTo>
                  <a:cubicBezTo>
                    <a:pt x="18286" y="19040"/>
                    <a:pt x="18303" y="19005"/>
                    <a:pt x="18303" y="18970"/>
                  </a:cubicBezTo>
                  <a:cubicBezTo>
                    <a:pt x="18391" y="18709"/>
                    <a:pt x="18443" y="18447"/>
                    <a:pt x="18530" y="18186"/>
                  </a:cubicBezTo>
                  <a:cubicBezTo>
                    <a:pt x="18728" y="18222"/>
                    <a:pt x="18977" y="18258"/>
                    <a:pt x="19217" y="18258"/>
                  </a:cubicBezTo>
                  <a:cubicBezTo>
                    <a:pt x="19442" y="18258"/>
                    <a:pt x="19660" y="18226"/>
                    <a:pt x="19820" y="18134"/>
                  </a:cubicBezTo>
                  <a:cubicBezTo>
                    <a:pt x="20256" y="17890"/>
                    <a:pt x="19907" y="13514"/>
                    <a:pt x="19820" y="12294"/>
                  </a:cubicBezTo>
                  <a:cubicBezTo>
                    <a:pt x="20081" y="11004"/>
                    <a:pt x="20256" y="9697"/>
                    <a:pt x="20360" y="8390"/>
                  </a:cubicBezTo>
                  <a:cubicBezTo>
                    <a:pt x="20428" y="6366"/>
                    <a:pt x="17802" y="1"/>
                    <a:pt x="1177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9" name="Google Shape;3619;p106"/>
            <p:cNvSpPr/>
            <p:nvPr/>
          </p:nvSpPr>
          <p:spPr>
            <a:xfrm>
              <a:off x="739250" y="2372900"/>
              <a:ext cx="547375" cy="458300"/>
            </a:xfrm>
            <a:custGeom>
              <a:rect b="b" l="l" r="r" t="t"/>
              <a:pathLst>
                <a:path extrusionOk="0" h="18332" w="21895">
                  <a:moveTo>
                    <a:pt x="13509" y="0"/>
                  </a:moveTo>
                  <a:cubicBezTo>
                    <a:pt x="12920" y="0"/>
                    <a:pt x="12334" y="144"/>
                    <a:pt x="11802" y="410"/>
                  </a:cubicBezTo>
                  <a:cubicBezTo>
                    <a:pt x="11394" y="141"/>
                    <a:pt x="10920" y="5"/>
                    <a:pt x="10446" y="5"/>
                  </a:cubicBezTo>
                  <a:cubicBezTo>
                    <a:pt x="10149" y="5"/>
                    <a:pt x="9852" y="58"/>
                    <a:pt x="9571" y="166"/>
                  </a:cubicBezTo>
                  <a:cubicBezTo>
                    <a:pt x="9117" y="392"/>
                    <a:pt x="8717" y="706"/>
                    <a:pt x="8385" y="1089"/>
                  </a:cubicBezTo>
                  <a:cubicBezTo>
                    <a:pt x="8003" y="957"/>
                    <a:pt x="7593" y="890"/>
                    <a:pt x="7182" y="890"/>
                  </a:cubicBezTo>
                  <a:cubicBezTo>
                    <a:pt x="6246" y="890"/>
                    <a:pt x="5308" y="1236"/>
                    <a:pt x="4690" y="1926"/>
                  </a:cubicBezTo>
                  <a:cubicBezTo>
                    <a:pt x="4394" y="2223"/>
                    <a:pt x="4202" y="2606"/>
                    <a:pt x="4167" y="3024"/>
                  </a:cubicBezTo>
                  <a:cubicBezTo>
                    <a:pt x="3749" y="3094"/>
                    <a:pt x="3348" y="3234"/>
                    <a:pt x="2982" y="3443"/>
                  </a:cubicBezTo>
                  <a:cubicBezTo>
                    <a:pt x="2703" y="3652"/>
                    <a:pt x="2459" y="3896"/>
                    <a:pt x="2250" y="4192"/>
                  </a:cubicBezTo>
                  <a:cubicBezTo>
                    <a:pt x="1883" y="4663"/>
                    <a:pt x="1587" y="5186"/>
                    <a:pt x="1378" y="5744"/>
                  </a:cubicBezTo>
                  <a:cubicBezTo>
                    <a:pt x="1169" y="6301"/>
                    <a:pt x="1151" y="6911"/>
                    <a:pt x="1308" y="7487"/>
                  </a:cubicBezTo>
                  <a:cubicBezTo>
                    <a:pt x="1552" y="8358"/>
                    <a:pt x="1517" y="8463"/>
                    <a:pt x="1500" y="9369"/>
                  </a:cubicBezTo>
                  <a:cubicBezTo>
                    <a:pt x="1500" y="10293"/>
                    <a:pt x="838" y="11705"/>
                    <a:pt x="1535" y="12298"/>
                  </a:cubicBezTo>
                  <a:cubicBezTo>
                    <a:pt x="1535" y="12298"/>
                    <a:pt x="1" y="14320"/>
                    <a:pt x="838" y="15557"/>
                  </a:cubicBezTo>
                  <a:cubicBezTo>
                    <a:pt x="1233" y="16155"/>
                    <a:pt x="1735" y="16310"/>
                    <a:pt x="2147" y="16310"/>
                  </a:cubicBezTo>
                  <a:cubicBezTo>
                    <a:pt x="2589" y="16310"/>
                    <a:pt x="2929" y="16133"/>
                    <a:pt x="2929" y="16133"/>
                  </a:cubicBezTo>
                  <a:lnTo>
                    <a:pt x="2929" y="16133"/>
                  </a:lnTo>
                  <a:cubicBezTo>
                    <a:pt x="2929" y="16133"/>
                    <a:pt x="2738" y="17963"/>
                    <a:pt x="4760" y="18294"/>
                  </a:cubicBezTo>
                  <a:cubicBezTo>
                    <a:pt x="4925" y="18319"/>
                    <a:pt x="5087" y="18331"/>
                    <a:pt x="5244" y="18331"/>
                  </a:cubicBezTo>
                  <a:cubicBezTo>
                    <a:pt x="7030" y="18331"/>
                    <a:pt x="8281" y="16830"/>
                    <a:pt x="8281" y="16830"/>
                  </a:cubicBezTo>
                  <a:cubicBezTo>
                    <a:pt x="8281" y="16830"/>
                    <a:pt x="8744" y="18126"/>
                    <a:pt x="9969" y="18126"/>
                  </a:cubicBezTo>
                  <a:cubicBezTo>
                    <a:pt x="10151" y="18126"/>
                    <a:pt x="10349" y="18098"/>
                    <a:pt x="10564" y="18033"/>
                  </a:cubicBezTo>
                  <a:cubicBezTo>
                    <a:pt x="12255" y="17527"/>
                    <a:pt x="13231" y="13622"/>
                    <a:pt x="13231" y="13622"/>
                  </a:cubicBezTo>
                  <a:cubicBezTo>
                    <a:pt x="13231" y="13622"/>
                    <a:pt x="13842" y="13159"/>
                    <a:pt x="14479" y="13159"/>
                  </a:cubicBezTo>
                  <a:cubicBezTo>
                    <a:pt x="14689" y="13159"/>
                    <a:pt x="14902" y="13210"/>
                    <a:pt x="15096" y="13344"/>
                  </a:cubicBezTo>
                  <a:cubicBezTo>
                    <a:pt x="15866" y="13857"/>
                    <a:pt x="15410" y="16100"/>
                    <a:pt x="16283" y="16100"/>
                  </a:cubicBezTo>
                  <a:cubicBezTo>
                    <a:pt x="16300" y="16100"/>
                    <a:pt x="16317" y="16099"/>
                    <a:pt x="16334" y="16098"/>
                  </a:cubicBezTo>
                  <a:cubicBezTo>
                    <a:pt x="17293" y="16011"/>
                    <a:pt x="18408" y="12106"/>
                    <a:pt x="18408" y="12106"/>
                  </a:cubicBezTo>
                  <a:cubicBezTo>
                    <a:pt x="18408" y="12106"/>
                    <a:pt x="18698" y="12225"/>
                    <a:pt x="19100" y="12225"/>
                  </a:cubicBezTo>
                  <a:cubicBezTo>
                    <a:pt x="19694" y="12225"/>
                    <a:pt x="20531" y="11965"/>
                    <a:pt x="21040" y="10677"/>
                  </a:cubicBezTo>
                  <a:cubicBezTo>
                    <a:pt x="21895" y="8515"/>
                    <a:pt x="20657" y="6493"/>
                    <a:pt x="20657" y="6493"/>
                  </a:cubicBezTo>
                  <a:cubicBezTo>
                    <a:pt x="20657" y="6493"/>
                    <a:pt x="21093" y="3478"/>
                    <a:pt x="19576" y="2467"/>
                  </a:cubicBezTo>
                  <a:cubicBezTo>
                    <a:pt x="18772" y="1915"/>
                    <a:pt x="17826" y="1620"/>
                    <a:pt x="16866" y="1620"/>
                  </a:cubicBezTo>
                  <a:cubicBezTo>
                    <a:pt x="16764" y="1620"/>
                    <a:pt x="16663" y="1623"/>
                    <a:pt x="16561" y="1630"/>
                  </a:cubicBezTo>
                  <a:cubicBezTo>
                    <a:pt x="16038" y="880"/>
                    <a:pt x="15271" y="340"/>
                    <a:pt x="14399" y="113"/>
                  </a:cubicBezTo>
                  <a:cubicBezTo>
                    <a:pt x="14106" y="37"/>
                    <a:pt x="13807" y="0"/>
                    <a:pt x="1350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0" name="Google Shape;3620;p106"/>
            <p:cNvSpPr/>
            <p:nvPr/>
          </p:nvSpPr>
          <p:spPr>
            <a:xfrm>
              <a:off x="1034725" y="2695675"/>
              <a:ext cx="115500" cy="138575"/>
            </a:xfrm>
            <a:custGeom>
              <a:rect b="b" l="l" r="r" t="t"/>
              <a:pathLst>
                <a:path extrusionOk="0" h="5543" w="4620">
                  <a:moveTo>
                    <a:pt x="2443" y="1"/>
                  </a:moveTo>
                  <a:cubicBezTo>
                    <a:pt x="2171" y="1"/>
                    <a:pt x="1901" y="56"/>
                    <a:pt x="1656" y="154"/>
                  </a:cubicBezTo>
                  <a:cubicBezTo>
                    <a:pt x="1011" y="433"/>
                    <a:pt x="593" y="1078"/>
                    <a:pt x="366" y="1757"/>
                  </a:cubicBezTo>
                  <a:cubicBezTo>
                    <a:pt x="0" y="2803"/>
                    <a:pt x="87" y="4128"/>
                    <a:pt x="907" y="4860"/>
                  </a:cubicBezTo>
                  <a:cubicBezTo>
                    <a:pt x="1395" y="5313"/>
                    <a:pt x="2075" y="5470"/>
                    <a:pt x="2737" y="5523"/>
                  </a:cubicBezTo>
                  <a:cubicBezTo>
                    <a:pt x="2824" y="5536"/>
                    <a:pt x="2910" y="5543"/>
                    <a:pt x="2996" y="5543"/>
                  </a:cubicBezTo>
                  <a:cubicBezTo>
                    <a:pt x="3239" y="5543"/>
                    <a:pt x="3477" y="5491"/>
                    <a:pt x="3696" y="5400"/>
                  </a:cubicBezTo>
                  <a:cubicBezTo>
                    <a:pt x="4149" y="5139"/>
                    <a:pt x="4306" y="4564"/>
                    <a:pt x="4393" y="4041"/>
                  </a:cubicBezTo>
                  <a:cubicBezTo>
                    <a:pt x="4620" y="2542"/>
                    <a:pt x="4620" y="311"/>
                    <a:pt x="2789" y="32"/>
                  </a:cubicBezTo>
                  <a:cubicBezTo>
                    <a:pt x="2675" y="11"/>
                    <a:pt x="2559" y="1"/>
                    <a:pt x="2443"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1" name="Google Shape;3621;p106"/>
            <p:cNvSpPr/>
            <p:nvPr/>
          </p:nvSpPr>
          <p:spPr>
            <a:xfrm>
              <a:off x="1036900" y="2784050"/>
              <a:ext cx="81950" cy="45775"/>
            </a:xfrm>
            <a:custGeom>
              <a:rect b="b" l="l" r="r" t="t"/>
              <a:pathLst>
                <a:path extrusionOk="0" fill="none" h="1831" w="3278">
                  <a:moveTo>
                    <a:pt x="0" y="0"/>
                  </a:moveTo>
                  <a:cubicBezTo>
                    <a:pt x="210" y="663"/>
                    <a:pt x="680" y="1221"/>
                    <a:pt x="1308" y="1517"/>
                  </a:cubicBezTo>
                  <a:cubicBezTo>
                    <a:pt x="1935" y="1796"/>
                    <a:pt x="2633" y="1831"/>
                    <a:pt x="3277" y="1621"/>
                  </a:cubicBezTo>
                </a:path>
              </a:pathLst>
            </a:custGeom>
            <a:noFill/>
            <a:ln cap="rnd" cmpd="sng" w="3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2" name="Google Shape;3622;p106"/>
            <p:cNvSpPr/>
            <p:nvPr/>
          </p:nvSpPr>
          <p:spPr>
            <a:xfrm>
              <a:off x="1092250" y="2743075"/>
              <a:ext cx="20075" cy="45800"/>
            </a:xfrm>
            <a:custGeom>
              <a:rect b="b" l="l" r="r" t="t"/>
              <a:pathLst>
                <a:path extrusionOk="0" fill="none" h="1832" w="803">
                  <a:moveTo>
                    <a:pt x="0" y="1"/>
                  </a:moveTo>
                  <a:cubicBezTo>
                    <a:pt x="506" y="489"/>
                    <a:pt x="785" y="1151"/>
                    <a:pt x="802" y="1831"/>
                  </a:cubicBezTo>
                </a:path>
              </a:pathLst>
            </a:custGeom>
            <a:noFill/>
            <a:ln cap="rnd" cmpd="sng" w="3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3" name="Google Shape;3623;p106"/>
            <p:cNvSpPr/>
            <p:nvPr/>
          </p:nvSpPr>
          <p:spPr>
            <a:xfrm>
              <a:off x="1209475" y="2751600"/>
              <a:ext cx="21800" cy="29625"/>
            </a:xfrm>
            <a:custGeom>
              <a:rect b="b" l="l" r="r" t="t"/>
              <a:pathLst>
                <a:path extrusionOk="0" h="1185" w="872">
                  <a:moveTo>
                    <a:pt x="519" y="1"/>
                  </a:moveTo>
                  <a:cubicBezTo>
                    <a:pt x="341" y="1"/>
                    <a:pt x="149" y="213"/>
                    <a:pt x="70" y="497"/>
                  </a:cubicBezTo>
                  <a:cubicBezTo>
                    <a:pt x="0" y="828"/>
                    <a:pt x="87" y="1124"/>
                    <a:pt x="297" y="1176"/>
                  </a:cubicBezTo>
                  <a:cubicBezTo>
                    <a:pt x="316" y="1182"/>
                    <a:pt x="336" y="1184"/>
                    <a:pt x="357" y="1184"/>
                  </a:cubicBezTo>
                  <a:cubicBezTo>
                    <a:pt x="533" y="1184"/>
                    <a:pt x="724" y="985"/>
                    <a:pt x="802" y="688"/>
                  </a:cubicBezTo>
                  <a:cubicBezTo>
                    <a:pt x="872" y="374"/>
                    <a:pt x="785" y="61"/>
                    <a:pt x="575" y="8"/>
                  </a:cubicBezTo>
                  <a:cubicBezTo>
                    <a:pt x="557" y="3"/>
                    <a:pt x="538" y="1"/>
                    <a:pt x="51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4" name="Google Shape;3624;p106"/>
            <p:cNvSpPr/>
            <p:nvPr/>
          </p:nvSpPr>
          <p:spPr>
            <a:xfrm>
              <a:off x="1188975" y="2853700"/>
              <a:ext cx="26175" cy="19275"/>
            </a:xfrm>
            <a:custGeom>
              <a:rect b="b" l="l" r="r" t="t"/>
              <a:pathLst>
                <a:path extrusionOk="0" h="771" w="1047">
                  <a:moveTo>
                    <a:pt x="79" y="1"/>
                  </a:moveTo>
                  <a:cubicBezTo>
                    <a:pt x="65" y="1"/>
                    <a:pt x="51" y="6"/>
                    <a:pt x="36" y="21"/>
                  </a:cubicBezTo>
                  <a:cubicBezTo>
                    <a:pt x="1" y="38"/>
                    <a:pt x="1" y="73"/>
                    <a:pt x="18" y="90"/>
                  </a:cubicBezTo>
                  <a:cubicBezTo>
                    <a:pt x="262" y="439"/>
                    <a:pt x="611" y="666"/>
                    <a:pt x="1012" y="770"/>
                  </a:cubicBezTo>
                  <a:cubicBezTo>
                    <a:pt x="1029" y="718"/>
                    <a:pt x="1029" y="683"/>
                    <a:pt x="1047" y="648"/>
                  </a:cubicBezTo>
                  <a:cubicBezTo>
                    <a:pt x="663" y="561"/>
                    <a:pt x="350" y="335"/>
                    <a:pt x="123" y="21"/>
                  </a:cubicBezTo>
                  <a:cubicBezTo>
                    <a:pt x="113" y="11"/>
                    <a:pt x="97" y="1"/>
                    <a:pt x="7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5" name="Google Shape;3625;p106"/>
            <p:cNvSpPr/>
            <p:nvPr/>
          </p:nvSpPr>
          <p:spPr>
            <a:xfrm>
              <a:off x="1199875" y="2698900"/>
              <a:ext cx="45775" cy="27650"/>
            </a:xfrm>
            <a:custGeom>
              <a:rect b="b" l="l" r="r" t="t"/>
              <a:pathLst>
                <a:path extrusionOk="0" h="1106" w="1831">
                  <a:moveTo>
                    <a:pt x="999" y="1"/>
                  </a:moveTo>
                  <a:cubicBezTo>
                    <a:pt x="689" y="1"/>
                    <a:pt x="363" y="176"/>
                    <a:pt x="123" y="478"/>
                  </a:cubicBezTo>
                  <a:cubicBezTo>
                    <a:pt x="36" y="565"/>
                    <a:pt x="1" y="687"/>
                    <a:pt x="18" y="809"/>
                  </a:cubicBezTo>
                  <a:cubicBezTo>
                    <a:pt x="53" y="949"/>
                    <a:pt x="210" y="1001"/>
                    <a:pt x="349" y="1036"/>
                  </a:cubicBezTo>
                  <a:cubicBezTo>
                    <a:pt x="570" y="1082"/>
                    <a:pt x="799" y="1105"/>
                    <a:pt x="1030" y="1105"/>
                  </a:cubicBezTo>
                  <a:cubicBezTo>
                    <a:pt x="1145" y="1105"/>
                    <a:pt x="1262" y="1100"/>
                    <a:pt x="1378" y="1088"/>
                  </a:cubicBezTo>
                  <a:cubicBezTo>
                    <a:pt x="1535" y="1071"/>
                    <a:pt x="1744" y="1001"/>
                    <a:pt x="1814" y="844"/>
                  </a:cubicBezTo>
                  <a:cubicBezTo>
                    <a:pt x="1831" y="739"/>
                    <a:pt x="1814" y="617"/>
                    <a:pt x="1761" y="530"/>
                  </a:cubicBezTo>
                  <a:cubicBezTo>
                    <a:pt x="1582" y="163"/>
                    <a:pt x="1298" y="1"/>
                    <a:pt x="99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106"/>
            <p:cNvSpPr/>
            <p:nvPr/>
          </p:nvSpPr>
          <p:spPr>
            <a:xfrm>
              <a:off x="749725" y="2571500"/>
              <a:ext cx="512500" cy="142450"/>
            </a:xfrm>
            <a:custGeom>
              <a:rect b="b" l="l" r="r" t="t"/>
              <a:pathLst>
                <a:path extrusionOk="0" h="5698" w="20500">
                  <a:moveTo>
                    <a:pt x="17000" y="1"/>
                  </a:moveTo>
                  <a:cubicBezTo>
                    <a:pt x="13634" y="1"/>
                    <a:pt x="750" y="1495"/>
                    <a:pt x="750" y="1495"/>
                  </a:cubicBezTo>
                  <a:cubicBezTo>
                    <a:pt x="750" y="1495"/>
                    <a:pt x="0" y="3866"/>
                    <a:pt x="1116" y="4354"/>
                  </a:cubicBezTo>
                  <a:cubicBezTo>
                    <a:pt x="1967" y="4732"/>
                    <a:pt x="6236" y="5698"/>
                    <a:pt x="8882" y="5698"/>
                  </a:cubicBezTo>
                  <a:cubicBezTo>
                    <a:pt x="9649" y="5698"/>
                    <a:pt x="10279" y="5617"/>
                    <a:pt x="10651" y="5417"/>
                  </a:cubicBezTo>
                  <a:cubicBezTo>
                    <a:pt x="12289" y="4545"/>
                    <a:pt x="12132" y="2837"/>
                    <a:pt x="14364" y="2332"/>
                  </a:cubicBezTo>
                  <a:cubicBezTo>
                    <a:pt x="16612" y="1826"/>
                    <a:pt x="20499" y="1652"/>
                    <a:pt x="20499" y="1652"/>
                  </a:cubicBezTo>
                  <a:cubicBezTo>
                    <a:pt x="20499" y="1652"/>
                    <a:pt x="19872" y="188"/>
                    <a:pt x="17449" y="13"/>
                  </a:cubicBezTo>
                  <a:cubicBezTo>
                    <a:pt x="17328" y="5"/>
                    <a:pt x="17177" y="1"/>
                    <a:pt x="1700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7" name="Google Shape;3627;p106"/>
            <p:cNvSpPr/>
            <p:nvPr/>
          </p:nvSpPr>
          <p:spPr>
            <a:xfrm>
              <a:off x="696550" y="2277325"/>
              <a:ext cx="696850" cy="391025"/>
            </a:xfrm>
            <a:custGeom>
              <a:rect b="b" l="l" r="r" t="t"/>
              <a:pathLst>
                <a:path extrusionOk="0" h="15641" w="27874">
                  <a:moveTo>
                    <a:pt x="13987" y="1"/>
                  </a:moveTo>
                  <a:cubicBezTo>
                    <a:pt x="13433" y="1"/>
                    <a:pt x="12877" y="40"/>
                    <a:pt x="12325" y="119"/>
                  </a:cubicBezTo>
                  <a:cubicBezTo>
                    <a:pt x="12150" y="136"/>
                    <a:pt x="11993" y="171"/>
                    <a:pt x="11836" y="189"/>
                  </a:cubicBezTo>
                  <a:cubicBezTo>
                    <a:pt x="9675" y="555"/>
                    <a:pt x="7670" y="1601"/>
                    <a:pt x="6136" y="3169"/>
                  </a:cubicBezTo>
                  <a:cubicBezTo>
                    <a:pt x="3992" y="5383"/>
                    <a:pt x="2511" y="8155"/>
                    <a:pt x="1848" y="11170"/>
                  </a:cubicBezTo>
                  <a:cubicBezTo>
                    <a:pt x="1848" y="11170"/>
                    <a:pt x="1" y="11885"/>
                    <a:pt x="471" y="13192"/>
                  </a:cubicBezTo>
                  <a:cubicBezTo>
                    <a:pt x="471" y="13192"/>
                    <a:pt x="855" y="14378"/>
                    <a:pt x="5422" y="15057"/>
                  </a:cubicBezTo>
                  <a:cubicBezTo>
                    <a:pt x="7646" y="15380"/>
                    <a:pt x="8957" y="15579"/>
                    <a:pt x="9917" y="15579"/>
                  </a:cubicBezTo>
                  <a:cubicBezTo>
                    <a:pt x="10929" y="15579"/>
                    <a:pt x="11552" y="15358"/>
                    <a:pt x="12447" y="14831"/>
                  </a:cubicBezTo>
                  <a:cubicBezTo>
                    <a:pt x="14006" y="13902"/>
                    <a:pt x="15124" y="13058"/>
                    <a:pt x="17420" y="13058"/>
                  </a:cubicBezTo>
                  <a:cubicBezTo>
                    <a:pt x="17666" y="13058"/>
                    <a:pt x="17925" y="13068"/>
                    <a:pt x="18199" y="13088"/>
                  </a:cubicBezTo>
                  <a:cubicBezTo>
                    <a:pt x="21023" y="13297"/>
                    <a:pt x="21703" y="14482"/>
                    <a:pt x="23393" y="15075"/>
                  </a:cubicBezTo>
                  <a:cubicBezTo>
                    <a:pt x="24422" y="15435"/>
                    <a:pt x="25798" y="15641"/>
                    <a:pt x="26735" y="15641"/>
                  </a:cubicBezTo>
                  <a:cubicBezTo>
                    <a:pt x="27338" y="15641"/>
                    <a:pt x="27759" y="15556"/>
                    <a:pt x="27786" y="15371"/>
                  </a:cubicBezTo>
                  <a:cubicBezTo>
                    <a:pt x="27873" y="14970"/>
                    <a:pt x="25694" y="14465"/>
                    <a:pt x="25154" y="14134"/>
                  </a:cubicBezTo>
                  <a:cubicBezTo>
                    <a:pt x="25084" y="14099"/>
                    <a:pt x="25049" y="14046"/>
                    <a:pt x="25049" y="13994"/>
                  </a:cubicBezTo>
                  <a:lnTo>
                    <a:pt x="25049" y="13977"/>
                  </a:lnTo>
                  <a:cubicBezTo>
                    <a:pt x="25067" y="13611"/>
                    <a:pt x="24910" y="12007"/>
                    <a:pt x="24439" y="11763"/>
                  </a:cubicBezTo>
                  <a:cubicBezTo>
                    <a:pt x="24683" y="10037"/>
                    <a:pt x="24282" y="8294"/>
                    <a:pt x="23306" y="6847"/>
                  </a:cubicBezTo>
                  <a:cubicBezTo>
                    <a:pt x="21650" y="4407"/>
                    <a:pt x="20430" y="3257"/>
                    <a:pt x="20430" y="3257"/>
                  </a:cubicBezTo>
                  <a:cubicBezTo>
                    <a:pt x="20430" y="3187"/>
                    <a:pt x="20413" y="3117"/>
                    <a:pt x="20413" y="3065"/>
                  </a:cubicBezTo>
                  <a:cubicBezTo>
                    <a:pt x="20395" y="3030"/>
                    <a:pt x="20395" y="2978"/>
                    <a:pt x="20378" y="2943"/>
                  </a:cubicBezTo>
                  <a:cubicBezTo>
                    <a:pt x="20256" y="2490"/>
                    <a:pt x="19855" y="1653"/>
                    <a:pt x="18513" y="973"/>
                  </a:cubicBezTo>
                  <a:cubicBezTo>
                    <a:pt x="18425" y="921"/>
                    <a:pt x="18338" y="886"/>
                    <a:pt x="18269" y="851"/>
                  </a:cubicBezTo>
                  <a:cubicBezTo>
                    <a:pt x="18112" y="764"/>
                    <a:pt x="17937" y="694"/>
                    <a:pt x="17763" y="624"/>
                  </a:cubicBezTo>
                  <a:cubicBezTo>
                    <a:pt x="16546" y="211"/>
                    <a:pt x="15270" y="1"/>
                    <a:pt x="1398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8" name="Google Shape;3628;p106"/>
            <p:cNvSpPr/>
            <p:nvPr/>
          </p:nvSpPr>
          <p:spPr>
            <a:xfrm>
              <a:off x="741000" y="2553375"/>
              <a:ext cx="584400" cy="76875"/>
            </a:xfrm>
            <a:custGeom>
              <a:rect b="b" l="l" r="r" t="t"/>
              <a:pathLst>
                <a:path extrusionOk="0" h="3075" w="23376">
                  <a:moveTo>
                    <a:pt x="14421" y="1"/>
                  </a:moveTo>
                  <a:cubicBezTo>
                    <a:pt x="13626" y="1"/>
                    <a:pt x="12883" y="125"/>
                    <a:pt x="12220" y="372"/>
                  </a:cubicBezTo>
                  <a:cubicBezTo>
                    <a:pt x="11784" y="547"/>
                    <a:pt x="11348" y="773"/>
                    <a:pt x="10930" y="1000"/>
                  </a:cubicBezTo>
                  <a:cubicBezTo>
                    <a:pt x="10581" y="1192"/>
                    <a:pt x="10233" y="1383"/>
                    <a:pt x="9867" y="1540"/>
                  </a:cubicBezTo>
                  <a:cubicBezTo>
                    <a:pt x="9017" y="1901"/>
                    <a:pt x="8045" y="2088"/>
                    <a:pt x="6998" y="2088"/>
                  </a:cubicBezTo>
                  <a:cubicBezTo>
                    <a:pt x="6325" y="2088"/>
                    <a:pt x="5621" y="2011"/>
                    <a:pt x="4899" y="1854"/>
                  </a:cubicBezTo>
                  <a:cubicBezTo>
                    <a:pt x="3225" y="1523"/>
                    <a:pt x="1622" y="826"/>
                    <a:pt x="105" y="163"/>
                  </a:cubicBezTo>
                  <a:cubicBezTo>
                    <a:pt x="96" y="158"/>
                    <a:pt x="87" y="156"/>
                    <a:pt x="78" y="156"/>
                  </a:cubicBezTo>
                  <a:cubicBezTo>
                    <a:pt x="53" y="156"/>
                    <a:pt x="31" y="172"/>
                    <a:pt x="18" y="198"/>
                  </a:cubicBezTo>
                  <a:cubicBezTo>
                    <a:pt x="1" y="215"/>
                    <a:pt x="18" y="250"/>
                    <a:pt x="53" y="268"/>
                  </a:cubicBezTo>
                  <a:cubicBezTo>
                    <a:pt x="1587" y="948"/>
                    <a:pt x="3173" y="1627"/>
                    <a:pt x="4864" y="1976"/>
                  </a:cubicBezTo>
                  <a:cubicBezTo>
                    <a:pt x="5600" y="2133"/>
                    <a:pt x="6315" y="2210"/>
                    <a:pt x="6997" y="2210"/>
                  </a:cubicBezTo>
                  <a:cubicBezTo>
                    <a:pt x="8059" y="2210"/>
                    <a:pt x="9042" y="2023"/>
                    <a:pt x="9902" y="1662"/>
                  </a:cubicBezTo>
                  <a:cubicBezTo>
                    <a:pt x="10285" y="1505"/>
                    <a:pt x="10634" y="1296"/>
                    <a:pt x="10982" y="1104"/>
                  </a:cubicBezTo>
                  <a:cubicBezTo>
                    <a:pt x="11401" y="878"/>
                    <a:pt x="11819" y="669"/>
                    <a:pt x="12272" y="494"/>
                  </a:cubicBezTo>
                  <a:cubicBezTo>
                    <a:pt x="12916" y="247"/>
                    <a:pt x="13644" y="123"/>
                    <a:pt x="14425" y="123"/>
                  </a:cubicBezTo>
                  <a:cubicBezTo>
                    <a:pt x="15018" y="123"/>
                    <a:pt x="15642" y="194"/>
                    <a:pt x="16281" y="337"/>
                  </a:cubicBezTo>
                  <a:cubicBezTo>
                    <a:pt x="17624" y="634"/>
                    <a:pt x="18896" y="1209"/>
                    <a:pt x="20134" y="1749"/>
                  </a:cubicBezTo>
                  <a:lnTo>
                    <a:pt x="20796" y="2063"/>
                  </a:lnTo>
                  <a:cubicBezTo>
                    <a:pt x="21633" y="2464"/>
                    <a:pt x="22487" y="2813"/>
                    <a:pt x="23376" y="3074"/>
                  </a:cubicBezTo>
                  <a:cubicBezTo>
                    <a:pt x="23306" y="3022"/>
                    <a:pt x="23271" y="2970"/>
                    <a:pt x="23271" y="2935"/>
                  </a:cubicBezTo>
                  <a:lnTo>
                    <a:pt x="23271" y="2917"/>
                  </a:lnTo>
                  <a:cubicBezTo>
                    <a:pt x="22452" y="2656"/>
                    <a:pt x="21633" y="2325"/>
                    <a:pt x="20866" y="1941"/>
                  </a:cubicBezTo>
                  <a:lnTo>
                    <a:pt x="20186" y="1645"/>
                  </a:lnTo>
                  <a:cubicBezTo>
                    <a:pt x="18948" y="1087"/>
                    <a:pt x="17676" y="529"/>
                    <a:pt x="16316" y="215"/>
                  </a:cubicBezTo>
                  <a:cubicBezTo>
                    <a:pt x="15661" y="72"/>
                    <a:pt x="15026" y="1"/>
                    <a:pt x="1442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106"/>
            <p:cNvSpPr/>
            <p:nvPr/>
          </p:nvSpPr>
          <p:spPr>
            <a:xfrm>
              <a:off x="1003775" y="2350000"/>
              <a:ext cx="203100" cy="78050"/>
            </a:xfrm>
            <a:custGeom>
              <a:rect b="b" l="l" r="r" t="t"/>
              <a:pathLst>
                <a:path extrusionOk="0" h="3122" w="8124">
                  <a:moveTo>
                    <a:pt x="8089" y="1"/>
                  </a:moveTo>
                  <a:cubicBezTo>
                    <a:pt x="5213" y="350"/>
                    <a:pt x="2441" y="1378"/>
                    <a:pt x="36" y="2999"/>
                  </a:cubicBezTo>
                  <a:cubicBezTo>
                    <a:pt x="1" y="3016"/>
                    <a:pt x="1" y="3051"/>
                    <a:pt x="18" y="3086"/>
                  </a:cubicBezTo>
                  <a:cubicBezTo>
                    <a:pt x="18" y="3104"/>
                    <a:pt x="36" y="3121"/>
                    <a:pt x="70" y="3121"/>
                  </a:cubicBezTo>
                  <a:lnTo>
                    <a:pt x="105" y="3121"/>
                  </a:lnTo>
                  <a:cubicBezTo>
                    <a:pt x="2493" y="1500"/>
                    <a:pt x="5247" y="472"/>
                    <a:pt x="8124" y="123"/>
                  </a:cubicBezTo>
                  <a:cubicBezTo>
                    <a:pt x="8124" y="88"/>
                    <a:pt x="8106" y="53"/>
                    <a:pt x="808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106"/>
            <p:cNvSpPr/>
            <p:nvPr/>
          </p:nvSpPr>
          <p:spPr>
            <a:xfrm>
              <a:off x="946250" y="2297725"/>
              <a:ext cx="213125" cy="79775"/>
            </a:xfrm>
            <a:custGeom>
              <a:rect b="b" l="l" r="r" t="t"/>
              <a:pathLst>
                <a:path extrusionOk="0" h="3191" w="8525">
                  <a:moveTo>
                    <a:pt x="8281" y="0"/>
                  </a:moveTo>
                  <a:cubicBezTo>
                    <a:pt x="5265" y="70"/>
                    <a:pt x="2354" y="1151"/>
                    <a:pt x="18" y="3085"/>
                  </a:cubicBezTo>
                  <a:cubicBezTo>
                    <a:pt x="1" y="3103"/>
                    <a:pt x="1" y="3138"/>
                    <a:pt x="18" y="3173"/>
                  </a:cubicBezTo>
                  <a:cubicBezTo>
                    <a:pt x="36" y="3190"/>
                    <a:pt x="53" y="3190"/>
                    <a:pt x="70" y="3190"/>
                  </a:cubicBezTo>
                  <a:cubicBezTo>
                    <a:pt x="88" y="3190"/>
                    <a:pt x="105" y="3190"/>
                    <a:pt x="105" y="3173"/>
                  </a:cubicBezTo>
                  <a:cubicBezTo>
                    <a:pt x="2476" y="1220"/>
                    <a:pt x="5457" y="140"/>
                    <a:pt x="8525" y="122"/>
                  </a:cubicBezTo>
                  <a:cubicBezTo>
                    <a:pt x="8455" y="87"/>
                    <a:pt x="8368" y="35"/>
                    <a:pt x="82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106"/>
            <p:cNvSpPr/>
            <p:nvPr/>
          </p:nvSpPr>
          <p:spPr>
            <a:xfrm>
              <a:off x="890475" y="2279850"/>
              <a:ext cx="114200" cy="71050"/>
            </a:xfrm>
            <a:custGeom>
              <a:rect b="b" l="l" r="r" t="t"/>
              <a:pathLst>
                <a:path extrusionOk="0" h="2842" w="4568">
                  <a:moveTo>
                    <a:pt x="4568" y="0"/>
                  </a:moveTo>
                  <a:lnTo>
                    <a:pt x="4568" y="0"/>
                  </a:lnTo>
                  <a:cubicBezTo>
                    <a:pt x="4411" y="18"/>
                    <a:pt x="4236" y="53"/>
                    <a:pt x="4079" y="70"/>
                  </a:cubicBezTo>
                  <a:cubicBezTo>
                    <a:pt x="2598" y="750"/>
                    <a:pt x="1221" y="1656"/>
                    <a:pt x="18" y="2737"/>
                  </a:cubicBezTo>
                  <a:cubicBezTo>
                    <a:pt x="1" y="2772"/>
                    <a:pt x="1" y="2807"/>
                    <a:pt x="18" y="2824"/>
                  </a:cubicBezTo>
                  <a:cubicBezTo>
                    <a:pt x="35" y="2842"/>
                    <a:pt x="53" y="2842"/>
                    <a:pt x="70" y="2842"/>
                  </a:cubicBezTo>
                  <a:cubicBezTo>
                    <a:pt x="88" y="2842"/>
                    <a:pt x="105" y="2842"/>
                    <a:pt x="105" y="2824"/>
                  </a:cubicBezTo>
                  <a:cubicBezTo>
                    <a:pt x="1430" y="1639"/>
                    <a:pt x="2929" y="680"/>
                    <a:pt x="45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106"/>
            <p:cNvSpPr/>
            <p:nvPr/>
          </p:nvSpPr>
          <p:spPr>
            <a:xfrm>
              <a:off x="1131875" y="2488150"/>
              <a:ext cx="54950" cy="35975"/>
            </a:xfrm>
            <a:custGeom>
              <a:rect b="b" l="l" r="r" t="t"/>
              <a:pathLst>
                <a:path extrusionOk="0" h="1439" w="2198">
                  <a:moveTo>
                    <a:pt x="1306" y="1"/>
                  </a:moveTo>
                  <a:cubicBezTo>
                    <a:pt x="815" y="1"/>
                    <a:pt x="1" y="257"/>
                    <a:pt x="228" y="802"/>
                  </a:cubicBezTo>
                  <a:cubicBezTo>
                    <a:pt x="315" y="994"/>
                    <a:pt x="455" y="1134"/>
                    <a:pt x="646" y="1221"/>
                  </a:cubicBezTo>
                  <a:cubicBezTo>
                    <a:pt x="850" y="1366"/>
                    <a:pt x="1102" y="1439"/>
                    <a:pt x="1361" y="1439"/>
                  </a:cubicBezTo>
                  <a:cubicBezTo>
                    <a:pt x="1413" y="1439"/>
                    <a:pt x="1466" y="1436"/>
                    <a:pt x="1518" y="1430"/>
                  </a:cubicBezTo>
                  <a:cubicBezTo>
                    <a:pt x="1832" y="1378"/>
                    <a:pt x="2076" y="1151"/>
                    <a:pt x="2145" y="837"/>
                  </a:cubicBezTo>
                  <a:cubicBezTo>
                    <a:pt x="2198" y="454"/>
                    <a:pt x="1867" y="88"/>
                    <a:pt x="1501" y="18"/>
                  </a:cubicBezTo>
                  <a:cubicBezTo>
                    <a:pt x="1446" y="7"/>
                    <a:pt x="1380" y="1"/>
                    <a:pt x="130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3" name="Google Shape;3633;p106"/>
            <p:cNvSpPr/>
            <p:nvPr/>
          </p:nvSpPr>
          <p:spPr>
            <a:xfrm>
              <a:off x="1192475" y="2509350"/>
              <a:ext cx="80200" cy="56975"/>
            </a:xfrm>
            <a:custGeom>
              <a:rect b="b" l="l" r="r" t="t"/>
              <a:pathLst>
                <a:path extrusionOk="0" h="2279" w="3208">
                  <a:moveTo>
                    <a:pt x="1386" y="1"/>
                  </a:moveTo>
                  <a:cubicBezTo>
                    <a:pt x="1299" y="1"/>
                    <a:pt x="1215" y="8"/>
                    <a:pt x="1133" y="24"/>
                  </a:cubicBezTo>
                  <a:cubicBezTo>
                    <a:pt x="262" y="181"/>
                    <a:pt x="0" y="1070"/>
                    <a:pt x="645" y="1663"/>
                  </a:cubicBezTo>
                  <a:cubicBezTo>
                    <a:pt x="977" y="1942"/>
                    <a:pt x="1360" y="2133"/>
                    <a:pt x="1796" y="2220"/>
                  </a:cubicBezTo>
                  <a:cubicBezTo>
                    <a:pt x="1918" y="2261"/>
                    <a:pt x="2047" y="2278"/>
                    <a:pt x="2174" y="2278"/>
                  </a:cubicBezTo>
                  <a:cubicBezTo>
                    <a:pt x="2264" y="2278"/>
                    <a:pt x="2354" y="2270"/>
                    <a:pt x="2441" y="2255"/>
                  </a:cubicBezTo>
                  <a:cubicBezTo>
                    <a:pt x="2563" y="2220"/>
                    <a:pt x="2685" y="2151"/>
                    <a:pt x="2772" y="2081"/>
                  </a:cubicBezTo>
                  <a:cubicBezTo>
                    <a:pt x="3086" y="1802"/>
                    <a:pt x="3208" y="1384"/>
                    <a:pt x="3068" y="1000"/>
                  </a:cubicBezTo>
                  <a:cubicBezTo>
                    <a:pt x="2867" y="459"/>
                    <a:pt x="2064" y="1"/>
                    <a:pt x="138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634" name="Google Shape;3634;p106"/>
          <p:cNvPicPr preferRelativeResize="0"/>
          <p:nvPr/>
        </p:nvPicPr>
        <p:blipFill>
          <a:blip r:embed="rId3">
            <a:alphaModFix/>
          </a:blip>
          <a:stretch>
            <a:fillRect/>
          </a:stretch>
        </p:blipFill>
        <p:spPr>
          <a:xfrm>
            <a:off x="274875" y="44900"/>
            <a:ext cx="3489955" cy="1340025"/>
          </a:xfrm>
          <a:prstGeom prst="rect">
            <a:avLst/>
          </a:prstGeom>
          <a:noFill/>
          <a:ln>
            <a:noFill/>
          </a:ln>
        </p:spPr>
      </p:pic>
      <p:pic>
        <p:nvPicPr>
          <p:cNvPr id="3635" name="Google Shape;3635;p106"/>
          <p:cNvPicPr preferRelativeResize="0"/>
          <p:nvPr/>
        </p:nvPicPr>
        <p:blipFill>
          <a:blip r:embed="rId4">
            <a:alphaModFix/>
          </a:blip>
          <a:stretch>
            <a:fillRect/>
          </a:stretch>
        </p:blipFill>
        <p:spPr>
          <a:xfrm>
            <a:off x="62451" y="123913"/>
            <a:ext cx="1180550" cy="1182000"/>
          </a:xfrm>
          <a:prstGeom prst="rect">
            <a:avLst/>
          </a:prstGeom>
          <a:noFill/>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Agenda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325880"/>
            <a:ext cx="1965960" cy="1417320"/>
          </a:xfrm>
          <a:prstGeom prst="roundRect">
            <a:avLst>
              <a:gd name="adj" fmla="val 6451"/>
            </a:avLst>
          </a:prstGeom>
          <a:solidFill>
            <a:srgbClr val="EDF1F3"/>
          </a:solidFill>
          <a:ln>
            <a:noFill/>
          </a:ln>
        </p:spPr>
        <p:txBody>
          <a:bodyPr rtlCol="0" anchor="ctr" wrap="square" lIns="54864" rIns="54864" tIns="54864" bIns="54864"/>
          <a:lstStyle/>
          <a:p>
            <a:pPr algn="ctr"/>
          </a:p>
        </p:txBody>
      </p:sp>
      <p:sp>
        <p:nvSpPr>
          <p:cNvPr id="5" name="Oval 4"/>
          <p:cNvSpPr/>
          <p:nvPr/>
        </p:nvSpPr>
        <p:spPr>
          <a:xfrm>
            <a:off x="548640" y="1481328"/>
            <a:ext cx="384048" cy="384048"/>
          </a:xfrm>
          <a:prstGeom prst="ellipse">
            <a:avLst/>
          </a:prstGeom>
          <a:solidFill>
            <a:srgbClr val="F2617A"/>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1</a:t>
            </a:r>
          </a:p>
        </p:txBody>
      </p:sp>
      <p:sp>
        <p:nvSpPr>
          <p:cNvPr id="6" name="TextBox 5"/>
          <p:cNvSpPr txBox="1"/>
          <p:nvPr/>
        </p:nvSpPr>
        <p:spPr>
          <a:xfrm>
            <a:off x="548640" y="1929384"/>
            <a:ext cx="1691639" cy="402336"/>
          </a:xfrm>
          <a:prstGeom prst="rect">
            <a:avLst/>
          </a:prstGeom>
          <a:noFill/>
        </p:spPr>
        <p:txBody>
          <a:bodyPr wrap="square" lIns="36576" rIns="36576" tIns="36576" bIns="36576" anchor="b"/>
          <a:lstStyle/>
          <a:p>
            <a:pPr algn="l" marL="0" indent="0">
              <a:spcAft>
                <a:spcPts val="400"/>
              </a:spcAft>
              <a:buNone/>
            </a:pPr>
            <a:r>
              <a:rPr sz="1200" b="1" i="0" lang="es-CL">
                <a:solidFill>
                  <a:srgbClr val="1F2328"/>
                </a:solidFill>
                <a:latin typeface="Inter"/>
                <a:ea typeface="Inter"/>
                <a:cs typeface="Inter"/>
              </a:rPr>
              <a:t>Por qué ahora</a:t>
            </a:r>
          </a:p>
        </p:txBody>
      </p:sp>
      <p:sp>
        <p:nvSpPr>
          <p:cNvPr id="7" name="TextBox 6"/>
          <p:cNvSpPr txBox="1"/>
          <p:nvPr/>
        </p:nvSpPr>
        <p:spPr>
          <a:xfrm>
            <a:off x="548640" y="2350008"/>
            <a:ext cx="1691639" cy="347472"/>
          </a:xfrm>
          <a:prstGeom prst="rect">
            <a:avLst/>
          </a:prstGeom>
          <a:noFill/>
        </p:spPr>
        <p:txBody>
          <a:bodyPr wrap="square" lIns="36576" rIns="36576" tIns="36576" bIns="36576" anchor="t"/>
          <a:lstStyle/>
          <a:p>
            <a:pPr algn="l" marL="0" indent="0">
              <a:spcAft>
                <a:spcPts val="400"/>
              </a:spcAft>
              <a:buNone/>
            </a:pPr>
            <a:r>
              <a:rPr sz="1000" b="0" i="0" lang="es-CL">
                <a:solidFill>
                  <a:srgbClr val="57606A"/>
                </a:solidFill>
                <a:latin typeface="Inter"/>
                <a:ea typeface="Inter"/>
                <a:cs typeface="Inter"/>
              </a:rPr>
              <a:t>La IA y la explosión de tests</a:t>
            </a:r>
          </a:p>
        </p:txBody>
      </p:sp>
      <p:sp>
        <p:nvSpPr>
          <p:cNvPr id="8" name="Rounded Rectangle 7"/>
          <p:cNvSpPr/>
          <p:nvPr/>
        </p:nvSpPr>
        <p:spPr>
          <a:xfrm>
            <a:off x="2560320" y="1325880"/>
            <a:ext cx="1965960" cy="1417320"/>
          </a:xfrm>
          <a:prstGeom prst="roundRect">
            <a:avLst>
              <a:gd name="adj" fmla="val 6451"/>
            </a:avLst>
          </a:prstGeom>
          <a:solidFill>
            <a:srgbClr val="EDF1F3"/>
          </a:solidFill>
          <a:ln>
            <a:noFill/>
          </a:ln>
        </p:spPr>
        <p:txBody>
          <a:bodyPr rtlCol="0" anchor="ctr" wrap="square" lIns="54864" rIns="54864" tIns="54864" bIns="54864"/>
          <a:lstStyle/>
          <a:p>
            <a:pPr algn="ctr"/>
          </a:p>
        </p:txBody>
      </p:sp>
      <p:sp>
        <p:nvSpPr>
          <p:cNvPr id="9" name="Oval 8"/>
          <p:cNvSpPr/>
          <p:nvPr/>
        </p:nvSpPr>
        <p:spPr>
          <a:xfrm>
            <a:off x="2697480" y="1481328"/>
            <a:ext cx="384048" cy="384048"/>
          </a:xfrm>
          <a:prstGeom prst="ellipse">
            <a:avLst/>
          </a:prstGeom>
          <a:solidFill>
            <a:srgbClr val="003D4F"/>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2</a:t>
            </a:r>
          </a:p>
        </p:txBody>
      </p:sp>
      <p:sp>
        <p:nvSpPr>
          <p:cNvPr id="10" name="TextBox 9"/>
          <p:cNvSpPr txBox="1"/>
          <p:nvPr/>
        </p:nvSpPr>
        <p:spPr>
          <a:xfrm>
            <a:off x="2697480" y="1929384"/>
            <a:ext cx="1691639" cy="402336"/>
          </a:xfrm>
          <a:prstGeom prst="rect">
            <a:avLst/>
          </a:prstGeom>
          <a:noFill/>
        </p:spPr>
        <p:txBody>
          <a:bodyPr wrap="square" lIns="36576" rIns="36576" tIns="36576" bIns="36576" anchor="b"/>
          <a:lstStyle/>
          <a:p>
            <a:pPr algn="l" marL="0" indent="0">
              <a:spcAft>
                <a:spcPts val="400"/>
              </a:spcAft>
              <a:buNone/>
            </a:pPr>
            <a:r>
              <a:rPr sz="1200" b="1" i="0" lang="es-CL">
                <a:solidFill>
                  <a:srgbClr val="1F2328"/>
                </a:solidFill>
                <a:latin typeface="Inter"/>
                <a:ea typeface="Inter"/>
                <a:cs typeface="Inter"/>
              </a:rPr>
              <a:t>Spec Driven Development</a:t>
            </a:r>
          </a:p>
        </p:txBody>
      </p:sp>
      <p:sp>
        <p:nvSpPr>
          <p:cNvPr id="11" name="TextBox 10"/>
          <p:cNvSpPr txBox="1"/>
          <p:nvPr/>
        </p:nvSpPr>
        <p:spPr>
          <a:xfrm>
            <a:off x="2697480" y="2350008"/>
            <a:ext cx="1691639" cy="347472"/>
          </a:xfrm>
          <a:prstGeom prst="rect">
            <a:avLst/>
          </a:prstGeom>
          <a:noFill/>
        </p:spPr>
        <p:txBody>
          <a:bodyPr wrap="square" lIns="36576" rIns="36576" tIns="36576" bIns="36576" anchor="t"/>
          <a:lstStyle/>
          <a:p>
            <a:pPr algn="l" marL="0" indent="0">
              <a:spcAft>
                <a:spcPts val="400"/>
              </a:spcAft>
              <a:buNone/>
            </a:pPr>
            <a:r>
              <a:rPr sz="1000" b="0" i="0" lang="es-CL">
                <a:solidFill>
                  <a:srgbClr val="57606A"/>
                </a:solidFill>
                <a:latin typeface="Inter"/>
                <a:ea typeface="Inter"/>
                <a:cs typeface="Inter"/>
              </a:rPr>
              <a:t>La spec manda, también a la IA</a:t>
            </a:r>
          </a:p>
        </p:txBody>
      </p:sp>
      <p:sp>
        <p:nvSpPr>
          <p:cNvPr id="12" name="Rounded Rectangle 11"/>
          <p:cNvSpPr/>
          <p:nvPr/>
        </p:nvSpPr>
        <p:spPr>
          <a:xfrm>
            <a:off x="4709160" y="1325880"/>
            <a:ext cx="1965960" cy="1417320"/>
          </a:xfrm>
          <a:prstGeom prst="roundRect">
            <a:avLst>
              <a:gd name="adj" fmla="val 6451"/>
            </a:avLst>
          </a:prstGeom>
          <a:solidFill>
            <a:srgbClr val="EDF1F3"/>
          </a:solidFill>
          <a:ln>
            <a:noFill/>
          </a:ln>
        </p:spPr>
        <p:txBody>
          <a:bodyPr rtlCol="0" anchor="ctr" wrap="square" lIns="54864" rIns="54864" tIns="54864" bIns="54864"/>
          <a:lstStyle/>
          <a:p>
            <a:pPr algn="ctr"/>
          </a:p>
        </p:txBody>
      </p:sp>
      <p:sp>
        <p:nvSpPr>
          <p:cNvPr id="13" name="Oval 12"/>
          <p:cNvSpPr/>
          <p:nvPr/>
        </p:nvSpPr>
        <p:spPr>
          <a:xfrm>
            <a:off x="4846320" y="1481328"/>
            <a:ext cx="384048" cy="384048"/>
          </a:xfrm>
          <a:prstGeom prst="ellipse">
            <a:avLst/>
          </a:prstGeom>
          <a:solidFill>
            <a:srgbClr val="CC850A"/>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3</a:t>
            </a:r>
          </a:p>
        </p:txBody>
      </p:sp>
      <p:sp>
        <p:nvSpPr>
          <p:cNvPr id="14" name="TextBox 13"/>
          <p:cNvSpPr txBox="1"/>
          <p:nvPr/>
        </p:nvSpPr>
        <p:spPr>
          <a:xfrm>
            <a:off x="4846320" y="1929384"/>
            <a:ext cx="1691639" cy="402336"/>
          </a:xfrm>
          <a:prstGeom prst="rect">
            <a:avLst/>
          </a:prstGeom>
          <a:noFill/>
        </p:spPr>
        <p:txBody>
          <a:bodyPr wrap="square" lIns="36576" rIns="36576" tIns="36576" bIns="36576" anchor="b"/>
          <a:lstStyle/>
          <a:p>
            <a:pPr algn="l" marL="0" indent="0">
              <a:spcAft>
                <a:spcPts val="400"/>
              </a:spcAft>
              <a:buNone/>
            </a:pPr>
            <a:r>
              <a:rPr sz="1200" b="1" i="0" lang="es-CL">
                <a:solidFill>
                  <a:srgbClr val="1F2328"/>
                </a:solidFill>
                <a:latin typeface="Inter"/>
                <a:ea typeface="Inter"/>
                <a:cs typeface="Inter"/>
              </a:rPr>
              <a:t>El proyecto</a:t>
            </a:r>
          </a:p>
        </p:txBody>
      </p:sp>
      <p:sp>
        <p:nvSpPr>
          <p:cNvPr id="15" name="TextBox 14"/>
          <p:cNvSpPr txBox="1"/>
          <p:nvPr/>
        </p:nvSpPr>
        <p:spPr>
          <a:xfrm>
            <a:off x="4846320" y="2350008"/>
            <a:ext cx="1691639" cy="347472"/>
          </a:xfrm>
          <a:prstGeom prst="rect">
            <a:avLst/>
          </a:prstGeom>
          <a:noFill/>
        </p:spPr>
        <p:txBody>
          <a:bodyPr wrap="square" lIns="36576" rIns="36576" tIns="36576" bIns="36576" anchor="t"/>
          <a:lstStyle/>
          <a:p>
            <a:pPr algn="l" marL="0" indent="0">
              <a:spcAft>
                <a:spcPts val="400"/>
              </a:spcAft>
              <a:buNone/>
            </a:pPr>
            <a:r>
              <a:rPr sz="1000" b="0" i="0" lang="es-CL">
                <a:solidFill>
                  <a:srgbClr val="57606A"/>
                </a:solidFill>
                <a:latin typeface="Inter"/>
                <a:ea typeface="Inter"/>
                <a:cs typeface="Inter"/>
              </a:rPr>
              <a:t>Biblioteca UC en capas</a:t>
            </a:r>
          </a:p>
        </p:txBody>
      </p:sp>
      <p:sp>
        <p:nvSpPr>
          <p:cNvPr id="16" name="Rounded Rectangle 15"/>
          <p:cNvSpPr/>
          <p:nvPr/>
        </p:nvSpPr>
        <p:spPr>
          <a:xfrm>
            <a:off x="6858000" y="1325880"/>
            <a:ext cx="1965960" cy="1417320"/>
          </a:xfrm>
          <a:prstGeom prst="roundRect">
            <a:avLst>
              <a:gd name="adj" fmla="val 6451"/>
            </a:avLst>
          </a:prstGeom>
          <a:solidFill>
            <a:srgbClr val="EDF1F3"/>
          </a:solidFill>
          <a:ln>
            <a:noFill/>
          </a:ln>
        </p:spPr>
        <p:txBody>
          <a:bodyPr rtlCol="0" anchor="ctr" wrap="square" lIns="54864" rIns="54864" tIns="54864" bIns="54864"/>
          <a:lstStyle/>
          <a:p>
            <a:pPr algn="ctr"/>
          </a:p>
        </p:txBody>
      </p:sp>
      <p:sp>
        <p:nvSpPr>
          <p:cNvPr id="17" name="Oval 16"/>
          <p:cNvSpPr/>
          <p:nvPr/>
        </p:nvSpPr>
        <p:spPr>
          <a:xfrm>
            <a:off x="6995160" y="1481328"/>
            <a:ext cx="384048" cy="384048"/>
          </a:xfrm>
          <a:prstGeom prst="ellipse">
            <a:avLst/>
          </a:prstGeom>
          <a:solidFill>
            <a:srgbClr val="38761D"/>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4</a:t>
            </a:r>
          </a:p>
        </p:txBody>
      </p:sp>
      <p:sp>
        <p:nvSpPr>
          <p:cNvPr id="18" name="TextBox 17"/>
          <p:cNvSpPr txBox="1"/>
          <p:nvPr/>
        </p:nvSpPr>
        <p:spPr>
          <a:xfrm>
            <a:off x="6995160" y="1929384"/>
            <a:ext cx="1691639" cy="402336"/>
          </a:xfrm>
          <a:prstGeom prst="rect">
            <a:avLst/>
          </a:prstGeom>
          <a:noFill/>
        </p:spPr>
        <p:txBody>
          <a:bodyPr wrap="square" lIns="36576" rIns="36576" tIns="36576" bIns="36576" anchor="b"/>
          <a:lstStyle/>
          <a:p>
            <a:pPr algn="l" marL="0" indent="0">
              <a:spcAft>
                <a:spcPts val="400"/>
              </a:spcAft>
              <a:buNone/>
            </a:pPr>
            <a:r>
              <a:rPr sz="1200" b="1" i="0" lang="es-CL">
                <a:solidFill>
                  <a:srgbClr val="1F2328"/>
                </a:solidFill>
                <a:latin typeface="Inter"/>
                <a:ea typeface="Inter"/>
                <a:cs typeface="Inter"/>
              </a:rPr>
              <a:t>Tipos de prueba</a:t>
            </a:r>
          </a:p>
        </p:txBody>
      </p:sp>
      <p:sp>
        <p:nvSpPr>
          <p:cNvPr id="19" name="TextBox 18"/>
          <p:cNvSpPr txBox="1"/>
          <p:nvPr/>
        </p:nvSpPr>
        <p:spPr>
          <a:xfrm>
            <a:off x="6995160" y="2350008"/>
            <a:ext cx="1691639" cy="347472"/>
          </a:xfrm>
          <a:prstGeom prst="rect">
            <a:avLst/>
          </a:prstGeom>
          <a:noFill/>
        </p:spPr>
        <p:txBody>
          <a:bodyPr wrap="square" lIns="36576" rIns="36576" tIns="36576" bIns="36576" anchor="t"/>
          <a:lstStyle/>
          <a:p>
            <a:pPr algn="l" marL="0" indent="0">
              <a:spcAft>
                <a:spcPts val="400"/>
              </a:spcAft>
              <a:buNone/>
            </a:pPr>
            <a:r>
              <a:rPr sz="1000" b="0" i="0" lang="es-CL">
                <a:solidFill>
                  <a:srgbClr val="57606A"/>
                </a:solidFill>
                <a:latin typeface="Inter"/>
                <a:ea typeface="Inter"/>
                <a:cs typeface="Inter"/>
              </a:rPr>
              <a:t>Uno por uno, con código real</a:t>
            </a:r>
          </a:p>
        </p:txBody>
      </p:sp>
      <p:sp>
        <p:nvSpPr>
          <p:cNvPr id="20" name="Rounded Rectangle 19"/>
          <p:cNvSpPr/>
          <p:nvPr/>
        </p:nvSpPr>
        <p:spPr>
          <a:xfrm>
            <a:off x="411480" y="3017520"/>
            <a:ext cx="1965960" cy="1417320"/>
          </a:xfrm>
          <a:prstGeom prst="roundRect">
            <a:avLst>
              <a:gd name="adj" fmla="val 6451"/>
            </a:avLst>
          </a:prstGeom>
          <a:solidFill>
            <a:srgbClr val="EDF1F3"/>
          </a:solidFill>
          <a:ln>
            <a:noFill/>
          </a:ln>
        </p:spPr>
        <p:txBody>
          <a:bodyPr rtlCol="0" anchor="ctr" wrap="square" lIns="54864" rIns="54864" tIns="54864" bIns="54864"/>
          <a:lstStyle/>
          <a:p>
            <a:pPr algn="ctr"/>
          </a:p>
        </p:txBody>
      </p:sp>
      <p:sp>
        <p:nvSpPr>
          <p:cNvPr id="21" name="Oval 20"/>
          <p:cNvSpPr/>
          <p:nvPr/>
        </p:nvSpPr>
        <p:spPr>
          <a:xfrm>
            <a:off x="548640" y="3172968"/>
            <a:ext cx="384048" cy="384048"/>
          </a:xfrm>
          <a:prstGeom prst="ellipse">
            <a:avLst/>
          </a:prstGeom>
          <a:solidFill>
            <a:srgbClr val="634F7D"/>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5</a:t>
            </a:r>
          </a:p>
        </p:txBody>
      </p:sp>
      <p:sp>
        <p:nvSpPr>
          <p:cNvPr id="22" name="TextBox 21"/>
          <p:cNvSpPr txBox="1"/>
          <p:nvPr/>
        </p:nvSpPr>
        <p:spPr>
          <a:xfrm>
            <a:off x="548640" y="3621024"/>
            <a:ext cx="1691639" cy="402336"/>
          </a:xfrm>
          <a:prstGeom prst="rect">
            <a:avLst/>
          </a:prstGeom>
          <a:noFill/>
        </p:spPr>
        <p:txBody>
          <a:bodyPr wrap="square" lIns="36576" rIns="36576" tIns="36576" bIns="36576" anchor="b"/>
          <a:lstStyle/>
          <a:p>
            <a:pPr algn="l" marL="0" indent="0">
              <a:spcAft>
                <a:spcPts val="400"/>
              </a:spcAft>
              <a:buNone/>
            </a:pPr>
            <a:r>
              <a:rPr sz="1200" b="1" i="0" lang="es-CL">
                <a:solidFill>
                  <a:srgbClr val="1F2328"/>
                </a:solidFill>
                <a:latin typeface="Inter"/>
                <a:ea typeface="Inter"/>
                <a:cs typeface="Inter"/>
              </a:rPr>
              <a:t>DevSecOps y CI</a:t>
            </a:r>
          </a:p>
        </p:txBody>
      </p:sp>
      <p:sp>
        <p:nvSpPr>
          <p:cNvPr id="23" name="TextBox 22"/>
          <p:cNvSpPr txBox="1"/>
          <p:nvPr/>
        </p:nvSpPr>
        <p:spPr>
          <a:xfrm>
            <a:off x="548640" y="4041648"/>
            <a:ext cx="1691639" cy="347472"/>
          </a:xfrm>
          <a:prstGeom prst="rect">
            <a:avLst/>
          </a:prstGeom>
          <a:noFill/>
        </p:spPr>
        <p:txBody>
          <a:bodyPr wrap="square" lIns="36576" rIns="36576" tIns="36576" bIns="36576" anchor="t"/>
          <a:lstStyle/>
          <a:p>
            <a:pPr algn="l" marL="0" indent="0">
              <a:spcAft>
                <a:spcPts val="400"/>
              </a:spcAft>
              <a:buNone/>
            </a:pPr>
            <a:r>
              <a:rPr sz="1000" b="0" i="0" lang="es-CL">
                <a:solidFill>
                  <a:srgbClr val="57606A"/>
                </a:solidFill>
                <a:latin typeface="Inter"/>
                <a:ea typeface="Inter"/>
                <a:cs typeface="Inter"/>
              </a:rPr>
              <a:t>Etapas, ramas y seguridad</a:t>
            </a:r>
          </a:p>
        </p:txBody>
      </p:sp>
      <p:sp>
        <p:nvSpPr>
          <p:cNvPr id="24" name="Rounded Rectangle 23"/>
          <p:cNvSpPr/>
          <p:nvPr/>
        </p:nvSpPr>
        <p:spPr>
          <a:xfrm>
            <a:off x="2560320" y="3017520"/>
            <a:ext cx="1965960" cy="1417320"/>
          </a:xfrm>
          <a:prstGeom prst="roundRect">
            <a:avLst>
              <a:gd name="adj" fmla="val 6451"/>
            </a:avLst>
          </a:prstGeom>
          <a:solidFill>
            <a:srgbClr val="EDF1F3"/>
          </a:solidFill>
          <a:ln>
            <a:noFill/>
          </a:ln>
        </p:spPr>
        <p:txBody>
          <a:bodyPr rtlCol="0" anchor="ctr" wrap="square" lIns="54864" rIns="54864" tIns="54864" bIns="54864"/>
          <a:lstStyle/>
          <a:p>
            <a:pPr algn="ctr"/>
          </a:p>
        </p:txBody>
      </p:sp>
      <p:sp>
        <p:nvSpPr>
          <p:cNvPr id="25" name="Oval 24"/>
          <p:cNvSpPr/>
          <p:nvPr/>
        </p:nvSpPr>
        <p:spPr>
          <a:xfrm>
            <a:off x="2697480" y="3172968"/>
            <a:ext cx="384048" cy="384048"/>
          </a:xfrm>
          <a:prstGeom prst="ellipse">
            <a:avLst/>
          </a:prstGeom>
          <a:solidFill>
            <a:srgbClr val="47A1AD"/>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6</a:t>
            </a:r>
          </a:p>
        </p:txBody>
      </p:sp>
      <p:sp>
        <p:nvSpPr>
          <p:cNvPr id="26" name="TextBox 25"/>
          <p:cNvSpPr txBox="1"/>
          <p:nvPr/>
        </p:nvSpPr>
        <p:spPr>
          <a:xfrm>
            <a:off x="2697480" y="3621024"/>
            <a:ext cx="1691639" cy="402336"/>
          </a:xfrm>
          <a:prstGeom prst="rect">
            <a:avLst/>
          </a:prstGeom>
          <a:noFill/>
        </p:spPr>
        <p:txBody>
          <a:bodyPr wrap="square" lIns="36576" rIns="36576" tIns="36576" bIns="36576" anchor="b"/>
          <a:lstStyle/>
          <a:p>
            <a:pPr algn="l" marL="0" indent="0">
              <a:spcAft>
                <a:spcPts val="400"/>
              </a:spcAft>
              <a:buNone/>
            </a:pPr>
            <a:r>
              <a:rPr sz="1200" b="1" i="0" lang="es-CL">
                <a:solidFill>
                  <a:srgbClr val="1F2328"/>
                </a:solidFill>
                <a:latin typeface="Inter"/>
                <a:ea typeface="Inter"/>
                <a:cs typeface="Inter"/>
              </a:rPr>
              <a:t>Evidencia en el PR</a:t>
            </a:r>
          </a:p>
        </p:txBody>
      </p:sp>
      <p:sp>
        <p:nvSpPr>
          <p:cNvPr id="27" name="TextBox 26"/>
          <p:cNvSpPr txBox="1"/>
          <p:nvPr/>
        </p:nvSpPr>
        <p:spPr>
          <a:xfrm>
            <a:off x="2697480" y="4041648"/>
            <a:ext cx="1691639" cy="347472"/>
          </a:xfrm>
          <a:prstGeom prst="rect">
            <a:avLst/>
          </a:prstGeom>
          <a:noFill/>
        </p:spPr>
        <p:txBody>
          <a:bodyPr wrap="square" lIns="36576" rIns="36576" tIns="36576" bIns="36576" anchor="t"/>
          <a:lstStyle/>
          <a:p>
            <a:pPr algn="l" marL="0" indent="0">
              <a:spcAft>
                <a:spcPts val="400"/>
              </a:spcAft>
              <a:buNone/>
            </a:pPr>
            <a:r>
              <a:rPr sz="1000" b="0" i="0" lang="es-CL">
                <a:solidFill>
                  <a:srgbClr val="57606A"/>
                </a:solidFill>
                <a:latin typeface="Inter"/>
                <a:ea typeface="Inter"/>
                <a:cs typeface="Inter"/>
              </a:rPr>
              <a:t>Capturas, videos y endpoints</a:t>
            </a:r>
          </a:p>
        </p:txBody>
      </p:sp>
      <p:sp>
        <p:nvSpPr>
          <p:cNvPr id="28" name="Rounded Rectangle 27"/>
          <p:cNvSpPr/>
          <p:nvPr/>
        </p:nvSpPr>
        <p:spPr>
          <a:xfrm>
            <a:off x="4709160" y="3017520"/>
            <a:ext cx="1965960" cy="1417320"/>
          </a:xfrm>
          <a:prstGeom prst="roundRect">
            <a:avLst>
              <a:gd name="adj" fmla="val 6451"/>
            </a:avLst>
          </a:prstGeom>
          <a:solidFill>
            <a:srgbClr val="EDF1F3"/>
          </a:solidFill>
          <a:ln>
            <a:noFill/>
          </a:ln>
        </p:spPr>
        <p:txBody>
          <a:bodyPr rtlCol="0" anchor="ctr" wrap="square" lIns="54864" rIns="54864" tIns="54864" bIns="54864"/>
          <a:lstStyle/>
          <a:p>
            <a:pPr algn="ctr"/>
          </a:p>
        </p:txBody>
      </p:sp>
      <p:sp>
        <p:nvSpPr>
          <p:cNvPr id="29" name="Oval 28"/>
          <p:cNvSpPr/>
          <p:nvPr/>
        </p:nvSpPr>
        <p:spPr>
          <a:xfrm>
            <a:off x="4846320" y="3172968"/>
            <a:ext cx="384048" cy="384048"/>
          </a:xfrm>
          <a:prstGeom prst="ellipse">
            <a:avLst/>
          </a:prstGeom>
          <a:solidFill>
            <a:srgbClr val="4A86E8"/>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7</a:t>
            </a:r>
          </a:p>
        </p:txBody>
      </p:sp>
      <p:sp>
        <p:nvSpPr>
          <p:cNvPr id="30" name="TextBox 29"/>
          <p:cNvSpPr txBox="1"/>
          <p:nvPr/>
        </p:nvSpPr>
        <p:spPr>
          <a:xfrm>
            <a:off x="4846320" y="3621024"/>
            <a:ext cx="1691639" cy="402336"/>
          </a:xfrm>
          <a:prstGeom prst="rect">
            <a:avLst/>
          </a:prstGeom>
          <a:noFill/>
        </p:spPr>
        <p:txBody>
          <a:bodyPr wrap="square" lIns="36576" rIns="36576" tIns="36576" bIns="36576" anchor="b"/>
          <a:lstStyle/>
          <a:p>
            <a:pPr algn="l" marL="0" indent="0">
              <a:spcAft>
                <a:spcPts val="400"/>
              </a:spcAft>
              <a:buNone/>
            </a:pPr>
            <a:r>
              <a:rPr sz="1200" b="1" i="0" lang="es-CL">
                <a:solidFill>
                  <a:srgbClr val="1F2328"/>
                </a:solidFill>
                <a:latin typeface="Inter"/>
                <a:ea typeface="Inter"/>
                <a:cs typeface="Inter"/>
              </a:rPr>
              <a:t>Actividad práctica</a:t>
            </a:r>
          </a:p>
        </p:txBody>
      </p:sp>
      <p:sp>
        <p:nvSpPr>
          <p:cNvPr id="31" name="TextBox 30"/>
          <p:cNvSpPr txBox="1"/>
          <p:nvPr/>
        </p:nvSpPr>
        <p:spPr>
          <a:xfrm>
            <a:off x="4846320" y="4041648"/>
            <a:ext cx="1691639" cy="347472"/>
          </a:xfrm>
          <a:prstGeom prst="rect">
            <a:avLst/>
          </a:prstGeom>
          <a:noFill/>
        </p:spPr>
        <p:txBody>
          <a:bodyPr wrap="square" lIns="36576" rIns="36576" tIns="36576" bIns="36576" anchor="t"/>
          <a:lstStyle/>
          <a:p>
            <a:pPr algn="l" marL="0" indent="0">
              <a:spcAft>
                <a:spcPts val="400"/>
              </a:spcAft>
              <a:buNone/>
            </a:pPr>
            <a:r>
              <a:rPr sz="1000" b="0" i="0" lang="es-CL">
                <a:solidFill>
                  <a:srgbClr val="57606A"/>
                </a:solidFill>
                <a:latin typeface="Inter"/>
                <a:ea typeface="Inter"/>
                <a:cs typeface="Inter"/>
              </a:rPr>
              <a:t>SPEC-LIB-03 con un agente</a:t>
            </a:r>
          </a:p>
        </p:txBody>
      </p:sp>
      <p:sp>
        <p:nvSpPr>
          <p:cNvPr id="32" name="Rounded Rectangle 31"/>
          <p:cNvSpPr/>
          <p:nvPr/>
        </p:nvSpPr>
        <p:spPr>
          <a:xfrm>
            <a:off x="6858000" y="3017520"/>
            <a:ext cx="1965960" cy="1417320"/>
          </a:xfrm>
          <a:prstGeom prst="roundRect">
            <a:avLst>
              <a:gd name="adj" fmla="val 6451"/>
            </a:avLst>
          </a:prstGeom>
          <a:solidFill>
            <a:srgbClr val="EDF1F3"/>
          </a:solidFill>
          <a:ln>
            <a:noFill/>
          </a:ln>
        </p:spPr>
        <p:txBody>
          <a:bodyPr rtlCol="0" anchor="ctr" wrap="square" lIns="54864" rIns="54864" tIns="54864" bIns="54864"/>
          <a:lstStyle/>
          <a:p>
            <a:pPr algn="ctr"/>
          </a:p>
        </p:txBody>
      </p:sp>
      <p:sp>
        <p:nvSpPr>
          <p:cNvPr id="33" name="Oval 32"/>
          <p:cNvSpPr/>
          <p:nvPr/>
        </p:nvSpPr>
        <p:spPr>
          <a:xfrm>
            <a:off x="6995160" y="3172968"/>
            <a:ext cx="384048" cy="384048"/>
          </a:xfrm>
          <a:prstGeom prst="ellipse">
            <a:avLst/>
          </a:prstGeom>
          <a:solidFill>
            <a:srgbClr val="57606A"/>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8</a:t>
            </a:r>
          </a:p>
        </p:txBody>
      </p:sp>
      <p:sp>
        <p:nvSpPr>
          <p:cNvPr id="34" name="TextBox 33"/>
          <p:cNvSpPr txBox="1"/>
          <p:nvPr/>
        </p:nvSpPr>
        <p:spPr>
          <a:xfrm>
            <a:off x="6995160" y="3621024"/>
            <a:ext cx="1691639" cy="402336"/>
          </a:xfrm>
          <a:prstGeom prst="rect">
            <a:avLst/>
          </a:prstGeom>
          <a:noFill/>
        </p:spPr>
        <p:txBody>
          <a:bodyPr wrap="square" lIns="36576" rIns="36576" tIns="36576" bIns="36576" anchor="b"/>
          <a:lstStyle/>
          <a:p>
            <a:pPr algn="l" marL="0" indent="0">
              <a:spcAft>
                <a:spcPts val="400"/>
              </a:spcAft>
              <a:buNone/>
            </a:pPr>
            <a:r>
              <a:rPr sz="1200" b="1" i="0" lang="es-CL">
                <a:solidFill>
                  <a:srgbClr val="1F2328"/>
                </a:solidFill>
                <a:latin typeface="Inter"/>
                <a:ea typeface="Inter"/>
                <a:cs typeface="Inter"/>
              </a:rPr>
              <a:t>Cierre</a:t>
            </a:r>
          </a:p>
        </p:txBody>
      </p:sp>
      <p:sp>
        <p:nvSpPr>
          <p:cNvPr id="35" name="TextBox 34"/>
          <p:cNvSpPr txBox="1"/>
          <p:nvPr/>
        </p:nvSpPr>
        <p:spPr>
          <a:xfrm>
            <a:off x="6995160" y="4041648"/>
            <a:ext cx="1691639" cy="347472"/>
          </a:xfrm>
          <a:prstGeom prst="rect">
            <a:avLst/>
          </a:prstGeom>
          <a:noFill/>
        </p:spPr>
        <p:txBody>
          <a:bodyPr wrap="square" lIns="36576" rIns="36576" tIns="36576" bIns="36576" anchor="t"/>
          <a:lstStyle/>
          <a:p>
            <a:pPr algn="l" marL="0" indent="0">
              <a:spcAft>
                <a:spcPts val="400"/>
              </a:spcAft>
              <a:buNone/>
            </a:pPr>
            <a:r>
              <a:rPr sz="1000" b="0" i="0" lang="es-CL">
                <a:solidFill>
                  <a:srgbClr val="57606A"/>
                </a:solidFill>
                <a:latin typeface="Inter"/>
                <a:ea typeface="Inter"/>
                <a:cs typeface="Inter"/>
              </a:rPr>
              <a:t>Conclusiones y discusión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Al terminar la clase podrás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822960" y="1188720"/>
            <a:ext cx="1737360" cy="566928"/>
          </a:xfrm>
          <a:prstGeom prst="roundRect">
            <a:avLst>
              <a:gd name="adj" fmla="val 12903"/>
            </a:avLst>
          </a:prstGeom>
          <a:solidFill>
            <a:srgbClr val="F2617A"/>
          </a:solidFill>
          <a:ln>
            <a:noFill/>
          </a:ln>
        </p:spPr>
        <p:txBody>
          <a:bodyPr rtlCol="0" anchor="ctr" wrap="square" lIns="54864" rIns="54864" tIns="54864" bIns="54864"/>
          <a:lstStyle/>
          <a:p>
            <a:pPr algn="ctr" marL="0" indent="0">
              <a:spcAft>
                <a:spcPts val="200"/>
              </a:spcAft>
              <a:buNone/>
            </a:pPr>
            <a:r>
              <a:rPr sz="1500" b="1" i="0" lang="es-CL">
                <a:solidFill>
                  <a:srgbClr val="FFFFFF"/>
                </a:solidFill>
                <a:latin typeface="Inter"/>
                <a:ea typeface="Inter"/>
                <a:cs typeface="Inter"/>
              </a:rPr>
              <a:t>Explicar</a:t>
            </a:r>
          </a:p>
        </p:txBody>
      </p:sp>
      <p:sp>
        <p:nvSpPr>
          <p:cNvPr id="5" name="TextBox 4"/>
          <p:cNvSpPr txBox="1"/>
          <p:nvPr/>
        </p:nvSpPr>
        <p:spPr>
          <a:xfrm>
            <a:off x="2743200" y="1188720"/>
            <a:ext cx="5669280" cy="566928"/>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por qué más tests no es más calidad y qué barandas evitan que la IA infle la suite.</a:t>
            </a:r>
          </a:p>
        </p:txBody>
      </p:sp>
      <p:sp>
        <p:nvSpPr>
          <p:cNvPr id="6" name="Rounded Rectangle 5"/>
          <p:cNvSpPr/>
          <p:nvPr/>
        </p:nvSpPr>
        <p:spPr>
          <a:xfrm>
            <a:off x="822960" y="2011680"/>
            <a:ext cx="1737360" cy="566928"/>
          </a:xfrm>
          <a:prstGeom prst="roundRect">
            <a:avLst>
              <a:gd name="adj" fmla="val 12903"/>
            </a:avLst>
          </a:prstGeom>
          <a:solidFill>
            <a:srgbClr val="003D4F"/>
          </a:solidFill>
          <a:ln>
            <a:noFill/>
          </a:ln>
        </p:spPr>
        <p:txBody>
          <a:bodyPr rtlCol="0" anchor="ctr" wrap="square" lIns="54864" rIns="54864" tIns="54864" bIns="54864"/>
          <a:lstStyle/>
          <a:p>
            <a:pPr algn="ctr" marL="0" indent="0">
              <a:spcAft>
                <a:spcPts val="200"/>
              </a:spcAft>
              <a:buNone/>
            </a:pPr>
            <a:r>
              <a:rPr sz="1500" b="1" i="0" lang="es-CL">
                <a:solidFill>
                  <a:srgbClr val="FFFFFF"/>
                </a:solidFill>
                <a:latin typeface="Inter"/>
                <a:ea typeface="Inter"/>
                <a:cs typeface="Inter"/>
              </a:rPr>
              <a:t>Especificar</a:t>
            </a:r>
          </a:p>
        </p:txBody>
      </p:sp>
      <p:sp>
        <p:nvSpPr>
          <p:cNvPr id="7" name="TextBox 6"/>
          <p:cNvSpPr txBox="1"/>
          <p:nvPr/>
        </p:nvSpPr>
        <p:spPr>
          <a:xfrm>
            <a:off x="2743200" y="2011680"/>
            <a:ext cx="5669280" cy="566928"/>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reglas con ID, un contrato OpenAPI y flujos Gherkin que guían a personas y agentes.</a:t>
            </a:r>
          </a:p>
        </p:txBody>
      </p:sp>
      <p:sp>
        <p:nvSpPr>
          <p:cNvPr id="8" name="Rounded Rectangle 7"/>
          <p:cNvSpPr/>
          <p:nvPr/>
        </p:nvSpPr>
        <p:spPr>
          <a:xfrm>
            <a:off x="822960" y="2834640"/>
            <a:ext cx="1737360" cy="566928"/>
          </a:xfrm>
          <a:prstGeom prst="roundRect">
            <a:avLst>
              <a:gd name="adj" fmla="val 12903"/>
            </a:avLst>
          </a:prstGeom>
          <a:solidFill>
            <a:srgbClr val="38761D"/>
          </a:solidFill>
          <a:ln>
            <a:noFill/>
          </a:ln>
        </p:spPr>
        <p:txBody>
          <a:bodyPr rtlCol="0" anchor="ctr" wrap="square" lIns="54864" rIns="54864" tIns="54864" bIns="54864"/>
          <a:lstStyle/>
          <a:p>
            <a:pPr algn="ctr" marL="0" indent="0">
              <a:spcAft>
                <a:spcPts val="200"/>
              </a:spcAft>
              <a:buNone/>
            </a:pPr>
            <a:r>
              <a:rPr sz="1500" b="1" i="0" lang="es-CL">
                <a:solidFill>
                  <a:srgbClr val="FFFFFF"/>
                </a:solidFill>
                <a:latin typeface="Inter"/>
                <a:ea typeface="Inter"/>
                <a:cs typeface="Inter"/>
              </a:rPr>
              <a:t>Elegir</a:t>
            </a:r>
          </a:p>
        </p:txBody>
      </p:sp>
      <p:sp>
        <p:nvSpPr>
          <p:cNvPr id="9" name="TextBox 8"/>
          <p:cNvSpPr txBox="1"/>
          <p:nvPr/>
        </p:nvSpPr>
        <p:spPr>
          <a:xfrm>
            <a:off x="2743200" y="2834640"/>
            <a:ext cx="5669280" cy="566928"/>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el tipo de prueba y la capa correcta para cada riesgo, desde unit hasta DAST.</a:t>
            </a:r>
          </a:p>
        </p:txBody>
      </p:sp>
      <p:sp>
        <p:nvSpPr>
          <p:cNvPr id="10" name="Rounded Rectangle 9"/>
          <p:cNvSpPr/>
          <p:nvPr/>
        </p:nvSpPr>
        <p:spPr>
          <a:xfrm>
            <a:off x="822960" y="3657600"/>
            <a:ext cx="1737360" cy="566928"/>
          </a:xfrm>
          <a:prstGeom prst="roundRect">
            <a:avLst>
              <a:gd name="adj" fmla="val 12903"/>
            </a:avLst>
          </a:prstGeom>
          <a:solidFill>
            <a:srgbClr val="634F7D"/>
          </a:solidFill>
          <a:ln>
            <a:noFill/>
          </a:ln>
        </p:spPr>
        <p:txBody>
          <a:bodyPr rtlCol="0" anchor="ctr" wrap="square" lIns="54864" rIns="54864" tIns="54864" bIns="54864"/>
          <a:lstStyle/>
          <a:p>
            <a:pPr algn="ctr" marL="0" indent="0">
              <a:spcAft>
                <a:spcPts val="200"/>
              </a:spcAft>
              <a:buNone/>
            </a:pPr>
            <a:r>
              <a:rPr sz="1500" b="1" i="0" lang="es-CL">
                <a:solidFill>
                  <a:srgbClr val="FFFFFF"/>
                </a:solidFill>
                <a:latin typeface="Inter"/>
                <a:ea typeface="Inter"/>
                <a:cs typeface="Inter"/>
              </a:rPr>
              <a:t>Leer</a:t>
            </a:r>
          </a:p>
        </p:txBody>
      </p:sp>
      <p:sp>
        <p:nvSpPr>
          <p:cNvPr id="11" name="TextBox 10"/>
          <p:cNvSpPr txBox="1"/>
          <p:nvPr/>
        </p:nvSpPr>
        <p:spPr>
          <a:xfrm>
            <a:off x="2743200" y="3657600"/>
            <a:ext cx="5669280" cy="566928"/>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un pipeline de CI con DevSecOps y la evidencia que deja en cada Pull Request.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400"/>
              </a:spcAft>
            </a:pPr>
            <a:r>
              <a:rPr sz="2800" b="1" i="0" lang="es-CL">
                <a:solidFill>
                  <a:srgbClr val="000000"/>
                </a:solidFill>
                <a:latin typeface="Bitter"/>
                <a:ea typeface="Bitter"/>
                <a:cs typeface="Bitter"/>
              </a:rPr>
              <a:t>La IA escribe tests más rápido que cualquiera.</a:t>
            </a:r>
          </a:p>
          <a:p>
            <a:pPr algn="ctr">
              <a:spcAft>
                <a:spcPts val="1400"/>
              </a:spcAft>
            </a:pPr>
            <a:r>
              <a:rPr sz="2800" b="1" i="0" lang="es-CL">
                <a:solidFill>
                  <a:srgbClr val="000000"/>
                </a:solidFill>
                <a:latin typeface="Bitter"/>
                <a:ea typeface="Bitter"/>
                <a:cs typeface="Bitter"/>
              </a:rPr>
              <a:t>El desafío ya no es </a:t>
            </a:r>
            <a:r>
              <a:rPr sz="2800" b="1" i="0" lang="es-CL">
                <a:solidFill>
                  <a:srgbClr val="980000"/>
                </a:solidFill>
                <a:latin typeface="Bitter"/>
                <a:ea typeface="Bitter"/>
                <a:cs typeface="Bitter"/>
              </a:rPr>
              <a:t>escribir tests</a:t>
            </a:r>
            <a:r>
              <a:rPr sz="2800" b="1" i="0" lang="es-CL">
                <a:solidFill>
                  <a:srgbClr val="000000"/>
                </a:solidFill>
                <a:latin typeface="Bitter"/>
                <a:ea typeface="Bitter"/>
                <a:cs typeface="Bitter"/>
              </a:rPr>
              <a:t>, es </a:t>
            </a:r>
            <a:r>
              <a:rPr sz="2800" b="1" i="0" lang="es-CL">
                <a:solidFill>
                  <a:srgbClr val="38761D"/>
                </a:solidFill>
                <a:latin typeface="Bitter"/>
                <a:ea typeface="Bitter"/>
                <a:cs typeface="Bitter"/>
              </a:rPr>
              <a:t>decidir cuáles valen la pena</a:t>
            </a:r>
            <a:r>
              <a:rPr sz="2800" b="1" i="0" lang="es-CL">
                <a:solidFill>
                  <a:srgbClr val="000000"/>
                </a:solidFill>
                <a:latin typeface="Bitter"/>
                <a:ea typeface="Bitter"/>
                <a:cs typeface="Bitter"/>
              </a:rPr>
              <a:t>.</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1</a:t>
            </a:r>
          </a:p>
          <a:p>
            <a:pPr algn="ctr">
              <a:spcAft>
                <a:spcPts val="1600"/>
              </a:spcAft>
            </a:pPr>
            <a:r>
              <a:rPr sz="3600" b="1" i="0" lang="es-CL">
                <a:solidFill>
                  <a:srgbClr val="4A86E8"/>
                </a:solidFill>
                <a:latin typeface="Bitter"/>
                <a:ea typeface="Bitter"/>
                <a:cs typeface="Bitter"/>
              </a:rPr>
              <a:t>Por qué ahora</a:t>
            </a:r>
          </a:p>
          <a:p>
            <a:pPr algn="ctr">
              <a:spcAft>
                <a:spcPts val="1400"/>
              </a:spcAft>
            </a:pPr>
            <a:r>
              <a:rPr sz="1500" b="0" i="0" lang="es-CL">
                <a:solidFill>
                  <a:srgbClr val="57606A"/>
                </a:solidFill>
                <a:latin typeface="Inter"/>
                <a:ea typeface="Inter"/>
                <a:cs typeface="Inter"/>
              </a:rPr>
              <a:t>La IA acelera el código y los tests. ¿Quién decide qué entra a la suite?</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Lo que encontró el libro al pedirle tests a la IA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97280"/>
            <a:ext cx="2651760" cy="2514600"/>
          </a:xfrm>
          <a:prstGeom prst="roundRect">
            <a:avLst>
              <a:gd name="adj" fmla="val 3636"/>
            </a:avLst>
          </a:prstGeom>
          <a:solidFill>
            <a:srgbClr val="EDF1F3"/>
          </a:solidFill>
          <a:ln>
            <a:noFill/>
          </a:ln>
        </p:spPr>
        <p:txBody>
          <a:bodyPr rtlCol="0" anchor="ctr" wrap="square" lIns="54864" rIns="54864" tIns="54864" bIns="54864"/>
          <a:lstStyle/>
          <a:p>
            <a:pPr algn="ctr"/>
          </a:p>
        </p:txBody>
      </p:sp>
      <p:sp>
        <p:nvSpPr>
          <p:cNvPr id="5" name="TextBox 4"/>
          <p:cNvSpPr txBox="1"/>
          <p:nvPr/>
        </p:nvSpPr>
        <p:spPr>
          <a:xfrm>
            <a:off x="594360" y="1188720"/>
            <a:ext cx="2286000" cy="685800"/>
          </a:xfrm>
          <a:prstGeom prst="rect">
            <a:avLst/>
          </a:prstGeom>
          <a:noFill/>
        </p:spPr>
        <p:txBody>
          <a:bodyPr wrap="square" lIns="36576" rIns="36576" tIns="36576" bIns="36576" anchor="t"/>
          <a:lstStyle/>
          <a:p>
            <a:pPr algn="l" marL="0" indent="0">
              <a:spcAft>
                <a:spcPts val="400"/>
              </a:spcAft>
              <a:buNone/>
            </a:pPr>
            <a:r>
              <a:rPr sz="3400" b="1" i="0" lang="es-CL">
                <a:solidFill>
                  <a:srgbClr val="F2617A"/>
                </a:solidFill>
                <a:latin typeface="Bitter"/>
                <a:ea typeface="Bitter"/>
                <a:cs typeface="Bitter"/>
              </a:rPr>
              <a:t>70 a 80</a:t>
            </a:r>
          </a:p>
        </p:txBody>
      </p:sp>
      <p:sp>
        <p:nvSpPr>
          <p:cNvPr id="6" name="TextBox 5"/>
          <p:cNvSpPr txBox="1"/>
          <p:nvPr/>
        </p:nvSpPr>
        <p:spPr>
          <a:xfrm>
            <a:off x="594360" y="1847088"/>
            <a:ext cx="2286000" cy="274320"/>
          </a:xfrm>
          <a:prstGeom prst="rect">
            <a:avLst/>
          </a:prstGeom>
          <a:noFill/>
        </p:spPr>
        <p:txBody>
          <a:bodyPr wrap="square" lIns="36576" rIns="36576" tIns="36576" bIns="36576" anchor="t"/>
          <a:lstStyle/>
          <a:p>
            <a:pPr algn="l" marL="0" indent="0">
              <a:spcAft>
                <a:spcPts val="400"/>
              </a:spcAft>
              <a:buNone/>
            </a:pPr>
            <a:r>
              <a:rPr sz="1100" b="1" i="0" lang="es-CL">
                <a:solidFill>
                  <a:srgbClr val="1F2328"/>
                </a:solidFill>
                <a:latin typeface="Inter"/>
                <a:ea typeface="Inter"/>
                <a:cs typeface="Inter"/>
              </a:rPr>
              <a:t>casos de prueba</a:t>
            </a:r>
          </a:p>
        </p:txBody>
      </p:sp>
      <p:sp>
        <p:nvSpPr>
          <p:cNvPr id="7" name="TextBox 6"/>
          <p:cNvSpPr txBox="1"/>
          <p:nvPr/>
        </p:nvSpPr>
        <p:spPr>
          <a:xfrm>
            <a:off x="594360" y="2157984"/>
            <a:ext cx="2286000" cy="1097280"/>
          </a:xfrm>
          <a:prstGeom prst="rect">
            <a:avLst/>
          </a:prstGeom>
          <a:noFill/>
        </p:spPr>
        <p:txBody>
          <a:bodyPr wrap="square" lIns="36576" rIns="36576" tIns="36576" bIns="36576" anchor="t"/>
          <a:lstStyle/>
          <a:p>
            <a:pPr algn="l" marL="0" indent="0">
              <a:spcAft>
                <a:spcPts val="400"/>
              </a:spcAft>
              <a:buNone/>
            </a:pPr>
            <a:r>
              <a:rPr sz="1050" b="0" i="0" lang="es-CL">
                <a:solidFill>
                  <a:srgbClr val="1F2328"/>
                </a:solidFill>
                <a:latin typeface="Inter"/>
                <a:ea typeface="Inter"/>
                <a:cs typeface="Inter"/>
              </a:rPr>
              <a:t>entregó Claude para la página de inicio de Amazon. Muchos duplicados, superficiales y con lógica de negocio inventada.</a:t>
            </a:r>
          </a:p>
        </p:txBody>
      </p:sp>
      <p:sp>
        <p:nvSpPr>
          <p:cNvPr id="8" name="TextBox 7"/>
          <p:cNvSpPr txBox="1"/>
          <p:nvPr/>
        </p:nvSpPr>
        <p:spPr>
          <a:xfrm>
            <a:off x="594360" y="3273552"/>
            <a:ext cx="2286000" cy="256032"/>
          </a:xfrm>
          <a:prstGeom prst="rect">
            <a:avLst/>
          </a:prstGeom>
          <a:noFill/>
        </p:spPr>
        <p:txBody>
          <a:bodyPr wrap="square" lIns="36576" rIns="36576" tIns="36576" bIns="36576" anchor="t"/>
          <a:lstStyle/>
          <a:p>
            <a:pPr algn="l" marL="0" indent="0">
              <a:spcAft>
                <a:spcPts val="400"/>
              </a:spcAft>
              <a:buNone/>
            </a:pPr>
            <a:r>
              <a:rPr sz="900" b="0" i="0" lang="es-CL">
                <a:solidFill>
                  <a:srgbClr val="8C959F"/>
                </a:solidFill>
                <a:latin typeface="Inter"/>
                <a:ea typeface="Inter"/>
                <a:cs typeface="Inter"/>
              </a:rPr>
              <a:t>Full Stack Testing, p. 37</a:t>
            </a:r>
          </a:p>
        </p:txBody>
      </p:sp>
      <p:sp>
        <p:nvSpPr>
          <p:cNvPr id="9" name="Rounded Rectangle 8"/>
          <p:cNvSpPr/>
          <p:nvPr/>
        </p:nvSpPr>
        <p:spPr>
          <a:xfrm>
            <a:off x="3246120" y="1097280"/>
            <a:ext cx="2651760" cy="2514600"/>
          </a:xfrm>
          <a:prstGeom prst="roundRect">
            <a:avLst>
              <a:gd name="adj" fmla="val 3636"/>
            </a:avLst>
          </a:prstGeom>
          <a:solidFill>
            <a:srgbClr val="EDF1F3"/>
          </a:solidFill>
          <a:ln>
            <a:noFill/>
          </a:ln>
        </p:spPr>
        <p:txBody>
          <a:bodyPr rtlCol="0" anchor="ctr" wrap="square" lIns="54864" rIns="54864" tIns="54864" bIns="54864"/>
          <a:lstStyle/>
          <a:p>
            <a:pPr algn="ctr"/>
          </a:p>
        </p:txBody>
      </p:sp>
      <p:sp>
        <p:nvSpPr>
          <p:cNvPr id="10" name="TextBox 9"/>
          <p:cNvSpPr txBox="1"/>
          <p:nvPr/>
        </p:nvSpPr>
        <p:spPr>
          <a:xfrm>
            <a:off x="3429000" y="1188720"/>
            <a:ext cx="2286000" cy="685800"/>
          </a:xfrm>
          <a:prstGeom prst="rect">
            <a:avLst/>
          </a:prstGeom>
          <a:noFill/>
        </p:spPr>
        <p:txBody>
          <a:bodyPr wrap="square" lIns="36576" rIns="36576" tIns="36576" bIns="36576" anchor="t"/>
          <a:lstStyle/>
          <a:p>
            <a:pPr algn="l" marL="0" indent="0">
              <a:spcAft>
                <a:spcPts val="400"/>
              </a:spcAft>
              <a:buNone/>
            </a:pPr>
            <a:r>
              <a:rPr sz="3400" b="1" i="0" lang="es-CL">
                <a:solidFill>
                  <a:srgbClr val="CC850A"/>
                </a:solidFill>
                <a:latin typeface="Bitter"/>
                <a:ea typeface="Bitter"/>
                <a:cs typeface="Bitter"/>
              </a:rPr>
              <a:t>30</a:t>
            </a:r>
          </a:p>
        </p:txBody>
      </p:sp>
      <p:sp>
        <p:nvSpPr>
          <p:cNvPr id="11" name="TextBox 10"/>
          <p:cNvSpPr txBox="1"/>
          <p:nvPr/>
        </p:nvSpPr>
        <p:spPr>
          <a:xfrm>
            <a:off x="3429000" y="1847088"/>
            <a:ext cx="2286000" cy="274320"/>
          </a:xfrm>
          <a:prstGeom prst="rect">
            <a:avLst/>
          </a:prstGeom>
          <a:noFill/>
        </p:spPr>
        <p:txBody>
          <a:bodyPr wrap="square" lIns="36576" rIns="36576" tIns="36576" bIns="36576" anchor="t"/>
          <a:lstStyle/>
          <a:p>
            <a:pPr algn="l" marL="0" indent="0">
              <a:spcAft>
                <a:spcPts val="400"/>
              </a:spcAft>
              <a:buNone/>
            </a:pPr>
            <a:r>
              <a:rPr sz="1100" b="1" i="0" lang="es-CL">
                <a:solidFill>
                  <a:srgbClr val="1F2328"/>
                </a:solidFill>
                <a:latin typeface="Inter"/>
                <a:ea typeface="Inter"/>
                <a:cs typeface="Inter"/>
              </a:rPr>
              <a:t>tests REST Assured</a:t>
            </a:r>
          </a:p>
        </p:txBody>
      </p:sp>
      <p:sp>
        <p:nvSpPr>
          <p:cNvPr id="12" name="TextBox 11"/>
          <p:cNvSpPr txBox="1"/>
          <p:nvPr/>
        </p:nvSpPr>
        <p:spPr>
          <a:xfrm>
            <a:off x="3429000" y="2157984"/>
            <a:ext cx="2286000" cy="1097280"/>
          </a:xfrm>
          <a:prstGeom prst="rect">
            <a:avLst/>
          </a:prstGeom>
          <a:noFill/>
        </p:spPr>
        <p:txBody>
          <a:bodyPr wrap="square" lIns="36576" rIns="36576" tIns="36576" bIns="36576" anchor="t"/>
          <a:lstStyle/>
          <a:p>
            <a:pPr algn="l" marL="0" indent="0">
              <a:spcAft>
                <a:spcPts val="400"/>
              </a:spcAft>
              <a:buNone/>
            </a:pPr>
            <a:r>
              <a:rPr sz="1050" b="0" i="0" lang="es-CL">
                <a:solidFill>
                  <a:srgbClr val="1F2328"/>
                </a:solidFill>
                <a:latin typeface="Inter"/>
                <a:ea typeface="Inter"/>
                <a:cs typeface="Inter"/>
              </a:rPr>
              <a:t>generó Claude Code desde un OpenAPI. Las validaciones de entrada que incluyó pertenecen a la capa unit, no a la API.</a:t>
            </a:r>
          </a:p>
        </p:txBody>
      </p:sp>
      <p:sp>
        <p:nvSpPr>
          <p:cNvPr id="13" name="TextBox 12"/>
          <p:cNvSpPr txBox="1"/>
          <p:nvPr/>
        </p:nvSpPr>
        <p:spPr>
          <a:xfrm>
            <a:off x="3429000" y="3273552"/>
            <a:ext cx="2286000" cy="256032"/>
          </a:xfrm>
          <a:prstGeom prst="rect">
            <a:avLst/>
          </a:prstGeom>
          <a:noFill/>
        </p:spPr>
        <p:txBody>
          <a:bodyPr wrap="square" lIns="36576" rIns="36576" tIns="36576" bIns="36576" anchor="t"/>
          <a:lstStyle/>
          <a:p>
            <a:pPr algn="l" marL="0" indent="0">
              <a:spcAft>
                <a:spcPts val="400"/>
              </a:spcAft>
              <a:buNone/>
            </a:pPr>
            <a:r>
              <a:rPr sz="900" b="0" i="0" lang="es-CL">
                <a:solidFill>
                  <a:srgbClr val="8C959F"/>
                </a:solidFill>
                <a:latin typeface="Inter"/>
                <a:ea typeface="Inter"/>
                <a:cs typeface="Inter"/>
              </a:rPr>
              <a:t>Full Stack Testing, p. 102</a:t>
            </a:r>
          </a:p>
        </p:txBody>
      </p:sp>
      <p:sp>
        <p:nvSpPr>
          <p:cNvPr id="14" name="Rounded Rectangle 13"/>
          <p:cNvSpPr/>
          <p:nvPr/>
        </p:nvSpPr>
        <p:spPr>
          <a:xfrm>
            <a:off x="6080760" y="1097280"/>
            <a:ext cx="2651760" cy="2514600"/>
          </a:xfrm>
          <a:prstGeom prst="roundRect">
            <a:avLst>
              <a:gd name="adj" fmla="val 3636"/>
            </a:avLst>
          </a:prstGeom>
          <a:solidFill>
            <a:srgbClr val="EDF1F3"/>
          </a:solidFill>
          <a:ln>
            <a:noFill/>
          </a:ln>
        </p:spPr>
        <p:txBody>
          <a:bodyPr rtlCol="0" anchor="ctr" wrap="square" lIns="54864" rIns="54864" tIns="54864" bIns="54864"/>
          <a:lstStyle/>
          <a:p>
            <a:pPr algn="ctr"/>
          </a:p>
        </p:txBody>
      </p:sp>
      <p:sp>
        <p:nvSpPr>
          <p:cNvPr id="15" name="TextBox 14"/>
          <p:cNvSpPr txBox="1"/>
          <p:nvPr/>
        </p:nvSpPr>
        <p:spPr>
          <a:xfrm>
            <a:off x="6263640" y="1188720"/>
            <a:ext cx="2286000" cy="685800"/>
          </a:xfrm>
          <a:prstGeom prst="rect">
            <a:avLst/>
          </a:prstGeom>
          <a:noFill/>
        </p:spPr>
        <p:txBody>
          <a:bodyPr wrap="square" lIns="36576" rIns="36576" tIns="36576" bIns="36576" anchor="t"/>
          <a:lstStyle/>
          <a:p>
            <a:pPr algn="l" marL="0" indent="0">
              <a:spcAft>
                <a:spcPts val="400"/>
              </a:spcAft>
              <a:buNone/>
            </a:pPr>
            <a:r>
              <a:rPr sz="3400" b="1" i="0" lang="es-CL">
                <a:solidFill>
                  <a:srgbClr val="003D4F"/>
                </a:solidFill>
                <a:latin typeface="Bitter"/>
                <a:ea typeface="Bitter"/>
                <a:cs typeface="Bitter"/>
              </a:rPr>
              <a:t>en lote</a:t>
            </a:r>
          </a:p>
        </p:txBody>
      </p:sp>
      <p:sp>
        <p:nvSpPr>
          <p:cNvPr id="16" name="TextBox 15"/>
          <p:cNvSpPr txBox="1"/>
          <p:nvPr/>
        </p:nvSpPr>
        <p:spPr>
          <a:xfrm>
            <a:off x="6263640" y="1847088"/>
            <a:ext cx="2286000" cy="274320"/>
          </a:xfrm>
          <a:prstGeom prst="rect">
            <a:avLst/>
          </a:prstGeom>
          <a:noFill/>
        </p:spPr>
        <p:txBody>
          <a:bodyPr wrap="square" lIns="36576" rIns="36576" tIns="36576" bIns="36576" anchor="t"/>
          <a:lstStyle/>
          <a:p>
            <a:pPr algn="l" marL="0" indent="0">
              <a:spcAft>
                <a:spcPts val="400"/>
              </a:spcAft>
              <a:buNone/>
            </a:pPr>
            <a:r>
              <a:rPr sz="1100" b="1" i="0" lang="es-CL">
                <a:solidFill>
                  <a:srgbClr val="1F2328"/>
                </a:solidFill>
                <a:latin typeface="Inter"/>
                <a:ea typeface="Inter"/>
                <a:cs typeface="Inter"/>
              </a:rPr>
              <a:t>sin capa</a:t>
            </a:r>
          </a:p>
        </p:txBody>
      </p:sp>
      <p:sp>
        <p:nvSpPr>
          <p:cNvPr id="17" name="TextBox 16"/>
          <p:cNvSpPr txBox="1"/>
          <p:nvPr/>
        </p:nvSpPr>
        <p:spPr>
          <a:xfrm>
            <a:off x="6263640" y="2157984"/>
            <a:ext cx="2286000" cy="1097280"/>
          </a:xfrm>
          <a:prstGeom prst="rect">
            <a:avLst/>
          </a:prstGeom>
          <a:noFill/>
        </p:spPr>
        <p:txBody>
          <a:bodyPr wrap="square" lIns="36576" rIns="36576" tIns="36576" bIns="36576" anchor="t"/>
          <a:lstStyle/>
          <a:p>
            <a:pPr algn="l" marL="0" indent="0">
              <a:spcAft>
                <a:spcPts val="400"/>
              </a:spcAft>
              <a:buNone/>
            </a:pPr>
            <a:r>
              <a:rPr sz="1050" b="0" i="0" lang="es-CL">
                <a:solidFill>
                  <a:srgbClr val="1F2328"/>
                </a:solidFill>
                <a:latin typeface="Inter"/>
                <a:ea typeface="Inter"/>
                <a:cs typeface="Inter"/>
              </a:rPr>
              <a:t>Las herramientas de IA tienden a generar tests en lote que no pertenecen a ninguna capa en particular.</a:t>
            </a:r>
          </a:p>
        </p:txBody>
      </p:sp>
      <p:sp>
        <p:nvSpPr>
          <p:cNvPr id="18" name="TextBox 17"/>
          <p:cNvSpPr txBox="1"/>
          <p:nvPr/>
        </p:nvSpPr>
        <p:spPr>
          <a:xfrm>
            <a:off x="6263640" y="3273552"/>
            <a:ext cx="2286000" cy="256032"/>
          </a:xfrm>
          <a:prstGeom prst="rect">
            <a:avLst/>
          </a:prstGeom>
          <a:noFill/>
        </p:spPr>
        <p:txBody>
          <a:bodyPr wrap="square" lIns="36576" rIns="36576" tIns="36576" bIns="36576" anchor="t"/>
          <a:lstStyle/>
          <a:p>
            <a:pPr algn="l" marL="0" indent="0">
              <a:spcAft>
                <a:spcPts val="400"/>
              </a:spcAft>
              <a:buNone/>
            </a:pPr>
            <a:r>
              <a:rPr sz="900" b="0" i="0" lang="es-CL">
                <a:solidFill>
                  <a:srgbClr val="8C959F"/>
                </a:solidFill>
                <a:latin typeface="Inter"/>
                <a:ea typeface="Inter"/>
                <a:cs typeface="Inter"/>
              </a:rPr>
              <a:t>Full Stack Testing, p. 118</a:t>
            </a:r>
          </a:p>
        </p:txBody>
      </p:sp>
      <p:sp>
        <p:nvSpPr>
          <p:cNvPr id="19" name="TextBox 18"/>
          <p:cNvSpPr txBox="1"/>
          <p:nvPr/>
        </p:nvSpPr>
        <p:spPr>
          <a:xfrm>
            <a:off x="411480" y="3794760"/>
            <a:ext cx="8321040" cy="731520"/>
          </a:xfrm>
          <a:prstGeom prst="rect">
            <a:avLst/>
          </a:prstGeom>
          <a:noFill/>
        </p:spPr>
        <p:txBody>
          <a:bodyPr wrap="square" lIns="36576" rIns="36576" tIns="36576" bIns="36576" anchor="t"/>
          <a:lstStyle/>
          <a:p>
            <a:pPr algn="ctr" marL="0" indent="0">
              <a:spcAft>
                <a:spcPts val="200"/>
              </a:spcAft>
              <a:buNone/>
            </a:pPr>
            <a:r>
              <a:rPr sz="1200" b="0" i="0" lang="es-CL">
                <a:solidFill>
                  <a:srgbClr val="1F2328"/>
                </a:solidFill>
                <a:latin typeface="Inter"/>
                <a:ea typeface="Inter"/>
                <a:cs typeface="Inter"/>
              </a:rPr>
              <a:t>“Successful AI adoption is a </a:t>
            </a:r>
            <a:r>
              <a:rPr sz="1200" b="1" i="0" lang="es-CL">
                <a:solidFill>
                  <a:srgbClr val="1F2328"/>
                </a:solidFill>
                <a:latin typeface="Inter"/>
                <a:ea typeface="Inter"/>
                <a:cs typeface="Inter"/>
              </a:rPr>
              <a:t>systems problem, not a tools problem</a:t>
            </a:r>
            <a:r>
              <a:rPr sz="1200" b="0" i="0" lang="es-CL">
                <a:solidFill>
                  <a:srgbClr val="1F2328"/>
                </a:solidFill>
                <a:latin typeface="Inter"/>
                <a:ea typeface="Inter"/>
                <a:cs typeface="Inter"/>
              </a:rPr>
              <a:t>.”</a:t>
            </a:r>
          </a:p>
          <a:p>
            <a:pPr algn="ctr" marL="0" indent="0">
              <a:spcAft>
                <a:spcPts val="200"/>
              </a:spcAft>
              <a:buNone/>
            </a:pPr>
            <a:r>
              <a:rPr sz="1200" b="0" i="0" lang="es-CL">
                <a:solidFill>
                  <a:srgbClr val="1F2328"/>
                </a:solidFill>
                <a:latin typeface="Inter"/>
                <a:ea typeface="Inter"/>
                <a:cs typeface="Inter"/>
              </a:rPr>
              <a:t>DORA, State of AI-assisted Software Development 2025 (citado en el libro, p.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Tests micro y macro (Tabla 3-1)</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1097280"/>
          <a:ext cx="5486398" cy="3200400"/>
        </p:xfrm>
        <a:graphic>
          <a:graphicData uri="http://schemas.openxmlformats.org/drawingml/2006/table">
            <a:tbl>
              <a:tblPr firstRow="0" bandRow="0">
                <a:tableStyleId>{5C22544A-7EE6-4342-B048-85BDC9FD1C3A}</a:tableStyleId>
              </a:tblPr>
              <a:tblGrid>
                <a:gridCol w="914399"/>
                <a:gridCol w="609600"/>
                <a:gridCol w="2286000"/>
                <a:gridCol w="1066799"/>
                <a:gridCol w="609600"/>
              </a:tblGrid>
              <a:tr h="457200">
                <a:tc>
                  <a:txBody>
                    <a:bodyPr wrap="square"/>
                    <a:lstStyle/>
                    <a:p>
                      <a:pPr algn="l" marL="0" indent="0">
                        <a:spcAft>
                          <a:spcPts val="0"/>
                        </a:spcAft>
                        <a:buNone/>
                      </a:pPr>
                      <a:r>
                        <a:rPr sz="1050" b="1" i="0" lang="es-CL">
                          <a:solidFill>
                            <a:srgbClr val="FFFFFF"/>
                          </a:solidFill>
                          <a:latin typeface="Inter"/>
                          <a:ea typeface="Inter"/>
                          <a:cs typeface="Inter"/>
                        </a:rPr>
                        <a:t>Tipo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50" b="1" i="0" lang="es-CL">
                          <a:solidFill>
                            <a:srgbClr val="FFFFFF"/>
                          </a:solidFill>
                          <a:latin typeface="Inter"/>
                          <a:ea typeface="Inter"/>
                          <a:cs typeface="Inter"/>
                        </a:rPr>
                        <a:t>Nivel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50" b="1" i="0" lang="es-CL">
                          <a:solidFill>
                            <a:srgbClr val="FFFFFF"/>
                          </a:solidFill>
                          <a:latin typeface="Inter"/>
                          <a:ea typeface="Inter"/>
                          <a:cs typeface="Inter"/>
                        </a:rPr>
                        <a:t>Qué valida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50" b="1" i="0" lang="es-CL">
                          <a:solidFill>
                            <a:srgbClr val="FFFFFF"/>
                          </a:solidFill>
                          <a:latin typeface="Inter"/>
                          <a:ea typeface="Inter"/>
                          <a:cs typeface="Inter"/>
                        </a:rPr>
                        <a:t>Esfuerzo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50" b="1" i="0" lang="es-CL">
                          <a:solidFill>
                            <a:srgbClr val="FFFFFF"/>
                          </a:solidFill>
                          <a:latin typeface="Inter"/>
                          <a:ea typeface="Inter"/>
                          <a:cs typeface="Inter"/>
                        </a:rPr>
                        <a:t>Tiempo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457200">
                <a:tc>
                  <a:txBody>
                    <a:bodyPr wrap="square"/>
                    <a:lstStyle/>
                    <a:p>
                      <a:pPr algn="l" marL="0" indent="0">
                        <a:spcAft>
                          <a:spcPts val="0"/>
                        </a:spcAft>
                        <a:buNone/>
                      </a:pPr>
                      <a:r>
                        <a:rPr sz="1050" b="1" i="0" lang="es-CL">
                          <a:solidFill>
                            <a:srgbClr val="1F2328"/>
                          </a:solidFill>
                          <a:latin typeface="Inter"/>
                          <a:ea typeface="Inter"/>
                          <a:cs typeface="Inter"/>
                        </a:rPr>
                        <a:t>Unit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Micro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Un método de una clase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Mínimo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Rápido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050" b="1" i="0" lang="es-CL">
                          <a:solidFill>
                            <a:srgbClr val="1F2328"/>
                          </a:solidFill>
                          <a:latin typeface="Inter"/>
                          <a:ea typeface="Inter"/>
                          <a:cs typeface="Inter"/>
                        </a:rPr>
                        <a:t>Integración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Micro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Integración entre dos componentes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Mínimo a moderado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Rápido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57200">
                <a:tc>
                  <a:txBody>
                    <a:bodyPr wrap="square"/>
                    <a:lstStyle/>
                    <a:p>
                      <a:pPr algn="l" marL="0" indent="0">
                        <a:spcAft>
                          <a:spcPts val="0"/>
                        </a:spcAft>
                        <a:buNone/>
                      </a:pPr>
                      <a:r>
                        <a:rPr sz="1050" b="1" i="0" lang="es-CL">
                          <a:solidFill>
                            <a:srgbClr val="1F2328"/>
                          </a:solidFill>
                          <a:latin typeface="Inter"/>
                          <a:ea typeface="Inter"/>
                          <a:cs typeface="Inter"/>
                        </a:rPr>
                        <a:t>Contrato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Micro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El contrato entre dos servicios que se integran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Moderado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Medio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050" b="1" i="0" lang="es-CL">
                          <a:solidFill>
                            <a:srgbClr val="1F2328"/>
                          </a:solidFill>
                          <a:latin typeface="Inter"/>
                          <a:ea typeface="Inter"/>
                          <a:cs typeface="Inter"/>
                        </a:rPr>
                        <a:t>Servicio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Macro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La funcionalidad en la capa de API</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Moderado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Medio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57200">
                <a:tc>
                  <a:txBody>
                    <a:bodyPr wrap="square"/>
                    <a:lstStyle/>
                    <a:p>
                      <a:pPr algn="l" marL="0" indent="0">
                        <a:spcAft>
                          <a:spcPts val="0"/>
                        </a:spcAft>
                        <a:buNone/>
                      </a:pPr>
                      <a:r>
                        <a:rPr sz="1050" b="1" i="0" lang="es-CL">
                          <a:solidFill>
                            <a:srgbClr val="1F2328"/>
                          </a:solidFill>
                          <a:latin typeface="Inter"/>
                          <a:ea typeface="Inter"/>
                          <a:cs typeface="Inter"/>
                        </a:rPr>
                        <a:t>UI</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Macro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Un recorrido del usuario en la web</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Moderado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Lento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050" b="1" i="0" lang="es-CL">
                          <a:solidFill>
                            <a:srgbClr val="1F2328"/>
                          </a:solidFill>
                          <a:latin typeface="Inter"/>
                          <a:ea typeface="Inter"/>
                          <a:cs typeface="Inter"/>
                        </a:rPr>
                        <a:t>End to end</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Macro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El recorrido completo, con sistemas downstream</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Máximo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Lento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bl>
          </a:graphicData>
        </a:graphic>
      </p:graphicFrame>
      <p:sp>
        <p:nvSpPr>
          <p:cNvPr id="5" name="Rounded Rectangle 4"/>
          <p:cNvSpPr/>
          <p:nvPr/>
        </p:nvSpPr>
        <p:spPr>
          <a:xfrm>
            <a:off x="6172200" y="1097280"/>
            <a:ext cx="2560320" cy="3200400"/>
          </a:xfrm>
          <a:prstGeom prst="roundRect">
            <a:avLst>
              <a:gd name="adj" fmla="val 3571"/>
            </a:avLst>
          </a:prstGeom>
          <a:solidFill>
            <a:srgbClr val="DCE9F7"/>
          </a:solidFill>
          <a:ln>
            <a:noFill/>
          </a:ln>
        </p:spPr>
        <p:txBody>
          <a:bodyPr rtlCol="0" anchor="ctr" wrap="square" lIns="54864" rIns="54864" tIns="54864" bIns="54864"/>
          <a:lstStyle/>
          <a:p>
            <a:pPr algn="ctr"/>
          </a:p>
        </p:txBody>
      </p:sp>
      <p:sp>
        <p:nvSpPr>
          <p:cNvPr id="6" name="TextBox 5"/>
          <p:cNvSpPr txBox="1"/>
          <p:nvPr/>
        </p:nvSpPr>
        <p:spPr>
          <a:xfrm>
            <a:off x="6355080" y="1207008"/>
            <a:ext cx="2194560" cy="274320"/>
          </a:xfrm>
          <a:prstGeom prst="rect">
            <a:avLst/>
          </a:prstGeom>
          <a:noFill/>
        </p:spPr>
        <p:txBody>
          <a:bodyPr wrap="square" lIns="36576" rIns="36576" tIns="36576" bIns="36576" anchor="t"/>
          <a:lstStyle/>
          <a:p>
            <a:pPr algn="l" marL="0" indent="0">
              <a:spcAft>
                <a:spcPts val="400"/>
              </a:spcAft>
              <a:buNone/>
            </a:pPr>
            <a:r>
              <a:rPr sz="1150" b="1" i="0" lang="es-CL">
                <a:solidFill>
                  <a:srgbClr val="003D4F"/>
                </a:solidFill>
                <a:latin typeface="Inter"/>
                <a:ea typeface="Inter"/>
                <a:cs typeface="Inter"/>
              </a:rPr>
              <a:t>Antes de un test de UI</a:t>
            </a:r>
          </a:p>
        </p:txBody>
      </p:sp>
      <p:sp>
        <p:nvSpPr>
          <p:cNvPr id="7" name="TextBox 6"/>
          <p:cNvSpPr txBox="1"/>
          <p:nvPr/>
        </p:nvSpPr>
        <p:spPr>
          <a:xfrm>
            <a:off x="6355080" y="1600200"/>
            <a:ext cx="2194560" cy="2194560"/>
          </a:xfrm>
          <a:prstGeom prst="rect">
            <a:avLst/>
          </a:prstGeom>
          <a:noFill/>
        </p:spPr>
        <p:txBody>
          <a:bodyPr wrap="square" lIns="36576" rIns="36576" tIns="36576" bIns="36576" anchor="t"/>
          <a:lstStyle/>
          <a:p>
            <a:pPr algn="l" marL="182880" indent="-164592">
              <a:spcAft>
                <a:spcPts val="800"/>
              </a:spcAft>
              <a:buClr>
                <a:srgbClr val="F2617A"/>
              </a:buClr>
              <a:buSzPct val="100000"/>
              <a:buFont typeface="Arial"/>
              <a:buChar char="●"/>
            </a:pPr>
            <a:r>
              <a:rPr sz="1100" b="0" i="0" lang="es-CL">
                <a:solidFill>
                  <a:srgbClr val="1F2328"/>
                </a:solidFill>
                <a:latin typeface="Inter"/>
                <a:ea typeface="Inter"/>
                <a:cs typeface="Inter"/>
              </a:rPr>
              <a:t>¿Cuál es el propósito de este test?</a:t>
            </a:r>
          </a:p>
          <a:p>
            <a:pPr algn="l" marL="182880" indent="-164592">
              <a:spcAft>
                <a:spcPts val="800"/>
              </a:spcAft>
              <a:buClr>
                <a:srgbClr val="F2617A"/>
              </a:buClr>
              <a:buSzPct val="100000"/>
              <a:buFont typeface="Arial"/>
              <a:buChar char="●"/>
            </a:pPr>
            <a:r>
              <a:rPr sz="1100" b="0" i="0" lang="es-CL">
                <a:solidFill>
                  <a:srgbClr val="1F2328"/>
                </a:solidFill>
                <a:latin typeface="Inter"/>
                <a:ea typeface="Inter"/>
                <a:cs typeface="Inter"/>
              </a:rPr>
              <a:t>¿Podría lograr lo mismo con un test micro, más abajo?</a:t>
            </a:r>
          </a:p>
          <a:p>
            <a:pPr algn="l" marL="182880" indent="-164592">
              <a:spcAft>
                <a:spcPts val="800"/>
              </a:spcAft>
              <a:buClr>
                <a:srgbClr val="F2617A"/>
              </a:buClr>
              <a:buSzPct val="100000"/>
              <a:buFont typeface="Arial"/>
              <a:buChar char="●"/>
            </a:pPr>
            <a:r>
              <a:rPr sz="1100" b="0" i="0" lang="es-CL">
                <a:solidFill>
                  <a:srgbClr val="1F2328"/>
                </a:solidFill>
                <a:latin typeface="Inter"/>
                <a:ea typeface="Inter"/>
                <a:cs typeface="Inter"/>
              </a:rPr>
              <a:t>Si la respuesta es sí, el test baja de capa. Esa pregunta también se le hace a la IA.</a:t>
            </a:r>
          </a:p>
        </p:txBody>
      </p:sp>
      <p:sp>
        <p:nvSpPr>
          <p:cNvPr id="8" name="TextBox 7"/>
          <p:cNvSpPr txBox="1"/>
          <p:nvPr/>
        </p:nvSpPr>
        <p:spPr>
          <a:xfrm>
            <a:off x="6355080" y="3886200"/>
            <a:ext cx="2194560" cy="274320"/>
          </a:xfrm>
          <a:prstGeom prst="rect">
            <a:avLst/>
          </a:prstGeom>
          <a:noFill/>
        </p:spPr>
        <p:txBody>
          <a:bodyPr wrap="square" lIns="36576" rIns="36576" tIns="36576" bIns="36576" anchor="t"/>
          <a:lstStyle/>
          <a:p>
            <a:pPr algn="l" marL="0" indent="0">
              <a:spcAft>
                <a:spcPts val="400"/>
              </a:spcAft>
              <a:buNone/>
            </a:pPr>
            <a:r>
              <a:rPr sz="900" b="0" i="0" lang="es-CL">
                <a:solidFill>
                  <a:srgbClr val="8C959F"/>
                </a:solidFill>
                <a:latin typeface="Inter"/>
                <a:ea typeface="Inter"/>
                <a:cs typeface="Inter"/>
              </a:rPr>
              <a:t>Libro, p. 71 y 72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La pirámide: 10x : 5x : x</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Isosceles Triangle 3"/>
          <p:cNvSpPr/>
          <p:nvPr/>
        </p:nvSpPr>
        <p:spPr>
          <a:xfrm>
            <a:off x="1715129" y="1143000"/>
            <a:ext cx="1233181" cy="960120"/>
          </a:xfrm>
          <a:prstGeom prst="triangle">
            <a:avLst/>
          </a:prstGeom>
          <a:solidFill>
            <a:srgbClr val="CC850A"/>
          </a:solidFill>
          <a:ln>
            <a:noFill/>
          </a:ln>
        </p:spPr>
        <p:txBody>
          <a:bodyPr rtlCol="0" anchor="ctr" wrap="square" lIns="54864" rIns="54864" tIns="54864" bIns="54864"/>
          <a:lstStyle/>
          <a:p>
            <a:pPr algn="ctr"/>
          </a:p>
        </p:txBody>
      </p:sp>
      <p:sp>
        <p:nvSpPr>
          <p:cNvPr id="5" name="TextBox 4"/>
          <p:cNvSpPr txBox="1"/>
          <p:nvPr/>
        </p:nvSpPr>
        <p:spPr>
          <a:xfrm>
            <a:off x="1783079" y="1600200"/>
            <a:ext cx="1097280" cy="457200"/>
          </a:xfrm>
          <a:prstGeom prst="rect">
            <a:avLst/>
          </a:prstGeom>
          <a:noFill/>
        </p:spPr>
        <p:txBody>
          <a:bodyPr wrap="square" lIns="36576" rIns="36576" tIns="36576" bIns="36576" anchor="t"/>
          <a:lstStyle/>
          <a:p>
            <a:pPr algn="ctr" marL="0" indent="0">
              <a:spcAft>
                <a:spcPts val="400"/>
              </a:spcAft>
              <a:buNone/>
            </a:pPr>
            <a:r>
              <a:rPr sz="1600" b="1" i="0" lang="es-CL">
                <a:solidFill>
                  <a:srgbClr val="FFFFFF"/>
                </a:solidFill>
                <a:latin typeface="Inter"/>
                <a:ea typeface="Inter"/>
                <a:cs typeface="Inter"/>
              </a:rPr>
              <a:t>x</a:t>
            </a:r>
          </a:p>
        </p:txBody>
      </p:sp>
      <p:sp>
        <p:nvSpPr>
          <p:cNvPr id="6" name="Trapezoid 5"/>
          <p:cNvSpPr/>
          <p:nvPr/>
        </p:nvSpPr>
        <p:spPr>
          <a:xfrm>
            <a:off x="1063304" y="2157984"/>
            <a:ext cx="2536830" cy="960120"/>
          </a:xfrm>
          <a:prstGeom prst="trapezoid">
            <a:avLst>
              <a:gd name="adj" fmla="val 64220"/>
            </a:avLst>
          </a:prstGeom>
          <a:solidFill>
            <a:srgbClr val="47A1AD"/>
          </a:solidFill>
          <a:ln>
            <a:noFill/>
          </a:ln>
        </p:spPr>
        <p:txBody>
          <a:bodyPr rtlCol="0" anchor="ctr" wrap="square" lIns="54864" rIns="54864" tIns="54864" bIns="54864"/>
          <a:lstStyle/>
          <a:p>
            <a:pPr algn="ctr"/>
          </a:p>
        </p:txBody>
      </p:sp>
      <p:sp>
        <p:nvSpPr>
          <p:cNvPr id="7" name="TextBox 6"/>
          <p:cNvSpPr txBox="1"/>
          <p:nvPr/>
        </p:nvSpPr>
        <p:spPr>
          <a:xfrm>
            <a:off x="1234439" y="2267712"/>
            <a:ext cx="2194560" cy="365760"/>
          </a:xfrm>
          <a:prstGeom prst="rect">
            <a:avLst/>
          </a:prstGeom>
          <a:noFill/>
        </p:spPr>
        <p:txBody>
          <a:bodyPr wrap="square" lIns="36576" rIns="36576" tIns="36576" bIns="36576" anchor="t"/>
          <a:lstStyle/>
          <a:p>
            <a:pPr algn="ctr" marL="0" indent="0">
              <a:spcAft>
                <a:spcPts val="400"/>
              </a:spcAft>
              <a:buNone/>
            </a:pPr>
            <a:r>
              <a:rPr sz="1800" b="1" i="0" lang="es-CL">
                <a:solidFill>
                  <a:srgbClr val="FFFFFF"/>
                </a:solidFill>
                <a:latin typeface="Inter"/>
                <a:ea typeface="Inter"/>
                <a:cs typeface="Inter"/>
              </a:rPr>
              <a:t>5x</a:t>
            </a:r>
          </a:p>
        </p:txBody>
      </p:sp>
      <p:sp>
        <p:nvSpPr>
          <p:cNvPr id="8" name="TextBox 7"/>
          <p:cNvSpPr txBox="1"/>
          <p:nvPr/>
        </p:nvSpPr>
        <p:spPr>
          <a:xfrm>
            <a:off x="1051560" y="2660904"/>
            <a:ext cx="2560320" cy="365760"/>
          </a:xfrm>
          <a:prstGeom prst="rect">
            <a:avLst/>
          </a:prstGeom>
          <a:noFill/>
        </p:spPr>
        <p:txBody>
          <a:bodyPr wrap="square" lIns="36576" rIns="36576" tIns="36576" bIns="36576" anchor="t"/>
          <a:lstStyle/>
          <a:p>
            <a:pPr algn="ctr" marL="0" indent="0">
              <a:spcAft>
                <a:spcPts val="400"/>
              </a:spcAft>
              <a:buNone/>
            </a:pPr>
            <a:r>
              <a:rPr sz="1100" b="1" i="0" lang="es-CL">
                <a:solidFill>
                  <a:srgbClr val="FFFFFF"/>
                </a:solidFill>
                <a:latin typeface="Inter"/>
                <a:ea typeface="Inter"/>
                <a:cs typeface="Inter"/>
              </a:rPr>
              <a:t>Servicio y contrato</a:t>
            </a:r>
          </a:p>
        </p:txBody>
      </p:sp>
      <p:sp>
        <p:nvSpPr>
          <p:cNvPr id="9" name="Trapezoid 8"/>
          <p:cNvSpPr/>
          <p:nvPr/>
        </p:nvSpPr>
        <p:spPr>
          <a:xfrm>
            <a:off x="411479" y="3172968"/>
            <a:ext cx="3840480" cy="960120"/>
          </a:xfrm>
          <a:prstGeom prst="trapezoid">
            <a:avLst>
              <a:gd name="adj" fmla="val 64220"/>
            </a:avLst>
          </a:prstGeom>
          <a:solidFill>
            <a:srgbClr val="38761D"/>
          </a:solidFill>
          <a:ln>
            <a:noFill/>
          </a:ln>
        </p:spPr>
        <p:txBody>
          <a:bodyPr rtlCol="0" anchor="ctr" wrap="square" lIns="54864" rIns="54864" tIns="54864" bIns="54864"/>
          <a:lstStyle/>
          <a:p>
            <a:pPr algn="ctr"/>
          </a:p>
        </p:txBody>
      </p:sp>
      <p:sp>
        <p:nvSpPr>
          <p:cNvPr id="10" name="TextBox 9"/>
          <p:cNvSpPr txBox="1"/>
          <p:nvPr/>
        </p:nvSpPr>
        <p:spPr>
          <a:xfrm>
            <a:off x="1234439" y="3282696"/>
            <a:ext cx="2194560" cy="365760"/>
          </a:xfrm>
          <a:prstGeom prst="rect">
            <a:avLst/>
          </a:prstGeom>
          <a:noFill/>
        </p:spPr>
        <p:txBody>
          <a:bodyPr wrap="square" lIns="36576" rIns="36576" tIns="36576" bIns="36576" anchor="t"/>
          <a:lstStyle/>
          <a:p>
            <a:pPr algn="ctr" marL="0" indent="0">
              <a:spcAft>
                <a:spcPts val="400"/>
              </a:spcAft>
              <a:buNone/>
            </a:pPr>
            <a:r>
              <a:rPr sz="1800" b="1" i="0" lang="es-CL">
                <a:solidFill>
                  <a:srgbClr val="FFFFFF"/>
                </a:solidFill>
                <a:latin typeface="Inter"/>
                <a:ea typeface="Inter"/>
                <a:cs typeface="Inter"/>
              </a:rPr>
              <a:t>10x</a:t>
            </a:r>
          </a:p>
        </p:txBody>
      </p:sp>
      <p:sp>
        <p:nvSpPr>
          <p:cNvPr id="11" name="TextBox 10"/>
          <p:cNvSpPr txBox="1"/>
          <p:nvPr/>
        </p:nvSpPr>
        <p:spPr>
          <a:xfrm>
            <a:off x="1051560" y="3675888"/>
            <a:ext cx="2560320" cy="365760"/>
          </a:xfrm>
          <a:prstGeom prst="rect">
            <a:avLst/>
          </a:prstGeom>
          <a:noFill/>
        </p:spPr>
        <p:txBody>
          <a:bodyPr wrap="square" lIns="36576" rIns="36576" tIns="36576" bIns="36576" anchor="t"/>
          <a:lstStyle/>
          <a:p>
            <a:pPr algn="ctr" marL="0" indent="0">
              <a:spcAft>
                <a:spcPts val="400"/>
              </a:spcAft>
              <a:buNone/>
            </a:pPr>
            <a:r>
              <a:rPr sz="1100" b="1" i="0" lang="es-CL">
                <a:solidFill>
                  <a:srgbClr val="FFFFFF"/>
                </a:solidFill>
                <a:latin typeface="Inter"/>
                <a:ea typeface="Inter"/>
                <a:cs typeface="Inter"/>
              </a:rPr>
              <a:t>Unit e integración</a:t>
            </a:r>
          </a:p>
        </p:txBody>
      </p:sp>
      <p:sp>
        <p:nvSpPr>
          <p:cNvPr id="12" name="TextBox 11"/>
          <p:cNvSpPr txBox="1"/>
          <p:nvPr/>
        </p:nvSpPr>
        <p:spPr>
          <a:xfrm>
            <a:off x="868679" y="4242816"/>
            <a:ext cx="2926080" cy="274320"/>
          </a:xfrm>
          <a:prstGeom prst="rect">
            <a:avLst/>
          </a:prstGeom>
          <a:noFill/>
        </p:spPr>
        <p:txBody>
          <a:bodyPr wrap="square" lIns="36576" rIns="36576" tIns="36576" bIns="36576" anchor="t"/>
          <a:lstStyle/>
          <a:p>
            <a:pPr algn="ctr" marL="0" indent="0">
              <a:spcAft>
                <a:spcPts val="400"/>
              </a:spcAft>
              <a:buNone/>
            </a:pPr>
            <a:r>
              <a:rPr sz="900" b="0" i="0" lang="es-CL">
                <a:solidFill>
                  <a:srgbClr val="8C959F"/>
                </a:solidFill>
                <a:latin typeface="Inter"/>
                <a:ea typeface="Inter"/>
                <a:cs typeface="Inter"/>
              </a:rPr>
              <a:t>Mike Cohn, citado en el libro, p. 72</a:t>
            </a:r>
          </a:p>
        </p:txBody>
      </p:sp>
      <p:sp>
        <p:nvSpPr>
          <p:cNvPr id="13" name="Rounded Rectangle 12"/>
          <p:cNvSpPr/>
          <p:nvPr/>
        </p:nvSpPr>
        <p:spPr>
          <a:xfrm>
            <a:off x="4663440" y="1143000"/>
            <a:ext cx="4069080" cy="1325880"/>
          </a:xfrm>
          <a:prstGeom prst="roundRect">
            <a:avLst>
              <a:gd name="adj" fmla="val 6896"/>
            </a:avLst>
          </a:prstGeom>
          <a:solidFill>
            <a:srgbClr val="EDF1F3"/>
          </a:solidFill>
          <a:ln>
            <a:noFill/>
          </a:ln>
        </p:spPr>
        <p:txBody>
          <a:bodyPr rtlCol="0" anchor="ctr" wrap="square" lIns="54864" rIns="54864" tIns="54864" bIns="54864"/>
          <a:lstStyle/>
          <a:p>
            <a:pPr algn="ctr"/>
          </a:p>
        </p:txBody>
      </p:sp>
      <p:sp>
        <p:nvSpPr>
          <p:cNvPr id="14" name="TextBox 13"/>
          <p:cNvSpPr txBox="1"/>
          <p:nvPr/>
        </p:nvSpPr>
        <p:spPr>
          <a:xfrm>
            <a:off x="4846320" y="1216152"/>
            <a:ext cx="3657600" cy="274320"/>
          </a:xfrm>
          <a:prstGeom prst="rect">
            <a:avLst/>
          </a:prstGeom>
          <a:noFill/>
        </p:spPr>
        <p:txBody>
          <a:bodyPr wrap="square" lIns="36576" rIns="36576" tIns="36576" bIns="36576" anchor="t"/>
          <a:lstStyle/>
          <a:p>
            <a:pPr algn="l" marL="0" indent="0">
              <a:spcAft>
                <a:spcPts val="400"/>
              </a:spcAft>
              <a:buNone/>
            </a:pPr>
            <a:r>
              <a:rPr sz="1100" b="1" i="0" lang="es-CL">
                <a:solidFill>
                  <a:srgbClr val="980000"/>
                </a:solidFill>
                <a:latin typeface="Inter"/>
                <a:ea typeface="Inter"/>
                <a:cs typeface="Inter"/>
              </a:rPr>
              <a:t>Antes</a:t>
            </a:r>
          </a:p>
        </p:txBody>
      </p:sp>
      <p:sp>
        <p:nvSpPr>
          <p:cNvPr id="15" name="TextBox 14"/>
          <p:cNvSpPr txBox="1"/>
          <p:nvPr/>
        </p:nvSpPr>
        <p:spPr>
          <a:xfrm>
            <a:off x="4846320" y="1508760"/>
            <a:ext cx="3657600" cy="914400"/>
          </a:xfrm>
          <a:prstGeom prst="rect">
            <a:avLst/>
          </a:prstGeom>
          <a:noFill/>
        </p:spPr>
        <p:txBody>
          <a:bodyPr wrap="square" lIns="36576" rIns="36576" tIns="36576" bIns="36576" anchor="t"/>
          <a:lstStyle/>
          <a:p>
            <a:pPr algn="l" marL="0" indent="0">
              <a:spcAft>
                <a:spcPts val="400"/>
              </a:spcAft>
              <a:buNone/>
            </a:pPr>
            <a:r>
              <a:rPr sz="1150" b="1" i="0" lang="es-CL">
                <a:solidFill>
                  <a:srgbClr val="1F2328"/>
                </a:solidFill>
                <a:latin typeface="Inter"/>
                <a:ea typeface="Inter"/>
                <a:cs typeface="Inter"/>
              </a:rPr>
              <a:t>200+ tests de UI</a:t>
            </a:r>
            <a:r>
              <a:rPr sz="1150" b="0" i="0" lang="es-CL">
                <a:solidFill>
                  <a:srgbClr val="1F2328"/>
                </a:solidFill>
                <a:latin typeface="Inter"/>
                <a:ea typeface="Inter"/>
                <a:cs typeface="Inter"/>
              </a:rPr>
              <a:t> que tardaban </a:t>
            </a:r>
            <a:r>
              <a:rPr sz="1150" b="1" i="0" lang="es-CL">
                <a:solidFill>
                  <a:srgbClr val="1F2328"/>
                </a:solidFill>
                <a:latin typeface="Inter"/>
                <a:ea typeface="Inter"/>
                <a:cs typeface="Inter"/>
              </a:rPr>
              <a:t>8 horas</a:t>
            </a:r>
            <a:r>
              <a:rPr sz="1150" b="0" i="0" lang="es-CL">
                <a:solidFill>
                  <a:srgbClr val="1F2328"/>
                </a:solidFill>
                <a:latin typeface="Inter"/>
                <a:ea typeface="Inter"/>
                <a:cs typeface="Inter"/>
              </a:rPr>
              <a:t> y fallaban al final por componentes dependientes o infraestructura.</a:t>
            </a:r>
          </a:p>
        </p:txBody>
      </p:sp>
      <p:sp>
        <p:nvSpPr>
          <p:cNvPr id="16" name="Rounded Rectangle 15"/>
          <p:cNvSpPr/>
          <p:nvPr/>
        </p:nvSpPr>
        <p:spPr>
          <a:xfrm>
            <a:off x="4663440" y="2697480"/>
            <a:ext cx="4069080" cy="1325880"/>
          </a:xfrm>
          <a:prstGeom prst="roundRect">
            <a:avLst>
              <a:gd name="adj" fmla="val 6896"/>
            </a:avLst>
          </a:prstGeom>
          <a:solidFill>
            <a:srgbClr val="EDF1F3"/>
          </a:solidFill>
          <a:ln>
            <a:noFill/>
          </a:ln>
        </p:spPr>
        <p:txBody>
          <a:bodyPr rtlCol="0" anchor="ctr" wrap="square" lIns="54864" rIns="54864" tIns="54864" bIns="54864"/>
          <a:lstStyle/>
          <a:p>
            <a:pPr algn="ctr"/>
          </a:p>
        </p:txBody>
      </p:sp>
      <p:sp>
        <p:nvSpPr>
          <p:cNvPr id="17" name="TextBox 16"/>
          <p:cNvSpPr txBox="1"/>
          <p:nvPr/>
        </p:nvSpPr>
        <p:spPr>
          <a:xfrm>
            <a:off x="4846320" y="2770632"/>
            <a:ext cx="3657600" cy="274320"/>
          </a:xfrm>
          <a:prstGeom prst="rect">
            <a:avLst/>
          </a:prstGeom>
          <a:noFill/>
        </p:spPr>
        <p:txBody>
          <a:bodyPr wrap="square" lIns="36576" rIns="36576" tIns="36576" bIns="36576" anchor="t"/>
          <a:lstStyle/>
          <a:p>
            <a:pPr algn="l" marL="0" indent="0">
              <a:spcAft>
                <a:spcPts val="400"/>
              </a:spcAft>
              <a:buNone/>
            </a:pPr>
            <a:r>
              <a:rPr sz="1100" b="1" i="0" lang="es-CL">
                <a:solidFill>
                  <a:srgbClr val="38761D"/>
                </a:solidFill>
                <a:latin typeface="Inter"/>
                <a:ea typeface="Inter"/>
                <a:cs typeface="Inter"/>
              </a:rPr>
              <a:t>Después de adoptar la pirámide</a:t>
            </a:r>
          </a:p>
        </p:txBody>
      </p:sp>
      <p:sp>
        <p:nvSpPr>
          <p:cNvPr id="18" name="TextBox 17"/>
          <p:cNvSpPr txBox="1"/>
          <p:nvPr/>
        </p:nvSpPr>
        <p:spPr>
          <a:xfrm>
            <a:off x="4846320" y="3063240"/>
            <a:ext cx="3657600" cy="914400"/>
          </a:xfrm>
          <a:prstGeom prst="rect">
            <a:avLst/>
          </a:prstGeom>
          <a:noFill/>
        </p:spPr>
        <p:txBody>
          <a:bodyPr wrap="square" lIns="36576" rIns="36576" tIns="36576" bIns="36576" anchor="t"/>
          <a:lstStyle/>
          <a:p>
            <a:pPr algn="l" marL="0" indent="0">
              <a:spcAft>
                <a:spcPts val="400"/>
              </a:spcAft>
              <a:buNone/>
            </a:pPr>
            <a:r>
              <a:rPr sz="1150" b="1" i="0" lang="es-CL">
                <a:solidFill>
                  <a:srgbClr val="1F2328"/>
                </a:solidFill>
                <a:latin typeface="Inter"/>
                <a:ea typeface="Inter"/>
                <a:cs typeface="Inter"/>
              </a:rPr>
              <a:t>470 tests</a:t>
            </a:r>
            <a:r>
              <a:rPr sz="1150" b="0" i="0" lang="es-CL">
                <a:solidFill>
                  <a:srgbClr val="1F2328"/>
                </a:solidFill>
                <a:latin typeface="Inter"/>
                <a:ea typeface="Inter"/>
                <a:cs typeface="Inter"/>
              </a:rPr>
              <a:t> micro y macro con feedback en </a:t>
            </a:r>
            <a:r>
              <a:rPr sz="1150" b="1" i="0" lang="es-CL">
                <a:solidFill>
                  <a:srgbClr val="1F2328"/>
                </a:solidFill>
                <a:latin typeface="Inter"/>
                <a:ea typeface="Inter"/>
                <a:cs typeface="Inter"/>
              </a:rPr>
              <a:t>35 minutos</a:t>
            </a:r>
            <a:r>
              <a:rPr sz="1150" b="0" i="0" lang="es-CL">
                <a:solidFill>
                  <a:srgbClr val="1F2328"/>
                </a:solidFill>
                <a:latin typeface="Inter"/>
                <a:ea typeface="Inter"/>
                <a:cs typeface="Inter"/>
              </a:rPr>
              <a:t>.</a:t>
            </a:r>
          </a:p>
        </p:txBody>
      </p:sp>
      <p:sp>
        <p:nvSpPr>
          <p:cNvPr id="19" name="TextBox 18"/>
          <p:cNvSpPr txBox="1"/>
          <p:nvPr/>
        </p:nvSpPr>
        <p:spPr>
          <a:xfrm>
            <a:off x="4663440" y="4114800"/>
            <a:ext cx="4069080" cy="274320"/>
          </a:xfrm>
          <a:prstGeom prst="rect">
            <a:avLst/>
          </a:prstGeom>
          <a:noFill/>
        </p:spPr>
        <p:txBody>
          <a:bodyPr wrap="square" lIns="36576" rIns="36576" tIns="36576" bIns="36576" anchor="t"/>
          <a:lstStyle/>
          <a:p>
            <a:pPr algn="l" marL="0" indent="0">
              <a:spcAft>
                <a:spcPts val="400"/>
              </a:spcAft>
              <a:buNone/>
            </a:pPr>
            <a:r>
              <a:rPr sz="900" b="0" i="0" lang="es-CL">
                <a:solidFill>
                  <a:srgbClr val="8C959F"/>
                </a:solidFill>
                <a:latin typeface="Inter"/>
                <a:ea typeface="Inter"/>
                <a:cs typeface="Inter"/>
              </a:rPr>
              <a:t>Libro, p. 66 y 73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Antipatrones: cono de helado y cupcake</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TextBox 3"/>
          <p:cNvSpPr txBox="1"/>
          <p:nvPr/>
        </p:nvSpPr>
        <p:spPr>
          <a:xfrm>
            <a:off x="411480" y="1051560"/>
            <a:ext cx="2651760" cy="274320"/>
          </a:xfrm>
          <a:prstGeom prst="rect">
            <a:avLst/>
          </a:prstGeom>
          <a:noFill/>
        </p:spPr>
        <p:txBody>
          <a:bodyPr wrap="square" lIns="36576" rIns="36576" tIns="36576" bIns="36576" anchor="t"/>
          <a:lstStyle/>
          <a:p>
            <a:pPr algn="ctr" marL="0" indent="0">
              <a:spcAft>
                <a:spcPts val="400"/>
              </a:spcAft>
              <a:buNone/>
            </a:pPr>
            <a:r>
              <a:rPr sz="1300" b="1" i="0" lang="es-CL">
                <a:solidFill>
                  <a:srgbClr val="38761D"/>
                </a:solidFill>
                <a:latin typeface="Inter"/>
                <a:ea typeface="Inter"/>
                <a:cs typeface="Inter"/>
              </a:rPr>
              <a:t>Lo ideal</a:t>
            </a:r>
          </a:p>
        </p:txBody>
      </p:sp>
      <p:sp>
        <p:nvSpPr>
          <p:cNvPr id="5" name="TextBox 4"/>
          <p:cNvSpPr txBox="1"/>
          <p:nvPr/>
        </p:nvSpPr>
        <p:spPr>
          <a:xfrm>
            <a:off x="3246120" y="1051560"/>
            <a:ext cx="2651760" cy="274320"/>
          </a:xfrm>
          <a:prstGeom prst="rect">
            <a:avLst/>
          </a:prstGeom>
          <a:noFill/>
        </p:spPr>
        <p:txBody>
          <a:bodyPr wrap="square" lIns="36576" rIns="36576" tIns="36576" bIns="36576" anchor="t"/>
          <a:lstStyle/>
          <a:p>
            <a:pPr algn="ctr" marL="0" indent="0">
              <a:spcAft>
                <a:spcPts val="400"/>
              </a:spcAft>
              <a:buNone/>
            </a:pPr>
            <a:r>
              <a:rPr sz="1300" b="1" i="0" lang="es-CL">
                <a:solidFill>
                  <a:srgbClr val="980000"/>
                </a:solidFill>
                <a:latin typeface="Inter"/>
                <a:ea typeface="Inter"/>
                <a:cs typeface="Inter"/>
              </a:rPr>
              <a:t>Cono de helado</a:t>
            </a:r>
          </a:p>
        </p:txBody>
      </p:sp>
      <p:sp>
        <p:nvSpPr>
          <p:cNvPr id="6" name="TextBox 5"/>
          <p:cNvSpPr txBox="1"/>
          <p:nvPr/>
        </p:nvSpPr>
        <p:spPr>
          <a:xfrm>
            <a:off x="6080760" y="1051560"/>
            <a:ext cx="2651760" cy="274320"/>
          </a:xfrm>
          <a:prstGeom prst="rect">
            <a:avLst/>
          </a:prstGeom>
          <a:noFill/>
        </p:spPr>
        <p:txBody>
          <a:bodyPr wrap="square" lIns="36576" rIns="36576" tIns="36576" bIns="36576" anchor="t"/>
          <a:lstStyle/>
          <a:p>
            <a:pPr algn="ctr" marL="0" indent="0">
              <a:spcAft>
                <a:spcPts val="400"/>
              </a:spcAft>
              <a:buNone/>
            </a:pPr>
            <a:r>
              <a:rPr sz="1300" b="1" i="0" lang="es-CL">
                <a:solidFill>
                  <a:srgbClr val="980000"/>
                </a:solidFill>
                <a:latin typeface="Inter"/>
                <a:ea typeface="Inter"/>
                <a:cs typeface="Inter"/>
              </a:rPr>
              <a:t>Cupcake</a:t>
            </a:r>
          </a:p>
        </p:txBody>
      </p:sp>
      <p:sp>
        <p:nvSpPr>
          <p:cNvPr id="7" name="Isosceles Triangle 6"/>
          <p:cNvSpPr/>
          <p:nvPr/>
        </p:nvSpPr>
        <p:spPr>
          <a:xfrm>
            <a:off x="1417320" y="1463040"/>
            <a:ext cx="640080" cy="502920"/>
          </a:xfrm>
          <a:prstGeom prst="triangle">
            <a:avLst/>
          </a:prstGeom>
          <a:solidFill>
            <a:srgbClr val="CC850A"/>
          </a:solidFill>
          <a:ln>
            <a:noFill/>
          </a:ln>
        </p:spPr>
        <p:txBody>
          <a:bodyPr rtlCol="0" anchor="ctr" wrap="square" lIns="54864" rIns="54864" tIns="54864" bIns="54864"/>
          <a:lstStyle/>
          <a:p>
            <a:pPr algn="ctr"/>
          </a:p>
        </p:txBody>
      </p:sp>
      <p:sp>
        <p:nvSpPr>
          <p:cNvPr id="8" name="Trapezoid 7"/>
          <p:cNvSpPr/>
          <p:nvPr/>
        </p:nvSpPr>
        <p:spPr>
          <a:xfrm>
            <a:off x="1143000" y="1993392"/>
            <a:ext cx="1188720" cy="502920"/>
          </a:xfrm>
          <a:prstGeom prst="trapezoid">
            <a:avLst>
              <a:gd name="adj" fmla="val 50000"/>
            </a:avLst>
          </a:prstGeom>
          <a:solidFill>
            <a:srgbClr val="47A1AD"/>
          </a:solidFill>
          <a:ln>
            <a:noFill/>
          </a:ln>
        </p:spPr>
        <p:txBody>
          <a:bodyPr rtlCol="0" anchor="ctr" wrap="square" lIns="54864" rIns="54864" tIns="54864" bIns="54864"/>
          <a:lstStyle/>
          <a:p>
            <a:pPr algn="ctr"/>
          </a:p>
        </p:txBody>
      </p:sp>
      <p:sp>
        <p:nvSpPr>
          <p:cNvPr id="9" name="Trapezoid 8"/>
          <p:cNvSpPr/>
          <p:nvPr/>
        </p:nvSpPr>
        <p:spPr>
          <a:xfrm>
            <a:off x="914400" y="2523744"/>
            <a:ext cx="1645920" cy="502920"/>
          </a:xfrm>
          <a:prstGeom prst="trapezoid">
            <a:avLst>
              <a:gd name="adj" fmla="val 40000"/>
            </a:avLst>
          </a:prstGeom>
          <a:solidFill>
            <a:srgbClr val="38761D"/>
          </a:solidFill>
          <a:ln>
            <a:noFill/>
          </a:ln>
        </p:spPr>
        <p:txBody>
          <a:bodyPr rtlCol="0" anchor="ctr" wrap="square" lIns="54864" rIns="54864" tIns="54864" bIns="54864"/>
          <a:lstStyle/>
          <a:p>
            <a:pPr algn="ctr"/>
          </a:p>
        </p:txBody>
      </p:sp>
      <p:sp>
        <p:nvSpPr>
          <p:cNvPr id="10" name="Oval 9"/>
          <p:cNvSpPr/>
          <p:nvPr/>
        </p:nvSpPr>
        <p:spPr>
          <a:xfrm>
            <a:off x="3840480" y="1417320"/>
            <a:ext cx="1463040" cy="685800"/>
          </a:xfrm>
          <a:prstGeom prst="ellipse">
            <a:avLst/>
          </a:prstGeom>
          <a:solidFill>
            <a:srgbClr val="F4B6C2"/>
          </a:solidFill>
          <a:ln>
            <a:noFill/>
          </a:ln>
        </p:spPr>
        <p:txBody>
          <a:bodyPr rtlCol="0" anchor="ctr" wrap="square" lIns="54864" rIns="54864" tIns="54864" bIns="54864"/>
          <a:lstStyle/>
          <a:p>
            <a:pPr algn="ctr" marL="0" indent="0">
              <a:spcAft>
                <a:spcPts val="200"/>
              </a:spcAft>
              <a:buNone/>
            </a:pPr>
            <a:r>
              <a:rPr sz="1000" b="1" i="0" lang="es-CL">
                <a:solidFill>
                  <a:srgbClr val="1F2328"/>
                </a:solidFill>
                <a:latin typeface="Inter"/>
                <a:ea typeface="Inter"/>
                <a:cs typeface="Inter"/>
              </a:rPr>
              <a:t>Manual</a:t>
            </a:r>
          </a:p>
        </p:txBody>
      </p:sp>
      <p:sp>
        <p:nvSpPr>
          <p:cNvPr id="11" name="Rectangle 10"/>
          <p:cNvSpPr/>
          <p:nvPr/>
        </p:nvSpPr>
        <p:spPr>
          <a:xfrm>
            <a:off x="3657600" y="1984248"/>
            <a:ext cx="1828800" cy="347472"/>
          </a:xfrm>
          <a:prstGeom prst="rect">
            <a:avLst/>
          </a:prstGeom>
          <a:solidFill>
            <a:srgbClr val="CC850A"/>
          </a:solidFill>
          <a:ln>
            <a:noFill/>
          </a:ln>
        </p:spPr>
        <p:txBody>
          <a:bodyPr rtlCol="0" anchor="ctr" wrap="square" lIns="54864" rIns="54864" tIns="54864" bIns="54864"/>
          <a:lstStyle/>
          <a:p>
            <a:pPr algn="ctr" marL="0" indent="0">
              <a:spcAft>
                <a:spcPts val="200"/>
              </a:spcAft>
              <a:buNone/>
            </a:pPr>
            <a:r>
              <a:rPr sz="1000" b="1" i="0" lang="es-CL">
                <a:solidFill>
                  <a:srgbClr val="FFFFFF"/>
                </a:solidFill>
                <a:latin typeface="Inter"/>
                <a:ea typeface="Inter"/>
                <a:cs typeface="Inter"/>
              </a:rPr>
              <a:t>UI</a:t>
            </a:r>
          </a:p>
        </p:txBody>
      </p:sp>
      <p:sp>
        <p:nvSpPr>
          <p:cNvPr id="12" name="Rectangle 11"/>
          <p:cNvSpPr/>
          <p:nvPr/>
        </p:nvSpPr>
        <p:spPr>
          <a:xfrm>
            <a:off x="3931920" y="2350008"/>
            <a:ext cx="1280160" cy="310896"/>
          </a:xfrm>
          <a:prstGeom prst="rect">
            <a:avLst/>
          </a:prstGeom>
          <a:solidFill>
            <a:srgbClr val="47A1AD"/>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Servicio</a:t>
            </a:r>
          </a:p>
        </p:txBody>
      </p:sp>
      <p:sp>
        <p:nvSpPr>
          <p:cNvPr id="13" name="Isosceles Triangle 12"/>
          <p:cNvSpPr/>
          <p:nvPr/>
        </p:nvSpPr>
        <p:spPr>
          <a:xfrm rot="10800000">
            <a:off x="4206240" y="2679191"/>
            <a:ext cx="731520" cy="457200"/>
          </a:xfrm>
          <a:prstGeom prst="triangle">
            <a:avLst/>
          </a:prstGeom>
          <a:solidFill>
            <a:srgbClr val="38761D"/>
          </a:solidFill>
          <a:ln>
            <a:noFill/>
          </a:ln>
        </p:spPr>
        <p:txBody>
          <a:bodyPr rtlCol="0" anchor="ctr" wrap="square" lIns="54864" rIns="54864" tIns="54864" bIns="54864"/>
          <a:lstStyle/>
          <a:p>
            <a:pPr algn="ctr"/>
          </a:p>
        </p:txBody>
      </p:sp>
      <p:sp>
        <p:nvSpPr>
          <p:cNvPr id="14" name="TextBox 13"/>
          <p:cNvSpPr txBox="1"/>
          <p:nvPr/>
        </p:nvSpPr>
        <p:spPr>
          <a:xfrm>
            <a:off x="4114800" y="2697480"/>
            <a:ext cx="914400" cy="274320"/>
          </a:xfrm>
          <a:prstGeom prst="rect">
            <a:avLst/>
          </a:prstGeom>
          <a:noFill/>
        </p:spPr>
        <p:txBody>
          <a:bodyPr wrap="square" lIns="36576" rIns="36576" tIns="36576" bIns="36576" anchor="t"/>
          <a:lstStyle/>
          <a:p>
            <a:pPr algn="ctr" marL="0" indent="0">
              <a:spcAft>
                <a:spcPts val="400"/>
              </a:spcAft>
              <a:buNone/>
            </a:pPr>
            <a:r>
              <a:rPr sz="900" b="1" i="0" lang="es-CL">
                <a:solidFill>
                  <a:srgbClr val="FFFFFF"/>
                </a:solidFill>
                <a:latin typeface="Inter"/>
                <a:ea typeface="Inter"/>
                <a:cs typeface="Inter"/>
              </a:rPr>
              <a:t>Unit</a:t>
            </a:r>
          </a:p>
        </p:txBody>
      </p:sp>
      <p:sp>
        <p:nvSpPr>
          <p:cNvPr id="15" name="Oval 14"/>
          <p:cNvSpPr/>
          <p:nvPr/>
        </p:nvSpPr>
        <p:spPr>
          <a:xfrm>
            <a:off x="6629400" y="1417320"/>
            <a:ext cx="1554480" cy="548640"/>
          </a:xfrm>
          <a:prstGeom prst="ellipse">
            <a:avLst/>
          </a:prstGeom>
          <a:solidFill>
            <a:srgbClr val="F4B6C2"/>
          </a:solidFill>
          <a:ln>
            <a:noFill/>
          </a:ln>
        </p:spPr>
        <p:txBody>
          <a:bodyPr rtlCol="0" anchor="ctr" wrap="square" lIns="54864" rIns="54864" tIns="54864" bIns="54864"/>
          <a:lstStyle/>
          <a:p>
            <a:pPr algn="ctr" marL="0" indent="0">
              <a:spcAft>
                <a:spcPts val="200"/>
              </a:spcAft>
              <a:buNone/>
            </a:pPr>
            <a:r>
              <a:rPr sz="1000" b="1" i="0" lang="es-CL">
                <a:solidFill>
                  <a:srgbClr val="1F2328"/>
                </a:solidFill>
                <a:latin typeface="Inter"/>
                <a:ea typeface="Inter"/>
                <a:cs typeface="Inter"/>
              </a:rPr>
              <a:t>Manual</a:t>
            </a:r>
          </a:p>
        </p:txBody>
      </p:sp>
      <p:sp>
        <p:nvSpPr>
          <p:cNvPr id="16" name="Rectangle 15"/>
          <p:cNvSpPr/>
          <p:nvPr/>
        </p:nvSpPr>
        <p:spPr>
          <a:xfrm>
            <a:off x="6492240" y="1874519"/>
            <a:ext cx="1828800" cy="365760"/>
          </a:xfrm>
          <a:prstGeom prst="rect">
            <a:avLst/>
          </a:prstGeom>
          <a:solidFill>
            <a:srgbClr val="CC850A"/>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UI (duplica abajo)</a:t>
            </a:r>
          </a:p>
        </p:txBody>
      </p:sp>
      <p:sp>
        <p:nvSpPr>
          <p:cNvPr id="17" name="Rectangle 16"/>
          <p:cNvSpPr/>
          <p:nvPr/>
        </p:nvSpPr>
        <p:spPr>
          <a:xfrm>
            <a:off x="6537959" y="2258568"/>
            <a:ext cx="1737360" cy="365760"/>
          </a:xfrm>
          <a:prstGeom prst="rect">
            <a:avLst/>
          </a:prstGeom>
          <a:solidFill>
            <a:srgbClr val="47A1AD"/>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Servicio (duplica)</a:t>
            </a:r>
          </a:p>
        </p:txBody>
      </p:sp>
      <p:sp>
        <p:nvSpPr>
          <p:cNvPr id="18" name="Trapezoid 17"/>
          <p:cNvSpPr/>
          <p:nvPr/>
        </p:nvSpPr>
        <p:spPr>
          <a:xfrm rot="10800000">
            <a:off x="6583679" y="2642616"/>
            <a:ext cx="1645920" cy="457200"/>
          </a:xfrm>
          <a:prstGeom prst="trapezoid">
            <a:avLst/>
          </a:prstGeom>
          <a:solidFill>
            <a:srgbClr val="38761D"/>
          </a:solidFill>
          <a:ln>
            <a:noFill/>
          </a:ln>
        </p:spPr>
        <p:txBody>
          <a:bodyPr rtlCol="0" anchor="ctr" wrap="square" lIns="54864" rIns="54864" tIns="54864" bIns="54864"/>
          <a:lstStyle/>
          <a:p>
            <a:pPr algn="ctr"/>
          </a:p>
        </p:txBody>
      </p:sp>
      <p:sp>
        <p:nvSpPr>
          <p:cNvPr id="19" name="TextBox 18"/>
          <p:cNvSpPr txBox="1"/>
          <p:nvPr/>
        </p:nvSpPr>
        <p:spPr>
          <a:xfrm>
            <a:off x="6949440" y="2715768"/>
            <a:ext cx="914400" cy="274320"/>
          </a:xfrm>
          <a:prstGeom prst="rect">
            <a:avLst/>
          </a:prstGeom>
          <a:noFill/>
        </p:spPr>
        <p:txBody>
          <a:bodyPr wrap="square" lIns="36576" rIns="36576" tIns="36576" bIns="36576" anchor="t"/>
          <a:lstStyle/>
          <a:p>
            <a:pPr algn="ctr" marL="0" indent="0">
              <a:spcAft>
                <a:spcPts val="400"/>
              </a:spcAft>
              <a:buNone/>
            </a:pPr>
            <a:r>
              <a:rPr sz="950" b="1" i="0" lang="es-CL">
                <a:solidFill>
                  <a:srgbClr val="FFFFFF"/>
                </a:solidFill>
                <a:latin typeface="Inter"/>
                <a:ea typeface="Inter"/>
                <a:cs typeface="Inter"/>
              </a:rPr>
              <a:t>Unit</a:t>
            </a:r>
          </a:p>
        </p:txBody>
      </p:sp>
      <p:sp>
        <p:nvSpPr>
          <p:cNvPr id="20" name="TextBox 19"/>
          <p:cNvSpPr txBox="1"/>
          <p:nvPr/>
        </p:nvSpPr>
        <p:spPr>
          <a:xfrm>
            <a:off x="411480" y="3246120"/>
            <a:ext cx="2651760" cy="118872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Base ancha de tests micro</a:t>
            </a:r>
          </a:p>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Pocos tests macro que recorren flujos</a:t>
            </a:r>
          </a:p>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Cada test en una sola capa</a:t>
            </a:r>
          </a:p>
        </p:txBody>
      </p:sp>
      <p:sp>
        <p:nvSpPr>
          <p:cNvPr id="21" name="TextBox 20"/>
          <p:cNvSpPr txBox="1"/>
          <p:nvPr/>
        </p:nvSpPr>
        <p:spPr>
          <a:xfrm>
            <a:off x="3246120" y="3246120"/>
            <a:ext cx="2651760" cy="118872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Muchos tests de UI, pocos micro</a:t>
            </a:r>
          </a:p>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Feedback lento, defectos tarde</a:t>
            </a:r>
          </a:p>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Pruebas manuales aunque hay automatización</a:t>
            </a:r>
          </a:p>
        </p:txBody>
      </p:sp>
      <p:sp>
        <p:nvSpPr>
          <p:cNvPr id="22" name="TextBox 21"/>
          <p:cNvSpPr txBox="1"/>
          <p:nvPr/>
        </p:nvSpPr>
        <p:spPr>
          <a:xfrm>
            <a:off x="6080760" y="3246120"/>
            <a:ext cx="2651760" cy="118872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El mismo caso probado en unit, API y UI</a:t>
            </a:r>
          </a:p>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Releases lentos, culpas cruzadas</a:t>
            </a:r>
          </a:p>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La IA lo agrava al generar en lote</a:t>
            </a:r>
          </a:p>
        </p:txBody>
      </p:sp>
      <p:sp>
        <p:nvSpPr>
          <p:cNvPr id="23" name="TextBox 22"/>
          <p:cNvSpPr txBox="1"/>
          <p:nvPr/>
        </p:nvSpPr>
        <p:spPr>
          <a:xfrm>
            <a:off x="411480" y="4343400"/>
            <a:ext cx="8321040" cy="256032"/>
          </a:xfrm>
          <a:prstGeom prst="rect">
            <a:avLst/>
          </a:prstGeom>
          <a:noFill/>
        </p:spPr>
        <p:txBody>
          <a:bodyPr wrap="square" lIns="36576" rIns="36576" tIns="36576" bIns="36576" anchor="t"/>
          <a:lstStyle/>
          <a:p>
            <a:pPr algn="ctr" marL="0" indent="0">
              <a:spcAft>
                <a:spcPts val="400"/>
              </a:spcAft>
              <a:buNone/>
            </a:pPr>
            <a:r>
              <a:rPr sz="900" b="0" i="0" lang="es-CL">
                <a:solidFill>
                  <a:srgbClr val="8C959F"/>
                </a:solidFill>
                <a:latin typeface="Inter"/>
                <a:ea typeface="Inter"/>
                <a:cs typeface="Inter"/>
              </a:rPr>
              <a:t>Libro, p. 114 a 116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El mito del 100 por ciento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97280"/>
            <a:ext cx="3931920" cy="1600200"/>
          </a:xfrm>
          <a:prstGeom prst="roundRect">
            <a:avLst>
              <a:gd name="adj" fmla="val 5714"/>
            </a:avLst>
          </a:prstGeom>
          <a:solidFill>
            <a:srgbClr val="EDF1F3"/>
          </a:solidFill>
          <a:ln>
            <a:noFill/>
          </a:ln>
        </p:spPr>
        <p:txBody>
          <a:bodyPr rtlCol="0" anchor="ctr" wrap="square" lIns="54864" rIns="54864" tIns="54864" bIns="54864"/>
          <a:lstStyle/>
          <a:p>
            <a:pPr algn="ctr"/>
          </a:p>
        </p:txBody>
      </p:sp>
      <p:sp>
        <p:nvSpPr>
          <p:cNvPr id="5" name="TextBox 4"/>
          <p:cNvSpPr txBox="1"/>
          <p:nvPr/>
        </p:nvSpPr>
        <p:spPr>
          <a:xfrm>
            <a:off x="594360" y="1170432"/>
            <a:ext cx="3566160" cy="274320"/>
          </a:xfrm>
          <a:prstGeom prst="rect">
            <a:avLst/>
          </a:prstGeom>
          <a:noFill/>
        </p:spPr>
        <p:txBody>
          <a:bodyPr wrap="square" lIns="36576" rIns="36576" tIns="36576" bIns="36576" anchor="t"/>
          <a:lstStyle/>
          <a:p>
            <a:pPr algn="l" marL="0" indent="0">
              <a:spcAft>
                <a:spcPts val="400"/>
              </a:spcAft>
              <a:buNone/>
            </a:pPr>
            <a:r>
              <a:rPr sz="1200" b="1" i="0" lang="es-CL">
                <a:solidFill>
                  <a:srgbClr val="003D4F"/>
                </a:solidFill>
                <a:latin typeface="Inter"/>
                <a:ea typeface="Inter"/>
                <a:cs typeface="Inter"/>
              </a:rPr>
              <a:t>Cobertura de código</a:t>
            </a:r>
          </a:p>
        </p:txBody>
      </p:sp>
      <p:sp>
        <p:nvSpPr>
          <p:cNvPr id="6" name="TextBox 5"/>
          <p:cNvSpPr txBox="1"/>
          <p:nvPr/>
        </p:nvSpPr>
        <p:spPr>
          <a:xfrm>
            <a:off x="594360" y="1481328"/>
            <a:ext cx="3566160" cy="118872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Dice qué líneas </a:t>
            </a:r>
            <a:r>
              <a:rPr sz="1050" b="1" i="0" lang="es-CL">
                <a:solidFill>
                  <a:srgbClr val="1F2328"/>
                </a:solidFill>
                <a:latin typeface="Inter"/>
                <a:ea typeface="Inter"/>
                <a:cs typeface="Inter"/>
              </a:rPr>
              <a:t>no</a:t>
            </a:r>
            <a:r>
              <a:rPr sz="1050" b="0" i="0" lang="es-CL">
                <a:solidFill>
                  <a:srgbClr val="1F2328"/>
                </a:solidFill>
                <a:latin typeface="Inter"/>
                <a:ea typeface="Inter"/>
                <a:cs typeface="Inter"/>
              </a:rPr>
              <a:t> ejecutó ningún test</a:t>
            </a:r>
          </a:p>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No dice si los tests verifican algo</a:t>
            </a:r>
          </a:p>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Puede ser alta aunque un módulo tenga cero tests</a:t>
            </a:r>
          </a:p>
        </p:txBody>
      </p:sp>
      <p:sp>
        <p:nvSpPr>
          <p:cNvPr id="7" name="Rounded Rectangle 6"/>
          <p:cNvSpPr/>
          <p:nvPr/>
        </p:nvSpPr>
        <p:spPr>
          <a:xfrm>
            <a:off x="411480" y="2834640"/>
            <a:ext cx="3931920" cy="1600200"/>
          </a:xfrm>
          <a:prstGeom prst="roundRect">
            <a:avLst>
              <a:gd name="adj" fmla="val 5714"/>
            </a:avLst>
          </a:prstGeom>
          <a:solidFill>
            <a:srgbClr val="EDF1F3"/>
          </a:solidFill>
          <a:ln>
            <a:noFill/>
          </a:ln>
        </p:spPr>
        <p:txBody>
          <a:bodyPr rtlCol="0" anchor="ctr" wrap="square" lIns="54864" rIns="54864" tIns="54864" bIns="54864"/>
          <a:lstStyle/>
          <a:p>
            <a:pPr algn="ctr"/>
          </a:p>
        </p:txBody>
      </p:sp>
      <p:sp>
        <p:nvSpPr>
          <p:cNvPr id="8" name="TextBox 7"/>
          <p:cNvSpPr txBox="1"/>
          <p:nvPr/>
        </p:nvSpPr>
        <p:spPr>
          <a:xfrm>
            <a:off x="594360" y="2907792"/>
            <a:ext cx="3566160" cy="274320"/>
          </a:xfrm>
          <a:prstGeom prst="rect">
            <a:avLst/>
          </a:prstGeom>
          <a:noFill/>
        </p:spPr>
        <p:txBody>
          <a:bodyPr wrap="square" lIns="36576" rIns="36576" tIns="36576" bIns="36576" anchor="t"/>
          <a:lstStyle/>
          <a:p>
            <a:pPr algn="l" marL="0" indent="0">
              <a:spcAft>
                <a:spcPts val="400"/>
              </a:spcAft>
              <a:buNone/>
            </a:pPr>
            <a:r>
              <a:rPr sz="1200" b="1" i="0" lang="es-CL">
                <a:solidFill>
                  <a:srgbClr val="38761D"/>
                </a:solidFill>
                <a:latin typeface="Inter"/>
                <a:ea typeface="Inter"/>
                <a:cs typeface="Inter"/>
              </a:rPr>
              <a:t>Mutation testing</a:t>
            </a:r>
          </a:p>
        </p:txBody>
      </p:sp>
      <p:sp>
        <p:nvSpPr>
          <p:cNvPr id="9" name="TextBox 8"/>
          <p:cNvSpPr txBox="1"/>
          <p:nvPr/>
        </p:nvSpPr>
        <p:spPr>
          <a:xfrm>
            <a:off x="594360" y="3218688"/>
            <a:ext cx="3566160" cy="118872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Cambia el código (crea un mutante) y corre los tests</a:t>
            </a:r>
          </a:p>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Si algún test falla, el mutante muere. Si no, sobrevive</a:t>
            </a:r>
          </a:p>
          <a:p>
            <a:pPr algn="l" marL="182880" indent="-164592">
              <a:spcAft>
                <a:spcPts val="400"/>
              </a:spcAft>
              <a:buClr>
                <a:srgbClr val="F2617A"/>
              </a:buClr>
              <a:buSzPct val="100000"/>
              <a:buFont typeface="Arial"/>
              <a:buChar char="●"/>
            </a:pPr>
            <a:r>
              <a:rPr sz="1050" b="0" i="0" lang="es-CL">
                <a:solidFill>
                  <a:srgbClr val="1F2328"/>
                </a:solidFill>
                <a:latin typeface="Inter"/>
                <a:ea typeface="Inter"/>
                <a:cs typeface="Inter"/>
              </a:rPr>
              <a:t>Muy efectivo pero lento: úsalo con criterio (p. 116)</a:t>
            </a:r>
          </a:p>
        </p:txBody>
      </p:sp>
      <p:sp>
        <p:nvSpPr>
          <p:cNvPr id="10" name="Rounded Rectangle 9"/>
          <p:cNvSpPr/>
          <p:nvPr/>
        </p:nvSpPr>
        <p:spPr>
          <a:xfrm>
            <a:off x="4572000" y="1097280"/>
            <a:ext cx="4160520" cy="2148840"/>
          </a:xfrm>
          <a:prstGeom prst="roundRect">
            <a:avLst>
              <a:gd name="adj" fmla="val 2553"/>
            </a:avLst>
          </a:prstGeom>
          <a:solidFill>
            <a:srgbClr val="F6F8FA"/>
          </a:solidFill>
          <a:ln w="9525">
            <a:solidFill>
              <a:srgbClr val="D0D7DE"/>
            </a:solidFill>
          </a:ln>
        </p:spPr>
        <p:txBody>
          <a:bodyPr rtlCol="0" anchor="ctr" wrap="square" lIns="54864" rIns="54864" tIns="54864" bIns="54864"/>
          <a:lstStyle/>
          <a:p>
            <a:pPr algn="ctr"/>
          </a:p>
        </p:txBody>
      </p:sp>
      <p:sp>
        <p:nvSpPr>
          <p:cNvPr id="11" name="TextBox 10"/>
          <p:cNvSpPr txBox="1"/>
          <p:nvPr/>
        </p:nvSpPr>
        <p:spPr>
          <a:xfrm>
            <a:off x="4681728" y="1152144"/>
            <a:ext cx="394106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backend/src/loans/domain/loan-policy.ts</a:t>
            </a:r>
          </a:p>
        </p:txBody>
      </p:sp>
      <p:sp>
        <p:nvSpPr>
          <p:cNvPr id="12" name="TextBox 11"/>
          <p:cNvSpPr txBox="1"/>
          <p:nvPr/>
        </p:nvSpPr>
        <p:spPr>
          <a:xfrm>
            <a:off x="4681728" y="1408176"/>
            <a:ext cx="3941063" cy="1783079"/>
          </a:xfrm>
          <a:prstGeom prst="rect">
            <a:avLst/>
          </a:prstGeom>
          <a:noFill/>
        </p:spPr>
        <p:txBody>
          <a:bodyPr wrap="none" lIns="0" rIns="0" tIns="0" bIns="0"/>
          <a:lstStyle/>
          <a:p>
            <a:pPr marL="0" indent="0">
              <a:lnSpc>
                <a:spcPct val="100000"/>
              </a:lnSpc>
              <a:spcAft>
                <a:spcPts val="0"/>
              </a:spcAft>
              <a:buNone/>
            </a:pPr>
            <a:r>
              <a:rPr sz="1000" b="0" i="0" lang="es-CL">
                <a:solidFill>
                  <a:srgbClr val="008000"/>
                </a:solidFill>
                <a:latin typeface="Consolas"/>
                <a:ea typeface="Consolas"/>
                <a:cs typeface="Consolas"/>
              </a:rPr>
              <a:t>// producción: LOAN-R2, máximo 3 no devueltos</a:t>
            </a:r>
          </a:p>
          <a:p>
            <a:pPr marL="0" indent="0">
              <a:lnSpc>
                <a:spcPct val="100000"/>
              </a:lnSpc>
              <a:spcAft>
                <a:spcPts val="0"/>
              </a:spcAft>
              <a:buNone/>
            </a:pPr>
            <a:r>
              <a:rPr sz="1000" b="0" i="0" lang="es-CL">
                <a:solidFill>
                  <a:srgbClr val="AF00DB"/>
                </a:solidFill>
                <a:latin typeface="Consolas"/>
                <a:ea typeface="Consolas"/>
                <a:cs typeface="Consolas"/>
              </a:rPr>
              <a:t>if</a:t>
            </a:r>
            <a:r>
              <a:rPr sz="1000" b="0" i="0" lang="es-CL">
                <a:solidFill>
                  <a:srgbClr val="1F2328"/>
                </a:solidFill>
                <a:latin typeface="Consolas"/>
                <a:ea typeface="Consolas"/>
                <a:cs typeface="Consolas"/>
              </a:rPr>
              <a:t> (pending.length &gt;= MAX_UNRETURNED_LOANS)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throw</a:t>
            </a: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new</a:t>
            </a:r>
            <a:r>
              <a:rPr sz="1000" b="0" i="0" lang="es-CL">
                <a:solidFill>
                  <a:srgbClr val="1F2328"/>
                </a:solidFill>
                <a:latin typeface="Consolas"/>
                <a:ea typeface="Consolas"/>
                <a:cs typeface="Consolas"/>
              </a:rPr>
              <a:t> LoanLimitReachedError(/* ... */)</a:t>
            </a:r>
          </a:p>
          <a:p>
            <a:pPr marL="0" indent="0">
              <a:lnSpc>
                <a:spcPct val="100000"/>
              </a:lnSpc>
              <a:spcAft>
                <a:spcPts val="0"/>
              </a:spcAft>
              <a:buNone/>
            </a:pP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008000"/>
                </a:solidFill>
                <a:latin typeface="Consolas"/>
                <a:ea typeface="Consolas"/>
                <a:cs typeface="Consolas"/>
              </a:rPr>
              <a:t>// mutante que crea Stryker: &gt;= pasa a &gt;</a:t>
            </a:r>
          </a:p>
          <a:p>
            <a:pPr marL="0" indent="0">
              <a:lnSpc>
                <a:spcPct val="100000"/>
              </a:lnSpc>
              <a:spcAft>
                <a:spcPts val="0"/>
              </a:spcAft>
              <a:buNone/>
            </a:pPr>
            <a:r>
              <a:rPr sz="1000" b="0" i="0" lang="es-CL">
                <a:solidFill>
                  <a:srgbClr val="AF00DB"/>
                </a:solidFill>
                <a:latin typeface="Consolas"/>
                <a:ea typeface="Consolas"/>
                <a:cs typeface="Consolas"/>
              </a:rPr>
              <a:t>if</a:t>
            </a:r>
            <a:r>
              <a:rPr sz="1000" b="0" i="0" lang="es-CL">
                <a:solidFill>
                  <a:srgbClr val="1F2328"/>
                </a:solidFill>
                <a:latin typeface="Consolas"/>
                <a:ea typeface="Consolas"/>
                <a:cs typeface="Consolas"/>
              </a:rPr>
              <a:t> (pending.length &gt; MAX_UNRETURNED_LOANS)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throw</a:t>
            </a: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new</a:t>
            </a:r>
            <a:r>
              <a:rPr sz="1000" b="0" i="0" lang="es-CL">
                <a:solidFill>
                  <a:srgbClr val="1F2328"/>
                </a:solidFill>
                <a:latin typeface="Consolas"/>
                <a:ea typeface="Consolas"/>
                <a:cs typeface="Consolas"/>
              </a:rPr>
              <a:t> LoanLimitReachedError(/* ... */)</a:t>
            </a:r>
          </a:p>
          <a:p>
            <a:pPr marL="0" indent="0">
              <a:lnSpc>
                <a:spcPct val="100000"/>
              </a:lnSpc>
              <a:spcAft>
                <a:spcPts val="0"/>
              </a:spcAft>
              <a:buNone/>
            </a:pPr>
            <a:r>
              <a:rPr sz="1000" b="0" i="0" lang="es-CL">
                <a:solidFill>
                  <a:srgbClr val="1F2328"/>
                </a:solidFill>
                <a:latin typeface="Consolas"/>
                <a:ea typeface="Consolas"/>
                <a:cs typeface="Consolas"/>
              </a:rPr>
              <a:t>}</a:t>
            </a:r>
          </a:p>
        </p:txBody>
      </p:sp>
      <p:sp>
        <p:nvSpPr>
          <p:cNvPr id="13" name="Rounded Rectangle 12"/>
          <p:cNvSpPr/>
          <p:nvPr/>
        </p:nvSpPr>
        <p:spPr>
          <a:xfrm>
            <a:off x="4572000" y="3383280"/>
            <a:ext cx="4160520" cy="1051560"/>
          </a:xfrm>
          <a:prstGeom prst="roundRect">
            <a:avLst>
              <a:gd name="adj" fmla="val 8695"/>
            </a:avLst>
          </a:prstGeom>
          <a:solidFill>
            <a:srgbClr val="FCE8EC"/>
          </a:solidFill>
          <a:ln>
            <a:noFill/>
          </a:ln>
        </p:spPr>
        <p:txBody>
          <a:bodyPr rtlCol="0" anchor="ctr" wrap="square" lIns="54864" rIns="54864" tIns="54864" bIns="54864"/>
          <a:lstStyle/>
          <a:p>
            <a:pPr algn="ctr"/>
          </a:p>
        </p:txBody>
      </p:sp>
      <p:sp>
        <p:nvSpPr>
          <p:cNvPr id="14" name="TextBox 13"/>
          <p:cNvSpPr txBox="1"/>
          <p:nvPr/>
        </p:nvSpPr>
        <p:spPr>
          <a:xfrm>
            <a:off x="4709160" y="3438144"/>
            <a:ext cx="3886200" cy="960120"/>
          </a:xfrm>
          <a:prstGeom prst="rect">
            <a:avLst/>
          </a:prstGeom>
          <a:noFill/>
        </p:spPr>
        <p:txBody>
          <a:bodyPr wrap="square" lIns="36576" rIns="36576" tIns="36576" bIns="36576" anchor="t"/>
          <a:lstStyle/>
          <a:p>
            <a:pPr algn="l" marL="0" indent="0">
              <a:spcAft>
                <a:spcPts val="400"/>
              </a:spcAft>
              <a:buNone/>
            </a:pPr>
            <a:r>
              <a:rPr sz="1050" b="0" i="0" lang="es-CL">
                <a:solidFill>
                  <a:srgbClr val="1F2328"/>
                </a:solidFill>
                <a:latin typeface="Inter"/>
                <a:ea typeface="Inter"/>
                <a:cs typeface="Inter"/>
              </a:rPr>
              <a:t>Si ningún test usa </a:t>
            </a:r>
            <a:r>
              <a:rPr sz="1050" b="1" i="0" lang="es-CL">
                <a:solidFill>
                  <a:srgbClr val="1F2328"/>
                </a:solidFill>
                <a:latin typeface="Inter"/>
                <a:ea typeface="Inter"/>
                <a:cs typeface="Inter"/>
              </a:rPr>
              <a:t>exactamente 3</a:t>
            </a:r>
            <a:r>
              <a:rPr sz="1050" b="0" i="0" lang="es-CL">
                <a:solidFill>
                  <a:srgbClr val="1F2328"/>
                </a:solidFill>
                <a:latin typeface="Inter"/>
                <a:ea typeface="Inter"/>
                <a:cs typeface="Inter"/>
              </a:rPr>
              <a:t> préstamos, el mutante sobrevive con 100 por ciento de cobertura. En el repo lo mata el test del </a:t>
            </a:r>
            <a:r>
              <a:rPr sz="1050" b="1" i="0" lang="es-CL">
                <a:solidFill>
                  <a:srgbClr val="1F2328"/>
                </a:solidFill>
                <a:latin typeface="Inter"/>
                <a:ea typeface="Inter"/>
                <a:cs typeface="Inter"/>
              </a:rPr>
              <a:t>valor límite</a:t>
            </a:r>
            <a:r>
              <a:rPr sz="1050" b="0" i="0" lang="es-CL">
                <a:solidFill>
                  <a:srgbClr val="1F2328"/>
                </a:solidFill>
                <a:latin typeface="Inter"/>
                <a:ea typeface="Inter"/>
                <a:cs typeface="Inter"/>
              </a:rPr>
              <a:t>: [LOAN-R2] rechaza el cuarto préstamo.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7 reglas para que la IA no infle la suite</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1051560"/>
          <a:ext cx="8321039" cy="3218688"/>
        </p:xfrm>
        <a:graphic>
          <a:graphicData uri="http://schemas.openxmlformats.org/drawingml/2006/table">
            <a:tbl>
              <a:tblPr firstRow="0" bandRow="0">
                <a:tableStyleId>{5C22544A-7EE6-4342-B048-85BDC9FD1C3A}</a:tableStyleId>
              </a:tblPr>
              <a:tblGrid>
                <a:gridCol w="329080"/>
                <a:gridCol w="2162530"/>
                <a:gridCol w="3760922"/>
                <a:gridCol w="2068507"/>
              </a:tblGrid>
              <a:tr h="402336">
                <a:tc>
                  <a:txBody>
                    <a:bodyPr wrap="square"/>
                    <a:lstStyle/>
                    <a:p>
                      <a:pPr algn="ctr" marL="0" indent="0">
                        <a:spcAft>
                          <a:spcPts val="0"/>
                        </a:spcAft>
                        <a:buNone/>
                      </a:pPr>
                      <a:r>
                        <a:rPr sz="1050" b="1" i="0" lang="es-CL">
                          <a:solidFill>
                            <a:srgbClr val="FFFFFF"/>
                          </a:solidFill>
                          <a:latin typeface="Inter"/>
                          <a:ea typeface="Inter"/>
                          <a:cs typeface="Inter"/>
                        </a:rPr>
                        <a: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50" b="1" i="0" lang="es-CL">
                          <a:solidFill>
                            <a:srgbClr val="FFFFFF"/>
                          </a:solidFill>
                          <a:latin typeface="Inter"/>
                          <a:ea typeface="Inter"/>
                          <a:cs typeface="Inter"/>
                        </a:rPr>
                        <a:t>Regla (constitución P4)</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50" b="1" i="0" lang="es-CL">
                          <a:solidFill>
                            <a:srgbClr val="FFFFFF"/>
                          </a:solidFill>
                          <a:latin typeface="Inter"/>
                          <a:ea typeface="Inter"/>
                          <a:cs typeface="Inter"/>
                        </a:rPr>
                        <a:t>Qué significa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50" b="1" i="0" lang="es-CL">
                          <a:solidFill>
                            <a:srgbClr val="FFFFFF"/>
                          </a:solidFill>
                          <a:latin typeface="Inter"/>
                          <a:ea typeface="Inter"/>
                          <a:cs typeface="Inter"/>
                        </a:rPr>
                        <a:t>Quién la hace cumplir</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402336">
                <a:tc>
                  <a:txBody>
                    <a:bodyPr wrap="square"/>
                    <a:lstStyle/>
                    <a:p>
                      <a:pPr algn="ctr" marL="0" indent="0">
                        <a:spcAft>
                          <a:spcPts val="0"/>
                        </a:spcAft>
                        <a:buNone/>
                      </a:pPr>
                      <a:r>
                        <a:rPr sz="1050" b="0" i="0" lang="es-CL">
                          <a:solidFill>
                            <a:srgbClr val="1F2328"/>
                          </a:solidFill>
                          <a:latin typeface="Inter"/>
                          <a:ea typeface="Inter"/>
                          <a:cs typeface="Inter"/>
                        </a:rPr>
                        <a:t>1</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1" i="0" lang="es-CL">
                          <a:solidFill>
                            <a:srgbClr val="1F2328"/>
                          </a:solidFill>
                          <a:latin typeface="Inter"/>
                          <a:ea typeface="Inter"/>
                          <a:cs typeface="Inter"/>
                        </a:rPr>
                        <a:t>La capa más baja posible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Validaciones de campos en unit, no en API ni UI</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Revisión y revisor IA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02336">
                <a:tc>
                  <a:txBody>
                    <a:bodyPr wrap="square"/>
                    <a:lstStyle/>
                    <a:p>
                      <a:pPr algn="ctr" marL="0" indent="0">
                        <a:spcAft>
                          <a:spcPts val="0"/>
                        </a:spcAft>
                        <a:buNone/>
                      </a:pPr>
                      <a:r>
                        <a:rPr sz="1050" b="0" i="0" lang="es-CL">
                          <a:solidFill>
                            <a:srgbClr val="1F2328"/>
                          </a:solidFill>
                          <a:latin typeface="Inter"/>
                          <a:ea typeface="Inter"/>
                          <a:cs typeface="Inter"/>
                        </a:rPr>
                        <a:t>2</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1" i="0" lang="es-CL">
                          <a:solidFill>
                            <a:srgbClr val="1F2328"/>
                          </a:solidFill>
                          <a:latin typeface="Inter"/>
                          <a:ea typeface="Inter"/>
                          <a:cs typeface="Inter"/>
                        </a:rPr>
                        <a:t>Una partición, un test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Particiones y valores límite, máximo 6 por regla y capa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tools/spec-trace.mjs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02336">
                <a:tc>
                  <a:txBody>
                    <a:bodyPr wrap="square"/>
                    <a:lstStyle/>
                    <a:p>
                      <a:pPr algn="ctr" marL="0" indent="0">
                        <a:spcAft>
                          <a:spcPts val="0"/>
                        </a:spcAft>
                        <a:buNone/>
                      </a:pPr>
                      <a:r>
                        <a:rPr sz="1050" b="0" i="0" lang="es-CL">
                          <a:solidFill>
                            <a:srgbClr val="1F2328"/>
                          </a:solidFill>
                          <a:latin typeface="Inter"/>
                          <a:ea typeface="Inter"/>
                          <a:cs typeface="Inter"/>
                        </a:rPr>
                        <a:t>3</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1" i="0" lang="es-CL">
                          <a:solidFill>
                            <a:srgbClr val="1F2328"/>
                          </a:solidFill>
                          <a:latin typeface="Inter"/>
                          <a:ea typeface="Inter"/>
                          <a:cs typeface="Inter"/>
                        </a:rPr>
                        <a:t>Sin mocks por defecto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Objetos reales o fakes en memoria y reloj fijo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ESLint (vi.fn, jest.mock)</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02336">
                <a:tc>
                  <a:txBody>
                    <a:bodyPr wrap="square"/>
                    <a:lstStyle/>
                    <a:p>
                      <a:pPr algn="ctr" marL="0" indent="0">
                        <a:spcAft>
                          <a:spcPts val="0"/>
                        </a:spcAft>
                        <a:buNone/>
                      </a:pPr>
                      <a:r>
                        <a:rPr sz="1050" b="0" i="0" lang="es-CL">
                          <a:solidFill>
                            <a:srgbClr val="1F2328"/>
                          </a:solidFill>
                          <a:latin typeface="Inter"/>
                          <a:ea typeface="Inter"/>
                          <a:cs typeface="Inter"/>
                        </a:rPr>
                        <a:t>4</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1" i="0" lang="es-CL">
                          <a:solidFill>
                            <a:srgbClr val="1F2328"/>
                          </a:solidFill>
                          <a:latin typeface="Inter"/>
                          <a:ea typeface="Inter"/>
                          <a:cs typeface="Inter"/>
                        </a:rPr>
                        <a:t>Oráculos explícitos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El valor esperado se escribe literal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Revisión y revisor IA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02336">
                <a:tc>
                  <a:txBody>
                    <a:bodyPr wrap="square"/>
                    <a:lstStyle/>
                    <a:p>
                      <a:pPr algn="ctr" marL="0" indent="0">
                        <a:spcAft>
                          <a:spcPts val="0"/>
                        </a:spcAft>
                        <a:buNone/>
                      </a:pPr>
                      <a:r>
                        <a:rPr sz="1050" b="0" i="0" lang="es-CL">
                          <a:solidFill>
                            <a:srgbClr val="1F2328"/>
                          </a:solidFill>
                          <a:latin typeface="Inter"/>
                          <a:ea typeface="Inter"/>
                          <a:cs typeface="Inter"/>
                        </a:rPr>
                        <a:t>5</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1" i="0" lang="es-CL">
                          <a:solidFill>
                            <a:srgbClr val="1F2328"/>
                          </a:solidFill>
                          <a:latin typeface="Inter"/>
                          <a:ea typeface="Inter"/>
                          <a:cs typeface="Inter"/>
                        </a:rPr>
                        <a:t>Independencia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Cada test prepara su propio estado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Tests en paralelo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02336">
                <a:tc>
                  <a:txBody>
                    <a:bodyPr wrap="square"/>
                    <a:lstStyle/>
                    <a:p>
                      <a:pPr algn="ctr" marL="0" indent="0">
                        <a:spcAft>
                          <a:spcPts val="0"/>
                        </a:spcAft>
                        <a:buNone/>
                      </a:pPr>
                      <a:r>
                        <a:rPr sz="1050" b="0" i="0" lang="es-CL">
                          <a:solidFill>
                            <a:srgbClr val="1F2328"/>
                          </a:solidFill>
                          <a:latin typeface="Inter"/>
                          <a:ea typeface="Inter"/>
                          <a:cs typeface="Inter"/>
                        </a:rPr>
                        <a:t>6</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1" i="0" lang="es-CL">
                          <a:solidFill>
                            <a:srgbClr val="1F2328"/>
                          </a:solidFill>
                          <a:latin typeface="Inter"/>
                          <a:ea typeface="Inter"/>
                          <a:cs typeface="Inter"/>
                        </a:rPr>
                        <a:t>Nada débil ni frágil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Sin toBeTruthy, sin waitForTimeout, sin duplicar capas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ESLint y spec-trace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02336">
                <a:tc>
                  <a:txBody>
                    <a:bodyPr wrap="square"/>
                    <a:lstStyle/>
                    <a:p>
                      <a:pPr algn="ctr" marL="0" indent="0">
                        <a:spcAft>
                          <a:spcPts val="0"/>
                        </a:spcAft>
                        <a:buNone/>
                      </a:pPr>
                      <a:r>
                        <a:rPr sz="1050" b="0" i="0" lang="es-CL">
                          <a:solidFill>
                            <a:srgbClr val="1F2328"/>
                          </a:solidFill>
                          <a:latin typeface="Inter"/>
                          <a:ea typeface="Inter"/>
                          <a:cs typeface="Inter"/>
                        </a:rPr>
                        <a:t>7</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1" i="0" lang="es-CL">
                          <a:solidFill>
                            <a:srgbClr val="1F2328"/>
                          </a:solidFill>
                          <a:latin typeface="Inter"/>
                          <a:ea typeface="Inter"/>
                          <a:cs typeface="Inter"/>
                        </a:rPr>
                        <a:t>La IA propone, tú apruebas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Lista de casos primero, después un test a la vez</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CLAUDE.md y AGENTS.md</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bl>
          </a:graphicData>
        </a:graphic>
      </p:graphicFrame>
      <p:sp>
        <p:nvSpPr>
          <p:cNvPr id="5" name="TextBox 4"/>
          <p:cNvSpPr txBox="1"/>
          <p:nvPr/>
        </p:nvSpPr>
        <p:spPr>
          <a:xfrm>
            <a:off x="411480" y="4389120"/>
            <a:ext cx="8321040" cy="256032"/>
          </a:xfrm>
          <a:prstGeom prst="rect">
            <a:avLst/>
          </a:prstGeom>
          <a:noFill/>
        </p:spPr>
        <p:txBody>
          <a:bodyPr wrap="square" lIns="36576" rIns="36576" tIns="36576" bIns="36576" anchor="t"/>
          <a:lstStyle/>
          <a:p>
            <a:pPr algn="ctr" marL="0" indent="0">
              <a:spcAft>
                <a:spcPts val="400"/>
              </a:spcAft>
              <a:buNone/>
            </a:pPr>
            <a:r>
              <a:rPr sz="900" b="0" i="0" lang="es-CL">
                <a:solidFill>
                  <a:srgbClr val="8C959F"/>
                </a:solidFill>
                <a:latin typeface="Inter"/>
                <a:ea typeface="Inter"/>
                <a:cs typeface="Inter"/>
              </a:rPr>
              <a:t>Basadas en el libro: p. 71, 90, 94, 96, 102 y 107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Las reglas también son código: tres barandas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97280"/>
            <a:ext cx="1600200" cy="960120"/>
          </a:xfrm>
          <a:prstGeom prst="roundRect">
            <a:avLst>
              <a:gd name="adj" fmla="val 7619"/>
            </a:avLst>
          </a:prstGeom>
          <a:solidFill>
            <a:srgbClr val="47A1AD"/>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1. Instrucciones</a:t>
            </a:r>
          </a:p>
        </p:txBody>
      </p:sp>
      <p:sp>
        <p:nvSpPr>
          <p:cNvPr id="5" name="TextBox 4"/>
          <p:cNvSpPr txBox="1"/>
          <p:nvPr/>
        </p:nvSpPr>
        <p:spPr>
          <a:xfrm>
            <a:off x="2121408" y="1143000"/>
            <a:ext cx="2240280" cy="64008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CLAUDE.md, AGENTS.md y la constitución. El agente las lee antes de escribir.</a:t>
            </a:r>
          </a:p>
        </p:txBody>
      </p:sp>
      <p:sp>
        <p:nvSpPr>
          <p:cNvPr id="6" name="TextBox 5"/>
          <p:cNvSpPr txBox="1"/>
          <p:nvPr/>
        </p:nvSpPr>
        <p:spPr>
          <a:xfrm>
            <a:off x="2121408" y="1773936"/>
            <a:ext cx="2240280" cy="256032"/>
          </a:xfrm>
          <a:prstGeom prst="rect">
            <a:avLst/>
          </a:prstGeom>
          <a:noFill/>
        </p:spPr>
        <p:txBody>
          <a:bodyPr wrap="square" lIns="36576" rIns="36576" tIns="36576" bIns="36576" anchor="t"/>
          <a:lstStyle/>
          <a:p>
            <a:pPr algn="l" marL="0" indent="0">
              <a:spcAft>
                <a:spcPts val="400"/>
              </a:spcAft>
              <a:buNone/>
            </a:pPr>
            <a:r>
              <a:rPr sz="950" b="1" i="0" lang="es-CL">
                <a:solidFill>
                  <a:srgbClr val="47A1AD"/>
                </a:solidFill>
                <a:latin typeface="Inter"/>
                <a:ea typeface="Inter"/>
                <a:cs typeface="Inter"/>
              </a:rPr>
              <a:t>Guía, no garantiza</a:t>
            </a:r>
          </a:p>
        </p:txBody>
      </p:sp>
      <p:sp>
        <p:nvSpPr>
          <p:cNvPr id="7" name="Rounded Rectangle 6"/>
          <p:cNvSpPr/>
          <p:nvPr/>
        </p:nvSpPr>
        <p:spPr>
          <a:xfrm>
            <a:off x="411480" y="2212848"/>
            <a:ext cx="1600200" cy="960120"/>
          </a:xfrm>
          <a:prstGeom prst="roundRect">
            <a:avLst>
              <a:gd name="adj" fmla="val 7619"/>
            </a:avLst>
          </a:prstGeom>
          <a:solidFill>
            <a:srgbClr val="CC850A"/>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2. Linter</a:t>
            </a:r>
          </a:p>
        </p:txBody>
      </p:sp>
      <p:sp>
        <p:nvSpPr>
          <p:cNvPr id="8" name="TextBox 7"/>
          <p:cNvSpPr txBox="1"/>
          <p:nvPr/>
        </p:nvSpPr>
        <p:spPr>
          <a:xfrm>
            <a:off x="2121408" y="2258568"/>
            <a:ext cx="2240280" cy="64008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ESLint y Semgrep fallan en segundos si aparece un mock, una espera fija o un test sin ID.</a:t>
            </a:r>
          </a:p>
        </p:txBody>
      </p:sp>
      <p:sp>
        <p:nvSpPr>
          <p:cNvPr id="9" name="TextBox 8"/>
          <p:cNvSpPr txBox="1"/>
          <p:nvPr/>
        </p:nvSpPr>
        <p:spPr>
          <a:xfrm>
            <a:off x="2121408" y="2889504"/>
            <a:ext cx="2240280" cy="256032"/>
          </a:xfrm>
          <a:prstGeom prst="rect">
            <a:avLst/>
          </a:prstGeom>
          <a:noFill/>
        </p:spPr>
        <p:txBody>
          <a:bodyPr wrap="square" lIns="36576" rIns="36576" tIns="36576" bIns="36576" anchor="t"/>
          <a:lstStyle/>
          <a:p>
            <a:pPr algn="l" marL="0" indent="0">
              <a:spcAft>
                <a:spcPts val="400"/>
              </a:spcAft>
              <a:buNone/>
            </a:pPr>
            <a:r>
              <a:rPr sz="950" b="1" i="0" lang="es-CL">
                <a:solidFill>
                  <a:srgbClr val="CC850A"/>
                </a:solidFill>
                <a:latin typeface="Inter"/>
                <a:ea typeface="Inter"/>
                <a:cs typeface="Inter"/>
              </a:rPr>
              <a:t>Falla al escribir</a:t>
            </a:r>
          </a:p>
        </p:txBody>
      </p:sp>
      <p:sp>
        <p:nvSpPr>
          <p:cNvPr id="10" name="Rounded Rectangle 9"/>
          <p:cNvSpPr/>
          <p:nvPr/>
        </p:nvSpPr>
        <p:spPr>
          <a:xfrm>
            <a:off x="411480" y="3328415"/>
            <a:ext cx="1600200" cy="960120"/>
          </a:xfrm>
          <a:prstGeom prst="roundRect">
            <a:avLst>
              <a:gd name="adj" fmla="val 7619"/>
            </a:avLst>
          </a:prstGeom>
          <a:solidFill>
            <a:srgbClr val="980000"/>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3. CI</a:t>
            </a:r>
          </a:p>
        </p:txBody>
      </p:sp>
      <p:sp>
        <p:nvSpPr>
          <p:cNvPr id="11" name="TextBox 10"/>
          <p:cNvSpPr txBox="1"/>
          <p:nvPr/>
        </p:nvSpPr>
        <p:spPr>
          <a:xfrm>
            <a:off x="2121408" y="3374135"/>
            <a:ext cx="2240280" cy="64008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spec-trace (huérfanos y presupuesto), mutación, revisor IA y evidencia en el PR.</a:t>
            </a:r>
          </a:p>
        </p:txBody>
      </p:sp>
      <p:sp>
        <p:nvSpPr>
          <p:cNvPr id="12" name="TextBox 11"/>
          <p:cNvSpPr txBox="1"/>
          <p:nvPr/>
        </p:nvSpPr>
        <p:spPr>
          <a:xfrm>
            <a:off x="2121408" y="4005072"/>
            <a:ext cx="2240280" cy="256032"/>
          </a:xfrm>
          <a:prstGeom prst="rect">
            <a:avLst/>
          </a:prstGeom>
          <a:noFill/>
        </p:spPr>
        <p:txBody>
          <a:bodyPr wrap="square" lIns="36576" rIns="36576" tIns="36576" bIns="36576" anchor="t"/>
          <a:lstStyle/>
          <a:p>
            <a:pPr algn="l" marL="0" indent="0">
              <a:spcAft>
                <a:spcPts val="400"/>
              </a:spcAft>
              <a:buNone/>
            </a:pPr>
            <a:r>
              <a:rPr sz="950" b="1" i="0" lang="es-CL">
                <a:solidFill>
                  <a:srgbClr val="980000"/>
                </a:solidFill>
                <a:latin typeface="Inter"/>
                <a:ea typeface="Inter"/>
                <a:cs typeface="Inter"/>
              </a:rPr>
              <a:t>Falla el PR</a:t>
            </a:r>
          </a:p>
        </p:txBody>
      </p:sp>
      <p:sp>
        <p:nvSpPr>
          <p:cNvPr id="13" name="Rounded Rectangle 12"/>
          <p:cNvSpPr/>
          <p:nvPr/>
        </p:nvSpPr>
        <p:spPr>
          <a:xfrm>
            <a:off x="4526280" y="1097280"/>
            <a:ext cx="4206240" cy="3355848"/>
          </a:xfrm>
          <a:prstGeom prst="roundRect">
            <a:avLst>
              <a:gd name="adj" fmla="val 1634"/>
            </a:avLst>
          </a:prstGeom>
          <a:solidFill>
            <a:srgbClr val="F6F8FA"/>
          </a:solidFill>
          <a:ln w="9525">
            <a:solidFill>
              <a:srgbClr val="D0D7DE"/>
            </a:solidFill>
          </a:ln>
        </p:spPr>
        <p:txBody>
          <a:bodyPr rtlCol="0" anchor="ctr" wrap="square" lIns="54864" rIns="54864" tIns="54864" bIns="54864"/>
          <a:lstStyle/>
          <a:p>
            <a:pPr algn="ctr"/>
          </a:p>
        </p:txBody>
      </p:sp>
      <p:sp>
        <p:nvSpPr>
          <p:cNvPr id="14" name="TextBox 13"/>
          <p:cNvSpPr txBox="1"/>
          <p:nvPr/>
        </p:nvSpPr>
        <p:spPr>
          <a:xfrm>
            <a:off x="4636008" y="1152144"/>
            <a:ext cx="39867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frontend/eslint.config.mjs (extracto)</a:t>
            </a:r>
          </a:p>
        </p:txBody>
      </p:sp>
      <p:sp>
        <p:nvSpPr>
          <p:cNvPr id="15" name="TextBox 14"/>
          <p:cNvSpPr txBox="1"/>
          <p:nvPr/>
        </p:nvSpPr>
        <p:spPr>
          <a:xfrm>
            <a:off x="4636008" y="1408176"/>
            <a:ext cx="3986783" cy="2990088"/>
          </a:xfrm>
          <a:prstGeom prst="rect">
            <a:avLst/>
          </a:prstGeom>
          <a:noFill/>
        </p:spPr>
        <p:txBody>
          <a:bodyPr wrap="none" lIns="0" rIns="0" tIns="0" bIns="0"/>
          <a:lstStyle/>
          <a:p>
            <a:pPr marL="0" indent="0">
              <a:lnSpc>
                <a:spcPct val="100000"/>
              </a:lnSpc>
              <a:spcAft>
                <a:spcPts val="0"/>
              </a:spcAft>
              <a:buNone/>
            </a:pPr>
            <a:r>
              <a:rPr sz="850" b="0" i="0" lang="es-CL">
                <a:solidFill>
                  <a:srgbClr val="008000"/>
                </a:solidFill>
                <a:latin typeface="Consolas"/>
                <a:ea typeface="Consolas"/>
                <a:cs typeface="Consolas"/>
              </a:rPr>
              <a:t>// La política de tests (P4) también la verifica el linter:</a:t>
            </a:r>
          </a:p>
          <a:p>
            <a:pPr marL="0" indent="0">
              <a:lnSpc>
                <a:spcPct val="100000"/>
              </a:lnSpc>
              <a:spcAft>
                <a:spcPts val="0"/>
              </a:spcAft>
              <a:buNone/>
            </a:pPr>
            <a:r>
              <a:rPr sz="850" b="0" i="0" lang="es-CL">
                <a:solidFill>
                  <a:srgbClr val="008000"/>
                </a:solidFill>
                <a:latin typeface="Consolas"/>
                <a:ea typeface="Consolas"/>
                <a:cs typeface="Consolas"/>
              </a:rPr>
              <a:t>// un agente no puede colar mocks, esperas fijas ni tests</a:t>
            </a:r>
          </a:p>
          <a:p>
            <a:pPr marL="0" indent="0">
              <a:lnSpc>
                <a:spcPct val="100000"/>
              </a:lnSpc>
              <a:spcAft>
                <a:spcPts val="0"/>
              </a:spcAft>
              <a:buNone/>
            </a:pPr>
            <a:r>
              <a:rPr sz="850" b="0" i="0" lang="es-CL">
                <a:solidFill>
                  <a:srgbClr val="008000"/>
                </a:solidFill>
                <a:latin typeface="Consolas"/>
                <a:ea typeface="Consolas"/>
                <a:cs typeface="Consolas"/>
              </a:rPr>
              <a:t>// sin ID de regla.</a:t>
            </a:r>
          </a:p>
          <a:p>
            <a:pPr marL="0" indent="0">
              <a:lnSpc>
                <a:spcPct val="100000"/>
              </a:lnSpc>
              <a:spcAft>
                <a:spcPts val="0"/>
              </a:spcAft>
              <a:buNone/>
            </a:pPr>
            <a:r>
              <a:rPr sz="850" b="0" i="0" lang="es-CL">
                <a:solidFill>
                  <a:srgbClr val="0000FF"/>
                </a:solidFill>
                <a:latin typeface="Consolas"/>
                <a:ea typeface="Consolas"/>
                <a:cs typeface="Consolas"/>
              </a:rPr>
              <a:t>const</a:t>
            </a:r>
            <a:r>
              <a:rPr sz="850" b="0" i="0" lang="es-CL">
                <a:solidFill>
                  <a:srgbClr val="1F2328"/>
                </a:solidFill>
                <a:latin typeface="Consolas"/>
                <a:ea typeface="Consolas"/>
                <a:cs typeface="Consolas"/>
              </a:rPr>
              <a:t> testPolicy = {</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A31515"/>
                </a:solidFill>
                <a:latin typeface="Consolas"/>
                <a:ea typeface="Consolas"/>
                <a:cs typeface="Consolas"/>
              </a:rPr>
              <a:t>'no-restricted-syntax'</a:t>
            </a:r>
            <a:r>
              <a:rPr sz="850" b="0" i="0" lang="es-CL">
                <a:solidFill>
                  <a:srgbClr val="1F2328"/>
                </a:solidFill>
                <a:latin typeface="Consolas"/>
                <a:ea typeface="Consolas"/>
                <a:cs typeface="Consolas"/>
              </a:rPr>
              <a:t>: [</a:t>
            </a:r>
            <a:r>
              <a:rPr sz="850" b="0" i="0" lang="es-CL">
                <a:solidFill>
                  <a:srgbClr val="A31515"/>
                </a:solidFill>
                <a:latin typeface="Consolas"/>
                <a:ea typeface="Consolas"/>
                <a:cs typeface="Consolas"/>
              </a:rPr>
              <a:t>'error'</a:t>
            </a: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selector: `CallExpression[callee.name=/^(</a:t>
            </a:r>
            <a:r>
              <a:rPr sz="850" b="0" i="0" lang="es-CL">
                <a:solidFill>
                  <a:srgbClr val="795E26"/>
                </a:solidFill>
                <a:latin typeface="Consolas"/>
                <a:ea typeface="Consolas"/>
                <a:cs typeface="Consolas"/>
              </a:rPr>
              <a:t>it</a:t>
            </a:r>
            <a:r>
              <a:rPr sz="850" b="0" i="0" lang="es-CL">
                <a:solidFill>
                  <a:srgbClr val="1F2328"/>
                </a:solidFill>
                <a:latin typeface="Consolas"/>
                <a:ea typeface="Consolas"/>
                <a:cs typeface="Consolas"/>
              </a:rPr>
              <a:t>|</a:t>
            </a:r>
            <a:r>
              <a:rPr sz="850" b="0" i="0" lang="es-CL">
                <a:solidFill>
                  <a:srgbClr val="795E26"/>
                </a:solidFill>
                <a:latin typeface="Consolas"/>
                <a:ea typeface="Consolas"/>
                <a:cs typeface="Consolas"/>
              </a:rPr>
              <a:t>test</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&gt; Literal:first-child[value!=${TITLE_WITH_RULE_ID}]`,</a:t>
            </a:r>
          </a:p>
          <a:p>
            <a:pPr marL="0" indent="0">
              <a:lnSpc>
                <a:spcPct val="100000"/>
              </a:lnSpc>
              <a:spcAft>
                <a:spcPts val="0"/>
              </a:spcAft>
              <a:buNone/>
            </a:pPr>
            <a:r>
              <a:rPr sz="850" b="0" i="0" lang="es-CL">
                <a:solidFill>
                  <a:srgbClr val="1F2328"/>
                </a:solidFill>
                <a:latin typeface="Consolas"/>
                <a:ea typeface="Consolas"/>
                <a:cs typeface="Consolas"/>
              </a:rPr>
              <a:t>    message: </a:t>
            </a:r>
            <a:r>
              <a:rPr sz="850" b="0" i="0" lang="es-CL">
                <a:solidFill>
                  <a:srgbClr val="A31515"/>
                </a:solidFill>
                <a:latin typeface="Consolas"/>
                <a:ea typeface="Consolas"/>
                <a:cs typeface="Consolas"/>
              </a:rPr>
              <a:t>'P1.4: el título del test debe empezar con '</a:t>
            </a:r>
          </a:p>
          <a:p>
            <a:pPr marL="0" indent="0">
              <a:lnSpc>
                <a:spcPct val="100000"/>
              </a:lnSpc>
              <a:spcAft>
                <a:spcPts val="0"/>
              </a:spcAft>
              <a:buNone/>
            </a:pPr>
            <a:r>
              <a:rPr sz="850" b="0" i="0" lang="es-CL">
                <a:solidFill>
                  <a:srgbClr val="1F2328"/>
                </a:solidFill>
                <a:latin typeface="Consolas"/>
                <a:ea typeface="Consolas"/>
                <a:cs typeface="Consolas"/>
              </a:rPr>
              <a:t>      + </a:t>
            </a:r>
            <a:r>
              <a:rPr sz="850" b="0" i="0" lang="es-CL">
                <a:solidFill>
                  <a:srgbClr val="A31515"/>
                </a:solidFill>
                <a:latin typeface="Consolas"/>
                <a:ea typeface="Consolas"/>
                <a:cs typeface="Consolas"/>
              </a:rPr>
              <a:t>'el ID de la regla, por ejemplo "</a:t>
            </a:r>
            <a:r>
              <a:rPr sz="850" b="1" i="0" lang="es-CL">
                <a:solidFill>
                  <a:srgbClr val="9900FF"/>
                </a:solidFill>
                <a:latin typeface="Consolas"/>
                <a:ea typeface="Consolas"/>
                <a:cs typeface="Consolas"/>
              </a:rPr>
              <a:t>[LOAN-R2]</a:t>
            </a:r>
            <a:r>
              <a:rPr sz="850" b="0" i="0" lang="es-CL">
                <a:solidFill>
                  <a:srgbClr val="A31515"/>
                </a:solidFill>
                <a:latin typeface="Consolas"/>
                <a:ea typeface="Consolas"/>
                <a:cs typeface="Consolas"/>
              </a:rPr>
              <a:t> ..."'</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A31515"/>
                </a:solidFill>
                <a:latin typeface="Consolas"/>
                <a:ea typeface="Consolas"/>
                <a:cs typeface="Consolas"/>
              </a:rPr>
              <a:t>'no-restricted-properties'</a:t>
            </a:r>
            <a:r>
              <a:rPr sz="850" b="0" i="0" lang="es-CL">
                <a:solidFill>
                  <a:srgbClr val="1F2328"/>
                </a:solidFill>
                <a:latin typeface="Consolas"/>
                <a:ea typeface="Consolas"/>
                <a:cs typeface="Consolas"/>
              </a:rPr>
              <a:t>: [</a:t>
            </a:r>
            <a:r>
              <a:rPr sz="850" b="0" i="0" lang="es-CL">
                <a:solidFill>
                  <a:srgbClr val="A31515"/>
                </a:solidFill>
                <a:latin typeface="Consolas"/>
                <a:ea typeface="Consolas"/>
                <a:cs typeface="Consolas"/>
              </a:rPr>
              <a:t>'error'</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 object: </a:t>
            </a:r>
            <a:r>
              <a:rPr sz="850" b="0" i="0" lang="es-CL">
                <a:solidFill>
                  <a:srgbClr val="A31515"/>
                </a:solidFill>
                <a:latin typeface="Consolas"/>
                <a:ea typeface="Consolas"/>
                <a:cs typeface="Consolas"/>
              </a:rPr>
              <a:t>'vi'</a:t>
            </a:r>
            <a:r>
              <a:rPr sz="850" b="0" i="0" lang="es-CL">
                <a:solidFill>
                  <a:srgbClr val="1F2328"/>
                </a:solidFill>
                <a:latin typeface="Consolas"/>
                <a:ea typeface="Consolas"/>
                <a:cs typeface="Consolas"/>
              </a:rPr>
              <a:t>, property: </a:t>
            </a:r>
            <a:r>
              <a:rPr sz="850" b="0" i="0" lang="es-CL">
                <a:solidFill>
                  <a:srgbClr val="A31515"/>
                </a:solidFill>
                <a:latin typeface="Consolas"/>
                <a:ea typeface="Consolas"/>
                <a:cs typeface="Consolas"/>
              </a:rPr>
              <a:t>'fn'</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message: </a:t>
            </a:r>
            <a:r>
              <a:rPr sz="850" b="0" i="0" lang="es-CL">
                <a:solidFill>
                  <a:srgbClr val="A31515"/>
                </a:solidFill>
                <a:latin typeface="Consolas"/>
                <a:ea typeface="Consolas"/>
                <a:cs typeface="Consolas"/>
              </a:rPr>
              <a:t>'P4.3: usa objetos reales o fakes.'</a:t>
            </a: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 property: </a:t>
            </a:r>
            <a:r>
              <a:rPr sz="850" b="0" i="0" lang="es-CL">
                <a:solidFill>
                  <a:srgbClr val="A31515"/>
                </a:solidFill>
                <a:latin typeface="Consolas"/>
                <a:ea typeface="Consolas"/>
                <a:cs typeface="Consolas"/>
              </a:rPr>
              <a:t>'toBeTruthy'</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message: </a:t>
            </a:r>
            <a:r>
              <a:rPr sz="850" b="0" i="0" lang="es-CL">
                <a:solidFill>
                  <a:srgbClr val="A31515"/>
                </a:solidFill>
                <a:latin typeface="Consolas"/>
                <a:ea typeface="Consolas"/>
                <a:cs typeface="Consolas"/>
              </a:rPr>
              <a:t>'P4.6: aserción débil.'</a:t>
            </a: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 property: </a:t>
            </a:r>
            <a:r>
              <a:rPr sz="850" b="0" i="0" lang="es-CL">
                <a:solidFill>
                  <a:srgbClr val="A31515"/>
                </a:solidFill>
                <a:latin typeface="Consolas"/>
                <a:ea typeface="Consolas"/>
                <a:cs typeface="Consolas"/>
              </a:rPr>
              <a:t>'waitForTimeout'</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message: </a:t>
            </a:r>
            <a:r>
              <a:rPr sz="850" b="0" i="0" lang="es-CL">
                <a:solidFill>
                  <a:srgbClr val="A31515"/>
                </a:solidFill>
                <a:latin typeface="Consolas"/>
                <a:ea typeface="Consolas"/>
                <a:cs typeface="Consolas"/>
              </a:rPr>
              <a:t>'P4.6: nada de esperas fijas.'</a:t>
            </a: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Qué hace la industria con IA y tests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4069080" cy="1600200"/>
          </a:xfrm>
          <a:prstGeom prst="roundRect">
            <a:avLst>
              <a:gd name="adj" fmla="val 5714"/>
            </a:avLst>
          </a:prstGeom>
          <a:solidFill>
            <a:srgbClr val="EDF1F3"/>
          </a:solidFill>
          <a:ln>
            <a:noFill/>
          </a:ln>
        </p:spPr>
        <p:txBody>
          <a:bodyPr rtlCol="0" anchor="ctr" wrap="square" lIns="54864" rIns="54864" tIns="54864" bIns="54864"/>
          <a:lstStyle/>
          <a:p>
            <a:pPr algn="ctr"/>
          </a:p>
        </p:txBody>
      </p:sp>
      <p:sp>
        <p:nvSpPr>
          <p:cNvPr id="5" name="Rounded Rectangle 4"/>
          <p:cNvSpPr/>
          <p:nvPr/>
        </p:nvSpPr>
        <p:spPr>
          <a:xfrm>
            <a:off x="548640" y="1179576"/>
            <a:ext cx="2651760" cy="292608"/>
          </a:xfrm>
          <a:prstGeom prst="roundRect">
            <a:avLst>
              <a:gd name="adj" fmla="val 25000"/>
            </a:avLst>
          </a:prstGeom>
          <a:solidFill>
            <a:srgbClr val="003D4F"/>
          </a:solidFill>
          <a:ln>
            <a:noFill/>
          </a:ln>
        </p:spPr>
        <p:txBody>
          <a:bodyPr rtlCol="0" anchor="ctr" wrap="square" lIns="73152" rIns="73152" tIns="73152" bIns="73152"/>
          <a:lstStyle/>
          <a:p>
            <a:pPr algn="l" marL="0" indent="0">
              <a:spcAft>
                <a:spcPts val="200"/>
              </a:spcAft>
              <a:buNone/>
            </a:pPr>
            <a:r>
              <a:rPr sz="1000" b="1" i="0" lang="es-CL">
                <a:solidFill>
                  <a:srgbClr val="FFFFFF"/>
                </a:solidFill>
                <a:latin typeface="Inter"/>
                <a:ea typeface="Inter"/>
                <a:cs typeface="Inter"/>
              </a:rPr>
              <a:t>Meta · TestGen-LLM</a:t>
            </a:r>
          </a:p>
        </p:txBody>
      </p:sp>
      <p:sp>
        <p:nvSpPr>
          <p:cNvPr id="6" name="TextBox 5"/>
          <p:cNvSpPr txBox="1"/>
          <p:nvPr/>
        </p:nvSpPr>
        <p:spPr>
          <a:xfrm>
            <a:off x="3246120" y="1179576"/>
            <a:ext cx="1143000" cy="292608"/>
          </a:xfrm>
          <a:prstGeom prst="rect">
            <a:avLst/>
          </a:prstGeom>
          <a:noFill/>
        </p:spPr>
        <p:txBody>
          <a:bodyPr wrap="square" lIns="36576" rIns="36576" tIns="36576" bIns="36576" anchor="ctr"/>
          <a:lstStyle/>
          <a:p>
            <a:pPr algn="r" marL="0" indent="0">
              <a:spcAft>
                <a:spcPts val="400"/>
              </a:spcAft>
              <a:buNone/>
            </a:pPr>
            <a:r>
              <a:rPr sz="800" b="0" i="0" lang="es-CL">
                <a:solidFill>
                  <a:srgbClr val="8C959F"/>
                </a:solidFill>
                <a:latin typeface="Inter"/>
                <a:ea typeface="Inter"/>
                <a:cs typeface="Inter"/>
              </a:rPr>
              <a:t>FSE 2024</a:t>
            </a:r>
          </a:p>
        </p:txBody>
      </p:sp>
      <p:sp>
        <p:nvSpPr>
          <p:cNvPr id="7" name="TextBox 6"/>
          <p:cNvSpPr txBox="1"/>
          <p:nvPr/>
        </p:nvSpPr>
        <p:spPr>
          <a:xfrm>
            <a:off x="548640" y="1554480"/>
            <a:ext cx="3794760" cy="77724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Un LLM propone tests que mejoran los existentes. Cada test pasa filtros: </a:t>
            </a:r>
            <a:r>
              <a:rPr sz="1000" b="1" i="0" lang="es-CL">
                <a:solidFill>
                  <a:srgbClr val="1F2328"/>
                </a:solidFill>
                <a:latin typeface="Inter"/>
                <a:ea typeface="Inter"/>
                <a:cs typeface="Inter"/>
              </a:rPr>
              <a:t>compila</a:t>
            </a:r>
            <a:r>
              <a:rPr sz="1000" b="0" i="0" lang="es-CL">
                <a:solidFill>
                  <a:srgbClr val="1F2328"/>
                </a:solidFill>
                <a:latin typeface="Inter"/>
                <a:ea typeface="Inter"/>
                <a:cs typeface="Inter"/>
              </a:rPr>
              <a:t>, </a:t>
            </a:r>
            <a:r>
              <a:rPr sz="1000" b="1" i="0" lang="es-CL">
                <a:solidFill>
                  <a:srgbClr val="1F2328"/>
                </a:solidFill>
                <a:latin typeface="Inter"/>
                <a:ea typeface="Inter"/>
                <a:cs typeface="Inter"/>
              </a:rPr>
              <a:t>pasa de forma confiable</a:t>
            </a:r>
            <a:r>
              <a:rPr sz="1000" b="0" i="0" lang="es-CL">
                <a:solidFill>
                  <a:srgbClr val="1F2328"/>
                </a:solidFill>
                <a:latin typeface="Inter"/>
                <a:ea typeface="Inter"/>
                <a:cs typeface="Inter"/>
              </a:rPr>
              <a:t> y </a:t>
            </a:r>
            <a:r>
              <a:rPr sz="1000" b="1" i="0" lang="es-CL">
                <a:solidFill>
                  <a:srgbClr val="1F2328"/>
                </a:solidFill>
                <a:latin typeface="Inter"/>
                <a:ea typeface="Inter"/>
                <a:cs typeface="Inter"/>
              </a:rPr>
              <a:t>aumenta la cobertura</a:t>
            </a:r>
            <a:r>
              <a:rPr sz="1000" b="0" i="0" lang="es-CL">
                <a:solidFill>
                  <a:srgbClr val="1F2328"/>
                </a:solidFill>
                <a:latin typeface="Inter"/>
                <a:ea typeface="Inter"/>
                <a:cs typeface="Inter"/>
              </a:rPr>
              <a:t>. Solo una fracción llega a revisión humana.</a:t>
            </a:r>
          </a:p>
        </p:txBody>
      </p:sp>
      <p:sp>
        <p:nvSpPr>
          <p:cNvPr id="8" name="TextBox 7"/>
          <p:cNvSpPr txBox="1"/>
          <p:nvPr/>
        </p:nvSpPr>
        <p:spPr>
          <a:xfrm>
            <a:off x="548640" y="2313432"/>
            <a:ext cx="3794760" cy="274320"/>
          </a:xfrm>
          <a:prstGeom prst="rect">
            <a:avLst/>
          </a:prstGeom>
          <a:noFill/>
        </p:spPr>
        <p:txBody>
          <a:bodyPr wrap="square" lIns="36576" rIns="36576" tIns="36576" bIns="36576" anchor="t"/>
          <a:lstStyle/>
          <a:p>
            <a:pPr algn="l" marL="0" indent="0">
              <a:spcAft>
                <a:spcPts val="400"/>
              </a:spcAft>
              <a:buNone/>
            </a:pPr>
            <a:r>
              <a:rPr sz="1000" b="1" i="0" lang="es-CL">
                <a:solidFill>
                  <a:srgbClr val="003D4F"/>
                </a:solidFill>
                <a:latin typeface="Inter"/>
                <a:ea typeface="Inter"/>
                <a:cs typeface="Inter"/>
              </a:rPr>
              <a:t>Lección: Filtra antes de mostrar.</a:t>
            </a:r>
          </a:p>
        </p:txBody>
      </p:sp>
      <p:sp>
        <p:nvSpPr>
          <p:cNvPr id="9" name="Rounded Rectangle 8"/>
          <p:cNvSpPr/>
          <p:nvPr/>
        </p:nvSpPr>
        <p:spPr>
          <a:xfrm>
            <a:off x="4617720" y="1051560"/>
            <a:ext cx="4069080" cy="1600200"/>
          </a:xfrm>
          <a:prstGeom prst="roundRect">
            <a:avLst>
              <a:gd name="adj" fmla="val 5714"/>
            </a:avLst>
          </a:prstGeom>
          <a:solidFill>
            <a:srgbClr val="EDF1F3"/>
          </a:solidFill>
          <a:ln>
            <a:noFill/>
          </a:ln>
        </p:spPr>
        <p:txBody>
          <a:bodyPr rtlCol="0" anchor="ctr" wrap="square" lIns="54864" rIns="54864" tIns="54864" bIns="54864"/>
          <a:lstStyle/>
          <a:p>
            <a:pPr algn="ctr"/>
          </a:p>
        </p:txBody>
      </p:sp>
      <p:sp>
        <p:nvSpPr>
          <p:cNvPr id="10" name="Rounded Rectangle 9"/>
          <p:cNvSpPr/>
          <p:nvPr/>
        </p:nvSpPr>
        <p:spPr>
          <a:xfrm>
            <a:off x="4754880" y="1179576"/>
            <a:ext cx="2651760" cy="292608"/>
          </a:xfrm>
          <a:prstGeom prst="roundRect">
            <a:avLst>
              <a:gd name="adj" fmla="val 25000"/>
            </a:avLst>
          </a:prstGeom>
          <a:solidFill>
            <a:srgbClr val="CC850A"/>
          </a:solidFill>
          <a:ln>
            <a:noFill/>
          </a:ln>
        </p:spPr>
        <p:txBody>
          <a:bodyPr rtlCol="0" anchor="ctr" wrap="square" lIns="73152" rIns="73152" tIns="73152" bIns="73152"/>
          <a:lstStyle/>
          <a:p>
            <a:pPr algn="l" marL="0" indent="0">
              <a:spcAft>
                <a:spcPts val="200"/>
              </a:spcAft>
              <a:buNone/>
            </a:pPr>
            <a:r>
              <a:rPr sz="1000" b="1" i="0" lang="es-CL">
                <a:solidFill>
                  <a:srgbClr val="FFFFFF"/>
                </a:solidFill>
                <a:latin typeface="Inter"/>
                <a:ea typeface="Inter"/>
                <a:cs typeface="Inter"/>
              </a:rPr>
              <a:t>Meta · ACH</a:t>
            </a:r>
          </a:p>
        </p:txBody>
      </p:sp>
      <p:sp>
        <p:nvSpPr>
          <p:cNvPr id="11" name="TextBox 10"/>
          <p:cNvSpPr txBox="1"/>
          <p:nvPr/>
        </p:nvSpPr>
        <p:spPr>
          <a:xfrm>
            <a:off x="7452360" y="1179576"/>
            <a:ext cx="1143000" cy="292608"/>
          </a:xfrm>
          <a:prstGeom prst="rect">
            <a:avLst/>
          </a:prstGeom>
          <a:noFill/>
        </p:spPr>
        <p:txBody>
          <a:bodyPr wrap="square" lIns="36576" rIns="36576" tIns="36576" bIns="36576" anchor="ctr"/>
          <a:lstStyle/>
          <a:p>
            <a:pPr algn="r" marL="0" indent="0">
              <a:spcAft>
                <a:spcPts val="400"/>
              </a:spcAft>
              <a:buNone/>
            </a:pPr>
            <a:r>
              <a:rPr sz="800" b="0" i="0" lang="es-CL">
                <a:solidFill>
                  <a:srgbClr val="8C959F"/>
                </a:solidFill>
                <a:latin typeface="Inter"/>
                <a:ea typeface="Inter"/>
                <a:cs typeface="Inter"/>
              </a:rPr>
              <a:t>2025</a:t>
            </a:r>
          </a:p>
        </p:txBody>
      </p:sp>
      <p:sp>
        <p:nvSpPr>
          <p:cNvPr id="12" name="TextBox 11"/>
          <p:cNvSpPr txBox="1"/>
          <p:nvPr/>
        </p:nvSpPr>
        <p:spPr>
          <a:xfrm>
            <a:off x="4754880" y="1554480"/>
            <a:ext cx="3794760" cy="77724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Generación guiada por mutantes: el LLM crea un bug plausible y luego un test que lo mata.</a:t>
            </a:r>
          </a:p>
        </p:txBody>
      </p:sp>
      <p:sp>
        <p:nvSpPr>
          <p:cNvPr id="13" name="TextBox 12"/>
          <p:cNvSpPr txBox="1"/>
          <p:nvPr/>
        </p:nvSpPr>
        <p:spPr>
          <a:xfrm>
            <a:off x="4754880" y="2313432"/>
            <a:ext cx="3794760" cy="274320"/>
          </a:xfrm>
          <a:prstGeom prst="rect">
            <a:avLst/>
          </a:prstGeom>
          <a:noFill/>
        </p:spPr>
        <p:txBody>
          <a:bodyPr wrap="square" lIns="36576" rIns="36576" tIns="36576" bIns="36576" anchor="t"/>
          <a:lstStyle/>
          <a:p>
            <a:pPr algn="l" marL="0" indent="0">
              <a:spcAft>
                <a:spcPts val="400"/>
              </a:spcAft>
              <a:buNone/>
            </a:pPr>
            <a:r>
              <a:rPr sz="1000" b="1" i="0" lang="es-CL">
                <a:solidFill>
                  <a:srgbClr val="CC850A"/>
                </a:solidFill>
                <a:latin typeface="Inter"/>
                <a:ea typeface="Inter"/>
                <a:cs typeface="Inter"/>
              </a:rPr>
              <a:t>Lección: El objetivo es detectar fallas, no sumar tests.</a:t>
            </a:r>
          </a:p>
        </p:txBody>
      </p:sp>
      <p:sp>
        <p:nvSpPr>
          <p:cNvPr id="14" name="Rounded Rectangle 13"/>
          <p:cNvSpPr/>
          <p:nvPr/>
        </p:nvSpPr>
        <p:spPr>
          <a:xfrm>
            <a:off x="411480" y="2788920"/>
            <a:ext cx="4069080" cy="1600200"/>
          </a:xfrm>
          <a:prstGeom prst="roundRect">
            <a:avLst>
              <a:gd name="adj" fmla="val 5714"/>
            </a:avLst>
          </a:prstGeom>
          <a:solidFill>
            <a:srgbClr val="EDF1F3"/>
          </a:solidFill>
          <a:ln>
            <a:noFill/>
          </a:ln>
        </p:spPr>
        <p:txBody>
          <a:bodyPr rtlCol="0" anchor="ctr" wrap="square" lIns="54864" rIns="54864" tIns="54864" bIns="54864"/>
          <a:lstStyle/>
          <a:p>
            <a:pPr algn="ctr"/>
          </a:p>
        </p:txBody>
      </p:sp>
      <p:sp>
        <p:nvSpPr>
          <p:cNvPr id="15" name="Rounded Rectangle 14"/>
          <p:cNvSpPr/>
          <p:nvPr/>
        </p:nvSpPr>
        <p:spPr>
          <a:xfrm>
            <a:off x="548640" y="2916936"/>
            <a:ext cx="2651760" cy="292608"/>
          </a:xfrm>
          <a:prstGeom prst="roundRect">
            <a:avLst>
              <a:gd name="adj" fmla="val 25000"/>
            </a:avLst>
          </a:prstGeom>
          <a:solidFill>
            <a:srgbClr val="38761D"/>
          </a:solidFill>
          <a:ln>
            <a:noFill/>
          </a:ln>
        </p:spPr>
        <p:txBody>
          <a:bodyPr rtlCol="0" anchor="ctr" wrap="square" lIns="73152" rIns="73152" tIns="73152" bIns="73152"/>
          <a:lstStyle/>
          <a:p>
            <a:pPr algn="l" marL="0" indent="0">
              <a:spcAft>
                <a:spcPts val="200"/>
              </a:spcAft>
              <a:buNone/>
            </a:pPr>
            <a:r>
              <a:rPr sz="1000" b="1" i="0" lang="es-CL">
                <a:solidFill>
                  <a:srgbClr val="FFFFFF"/>
                </a:solidFill>
                <a:latin typeface="Inter"/>
                <a:ea typeface="Inter"/>
                <a:cs typeface="Inter"/>
              </a:rPr>
              <a:t>Google · mutación en code review</a:t>
            </a:r>
          </a:p>
        </p:txBody>
      </p:sp>
      <p:sp>
        <p:nvSpPr>
          <p:cNvPr id="16" name="TextBox 15"/>
          <p:cNvSpPr txBox="1"/>
          <p:nvPr/>
        </p:nvSpPr>
        <p:spPr>
          <a:xfrm>
            <a:off x="3246120" y="2916936"/>
            <a:ext cx="1143000" cy="292608"/>
          </a:xfrm>
          <a:prstGeom prst="rect">
            <a:avLst/>
          </a:prstGeom>
          <a:noFill/>
        </p:spPr>
        <p:txBody>
          <a:bodyPr wrap="square" lIns="36576" rIns="36576" tIns="36576" bIns="36576" anchor="ctr"/>
          <a:lstStyle/>
          <a:p>
            <a:pPr algn="r" marL="0" indent="0">
              <a:spcAft>
                <a:spcPts val="400"/>
              </a:spcAft>
              <a:buNone/>
            </a:pPr>
            <a:r>
              <a:rPr sz="800" b="0" i="0" lang="es-CL">
                <a:solidFill>
                  <a:srgbClr val="8C959F"/>
                </a:solidFill>
                <a:latin typeface="Inter"/>
                <a:ea typeface="Inter"/>
                <a:cs typeface="Inter"/>
              </a:rPr>
              <a:t>ICSE SEIP 2018, Petrović et al.</a:t>
            </a:r>
          </a:p>
        </p:txBody>
      </p:sp>
      <p:sp>
        <p:nvSpPr>
          <p:cNvPr id="17" name="TextBox 16"/>
          <p:cNvSpPr txBox="1"/>
          <p:nvPr/>
        </p:nvSpPr>
        <p:spPr>
          <a:xfrm>
            <a:off x="548640" y="3291839"/>
            <a:ext cx="3794760" cy="77724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Mutation testing </a:t>
            </a:r>
            <a:r>
              <a:rPr sz="1000" b="1" i="0" lang="es-CL">
                <a:solidFill>
                  <a:srgbClr val="1F2328"/>
                </a:solidFill>
                <a:latin typeface="Inter"/>
                <a:ea typeface="Inter"/>
                <a:cs typeface="Inter"/>
              </a:rPr>
              <a:t>solo sobre las líneas cambiadas</a:t>
            </a:r>
            <a:r>
              <a:rPr sz="1000" b="0" i="0" lang="es-CL">
                <a:solidFill>
                  <a:srgbClr val="1F2328"/>
                </a:solidFill>
                <a:latin typeface="Inter"/>
                <a:ea typeface="Inter"/>
                <a:cs typeface="Inter"/>
              </a:rPr>
              <a:t> del PR, con mutantes filtrados para que sean útiles al revisor.</a:t>
            </a:r>
          </a:p>
        </p:txBody>
      </p:sp>
      <p:sp>
        <p:nvSpPr>
          <p:cNvPr id="18" name="TextBox 17"/>
          <p:cNvSpPr txBox="1"/>
          <p:nvPr/>
        </p:nvSpPr>
        <p:spPr>
          <a:xfrm>
            <a:off x="548640" y="4050791"/>
            <a:ext cx="3794760" cy="274320"/>
          </a:xfrm>
          <a:prstGeom prst="rect">
            <a:avLst/>
          </a:prstGeom>
          <a:noFill/>
        </p:spPr>
        <p:txBody>
          <a:bodyPr wrap="square" lIns="36576" rIns="36576" tIns="36576" bIns="36576" anchor="t"/>
          <a:lstStyle/>
          <a:p>
            <a:pPr algn="l" marL="0" indent="0">
              <a:spcAft>
                <a:spcPts val="400"/>
              </a:spcAft>
              <a:buNone/>
            </a:pPr>
            <a:r>
              <a:rPr sz="1000" b="1" i="0" lang="es-CL">
                <a:solidFill>
                  <a:srgbClr val="38761D"/>
                </a:solidFill>
                <a:latin typeface="Inter"/>
                <a:ea typeface="Inter"/>
                <a:cs typeface="Inter"/>
              </a:rPr>
              <a:t>Lección: Mutación incremental, no la suite completa.</a:t>
            </a:r>
          </a:p>
        </p:txBody>
      </p:sp>
      <p:sp>
        <p:nvSpPr>
          <p:cNvPr id="19" name="Rounded Rectangle 18"/>
          <p:cNvSpPr/>
          <p:nvPr/>
        </p:nvSpPr>
        <p:spPr>
          <a:xfrm>
            <a:off x="4617720" y="2788920"/>
            <a:ext cx="4069080" cy="1600200"/>
          </a:xfrm>
          <a:prstGeom prst="roundRect">
            <a:avLst>
              <a:gd name="adj" fmla="val 5714"/>
            </a:avLst>
          </a:prstGeom>
          <a:solidFill>
            <a:srgbClr val="EDF1F3"/>
          </a:solidFill>
          <a:ln>
            <a:noFill/>
          </a:ln>
        </p:spPr>
        <p:txBody>
          <a:bodyPr rtlCol="0" anchor="ctr" wrap="square" lIns="54864" rIns="54864" tIns="54864" bIns="54864"/>
          <a:lstStyle/>
          <a:p>
            <a:pPr algn="ctr"/>
          </a:p>
        </p:txBody>
      </p:sp>
      <p:sp>
        <p:nvSpPr>
          <p:cNvPr id="20" name="Rounded Rectangle 19"/>
          <p:cNvSpPr/>
          <p:nvPr/>
        </p:nvSpPr>
        <p:spPr>
          <a:xfrm>
            <a:off x="4754880" y="2916936"/>
            <a:ext cx="2651760" cy="292608"/>
          </a:xfrm>
          <a:prstGeom prst="roundRect">
            <a:avLst>
              <a:gd name="adj" fmla="val 25000"/>
            </a:avLst>
          </a:prstGeom>
          <a:solidFill>
            <a:srgbClr val="634F7D"/>
          </a:solidFill>
          <a:ln>
            <a:noFill/>
          </a:ln>
        </p:spPr>
        <p:txBody>
          <a:bodyPr rtlCol="0" anchor="ctr" wrap="square" lIns="73152" rIns="73152" tIns="73152" bIns="73152"/>
          <a:lstStyle/>
          <a:p>
            <a:pPr algn="l" marL="0" indent="0">
              <a:spcAft>
                <a:spcPts val="200"/>
              </a:spcAft>
              <a:buNone/>
            </a:pPr>
            <a:r>
              <a:rPr sz="1000" b="1" i="0" lang="es-CL">
                <a:solidFill>
                  <a:srgbClr val="FFFFFF"/>
                </a:solidFill>
                <a:latin typeface="Inter"/>
                <a:ea typeface="Inter"/>
                <a:cs typeface="Inter"/>
              </a:rPr>
              <a:t>Google Research · code review con ML</a:t>
            </a:r>
          </a:p>
        </p:txBody>
      </p:sp>
      <p:sp>
        <p:nvSpPr>
          <p:cNvPr id="21" name="TextBox 20"/>
          <p:cNvSpPr txBox="1"/>
          <p:nvPr/>
        </p:nvSpPr>
        <p:spPr>
          <a:xfrm>
            <a:off x="7452360" y="2916936"/>
            <a:ext cx="1143000" cy="292608"/>
          </a:xfrm>
          <a:prstGeom prst="rect">
            <a:avLst/>
          </a:prstGeom>
          <a:noFill/>
        </p:spPr>
        <p:txBody>
          <a:bodyPr wrap="square" lIns="36576" rIns="36576" tIns="36576" bIns="36576" anchor="ctr"/>
          <a:lstStyle/>
          <a:p>
            <a:pPr algn="r" marL="0" indent="0">
              <a:spcAft>
                <a:spcPts val="400"/>
              </a:spcAft>
              <a:buNone/>
            </a:pPr>
            <a:r>
              <a:rPr sz="800" b="0" i="0" lang="es-CL">
                <a:solidFill>
                  <a:srgbClr val="8C959F"/>
                </a:solidFill>
                <a:latin typeface="Inter"/>
                <a:ea typeface="Inter"/>
                <a:cs typeface="Inter"/>
              </a:rPr>
              <a:t>2023</a:t>
            </a:r>
          </a:p>
        </p:txBody>
      </p:sp>
      <p:sp>
        <p:nvSpPr>
          <p:cNvPr id="22" name="TextBox 21"/>
          <p:cNvSpPr txBox="1"/>
          <p:nvPr/>
        </p:nvSpPr>
        <p:spPr>
          <a:xfrm>
            <a:off x="4754880" y="3291839"/>
            <a:ext cx="3794760" cy="77724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Un modelo propone cómo resolver los comentarios de revisión y la persona acepta o descarta.</a:t>
            </a:r>
          </a:p>
        </p:txBody>
      </p:sp>
      <p:sp>
        <p:nvSpPr>
          <p:cNvPr id="23" name="TextBox 22"/>
          <p:cNvSpPr txBox="1"/>
          <p:nvPr/>
        </p:nvSpPr>
        <p:spPr>
          <a:xfrm>
            <a:off x="4754880" y="4050791"/>
            <a:ext cx="3794760" cy="274320"/>
          </a:xfrm>
          <a:prstGeom prst="rect">
            <a:avLst/>
          </a:prstGeom>
          <a:noFill/>
        </p:spPr>
        <p:txBody>
          <a:bodyPr wrap="square" lIns="36576" rIns="36576" tIns="36576" bIns="36576" anchor="t"/>
          <a:lstStyle/>
          <a:p>
            <a:pPr algn="l" marL="0" indent="0">
              <a:spcAft>
                <a:spcPts val="400"/>
              </a:spcAft>
              <a:buNone/>
            </a:pPr>
            <a:r>
              <a:rPr sz="1000" b="1" i="0" lang="es-CL">
                <a:solidFill>
                  <a:srgbClr val="634F7D"/>
                </a:solidFill>
                <a:latin typeface="Inter"/>
                <a:ea typeface="Inter"/>
                <a:cs typeface="Inter"/>
              </a:rPr>
              <a:t>Lección: La IA sugiere, la persona decide.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2</a:t>
            </a:r>
          </a:p>
          <a:p>
            <a:pPr algn="ctr">
              <a:spcAft>
                <a:spcPts val="1600"/>
              </a:spcAft>
            </a:pPr>
            <a:r>
              <a:rPr sz="3600" b="1" i="0" lang="es-CL">
                <a:solidFill>
                  <a:srgbClr val="4A86E8"/>
                </a:solidFill>
                <a:latin typeface="Bitter"/>
                <a:ea typeface="Bitter"/>
                <a:cs typeface="Bitter"/>
              </a:rPr>
              <a:t>Spec Driven Development</a:t>
            </a:r>
          </a:p>
          <a:p>
            <a:pPr algn="ctr">
              <a:spcAft>
                <a:spcPts val="1400"/>
              </a:spcAft>
            </a:pPr>
            <a:r>
              <a:rPr sz="1500" b="0" i="0" lang="es-CL">
                <a:solidFill>
                  <a:srgbClr val="57606A"/>
                </a:solidFill>
                <a:latin typeface="Inter"/>
                <a:ea typeface="Inter"/>
                <a:cs typeface="Inter"/>
              </a:rPr>
              <a:t>Si la IA escribe el código, la spec es lo que de verdad programas.</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Qué es Spec Driven Development</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TextBox 3"/>
          <p:cNvSpPr txBox="1"/>
          <p:nvPr/>
        </p:nvSpPr>
        <p:spPr>
          <a:xfrm>
            <a:off x="411480" y="1097280"/>
            <a:ext cx="3931920" cy="137160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Escribes una </a:t>
            </a:r>
            <a:r>
              <a:rPr sz="1200" b="1" i="0" lang="es-CL">
                <a:solidFill>
                  <a:srgbClr val="1F2328"/>
                </a:solidFill>
                <a:latin typeface="Inter"/>
                <a:ea typeface="Inter"/>
                <a:cs typeface="Inter"/>
              </a:rPr>
              <a:t>spec</a:t>
            </a:r>
            <a:r>
              <a:rPr sz="1200" b="0" i="0" lang="es-CL">
                <a:solidFill>
                  <a:srgbClr val="1F2328"/>
                </a:solidFill>
                <a:latin typeface="Inter"/>
                <a:ea typeface="Inter"/>
                <a:cs typeface="Inter"/>
              </a:rPr>
              <a:t> (requisitos, diseño técnico y arquitectura) y los agentes de IA desarrollan la feature de punta a punta, incluidos los tests.</a:t>
            </a:r>
          </a:p>
        </p:txBody>
      </p:sp>
      <p:sp>
        <p:nvSpPr>
          <p:cNvPr id="5" name="TextBox 4"/>
          <p:cNvSpPr txBox="1"/>
          <p:nvPr/>
        </p:nvSpPr>
        <p:spPr>
          <a:xfrm>
            <a:off x="411480" y="2103120"/>
            <a:ext cx="3931920" cy="274320"/>
          </a:xfrm>
          <a:prstGeom prst="rect">
            <a:avLst/>
          </a:prstGeom>
          <a:noFill/>
        </p:spPr>
        <p:txBody>
          <a:bodyPr wrap="square" lIns="36576" rIns="36576" tIns="36576" bIns="36576" anchor="t"/>
          <a:lstStyle/>
          <a:p>
            <a:pPr algn="l" marL="0" indent="0">
              <a:spcAft>
                <a:spcPts val="400"/>
              </a:spcAft>
              <a:buNone/>
            </a:pPr>
            <a:r>
              <a:rPr sz="1100" b="1" i="0" lang="es-CL">
                <a:solidFill>
                  <a:srgbClr val="003D4F"/>
                </a:solidFill>
                <a:latin typeface="Inter"/>
                <a:ea typeface="Inter"/>
                <a:cs typeface="Inter"/>
              </a:rPr>
              <a:t>Herramientas: Kiro, Spec Kit, Tessl</a:t>
            </a:r>
          </a:p>
        </p:txBody>
      </p:sp>
      <p:sp>
        <p:nvSpPr>
          <p:cNvPr id="6" name="Rounded Rectangle 5"/>
          <p:cNvSpPr/>
          <p:nvPr/>
        </p:nvSpPr>
        <p:spPr>
          <a:xfrm>
            <a:off x="411480" y="2514600"/>
            <a:ext cx="1901952" cy="1417320"/>
          </a:xfrm>
          <a:prstGeom prst="roundRect">
            <a:avLst>
              <a:gd name="adj" fmla="val 5161"/>
            </a:avLst>
          </a:prstGeom>
          <a:solidFill>
            <a:srgbClr val="EDF1F3"/>
          </a:solidFill>
          <a:ln>
            <a:noFill/>
          </a:ln>
        </p:spPr>
        <p:txBody>
          <a:bodyPr rtlCol="0" anchor="ctr" wrap="square" lIns="54864" rIns="54864" tIns="54864" bIns="54864"/>
          <a:lstStyle/>
          <a:p>
            <a:pPr algn="ctr"/>
          </a:p>
        </p:txBody>
      </p:sp>
      <p:sp>
        <p:nvSpPr>
          <p:cNvPr id="7" name="TextBox 6"/>
          <p:cNvSpPr txBox="1"/>
          <p:nvPr/>
        </p:nvSpPr>
        <p:spPr>
          <a:xfrm>
            <a:off x="502920" y="2560320"/>
            <a:ext cx="1737360" cy="274320"/>
          </a:xfrm>
          <a:prstGeom prst="rect">
            <a:avLst/>
          </a:prstGeom>
          <a:noFill/>
        </p:spPr>
        <p:txBody>
          <a:bodyPr wrap="square" lIns="36576" rIns="36576" tIns="36576" bIns="36576" anchor="t"/>
          <a:lstStyle/>
          <a:p>
            <a:pPr algn="l" marL="0" indent="0">
              <a:spcAft>
                <a:spcPts val="400"/>
              </a:spcAft>
              <a:buNone/>
            </a:pPr>
            <a:r>
              <a:rPr sz="1050" b="1" i="0" lang="es-CL">
                <a:solidFill>
                  <a:srgbClr val="980000"/>
                </a:solidFill>
                <a:latin typeface="Inter"/>
                <a:ea typeface="Inter"/>
                <a:cs typeface="Inter"/>
              </a:rPr>
              <a:t>Crítica</a:t>
            </a:r>
          </a:p>
        </p:txBody>
      </p:sp>
      <p:sp>
        <p:nvSpPr>
          <p:cNvPr id="8" name="TextBox 7"/>
          <p:cNvSpPr txBox="1"/>
          <p:nvPr/>
        </p:nvSpPr>
        <p:spPr>
          <a:xfrm>
            <a:off x="502920" y="2834640"/>
            <a:ext cx="1737360" cy="1051560"/>
          </a:xfrm>
          <a:prstGeom prst="rect">
            <a:avLst/>
          </a:prstGeom>
          <a:noFill/>
        </p:spPr>
        <p:txBody>
          <a:bodyPr wrap="square" lIns="36576" rIns="36576" tIns="36576" bIns="36576" anchor="t"/>
          <a:lstStyle/>
          <a:p>
            <a:pPr algn="l" marL="0" indent="0">
              <a:spcAft>
                <a:spcPts val="400"/>
              </a:spcAft>
              <a:buNone/>
            </a:pPr>
            <a:r>
              <a:rPr sz="950" b="0" i="0" lang="es-CL">
                <a:solidFill>
                  <a:srgbClr val="1F2328"/>
                </a:solidFill>
                <a:latin typeface="Inter"/>
                <a:ea typeface="Inter"/>
                <a:cs typeface="Inter"/>
              </a:rPr>
              <a:t>Mantener documentación extensa en vez de avanzar en pasos pequeños.</a:t>
            </a:r>
          </a:p>
        </p:txBody>
      </p:sp>
      <p:sp>
        <p:nvSpPr>
          <p:cNvPr id="9" name="Rounded Rectangle 8"/>
          <p:cNvSpPr/>
          <p:nvPr/>
        </p:nvSpPr>
        <p:spPr>
          <a:xfrm>
            <a:off x="2441448" y="2514600"/>
            <a:ext cx="1901952" cy="1417320"/>
          </a:xfrm>
          <a:prstGeom prst="roundRect">
            <a:avLst>
              <a:gd name="adj" fmla="val 5161"/>
            </a:avLst>
          </a:prstGeom>
          <a:solidFill>
            <a:srgbClr val="EDF1F3"/>
          </a:solidFill>
          <a:ln>
            <a:noFill/>
          </a:ln>
        </p:spPr>
        <p:txBody>
          <a:bodyPr rtlCol="0" anchor="ctr" wrap="square" lIns="54864" rIns="54864" tIns="54864" bIns="54864"/>
          <a:lstStyle/>
          <a:p>
            <a:pPr algn="ctr"/>
          </a:p>
        </p:txBody>
      </p:sp>
      <p:sp>
        <p:nvSpPr>
          <p:cNvPr id="10" name="TextBox 9"/>
          <p:cNvSpPr txBox="1"/>
          <p:nvPr/>
        </p:nvSpPr>
        <p:spPr>
          <a:xfrm>
            <a:off x="2532888" y="2560320"/>
            <a:ext cx="1737360" cy="274320"/>
          </a:xfrm>
          <a:prstGeom prst="rect">
            <a:avLst/>
          </a:prstGeom>
          <a:noFill/>
        </p:spPr>
        <p:txBody>
          <a:bodyPr wrap="square" lIns="36576" rIns="36576" tIns="36576" bIns="36576" anchor="t"/>
          <a:lstStyle/>
          <a:p>
            <a:pPr algn="l" marL="0" indent="0">
              <a:spcAft>
                <a:spcPts val="400"/>
              </a:spcAft>
              <a:buNone/>
            </a:pPr>
            <a:r>
              <a:rPr sz="1050" b="1" i="0" lang="es-CL">
                <a:solidFill>
                  <a:srgbClr val="38761D"/>
                </a:solidFill>
                <a:latin typeface="Inter"/>
                <a:ea typeface="Inter"/>
                <a:cs typeface="Inter"/>
              </a:rPr>
              <a:t>Ventaja</a:t>
            </a:r>
          </a:p>
        </p:txBody>
      </p:sp>
      <p:sp>
        <p:nvSpPr>
          <p:cNvPr id="11" name="TextBox 10"/>
          <p:cNvSpPr txBox="1"/>
          <p:nvPr/>
        </p:nvSpPr>
        <p:spPr>
          <a:xfrm>
            <a:off x="2532888" y="2834640"/>
            <a:ext cx="1737360" cy="1051560"/>
          </a:xfrm>
          <a:prstGeom prst="rect">
            <a:avLst/>
          </a:prstGeom>
          <a:noFill/>
        </p:spPr>
        <p:txBody>
          <a:bodyPr wrap="square" lIns="36576" rIns="36576" tIns="36576" bIns="36576" anchor="t"/>
          <a:lstStyle/>
          <a:p>
            <a:pPr algn="l" marL="0" indent="0">
              <a:spcAft>
                <a:spcPts val="400"/>
              </a:spcAft>
              <a:buNone/>
            </a:pPr>
            <a:r>
              <a:rPr sz="950" b="0" i="0" lang="es-CL">
                <a:solidFill>
                  <a:srgbClr val="1F2328"/>
                </a:solidFill>
                <a:latin typeface="Inter"/>
                <a:ea typeface="Inter"/>
                <a:cs typeface="Inter"/>
              </a:rPr>
              <a:t>Si cambia un requisito, cambias la spec y los tests se reconectan.</a:t>
            </a:r>
          </a:p>
        </p:txBody>
      </p:sp>
      <p:sp>
        <p:nvSpPr>
          <p:cNvPr id="12" name="TextBox 11"/>
          <p:cNvSpPr txBox="1"/>
          <p:nvPr/>
        </p:nvSpPr>
        <p:spPr>
          <a:xfrm>
            <a:off x="411480" y="4069080"/>
            <a:ext cx="3931920" cy="256032"/>
          </a:xfrm>
          <a:prstGeom prst="rect">
            <a:avLst/>
          </a:prstGeom>
          <a:noFill/>
        </p:spPr>
        <p:txBody>
          <a:bodyPr wrap="square" lIns="36576" rIns="36576" tIns="36576" bIns="36576" anchor="t"/>
          <a:lstStyle/>
          <a:p>
            <a:pPr algn="l" marL="0" indent="0">
              <a:spcAft>
                <a:spcPts val="400"/>
              </a:spcAft>
              <a:buNone/>
            </a:pPr>
            <a:r>
              <a:rPr sz="900" b="0" i="0" lang="es-CL">
                <a:solidFill>
                  <a:srgbClr val="8C959F"/>
                </a:solidFill>
                <a:latin typeface="Inter"/>
                <a:ea typeface="Inter"/>
                <a:cs typeface="Inter"/>
              </a:rPr>
              <a:t>Libro, p. 113</a:t>
            </a:r>
          </a:p>
        </p:txBody>
      </p:sp>
      <p:cxnSp>
        <p:nvCxnSpPr>
          <p:cNvPr id="13" name="Connector 12"/>
          <p:cNvCxnSpPr/>
          <p:nvPr/>
        </p:nvCxnSpPr>
        <p:spPr>
          <a:xfrm>
            <a:off x="7043391" y="1797040"/>
            <a:ext cx="254599" cy="184976"/>
          </a:xfrm>
          <a:prstGeom prst="line">
            <a:avLst/>
          </a:prstGeom>
          <a:ln w="22225">
            <a:solidFill>
              <a:srgbClr val="8C959F"/>
            </a:solidFill>
            <a:tailEnd type="triangle" w="med" len="med"/>
          </a:ln>
        </p:spPr>
      </p:cxnSp>
      <p:cxnSp>
        <p:nvCxnSpPr>
          <p:cNvPr id="14" name="Connector 13"/>
          <p:cNvCxnSpPr/>
          <p:nvPr/>
        </p:nvCxnSpPr>
        <p:spPr>
          <a:xfrm flipH="1">
            <a:off x="7424264" y="2669947"/>
            <a:ext cx="218439" cy="672285"/>
          </a:xfrm>
          <a:prstGeom prst="line">
            <a:avLst/>
          </a:prstGeom>
          <a:ln w="22225">
            <a:solidFill>
              <a:srgbClr val="8C959F"/>
            </a:solidFill>
            <a:tailEnd type="triangle" w="med" len="med"/>
          </a:ln>
        </p:spPr>
      </p:cxnSp>
      <p:cxnSp>
        <p:nvCxnSpPr>
          <p:cNvPr id="15" name="Connector 14"/>
          <p:cNvCxnSpPr/>
          <p:nvPr/>
        </p:nvCxnSpPr>
        <p:spPr>
          <a:xfrm flipH="1">
            <a:off x="6516462" y="3696162"/>
            <a:ext cx="134435" cy="0"/>
          </a:xfrm>
          <a:prstGeom prst="line">
            <a:avLst/>
          </a:prstGeom>
          <a:ln w="22225">
            <a:solidFill>
              <a:srgbClr val="8C959F"/>
            </a:solidFill>
            <a:tailEnd type="triangle" w="med" len="med"/>
          </a:ln>
        </p:spPr>
      </p:cxnSp>
      <p:cxnSp>
        <p:nvCxnSpPr>
          <p:cNvPr id="16" name="Connector 15"/>
          <p:cNvCxnSpPr/>
          <p:nvPr/>
        </p:nvCxnSpPr>
        <p:spPr>
          <a:xfrm flipH="1" flipV="1">
            <a:off x="5524656" y="2669947"/>
            <a:ext cx="218439" cy="672285"/>
          </a:xfrm>
          <a:prstGeom prst="line">
            <a:avLst/>
          </a:prstGeom>
          <a:ln w="22225">
            <a:solidFill>
              <a:srgbClr val="8C959F"/>
            </a:solidFill>
            <a:tailEnd type="triangle" w="med" len="med"/>
          </a:ln>
        </p:spPr>
      </p:cxnSp>
      <p:cxnSp>
        <p:nvCxnSpPr>
          <p:cNvPr id="17" name="Connector 16"/>
          <p:cNvCxnSpPr/>
          <p:nvPr/>
        </p:nvCxnSpPr>
        <p:spPr>
          <a:xfrm flipV="1">
            <a:off x="5869369" y="1797040"/>
            <a:ext cx="254599" cy="184976"/>
          </a:xfrm>
          <a:prstGeom prst="line">
            <a:avLst/>
          </a:prstGeom>
          <a:ln w="22225">
            <a:solidFill>
              <a:srgbClr val="8C959F"/>
            </a:solidFill>
            <a:tailEnd type="triangle" w="med" len="med"/>
          </a:ln>
        </p:spPr>
      </p:cxnSp>
      <p:sp>
        <p:nvSpPr>
          <p:cNvPr id="18" name="Rounded Rectangle 17"/>
          <p:cNvSpPr/>
          <p:nvPr/>
        </p:nvSpPr>
        <p:spPr>
          <a:xfrm>
            <a:off x="5980176" y="1161288"/>
            <a:ext cx="1207008" cy="603504"/>
          </a:xfrm>
          <a:prstGeom prst="roundRect">
            <a:avLst>
              <a:gd name="adj" fmla="val 12121"/>
            </a:avLst>
          </a:prstGeom>
          <a:solidFill>
            <a:srgbClr val="003D4F"/>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Spec</a:t>
            </a:r>
          </a:p>
          <a:p>
            <a:pPr algn="ctr" marL="0" indent="0">
              <a:spcAft>
                <a:spcPts val="0"/>
              </a:spcAft>
              <a:buNone/>
            </a:pPr>
            <a:r>
              <a:rPr sz="1000" b="0" i="0" lang="es-CL">
                <a:solidFill>
                  <a:srgbClr val="FFFFFF"/>
                </a:solidFill>
                <a:latin typeface="Inter"/>
                <a:ea typeface="Inter"/>
                <a:cs typeface="Inter"/>
              </a:rPr>
              <a:t>reglas con ID</a:t>
            </a:r>
          </a:p>
        </p:txBody>
      </p:sp>
      <p:sp>
        <p:nvSpPr>
          <p:cNvPr id="19" name="Rounded Rectangle 18"/>
          <p:cNvSpPr/>
          <p:nvPr/>
        </p:nvSpPr>
        <p:spPr>
          <a:xfrm>
            <a:off x="7154198" y="2014265"/>
            <a:ext cx="1207008" cy="603504"/>
          </a:xfrm>
          <a:prstGeom prst="roundRect">
            <a:avLst>
              <a:gd name="adj" fmla="val 12121"/>
            </a:avLst>
          </a:prstGeom>
          <a:solidFill>
            <a:srgbClr val="47A1AD"/>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Contrato</a:t>
            </a:r>
          </a:p>
          <a:p>
            <a:pPr algn="ctr" marL="0" indent="0">
              <a:spcAft>
                <a:spcPts val="0"/>
              </a:spcAft>
              <a:buNone/>
            </a:pPr>
            <a:r>
              <a:rPr sz="1000" b="0" i="0" lang="es-CL">
                <a:solidFill>
                  <a:srgbClr val="FFFFFF"/>
                </a:solidFill>
                <a:latin typeface="Inter"/>
                <a:ea typeface="Inter"/>
                <a:cs typeface="Inter"/>
              </a:rPr>
              <a:t>openapi.yaml</a:t>
            </a:r>
          </a:p>
        </p:txBody>
      </p:sp>
      <p:sp>
        <p:nvSpPr>
          <p:cNvPr id="20" name="Rounded Rectangle 19"/>
          <p:cNvSpPr/>
          <p:nvPr/>
        </p:nvSpPr>
        <p:spPr>
          <a:xfrm>
            <a:off x="6705761" y="3394410"/>
            <a:ext cx="1207008" cy="603504"/>
          </a:xfrm>
          <a:prstGeom prst="roundRect">
            <a:avLst>
              <a:gd name="adj" fmla="val 12121"/>
            </a:avLst>
          </a:prstGeom>
          <a:solidFill>
            <a:srgbClr val="980000"/>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Tests en rojo</a:t>
            </a:r>
          </a:p>
          <a:p>
            <a:pPr algn="ctr" marL="0" indent="0">
              <a:spcAft>
                <a:spcPts val="0"/>
              </a:spcAft>
              <a:buNone/>
            </a:pPr>
            <a:r>
              <a:rPr sz="1000" b="0" i="0" lang="es-CL">
                <a:solidFill>
                  <a:srgbClr val="FFFFFF"/>
                </a:solidFill>
                <a:latin typeface="Inter"/>
                <a:ea typeface="Inter"/>
                <a:cs typeface="Inter"/>
              </a:rPr>
              <a:t>uno a la vez</a:t>
            </a:r>
          </a:p>
        </p:txBody>
      </p:sp>
      <p:sp>
        <p:nvSpPr>
          <p:cNvPr id="21" name="Rounded Rectangle 20"/>
          <p:cNvSpPr/>
          <p:nvPr/>
        </p:nvSpPr>
        <p:spPr>
          <a:xfrm>
            <a:off x="5254590" y="3394410"/>
            <a:ext cx="1207008" cy="603504"/>
          </a:xfrm>
          <a:prstGeom prst="roundRect">
            <a:avLst>
              <a:gd name="adj" fmla="val 12121"/>
            </a:avLst>
          </a:prstGeom>
          <a:solidFill>
            <a:srgbClr val="CC850A"/>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Código</a:t>
            </a:r>
          </a:p>
          <a:p>
            <a:pPr algn="ctr" marL="0" indent="0">
              <a:spcAft>
                <a:spcPts val="0"/>
              </a:spcAft>
              <a:buNone/>
            </a:pPr>
            <a:r>
              <a:rPr sz="1000" b="0" i="0" lang="es-CL">
                <a:solidFill>
                  <a:srgbClr val="FFFFFF"/>
                </a:solidFill>
                <a:latin typeface="Inter"/>
                <a:ea typeface="Inter"/>
                <a:cs typeface="Inter"/>
              </a:rPr>
              <a:t>lo mínimo</a:t>
            </a:r>
          </a:p>
        </p:txBody>
      </p:sp>
      <p:sp>
        <p:nvSpPr>
          <p:cNvPr id="22" name="Rounded Rectangle 21"/>
          <p:cNvSpPr/>
          <p:nvPr/>
        </p:nvSpPr>
        <p:spPr>
          <a:xfrm>
            <a:off x="4806153" y="2014265"/>
            <a:ext cx="1207008" cy="603504"/>
          </a:xfrm>
          <a:prstGeom prst="roundRect">
            <a:avLst>
              <a:gd name="adj" fmla="val 12121"/>
            </a:avLst>
          </a:prstGeom>
          <a:solidFill>
            <a:srgbClr val="38761D"/>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Verde</a:t>
            </a:r>
          </a:p>
          <a:p>
            <a:pPr algn="ctr" marL="0" indent="0">
              <a:spcAft>
                <a:spcPts val="0"/>
              </a:spcAft>
              <a:buNone/>
            </a:pPr>
            <a:r>
              <a:rPr sz="1000" b="0" i="0" lang="es-CL">
                <a:solidFill>
                  <a:srgbClr val="FFFFFF"/>
                </a:solidFill>
                <a:latin typeface="Inter"/>
                <a:ea typeface="Inter"/>
                <a:cs typeface="Inter"/>
              </a:rPr>
              <a:t>y evidencia</a:t>
            </a:r>
          </a:p>
        </p:txBody>
      </p:sp>
      <p:sp>
        <p:nvSpPr>
          <p:cNvPr id="23" name="TextBox 22"/>
          <p:cNvSpPr txBox="1"/>
          <p:nvPr/>
        </p:nvSpPr>
        <p:spPr>
          <a:xfrm>
            <a:off x="5760720" y="2468880"/>
            <a:ext cx="1645920" cy="457200"/>
          </a:xfrm>
          <a:prstGeom prst="rect">
            <a:avLst/>
          </a:prstGeom>
          <a:noFill/>
        </p:spPr>
        <p:txBody>
          <a:bodyPr wrap="square" lIns="36576" rIns="36576" tIns="36576" bIns="36576" anchor="ctr"/>
          <a:lstStyle/>
          <a:p>
            <a:pPr algn="ctr" marL="0" indent="0">
              <a:spcAft>
                <a:spcPts val="400"/>
              </a:spcAft>
              <a:buNone/>
            </a:pPr>
            <a:r>
              <a:rPr sz="1000" b="1" i="0" lang="es-CL">
                <a:solidFill>
                  <a:srgbClr val="57606A"/>
                </a:solidFill>
                <a:latin typeface="Inter"/>
                <a:ea typeface="Inter"/>
                <a:cs typeface="Inter"/>
              </a:rPr>
              <a:t>Constitución P1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Anatomía de un SPEC</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2103120" cy="384048"/>
          </a:xfrm>
          <a:prstGeom prst="roundRect">
            <a:avLst>
              <a:gd name="adj" fmla="val 19047"/>
            </a:avLst>
          </a:prstGeom>
          <a:solidFill>
            <a:srgbClr val="003D4F"/>
          </a:solidFill>
          <a:ln>
            <a:noFill/>
          </a:ln>
        </p:spPr>
        <p:txBody>
          <a:bodyPr rtlCol="0" anchor="ctr" wrap="square" tIns="91440" bIns="91440"/>
          <a:lstStyle/>
          <a:p>
            <a:pPr algn="l" marL="0" indent="0">
              <a:spcAft>
                <a:spcPts val="200"/>
              </a:spcAft>
              <a:buNone/>
            </a:pPr>
            <a:r>
              <a:rPr sz="1050" b="1" i="0" lang="es-CL">
                <a:solidFill>
                  <a:srgbClr val="FFFFFF"/>
                </a:solidFill>
                <a:latin typeface="Inter"/>
                <a:ea typeface="Inter"/>
                <a:cs typeface="Inter"/>
              </a:rPr>
              <a:t>Encabezado</a:t>
            </a:r>
          </a:p>
        </p:txBody>
      </p:sp>
      <p:sp>
        <p:nvSpPr>
          <p:cNvPr id="5" name="TextBox 4"/>
          <p:cNvSpPr txBox="1"/>
          <p:nvPr/>
        </p:nvSpPr>
        <p:spPr>
          <a:xfrm>
            <a:off x="2651760" y="1051560"/>
            <a:ext cx="3017520" cy="384048"/>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ID, versión, contrato API, flujos, specs por capa</a:t>
            </a:r>
          </a:p>
        </p:txBody>
      </p:sp>
      <p:sp>
        <p:nvSpPr>
          <p:cNvPr id="6" name="Rounded Rectangle 5"/>
          <p:cNvSpPr/>
          <p:nvPr/>
        </p:nvSpPr>
        <p:spPr>
          <a:xfrm>
            <a:off x="411480" y="1527048"/>
            <a:ext cx="2103120" cy="384048"/>
          </a:xfrm>
          <a:prstGeom prst="roundRect">
            <a:avLst>
              <a:gd name="adj" fmla="val 19047"/>
            </a:avLst>
          </a:prstGeom>
          <a:solidFill>
            <a:srgbClr val="47A1AD"/>
          </a:solidFill>
          <a:ln>
            <a:noFill/>
          </a:ln>
        </p:spPr>
        <p:txBody>
          <a:bodyPr rtlCol="0" anchor="ctr" wrap="square" tIns="91440" bIns="91440"/>
          <a:lstStyle/>
          <a:p>
            <a:pPr algn="l" marL="0" indent="0">
              <a:spcAft>
                <a:spcPts val="200"/>
              </a:spcAft>
              <a:buNone/>
            </a:pPr>
            <a:r>
              <a:rPr sz="1050" b="1" i="0" lang="es-CL">
                <a:solidFill>
                  <a:srgbClr val="FFFFFF"/>
                </a:solidFill>
                <a:latin typeface="Inter"/>
                <a:ea typeface="Inter"/>
                <a:cs typeface="Inter"/>
              </a:rPr>
              <a:t>Contexto</a:t>
            </a:r>
          </a:p>
        </p:txBody>
      </p:sp>
      <p:sp>
        <p:nvSpPr>
          <p:cNvPr id="7" name="TextBox 6"/>
          <p:cNvSpPr txBox="1"/>
          <p:nvPr/>
        </p:nvSpPr>
        <p:spPr>
          <a:xfrm>
            <a:off x="2651760" y="1527048"/>
            <a:ext cx="3017520" cy="384048"/>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El problema en lenguaje del negocio</a:t>
            </a:r>
          </a:p>
        </p:txBody>
      </p:sp>
      <p:sp>
        <p:nvSpPr>
          <p:cNvPr id="8" name="Rounded Rectangle 7"/>
          <p:cNvSpPr/>
          <p:nvPr/>
        </p:nvSpPr>
        <p:spPr>
          <a:xfrm>
            <a:off x="411480" y="2002536"/>
            <a:ext cx="2103120" cy="384048"/>
          </a:xfrm>
          <a:prstGeom prst="roundRect">
            <a:avLst>
              <a:gd name="adj" fmla="val 19047"/>
            </a:avLst>
          </a:prstGeom>
          <a:solidFill>
            <a:srgbClr val="47A1AD"/>
          </a:solidFill>
          <a:ln>
            <a:noFill/>
          </a:ln>
        </p:spPr>
        <p:txBody>
          <a:bodyPr rtlCol="0" anchor="ctr" wrap="square" tIns="91440" bIns="91440"/>
          <a:lstStyle/>
          <a:p>
            <a:pPr algn="l" marL="0" indent="0">
              <a:spcAft>
                <a:spcPts val="200"/>
              </a:spcAft>
              <a:buNone/>
            </a:pPr>
            <a:r>
              <a:rPr sz="1050" b="1" i="0" lang="es-CL">
                <a:solidFill>
                  <a:srgbClr val="FFFFFF"/>
                </a:solidFill>
                <a:latin typeface="Inter"/>
                <a:ea typeface="Inter"/>
                <a:cs typeface="Inter"/>
              </a:rPr>
              <a:t>Supuestos</a:t>
            </a:r>
          </a:p>
        </p:txBody>
      </p:sp>
      <p:sp>
        <p:nvSpPr>
          <p:cNvPr id="9" name="TextBox 8"/>
          <p:cNvSpPr txBox="1"/>
          <p:nvPr/>
        </p:nvSpPr>
        <p:spPr>
          <a:xfrm>
            <a:off x="2651760" y="2002536"/>
            <a:ext cx="3017520" cy="384048"/>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Lo que el código puede dar por hecho (reloj, UTC, sin login)</a:t>
            </a:r>
          </a:p>
        </p:txBody>
      </p:sp>
      <p:sp>
        <p:nvSpPr>
          <p:cNvPr id="10" name="Rounded Rectangle 9"/>
          <p:cNvSpPr/>
          <p:nvPr/>
        </p:nvSpPr>
        <p:spPr>
          <a:xfrm>
            <a:off x="411480" y="2478024"/>
            <a:ext cx="2103120" cy="384048"/>
          </a:xfrm>
          <a:prstGeom prst="roundRect">
            <a:avLst>
              <a:gd name="adj" fmla="val 19047"/>
            </a:avLst>
          </a:prstGeom>
          <a:solidFill>
            <a:srgbClr val="980000"/>
          </a:solidFill>
          <a:ln>
            <a:noFill/>
          </a:ln>
        </p:spPr>
        <p:txBody>
          <a:bodyPr rtlCol="0" anchor="ctr" wrap="square" tIns="91440" bIns="91440"/>
          <a:lstStyle/>
          <a:p>
            <a:pPr algn="l" marL="0" indent="0">
              <a:spcAft>
                <a:spcPts val="200"/>
              </a:spcAft>
              <a:buNone/>
            </a:pPr>
            <a:r>
              <a:rPr sz="1050" b="1" i="0" lang="es-CL">
                <a:solidFill>
                  <a:srgbClr val="FFFFFF"/>
                </a:solidFill>
                <a:latin typeface="Inter"/>
                <a:ea typeface="Inter"/>
                <a:cs typeface="Inter"/>
              </a:rPr>
              <a:t>Reglas con ID</a:t>
            </a:r>
          </a:p>
        </p:txBody>
      </p:sp>
      <p:sp>
        <p:nvSpPr>
          <p:cNvPr id="11" name="TextBox 10"/>
          <p:cNvSpPr txBox="1"/>
          <p:nvPr/>
        </p:nvSpPr>
        <p:spPr>
          <a:xfrm>
            <a:off x="2651760" y="2478024"/>
            <a:ext cx="3017520" cy="384048"/>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LOAN-R2 · Límite por persona. Verificables, con código de error</a:t>
            </a:r>
          </a:p>
        </p:txBody>
      </p:sp>
      <p:sp>
        <p:nvSpPr>
          <p:cNvPr id="12" name="Rounded Rectangle 11"/>
          <p:cNvSpPr/>
          <p:nvPr/>
        </p:nvSpPr>
        <p:spPr>
          <a:xfrm>
            <a:off x="411480" y="2953512"/>
            <a:ext cx="2103120" cy="384048"/>
          </a:xfrm>
          <a:prstGeom prst="roundRect">
            <a:avLst>
              <a:gd name="adj" fmla="val 19047"/>
            </a:avLst>
          </a:prstGeom>
          <a:solidFill>
            <a:srgbClr val="CC850A"/>
          </a:solidFill>
          <a:ln>
            <a:noFill/>
          </a:ln>
        </p:spPr>
        <p:txBody>
          <a:bodyPr rtlCol="0" anchor="ctr" wrap="square" tIns="91440" bIns="91440"/>
          <a:lstStyle/>
          <a:p>
            <a:pPr algn="l" marL="0" indent="0">
              <a:spcAft>
                <a:spcPts val="200"/>
              </a:spcAft>
              <a:buNone/>
            </a:pPr>
            <a:r>
              <a:rPr sz="1050" b="1" i="0" lang="es-CL">
                <a:solidFill>
                  <a:srgbClr val="FFFFFF"/>
                </a:solidFill>
                <a:latin typeface="Inter"/>
                <a:ea typeface="Inter"/>
                <a:cs typeface="Inter"/>
              </a:rPr>
              <a:t>Comportamiento en UI</a:t>
            </a:r>
          </a:p>
        </p:txBody>
      </p:sp>
      <p:sp>
        <p:nvSpPr>
          <p:cNvPr id="13" name="TextBox 12"/>
          <p:cNvSpPr txBox="1"/>
          <p:nvPr/>
        </p:nvSpPr>
        <p:spPr>
          <a:xfrm>
            <a:off x="2651760" y="2953512"/>
            <a:ext cx="3017520" cy="384048"/>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UI-LOAN-2: textos y colores exactos</a:t>
            </a:r>
          </a:p>
        </p:txBody>
      </p:sp>
      <p:sp>
        <p:nvSpPr>
          <p:cNvPr id="14" name="Rounded Rectangle 13"/>
          <p:cNvSpPr/>
          <p:nvPr/>
        </p:nvSpPr>
        <p:spPr>
          <a:xfrm>
            <a:off x="411480" y="3429000"/>
            <a:ext cx="2103120" cy="384048"/>
          </a:xfrm>
          <a:prstGeom prst="roundRect">
            <a:avLst>
              <a:gd name="adj" fmla="val 19047"/>
            </a:avLst>
          </a:prstGeom>
          <a:solidFill>
            <a:srgbClr val="38761D"/>
          </a:solidFill>
          <a:ln>
            <a:noFill/>
          </a:ln>
        </p:spPr>
        <p:txBody>
          <a:bodyPr rtlCol="0" anchor="ctr" wrap="square" tIns="91440" bIns="91440"/>
          <a:lstStyle/>
          <a:p>
            <a:pPr algn="l" marL="0" indent="0">
              <a:spcAft>
                <a:spcPts val="200"/>
              </a:spcAft>
              <a:buNone/>
            </a:pPr>
            <a:r>
              <a:rPr sz="1050" b="1" i="0" lang="es-CL">
                <a:solidFill>
                  <a:srgbClr val="FFFFFF"/>
                </a:solidFill>
                <a:latin typeface="Inter"/>
                <a:ea typeface="Inter"/>
                <a:cs typeface="Inter"/>
              </a:rPr>
              <a:t>Criterios de aceptación</a:t>
            </a:r>
          </a:p>
        </p:txBody>
      </p:sp>
      <p:sp>
        <p:nvSpPr>
          <p:cNvPr id="15" name="TextBox 14"/>
          <p:cNvSpPr txBox="1"/>
          <p:nvPr/>
        </p:nvSpPr>
        <p:spPr>
          <a:xfrm>
            <a:off x="2651760" y="3429000"/>
            <a:ext cx="3017520" cy="384048"/>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Tabla regla → capa → test</a:t>
            </a:r>
          </a:p>
        </p:txBody>
      </p:sp>
      <p:sp>
        <p:nvSpPr>
          <p:cNvPr id="16" name="Rounded Rectangle 15"/>
          <p:cNvSpPr/>
          <p:nvPr/>
        </p:nvSpPr>
        <p:spPr>
          <a:xfrm>
            <a:off x="411480" y="3904487"/>
            <a:ext cx="2103120" cy="384048"/>
          </a:xfrm>
          <a:prstGeom prst="roundRect">
            <a:avLst>
              <a:gd name="adj" fmla="val 19047"/>
            </a:avLst>
          </a:prstGeom>
          <a:solidFill>
            <a:srgbClr val="57606A"/>
          </a:solidFill>
          <a:ln>
            <a:noFill/>
          </a:ln>
        </p:spPr>
        <p:txBody>
          <a:bodyPr rtlCol="0" anchor="ctr" wrap="square" tIns="91440" bIns="91440"/>
          <a:lstStyle/>
          <a:p>
            <a:pPr algn="l" marL="0" indent="0">
              <a:spcAft>
                <a:spcPts val="200"/>
              </a:spcAft>
              <a:buNone/>
            </a:pPr>
            <a:r>
              <a:rPr sz="1050" b="1" i="0" lang="es-CL">
                <a:solidFill>
                  <a:srgbClr val="FFFFFF"/>
                </a:solidFill>
                <a:latin typeface="Inter"/>
                <a:ea typeface="Inter"/>
                <a:cs typeface="Inter"/>
              </a:rPr>
              <a:t>Fuera de alcance</a:t>
            </a:r>
          </a:p>
        </p:txBody>
      </p:sp>
      <p:sp>
        <p:nvSpPr>
          <p:cNvPr id="17" name="TextBox 16"/>
          <p:cNvSpPr txBox="1"/>
          <p:nvPr/>
        </p:nvSpPr>
        <p:spPr>
          <a:xfrm>
            <a:off x="2651760" y="3904487"/>
            <a:ext cx="3017520" cy="384048"/>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Lo que NO se hace (renovar, multas)</a:t>
            </a:r>
          </a:p>
        </p:txBody>
      </p:sp>
      <p:sp>
        <p:nvSpPr>
          <p:cNvPr id="18" name="Rounded Rectangle 17"/>
          <p:cNvSpPr/>
          <p:nvPr/>
        </p:nvSpPr>
        <p:spPr>
          <a:xfrm>
            <a:off x="5897880" y="1051560"/>
            <a:ext cx="2834640" cy="3246120"/>
          </a:xfrm>
          <a:prstGeom prst="roundRect">
            <a:avLst>
              <a:gd name="adj" fmla="val 3225"/>
            </a:avLst>
          </a:prstGeom>
          <a:solidFill>
            <a:srgbClr val="DCE9F7"/>
          </a:solidFill>
          <a:ln>
            <a:noFill/>
          </a:ln>
        </p:spPr>
        <p:txBody>
          <a:bodyPr rtlCol="0" anchor="ctr" wrap="square" lIns="54864" rIns="54864" tIns="54864" bIns="54864"/>
          <a:lstStyle/>
          <a:p>
            <a:pPr algn="ctr"/>
          </a:p>
        </p:txBody>
      </p:sp>
      <p:sp>
        <p:nvSpPr>
          <p:cNvPr id="19" name="TextBox 18"/>
          <p:cNvSpPr txBox="1"/>
          <p:nvPr/>
        </p:nvSpPr>
        <p:spPr>
          <a:xfrm>
            <a:off x="6035040" y="1143000"/>
            <a:ext cx="2560320" cy="274320"/>
          </a:xfrm>
          <a:prstGeom prst="rect">
            <a:avLst/>
          </a:prstGeom>
          <a:noFill/>
        </p:spPr>
        <p:txBody>
          <a:bodyPr wrap="square" lIns="36576" rIns="36576" tIns="36576" bIns="36576" anchor="t"/>
          <a:lstStyle/>
          <a:p>
            <a:pPr algn="l" marL="0" indent="0">
              <a:spcAft>
                <a:spcPts val="400"/>
              </a:spcAft>
              <a:buNone/>
            </a:pPr>
            <a:r>
              <a:rPr sz="1150" b="1" i="0" lang="es-CL">
                <a:solidFill>
                  <a:srgbClr val="003D4F"/>
                </a:solidFill>
                <a:latin typeface="Inter"/>
                <a:ea typeface="Inter"/>
                <a:cs typeface="Inter"/>
              </a:rPr>
              <a:t>Formato de referencia</a:t>
            </a:r>
          </a:p>
        </p:txBody>
      </p:sp>
      <p:sp>
        <p:nvSpPr>
          <p:cNvPr id="20" name="TextBox 19"/>
          <p:cNvSpPr txBox="1"/>
          <p:nvPr/>
        </p:nvSpPr>
        <p:spPr>
          <a:xfrm>
            <a:off x="6035040" y="1463040"/>
            <a:ext cx="2560320" cy="2743200"/>
          </a:xfrm>
          <a:prstGeom prst="rect">
            <a:avLst/>
          </a:prstGeom>
          <a:noFill/>
        </p:spPr>
        <p:txBody>
          <a:bodyPr wrap="square" lIns="36576" rIns="36576" tIns="36576" bIns="36576" anchor="t"/>
          <a:lstStyle/>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Sale del ejemplo SPECS_EJEMPLO1 del curso: contexto, supuestos, reglas R1, R2... y mapa a los tests.</a:t>
            </a:r>
          </a:p>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Una spec por feature y una por capa.</a:t>
            </a:r>
          </a:p>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Si algo no está en la spec, el agente se detiene y la propone primero.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Extracto de SPEC-LIB-02: Préstamos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5120640" cy="3429000"/>
          </a:xfrm>
          <a:prstGeom prst="roundRect">
            <a:avLst>
              <a:gd name="adj" fmla="val 1600"/>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106424"/>
            <a:ext cx="49011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specs/features/SPEC-LIB-02-prestamos.md</a:t>
            </a:r>
          </a:p>
        </p:txBody>
      </p:sp>
      <p:sp>
        <p:nvSpPr>
          <p:cNvPr id="6" name="TextBox 5"/>
          <p:cNvSpPr txBox="1"/>
          <p:nvPr/>
        </p:nvSpPr>
        <p:spPr>
          <a:xfrm>
            <a:off x="521208" y="1362456"/>
            <a:ext cx="4901183" cy="3063240"/>
          </a:xfrm>
          <a:prstGeom prst="rect">
            <a:avLst/>
          </a:prstGeom>
          <a:noFill/>
        </p:spPr>
        <p:txBody>
          <a:bodyPr wrap="none" lIns="0" rIns="0" tIns="0" bIns="0"/>
          <a:lstStyle/>
          <a:p>
            <a:pPr marL="0" indent="0">
              <a:lnSpc>
                <a:spcPct val="100000"/>
              </a:lnSpc>
              <a:spcAft>
                <a:spcPts val="0"/>
              </a:spcAft>
              <a:buNone/>
            </a:pPr>
            <a:r>
              <a:rPr sz="950" b="1" i="0" lang="es-CL">
                <a:solidFill>
                  <a:srgbClr val="003D4F"/>
                </a:solidFill>
                <a:latin typeface="Consolas"/>
                <a:ea typeface="Consolas"/>
                <a:cs typeface="Consolas"/>
              </a:rPr>
              <a:t>## Reglas de negocio</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1F2328"/>
                </a:solidFill>
                <a:latin typeface="Consolas"/>
                <a:ea typeface="Consolas"/>
                <a:cs typeface="Consolas"/>
              </a:rPr>
              <a:t>- </a:t>
            </a:r>
            <a:r>
              <a:rPr sz="950" b="1" i="0" lang="es-CL">
                <a:solidFill>
                  <a:srgbClr val="1F2328"/>
                </a:solidFill>
                <a:latin typeface="Consolas"/>
                <a:ea typeface="Consolas"/>
                <a:cs typeface="Consolas"/>
              </a:rPr>
              <a:t>**LOAN-R1 · Copias disponibles.**</a:t>
            </a:r>
            <a:r>
              <a:rPr sz="950" b="0" i="0" lang="es-CL">
                <a:solidFill>
                  <a:srgbClr val="1F2328"/>
                </a:solidFill>
                <a:latin typeface="Consolas"/>
                <a:ea typeface="Consolas"/>
                <a:cs typeface="Consolas"/>
              </a:rPr>
              <a:t> Solo se presta si</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`availableCopies &gt; 0`</a:t>
            </a:r>
            <a:r>
              <a:rPr sz="950" b="0" i="0" lang="es-CL">
                <a:solidFill>
                  <a:srgbClr val="1F2328"/>
                </a:solidFill>
                <a:latin typeface="Consolas"/>
                <a:ea typeface="Consolas"/>
                <a:cs typeface="Consolas"/>
              </a:rPr>
              <a:t>. Si no hay copias: 409</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`NO_COPIES_AVAILABLE`</a:t>
            </a:r>
            <a:r>
              <a:rPr sz="950" b="0" i="0" lang="es-CL">
                <a:solidFill>
                  <a:srgbClr val="1F2328"/>
                </a:solidFill>
                <a:latin typeface="Consolas"/>
                <a:ea typeface="Consolas"/>
                <a:cs typeface="Consolas"/>
              </a:rPr>
              <a:t>. Dos solicitudes simultáneas</a:t>
            </a:r>
          </a:p>
          <a:p>
            <a:pPr marL="0" indent="0">
              <a:lnSpc>
                <a:spcPct val="100000"/>
              </a:lnSpc>
              <a:spcAft>
                <a:spcPts val="0"/>
              </a:spcAft>
              <a:buNone/>
            </a:pPr>
            <a:r>
              <a:rPr sz="950" b="0" i="0" lang="es-CL">
                <a:solidFill>
                  <a:srgbClr val="1F2328"/>
                </a:solidFill>
                <a:latin typeface="Consolas"/>
                <a:ea typeface="Consolas"/>
                <a:cs typeface="Consolas"/>
              </a:rPr>
              <a:t>  por la última copia: exactamente una tiene éxito.</a:t>
            </a:r>
          </a:p>
          <a:p>
            <a:pPr marL="0" indent="0">
              <a:lnSpc>
                <a:spcPct val="100000"/>
              </a:lnSpc>
              <a:spcAft>
                <a:spcPts val="0"/>
              </a:spcAft>
              <a:buNone/>
            </a:pPr>
            <a:r>
              <a:rPr sz="950" b="0" i="0" lang="es-CL">
                <a:solidFill>
                  <a:srgbClr val="1F2328"/>
                </a:solidFill>
                <a:latin typeface="Consolas"/>
                <a:ea typeface="Consolas"/>
                <a:cs typeface="Consolas"/>
              </a:rPr>
              <a:t>- </a:t>
            </a:r>
            <a:r>
              <a:rPr sz="950" b="1" i="0" lang="es-CL">
                <a:solidFill>
                  <a:srgbClr val="1F2328"/>
                </a:solidFill>
                <a:latin typeface="Consolas"/>
                <a:ea typeface="Consolas"/>
                <a:cs typeface="Consolas"/>
              </a:rPr>
              <a:t>**LOAN-R2 · Límite por persona.**</a:t>
            </a:r>
            <a:r>
              <a:rPr sz="950" b="0" i="0" lang="es-CL">
                <a:solidFill>
                  <a:srgbClr val="1F2328"/>
                </a:solidFill>
                <a:latin typeface="Consolas"/>
                <a:ea typeface="Consolas"/>
                <a:cs typeface="Consolas"/>
              </a:rPr>
              <a:t> Máximo 3 préstamos</a:t>
            </a:r>
          </a:p>
          <a:p>
            <a:pPr marL="0" indent="0">
              <a:lnSpc>
                <a:spcPct val="100000"/>
              </a:lnSpc>
              <a:spcAft>
                <a:spcPts val="0"/>
              </a:spcAft>
              <a:buNone/>
            </a:pPr>
            <a:r>
              <a:rPr sz="950" b="0" i="0" lang="es-CL">
                <a:solidFill>
                  <a:srgbClr val="1F2328"/>
                </a:solidFill>
                <a:latin typeface="Consolas"/>
                <a:ea typeface="Consolas"/>
                <a:cs typeface="Consolas"/>
              </a:rPr>
              <a:t>  no devueltos. El cuarto responde 409</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`LOAN_LIMIT_REACHED`</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r>
              <a:rPr sz="950" b="1" i="0" lang="es-CL">
                <a:solidFill>
                  <a:srgbClr val="1F2328"/>
                </a:solidFill>
                <a:latin typeface="Consolas"/>
                <a:ea typeface="Consolas"/>
                <a:cs typeface="Consolas"/>
              </a:rPr>
              <a:t>**LOAN-R3 · Fecha de devolución.**</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`dueAt = loanedAt + 14 días`</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57606A"/>
                </a:solidFill>
                <a:latin typeface="Consolas"/>
                <a:ea typeface="Consolas"/>
                <a:cs typeface="Consolas"/>
              </a:rPr>
              <a:t>| Regla   | Capa y test que la verifica                       |</a:t>
            </a:r>
          </a:p>
          <a:p>
            <a:pPr marL="0" indent="0">
              <a:lnSpc>
                <a:spcPct val="100000"/>
              </a:lnSpc>
              <a:spcAft>
                <a:spcPts val="0"/>
              </a:spcAft>
              <a:buNone/>
            </a:pPr>
            <a:r>
              <a:rPr sz="950" b="0" i="0" lang="es-CL">
                <a:solidFill>
                  <a:srgbClr val="57606A"/>
                </a:solidFill>
                <a:latin typeface="Consolas"/>
                <a:ea typeface="Consolas"/>
                <a:cs typeface="Consolas"/>
              </a:rPr>
              <a:t>| LOAN-R2 | unit dominio `loan-policy.spec.ts` · contrato (409) |</a:t>
            </a:r>
          </a:p>
        </p:txBody>
      </p:sp>
      <p:sp>
        <p:nvSpPr>
          <p:cNvPr id="7" name="Rounded Rectangle 6"/>
          <p:cNvSpPr/>
          <p:nvPr/>
        </p:nvSpPr>
        <p:spPr>
          <a:xfrm>
            <a:off x="5760720" y="1051560"/>
            <a:ext cx="2971800" cy="274320"/>
          </a:xfrm>
          <a:prstGeom prst="roundRect">
            <a:avLst>
              <a:gd name="adj" fmla="val 26666"/>
            </a:avLst>
          </a:prstGeom>
          <a:solidFill>
            <a:srgbClr val="980000"/>
          </a:solidFill>
          <a:ln>
            <a:noFill/>
          </a:ln>
        </p:spPr>
        <p:txBody>
          <a:bodyPr rtlCol="0" anchor="ctr" wrap="square" lIns="73152" rIns="73152" tIns="73152" bIns="73152"/>
          <a:lstStyle/>
          <a:p>
            <a:pPr algn="l" marL="0" indent="0">
              <a:spcAft>
                <a:spcPts val="200"/>
              </a:spcAft>
              <a:buNone/>
            </a:pPr>
            <a:r>
              <a:rPr sz="1000" b="1" i="0" lang="es-CL">
                <a:solidFill>
                  <a:srgbClr val="FFFFFF"/>
                </a:solidFill>
                <a:latin typeface="Inter"/>
                <a:ea typeface="Inter"/>
                <a:cs typeface="Inter"/>
              </a:rPr>
              <a:t>ID de regla</a:t>
            </a:r>
          </a:p>
        </p:txBody>
      </p:sp>
      <p:sp>
        <p:nvSpPr>
          <p:cNvPr id="8" name="TextBox 7"/>
          <p:cNvSpPr txBox="1"/>
          <p:nvPr/>
        </p:nvSpPr>
        <p:spPr>
          <a:xfrm>
            <a:off x="5760720" y="1344168"/>
            <a:ext cx="2971800" cy="32004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Lo citan los tests: [LOAN-R2] ...</a:t>
            </a:r>
          </a:p>
        </p:txBody>
      </p:sp>
      <p:sp>
        <p:nvSpPr>
          <p:cNvPr id="9" name="Rounded Rectangle 8"/>
          <p:cNvSpPr/>
          <p:nvPr/>
        </p:nvSpPr>
        <p:spPr>
          <a:xfrm>
            <a:off x="5760720" y="1737360"/>
            <a:ext cx="2971800" cy="274320"/>
          </a:xfrm>
          <a:prstGeom prst="roundRect">
            <a:avLst>
              <a:gd name="adj" fmla="val 26666"/>
            </a:avLst>
          </a:prstGeom>
          <a:solidFill>
            <a:srgbClr val="CC850A"/>
          </a:solidFill>
          <a:ln>
            <a:noFill/>
          </a:ln>
        </p:spPr>
        <p:txBody>
          <a:bodyPr rtlCol="0" anchor="ctr" wrap="square" lIns="73152" rIns="73152" tIns="73152" bIns="73152"/>
          <a:lstStyle/>
          <a:p>
            <a:pPr algn="l" marL="0" indent="0">
              <a:spcAft>
                <a:spcPts val="200"/>
              </a:spcAft>
              <a:buNone/>
            </a:pPr>
            <a:r>
              <a:rPr sz="1000" b="1" i="0" lang="es-CL">
                <a:solidFill>
                  <a:srgbClr val="FFFFFF"/>
                </a:solidFill>
                <a:latin typeface="Inter"/>
                <a:ea typeface="Inter"/>
                <a:cs typeface="Inter"/>
              </a:rPr>
              <a:t>Código de error</a:t>
            </a:r>
          </a:p>
        </p:txBody>
      </p:sp>
      <p:sp>
        <p:nvSpPr>
          <p:cNvPr id="10" name="TextBox 9"/>
          <p:cNvSpPr txBox="1"/>
          <p:nvPr/>
        </p:nvSpPr>
        <p:spPr>
          <a:xfrm>
            <a:off x="5760720" y="2029967"/>
            <a:ext cx="2971800" cy="32004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Contrato y UI usan el mismo código</a:t>
            </a:r>
          </a:p>
        </p:txBody>
      </p:sp>
      <p:sp>
        <p:nvSpPr>
          <p:cNvPr id="11" name="Rounded Rectangle 10"/>
          <p:cNvSpPr/>
          <p:nvPr/>
        </p:nvSpPr>
        <p:spPr>
          <a:xfrm>
            <a:off x="5760720" y="2423160"/>
            <a:ext cx="2971800" cy="274320"/>
          </a:xfrm>
          <a:prstGeom prst="roundRect">
            <a:avLst>
              <a:gd name="adj" fmla="val 26666"/>
            </a:avLst>
          </a:prstGeom>
          <a:solidFill>
            <a:srgbClr val="38761D"/>
          </a:solidFill>
          <a:ln>
            <a:noFill/>
          </a:ln>
        </p:spPr>
        <p:txBody>
          <a:bodyPr rtlCol="0" anchor="ctr" wrap="square" lIns="73152" rIns="73152" tIns="73152" bIns="73152"/>
          <a:lstStyle/>
          <a:p>
            <a:pPr algn="l" marL="0" indent="0">
              <a:spcAft>
                <a:spcPts val="200"/>
              </a:spcAft>
              <a:buNone/>
            </a:pPr>
            <a:r>
              <a:rPr sz="1000" b="1" i="0" lang="es-CL">
                <a:solidFill>
                  <a:srgbClr val="FFFFFF"/>
                </a:solidFill>
                <a:latin typeface="Inter"/>
                <a:ea typeface="Inter"/>
                <a:cs typeface="Inter"/>
              </a:rPr>
              <a:t>Valor límite</a:t>
            </a:r>
          </a:p>
        </p:txBody>
      </p:sp>
      <p:sp>
        <p:nvSpPr>
          <p:cNvPr id="12" name="TextBox 11"/>
          <p:cNvSpPr txBox="1"/>
          <p:nvPr/>
        </p:nvSpPr>
        <p:spPr>
          <a:xfrm>
            <a:off x="5760720" y="2715768"/>
            <a:ext cx="2971800" cy="32004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3 préstamos: el test del borde exacto</a:t>
            </a:r>
          </a:p>
        </p:txBody>
      </p:sp>
      <p:sp>
        <p:nvSpPr>
          <p:cNvPr id="13" name="Rounded Rectangle 12"/>
          <p:cNvSpPr/>
          <p:nvPr/>
        </p:nvSpPr>
        <p:spPr>
          <a:xfrm>
            <a:off x="5760720" y="3108960"/>
            <a:ext cx="2971800" cy="274320"/>
          </a:xfrm>
          <a:prstGeom prst="roundRect">
            <a:avLst>
              <a:gd name="adj" fmla="val 26666"/>
            </a:avLst>
          </a:prstGeom>
          <a:solidFill>
            <a:srgbClr val="47A1AD"/>
          </a:solidFill>
          <a:ln>
            <a:noFill/>
          </a:ln>
        </p:spPr>
        <p:txBody>
          <a:bodyPr rtlCol="0" anchor="ctr" wrap="square" lIns="73152" rIns="73152" tIns="73152" bIns="73152"/>
          <a:lstStyle/>
          <a:p>
            <a:pPr algn="l" marL="0" indent="0">
              <a:spcAft>
                <a:spcPts val="200"/>
              </a:spcAft>
              <a:buNone/>
            </a:pPr>
            <a:r>
              <a:rPr sz="1000" b="1" i="0" lang="es-CL">
                <a:solidFill>
                  <a:srgbClr val="FFFFFF"/>
                </a:solidFill>
                <a:latin typeface="Inter"/>
                <a:ea typeface="Inter"/>
                <a:cs typeface="Inter"/>
              </a:rPr>
              <a:t>Caso de concurrencia</a:t>
            </a:r>
          </a:p>
        </p:txBody>
      </p:sp>
      <p:sp>
        <p:nvSpPr>
          <p:cNvPr id="14" name="TextBox 13"/>
          <p:cNvSpPr txBox="1"/>
          <p:nvPr/>
        </p:nvSpPr>
        <p:spPr>
          <a:xfrm>
            <a:off x="5760720" y="3401568"/>
            <a:ext cx="2971800" cy="32004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Se prueba con PostgreSQL real</a:t>
            </a:r>
          </a:p>
        </p:txBody>
      </p:sp>
      <p:sp>
        <p:nvSpPr>
          <p:cNvPr id="15" name="Rounded Rectangle 14"/>
          <p:cNvSpPr/>
          <p:nvPr/>
        </p:nvSpPr>
        <p:spPr>
          <a:xfrm>
            <a:off x="5760720" y="3794760"/>
            <a:ext cx="2971800" cy="274320"/>
          </a:xfrm>
          <a:prstGeom prst="roundRect">
            <a:avLst>
              <a:gd name="adj" fmla="val 26666"/>
            </a:avLst>
          </a:prstGeom>
          <a:solidFill>
            <a:srgbClr val="003D4F"/>
          </a:solidFill>
          <a:ln>
            <a:noFill/>
          </a:ln>
        </p:spPr>
        <p:txBody>
          <a:bodyPr rtlCol="0" anchor="ctr" wrap="square" lIns="73152" rIns="73152" tIns="73152" bIns="73152"/>
          <a:lstStyle/>
          <a:p>
            <a:pPr algn="l" marL="0" indent="0">
              <a:spcAft>
                <a:spcPts val="200"/>
              </a:spcAft>
              <a:buNone/>
            </a:pPr>
            <a:r>
              <a:rPr sz="1000" b="1" i="0" lang="es-CL">
                <a:solidFill>
                  <a:srgbClr val="FFFFFF"/>
                </a:solidFill>
                <a:latin typeface="Inter"/>
                <a:ea typeface="Inter"/>
                <a:cs typeface="Inter"/>
              </a:rPr>
              <a:t>Mapa a tests</a:t>
            </a:r>
          </a:p>
        </p:txBody>
      </p:sp>
      <p:sp>
        <p:nvSpPr>
          <p:cNvPr id="16" name="TextBox 15"/>
          <p:cNvSpPr txBox="1"/>
          <p:nvPr/>
        </p:nvSpPr>
        <p:spPr>
          <a:xfrm>
            <a:off x="5760720" y="4087368"/>
            <a:ext cx="2971800" cy="32004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Dice en qué capa va cada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Una spec por capa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4206240" cy="1783080"/>
          </a:xfrm>
          <a:prstGeom prst="roundRect">
            <a:avLst>
              <a:gd name="adj" fmla="val 3076"/>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106424"/>
            <a:ext cx="39867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Dónde viven</a:t>
            </a:r>
          </a:p>
        </p:txBody>
      </p:sp>
      <p:sp>
        <p:nvSpPr>
          <p:cNvPr id="6" name="TextBox 5"/>
          <p:cNvSpPr txBox="1"/>
          <p:nvPr/>
        </p:nvSpPr>
        <p:spPr>
          <a:xfrm>
            <a:off x="521208" y="1362456"/>
            <a:ext cx="3986783" cy="1417319"/>
          </a:xfrm>
          <a:prstGeom prst="rect">
            <a:avLst/>
          </a:prstGeom>
          <a:noFill/>
        </p:spPr>
        <p:txBody>
          <a:bodyPr wrap="none" lIns="0" rIns="0" tIns="0" bIns="0"/>
          <a:lstStyle/>
          <a:p>
            <a:pPr marL="0" indent="0">
              <a:lnSpc>
                <a:spcPct val="100000"/>
              </a:lnSpc>
              <a:spcAft>
                <a:spcPts val="0"/>
              </a:spcAft>
              <a:buNone/>
            </a:pPr>
            <a:r>
              <a:rPr sz="1000" b="0" i="0" lang="es-CL">
                <a:solidFill>
                  <a:srgbClr val="1F2328"/>
                </a:solidFill>
                <a:latin typeface="Consolas"/>
                <a:ea typeface="Consolas"/>
                <a:cs typeface="Consolas"/>
              </a:rPr>
              <a:t>backend/src/loans/</a:t>
            </a:r>
          </a:p>
          <a:p>
            <a:pPr marL="0" indent="0">
              <a:lnSpc>
                <a:spcPct val="100000"/>
              </a:lnSpc>
              <a:spcAft>
                <a:spcPts val="0"/>
              </a:spcAft>
              <a:buNone/>
            </a:pPr>
            <a:r>
              <a:rPr sz="1000" b="0" i="0" lang="es-CL">
                <a:solidFill>
                  <a:srgbClr val="1F2328"/>
                </a:solidFill>
                <a:latin typeface="Consolas"/>
                <a:ea typeface="Consolas"/>
                <a:cs typeface="Consolas"/>
              </a:rPr>
              <a:t>├── domain/SPEC.md          reglas puras, sin dobles</a:t>
            </a:r>
          </a:p>
          <a:p>
            <a:pPr marL="0" indent="0">
              <a:lnSpc>
                <a:spcPct val="100000"/>
              </a:lnSpc>
              <a:spcAft>
                <a:spcPts val="0"/>
              </a:spcAft>
              <a:buNone/>
            </a:pPr>
            <a:r>
              <a:rPr sz="1000" b="0" i="0" lang="es-CL">
                <a:solidFill>
                  <a:srgbClr val="1F2328"/>
                </a:solidFill>
                <a:latin typeface="Consolas"/>
                <a:ea typeface="Consolas"/>
                <a:cs typeface="Consolas"/>
              </a:rPr>
              <a:t>├── application/SPEC.md     casos de uso, fakes</a:t>
            </a:r>
          </a:p>
          <a:p>
            <a:pPr marL="0" indent="0">
              <a:lnSpc>
                <a:spcPct val="100000"/>
              </a:lnSpc>
              <a:spcAft>
                <a:spcPts val="0"/>
              </a:spcAft>
              <a:buNone/>
            </a:pPr>
            <a:r>
              <a:rPr sz="1000" b="0" i="0" lang="es-CL">
                <a:solidFill>
                  <a:srgbClr val="1F2328"/>
                </a:solidFill>
                <a:latin typeface="Consolas"/>
                <a:ea typeface="Consolas"/>
                <a:cs typeface="Consolas"/>
              </a:rPr>
              <a:t>├── infrastructure/SPEC.md  TypeORM, Testcontainers</a:t>
            </a:r>
          </a:p>
          <a:p>
            <a:pPr marL="0" indent="0">
              <a:lnSpc>
                <a:spcPct val="100000"/>
              </a:lnSpc>
              <a:spcAft>
                <a:spcPts val="0"/>
              </a:spcAft>
              <a:buNone/>
            </a:pPr>
            <a:r>
              <a:rPr sz="1000" b="0" i="0" lang="es-CL">
                <a:solidFill>
                  <a:srgbClr val="1F2328"/>
                </a:solidFill>
                <a:latin typeface="Consolas"/>
                <a:ea typeface="Consolas"/>
                <a:cs typeface="Consolas"/>
              </a:rPr>
              <a:t>└── presentation/SPEC.md    HTTP, contrato</a:t>
            </a:r>
          </a:p>
          <a:p>
            <a:pPr marL="0" indent="0">
              <a:lnSpc>
                <a:spcPct val="100000"/>
              </a:lnSpc>
              <a:spcAft>
                <a:spcPts val="0"/>
              </a:spcAft>
              <a:buNone/>
            </a:pPr>
            <a:r>
              <a:rPr sz="1000" b="0" i="0" lang="es-CL">
                <a:solidFill>
                  <a:srgbClr val="1F2328"/>
                </a:solidFill>
                <a:latin typeface="Consolas"/>
                <a:ea typeface="Consolas"/>
                <a:cs typeface="Consolas"/>
              </a:rPr>
              <a:t/>
            </a:r>
          </a:p>
          <a:p>
            <a:pPr marL="0" indent="0">
              <a:lnSpc>
                <a:spcPct val="100000"/>
              </a:lnSpc>
              <a:spcAft>
                <a:spcPts val="0"/>
              </a:spcAft>
              <a:buNone/>
            </a:pPr>
            <a:r>
              <a:rPr sz="1000" b="0" i="0" lang="es-CL">
                <a:solidFill>
                  <a:srgbClr val="1F2328"/>
                </a:solidFill>
                <a:latin typeface="Consolas"/>
                <a:ea typeface="Consolas"/>
                <a:cs typeface="Consolas"/>
              </a:rPr>
              <a:t>frontend/src/features/loans/SPEC.md</a:t>
            </a:r>
          </a:p>
          <a:p>
            <a:pPr marL="0" indent="0">
              <a:lnSpc>
                <a:spcPct val="100000"/>
              </a:lnSpc>
              <a:spcAft>
                <a:spcPts val="0"/>
              </a:spcAft>
              <a:buNone/>
            </a:pPr>
            <a:r>
              <a:rPr sz="1000" b="0" i="0" lang="es-CL">
                <a:solidFill>
                  <a:srgbClr val="1F2328"/>
                </a:solidFill>
                <a:latin typeface="Consolas"/>
                <a:ea typeface="Consolas"/>
                <a:cs typeface="Consolas"/>
              </a:rPr>
              <a:t>frontend/src/mocks/SPEC.md</a:t>
            </a:r>
          </a:p>
        </p:txBody>
      </p:sp>
      <p:sp>
        <p:nvSpPr>
          <p:cNvPr id="7" name="Rounded Rectangle 6"/>
          <p:cNvSpPr/>
          <p:nvPr/>
        </p:nvSpPr>
        <p:spPr>
          <a:xfrm>
            <a:off x="4800600" y="1051560"/>
            <a:ext cx="3931920" cy="3429000"/>
          </a:xfrm>
          <a:prstGeom prst="roundRect">
            <a:avLst>
              <a:gd name="adj" fmla="val 1600"/>
            </a:avLst>
          </a:prstGeom>
          <a:solidFill>
            <a:srgbClr val="F6F8FA"/>
          </a:solidFill>
          <a:ln w="9525">
            <a:solidFill>
              <a:srgbClr val="D0D7DE"/>
            </a:solidFill>
          </a:ln>
        </p:spPr>
        <p:txBody>
          <a:bodyPr rtlCol="0" anchor="ctr" wrap="square" lIns="54864" rIns="54864" tIns="54864" bIns="54864"/>
          <a:lstStyle/>
          <a:p>
            <a:pPr algn="ctr"/>
          </a:p>
        </p:txBody>
      </p:sp>
      <p:sp>
        <p:nvSpPr>
          <p:cNvPr id="8" name="TextBox 7"/>
          <p:cNvSpPr txBox="1"/>
          <p:nvPr/>
        </p:nvSpPr>
        <p:spPr>
          <a:xfrm>
            <a:off x="4910328" y="1106424"/>
            <a:ext cx="371246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backend/src/loans/domain/SPEC.md (extracto)</a:t>
            </a:r>
          </a:p>
        </p:txBody>
      </p:sp>
      <p:sp>
        <p:nvSpPr>
          <p:cNvPr id="9" name="TextBox 8"/>
          <p:cNvSpPr txBox="1"/>
          <p:nvPr/>
        </p:nvSpPr>
        <p:spPr>
          <a:xfrm>
            <a:off x="4910328" y="1362456"/>
            <a:ext cx="3712463" cy="3063240"/>
          </a:xfrm>
          <a:prstGeom prst="rect">
            <a:avLst/>
          </a:prstGeom>
          <a:noFill/>
        </p:spPr>
        <p:txBody>
          <a:bodyPr wrap="none" lIns="0" rIns="0" tIns="0" bIns="0"/>
          <a:lstStyle/>
          <a:p>
            <a:pPr marL="0" indent="0">
              <a:lnSpc>
                <a:spcPct val="100000"/>
              </a:lnSpc>
              <a:spcAft>
                <a:spcPts val="0"/>
              </a:spcAft>
              <a:buNone/>
            </a:pPr>
            <a:r>
              <a:rPr sz="950" b="1" i="0" lang="es-CL">
                <a:solidFill>
                  <a:srgbClr val="003D4F"/>
                </a:solidFill>
                <a:latin typeface="Consolas"/>
                <a:ea typeface="Consolas"/>
                <a:cs typeface="Consolas"/>
              </a:rPr>
              <a:t># SPEC · loans · capa domain</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1" i="0" lang="es-CL">
                <a:solidFill>
                  <a:srgbClr val="003D4F"/>
                </a:solidFill>
                <a:latin typeface="Consolas"/>
                <a:ea typeface="Consolas"/>
                <a:cs typeface="Consolas"/>
              </a:rPr>
              <a:t>## Puede depender de / no puede depender de</a:t>
            </a:r>
          </a:p>
          <a:p>
            <a:pPr marL="0" indent="0">
              <a:lnSpc>
                <a:spcPct val="100000"/>
              </a:lnSpc>
              <a:spcAft>
                <a:spcPts val="0"/>
              </a:spcAft>
              <a:buNone/>
            </a:pPr>
            <a:r>
              <a:rPr sz="950" b="0" i="0" lang="es-CL">
                <a:solidFill>
                  <a:srgbClr val="1F2328"/>
                </a:solidFill>
                <a:latin typeface="Consolas"/>
                <a:ea typeface="Consolas"/>
                <a:cs typeface="Consolas"/>
              </a:rPr>
              <a:t>- Puede: </a:t>
            </a:r>
            <a:r>
              <a:rPr sz="950" b="0" i="0" lang="es-CL">
                <a:solidFill>
                  <a:srgbClr val="A31515"/>
                </a:solidFill>
                <a:latin typeface="Consolas"/>
                <a:ea typeface="Consolas"/>
                <a:cs typeface="Consolas"/>
              </a:rPr>
              <a:t>`shared/domain`</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No puede: </a:t>
            </a:r>
            <a:r>
              <a:rPr sz="950" b="0" i="0" lang="es-CL">
                <a:solidFill>
                  <a:srgbClr val="A31515"/>
                </a:solidFill>
                <a:latin typeface="Consolas"/>
                <a:ea typeface="Consolas"/>
                <a:cs typeface="Consolas"/>
              </a:rPr>
              <a:t>`@nestjs/*`</a:t>
            </a: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`typeorm`</a:t>
            </a: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`pg`</a:t>
            </a:r>
            <a:r>
              <a:rPr sz="950" b="0" i="0" lang="es-CL">
                <a:solidFill>
                  <a:srgbClr val="1F2328"/>
                </a:solidFill>
                <a:latin typeface="Consolas"/>
                <a:ea typeface="Consolas"/>
                <a:cs typeface="Consolas"/>
              </a:rPr>
              <a:t>, ni</a:t>
            </a:r>
          </a:p>
          <a:p>
            <a:pPr marL="0" indent="0">
              <a:lnSpc>
                <a:spcPct val="100000"/>
              </a:lnSpc>
              <a:spcAft>
                <a:spcPts val="0"/>
              </a:spcAft>
              <a:buNone/>
            </a:pPr>
            <a:r>
              <a:rPr sz="950" b="0" i="0" lang="es-CL">
                <a:solidFill>
                  <a:srgbClr val="1F2328"/>
                </a:solidFill>
                <a:latin typeface="Consolas"/>
                <a:ea typeface="Consolas"/>
                <a:cs typeface="Consolas"/>
              </a:rPr>
              <a:t>  otras capas (ARCH-R1).</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1" i="0" lang="es-CL">
                <a:solidFill>
                  <a:srgbClr val="003D4F"/>
                </a:solidFill>
                <a:latin typeface="Consolas"/>
                <a:ea typeface="Consolas"/>
                <a:cs typeface="Consolas"/>
              </a:rPr>
              <a:t>## Reglas que implementa</a:t>
            </a:r>
          </a:p>
          <a:p>
            <a:pPr marL="0" indent="0">
              <a:lnSpc>
                <a:spcPct val="100000"/>
              </a:lnSpc>
              <a:spcAft>
                <a:spcPts val="0"/>
              </a:spcAft>
              <a:buNone/>
            </a:pPr>
            <a:r>
              <a:rPr sz="950" b="0" i="0" lang="es-CL">
                <a:solidFill>
                  <a:srgbClr val="57606A"/>
                </a:solidFill>
                <a:latin typeface="Consolas"/>
                <a:ea typeface="Consolas"/>
                <a:cs typeface="Consolas"/>
              </a:rPr>
              <a:t>| Regla   | Dónde                  | Test         |</a:t>
            </a:r>
          </a:p>
          <a:p>
            <a:pPr marL="0" indent="0">
              <a:lnSpc>
                <a:spcPct val="100000"/>
              </a:lnSpc>
              <a:spcAft>
                <a:spcPts val="0"/>
              </a:spcAft>
              <a:buNone/>
            </a:pPr>
            <a:r>
              <a:rPr sz="950" b="0" i="0" lang="es-CL">
                <a:solidFill>
                  <a:srgbClr val="57606A"/>
                </a:solidFill>
                <a:latin typeface="Consolas"/>
                <a:ea typeface="Consolas"/>
                <a:cs typeface="Consolas"/>
              </a:rPr>
              <a:t>| LOAN-R2 | `assertCanBorrow`      | loan-policy  |</a:t>
            </a:r>
          </a:p>
          <a:p>
            <a:pPr marL="0" indent="0">
              <a:lnSpc>
                <a:spcPct val="100000"/>
              </a:lnSpc>
              <a:spcAft>
                <a:spcPts val="0"/>
              </a:spcAft>
              <a:buNone/>
            </a:pPr>
            <a:r>
              <a:rPr sz="950" b="0" i="0" lang="es-CL">
                <a:solidFill>
                  <a:srgbClr val="57606A"/>
                </a:solidFill>
                <a:latin typeface="Consolas"/>
                <a:ea typeface="Consolas"/>
                <a:cs typeface="Consolas"/>
              </a:rPr>
              <a:t>| LOAN-R3 | `Loan.open`            | loan.spec.ts |</a:t>
            </a:r>
          </a:p>
          <a:p>
            <a:pPr marL="0" indent="0">
              <a:lnSpc>
                <a:spcPct val="100000"/>
              </a:lnSpc>
              <a:spcAft>
                <a:spcPts val="0"/>
              </a:spcAft>
              <a:buNone/>
            </a:pPr>
            <a:r>
              <a:rPr sz="950" b="0" i="0" lang="es-CL">
                <a:solidFill>
                  <a:srgbClr val="57606A"/>
                </a:solidFill>
                <a:latin typeface="Consolas"/>
                <a:ea typeface="Consolas"/>
                <a:cs typeface="Consolas"/>
              </a:rPr>
              <a:t>| LOAN-R6 | `Loan.statusAt(now)`   | loan.spec.ts |</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1" i="0" lang="es-CL">
                <a:solidFill>
                  <a:srgbClr val="003D4F"/>
                </a:solidFill>
                <a:latin typeface="Consolas"/>
                <a:ea typeface="Consolas"/>
                <a:cs typeface="Consolas"/>
              </a:rPr>
              <a:t>## Cómo se prueba esta capa</a:t>
            </a:r>
          </a:p>
          <a:p>
            <a:pPr marL="0" indent="0">
              <a:lnSpc>
                <a:spcPct val="100000"/>
              </a:lnSpc>
              <a:spcAft>
                <a:spcPts val="0"/>
              </a:spcAft>
              <a:buNone/>
            </a:pPr>
            <a:r>
              <a:rPr sz="950" b="0" i="0" lang="es-CL">
                <a:solidFill>
                  <a:srgbClr val="1F2328"/>
                </a:solidFill>
                <a:latin typeface="Consolas"/>
                <a:ea typeface="Consolas"/>
                <a:cs typeface="Consolas"/>
              </a:rPr>
              <a:t>Tests unitarios sin dobles. El "ahora" se pasa</a:t>
            </a:r>
          </a:p>
          <a:p>
            <a:pPr marL="0" indent="0">
              <a:lnSpc>
                <a:spcPct val="100000"/>
              </a:lnSpc>
              <a:spcAft>
                <a:spcPts val="0"/>
              </a:spcAft>
              <a:buNone/>
            </a:pPr>
            <a:r>
              <a:rPr sz="950" b="0" i="0" lang="es-CL">
                <a:solidFill>
                  <a:srgbClr val="1F2328"/>
                </a:solidFill>
                <a:latin typeface="Consolas"/>
                <a:ea typeface="Consolas"/>
                <a:cs typeface="Consolas"/>
              </a:rPr>
              <a:t>como parámetro: el dominio nunca lee el reloj.</a:t>
            </a:r>
          </a:p>
        </p:txBody>
      </p:sp>
      <p:sp>
        <p:nvSpPr>
          <p:cNvPr id="10" name="TextBox 9"/>
          <p:cNvSpPr txBox="1"/>
          <p:nvPr/>
        </p:nvSpPr>
        <p:spPr>
          <a:xfrm>
            <a:off x="411480" y="3017520"/>
            <a:ext cx="4206240" cy="1463040"/>
          </a:xfrm>
          <a:prstGeom prst="rect">
            <a:avLst/>
          </a:prstGeom>
          <a:noFill/>
        </p:spPr>
        <p:txBody>
          <a:bodyPr wrap="square" lIns="36576" rIns="36576" tIns="36576" bIns="36576" anchor="t"/>
          <a:lstStyle/>
          <a:p>
            <a:pPr algn="l" marL="182880" indent="-164592">
              <a:spcAft>
                <a:spcPts val="600"/>
              </a:spcAft>
              <a:buClr>
                <a:srgbClr val="F2617A"/>
              </a:buClr>
              <a:buSzPct val="100000"/>
              <a:buFont typeface="Arial"/>
              <a:buChar char="●"/>
            </a:pPr>
            <a:r>
              <a:rPr sz="1100" b="0" i="0" lang="es-CL">
                <a:solidFill>
                  <a:srgbClr val="1F2328"/>
                </a:solidFill>
                <a:latin typeface="Inter"/>
                <a:ea typeface="Inter"/>
                <a:cs typeface="Inter"/>
              </a:rPr>
              <a:t>Cada capa declara qué </a:t>
            </a:r>
            <a:r>
              <a:rPr sz="1100" b="1" i="0" lang="es-CL">
                <a:solidFill>
                  <a:srgbClr val="1F2328"/>
                </a:solidFill>
                <a:latin typeface="Inter"/>
                <a:ea typeface="Inter"/>
                <a:cs typeface="Inter"/>
              </a:rPr>
              <a:t>puede</a:t>
            </a:r>
            <a:r>
              <a:rPr sz="1100" b="0" i="0" lang="es-CL">
                <a:solidFill>
                  <a:srgbClr val="1F2328"/>
                </a:solidFill>
                <a:latin typeface="Inter"/>
                <a:ea typeface="Inter"/>
                <a:cs typeface="Inter"/>
              </a:rPr>
              <a:t> y qué </a:t>
            </a:r>
            <a:r>
              <a:rPr sz="1100" b="1" i="0" lang="es-CL">
                <a:solidFill>
                  <a:srgbClr val="1F2328"/>
                </a:solidFill>
                <a:latin typeface="Inter"/>
                <a:ea typeface="Inter"/>
                <a:cs typeface="Inter"/>
              </a:rPr>
              <a:t>no puede</a:t>
            </a:r>
            <a:r>
              <a:rPr sz="1100" b="0" i="0" lang="es-CL">
                <a:solidFill>
                  <a:srgbClr val="1F2328"/>
                </a:solidFill>
                <a:latin typeface="Inter"/>
                <a:ea typeface="Inter"/>
                <a:cs typeface="Inter"/>
              </a:rPr>
              <a:t> importar (lo verifica dependency-cruiser).</a:t>
            </a:r>
          </a:p>
          <a:p>
            <a:pPr algn="l" marL="182880" indent="-164592">
              <a:spcAft>
                <a:spcPts val="600"/>
              </a:spcAft>
              <a:buClr>
                <a:srgbClr val="F2617A"/>
              </a:buClr>
              <a:buSzPct val="100000"/>
              <a:buFont typeface="Arial"/>
              <a:buChar char="●"/>
            </a:pPr>
            <a:r>
              <a:rPr sz="1100" b="0" i="0" lang="es-CL">
                <a:solidFill>
                  <a:srgbClr val="1F2328"/>
                </a:solidFill>
                <a:latin typeface="Inter"/>
                <a:ea typeface="Inter"/>
                <a:cs typeface="Inter"/>
              </a:rPr>
              <a:t>Dice qué se prueba ahí y qué </a:t>
            </a:r>
            <a:r>
              <a:rPr sz="1100" b="1" i="0" lang="es-CL">
                <a:solidFill>
                  <a:srgbClr val="1F2328"/>
                </a:solidFill>
                <a:latin typeface="Inter"/>
                <a:ea typeface="Inter"/>
                <a:cs typeface="Inter"/>
              </a:rPr>
              <a:t>no</a:t>
            </a:r>
            <a:r>
              <a:rPr sz="1100" b="0" i="0" lang="es-CL">
                <a:solidFill>
                  <a:srgbClr val="1F2328"/>
                </a:solidFill>
                <a:latin typeface="Inter"/>
                <a:ea typeface="Inter"/>
                <a:cs typeface="Inter"/>
              </a:rPr>
              <a:t>: eso evita el cupcake.</a:t>
            </a:r>
          </a:p>
          <a:p>
            <a:pPr algn="l" marL="182880" indent="-164592">
              <a:spcAft>
                <a:spcPts val="600"/>
              </a:spcAft>
              <a:buClr>
                <a:srgbClr val="F2617A"/>
              </a:buClr>
              <a:buSzPct val="100000"/>
              <a:buFont typeface="Arial"/>
              <a:buChar char="●"/>
            </a:pPr>
            <a:r>
              <a:rPr sz="1100" b="0" i="0" lang="es-CL">
                <a:solidFill>
                  <a:srgbClr val="1F2328"/>
                </a:solidFill>
                <a:latin typeface="Inter"/>
                <a:ea typeface="Inter"/>
                <a:cs typeface="Inter"/>
              </a:rPr>
              <a:t>Es la spec que recibe el agente cuando construye esa capa.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Trazabilidad: regla → test</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43000"/>
            <a:ext cx="1463040" cy="502920"/>
          </a:xfrm>
          <a:prstGeom prst="roundRect">
            <a:avLst>
              <a:gd name="adj" fmla="val 14545"/>
            </a:avLst>
          </a:prstGeom>
          <a:solidFill>
            <a:srgbClr val="980000"/>
          </a:solidFill>
          <a:ln>
            <a:noFill/>
          </a:ln>
        </p:spPr>
        <p:txBody>
          <a:bodyPr rtlCol="0" anchor="ctr" wrap="square" lIns="54864" rIns="54864" tIns="54864" bIns="54864"/>
          <a:lstStyle/>
          <a:p>
            <a:pPr algn="ctr" marL="0" indent="0">
              <a:spcAft>
                <a:spcPts val="200"/>
              </a:spcAft>
              <a:buNone/>
            </a:pPr>
            <a:r>
              <a:rPr sz="1300" b="1" i="0" lang="es-CL">
                <a:solidFill>
                  <a:srgbClr val="FFFFFF"/>
                </a:solidFill>
                <a:latin typeface="Inter"/>
                <a:ea typeface="Inter"/>
                <a:cs typeface="Inter"/>
              </a:rPr>
              <a:t>LOAN-R2</a:t>
            </a:r>
          </a:p>
        </p:txBody>
      </p:sp>
      <p:sp>
        <p:nvSpPr>
          <p:cNvPr id="5" name="TextBox 4"/>
          <p:cNvSpPr txBox="1"/>
          <p:nvPr/>
        </p:nvSpPr>
        <p:spPr>
          <a:xfrm>
            <a:off x="411480" y="1691640"/>
            <a:ext cx="1463040" cy="457200"/>
          </a:xfrm>
          <a:prstGeom prst="rect">
            <a:avLst/>
          </a:prstGeom>
          <a:noFill/>
        </p:spPr>
        <p:txBody>
          <a:bodyPr wrap="square" lIns="36576" rIns="36576" tIns="36576" bIns="36576" anchor="t"/>
          <a:lstStyle/>
          <a:p>
            <a:pPr algn="ctr" marL="0" indent="0">
              <a:spcAft>
                <a:spcPts val="400"/>
              </a:spcAft>
              <a:buNone/>
            </a:pPr>
            <a:r>
              <a:rPr sz="950" b="0" i="0" lang="es-CL">
                <a:solidFill>
                  <a:srgbClr val="57606A"/>
                </a:solidFill>
                <a:latin typeface="Inter"/>
                <a:ea typeface="Inter"/>
                <a:cs typeface="Inter"/>
              </a:rPr>
              <a:t>Límite de 3 préstamos</a:t>
            </a:r>
          </a:p>
        </p:txBody>
      </p:sp>
      <p:cxnSp>
        <p:nvCxnSpPr>
          <p:cNvPr id="6" name="Connector 5"/>
          <p:cNvCxnSpPr/>
          <p:nvPr/>
        </p:nvCxnSpPr>
        <p:spPr>
          <a:xfrm flipV="1">
            <a:off x="1920240" y="1371600"/>
            <a:ext cx="411480" cy="18288"/>
          </a:xfrm>
          <a:prstGeom prst="line">
            <a:avLst/>
          </a:prstGeom>
          <a:ln w="15875">
            <a:solidFill>
              <a:srgbClr val="8C959F"/>
            </a:solidFill>
            <a:tailEnd type="triangle" w="med" len="med"/>
          </a:ln>
        </p:spPr>
      </p:cxnSp>
      <p:sp>
        <p:nvSpPr>
          <p:cNvPr id="7" name="Rounded Rectangle 6"/>
          <p:cNvSpPr/>
          <p:nvPr/>
        </p:nvSpPr>
        <p:spPr>
          <a:xfrm>
            <a:off x="2377440" y="1097280"/>
            <a:ext cx="868680" cy="548640"/>
          </a:xfrm>
          <a:prstGeom prst="roundRect">
            <a:avLst>
              <a:gd name="adj" fmla="val 13333"/>
            </a:avLst>
          </a:prstGeom>
          <a:solidFill>
            <a:srgbClr val="38761D"/>
          </a:solidFill>
          <a:ln>
            <a:noFill/>
          </a:ln>
        </p:spPr>
        <p:txBody>
          <a:bodyPr rtlCol="0" anchor="ctr" wrap="square" lIns="54864" rIns="54864" tIns="54864" bIns="54864"/>
          <a:lstStyle/>
          <a:p>
            <a:pPr algn="ctr" marL="0" indent="0">
              <a:spcAft>
                <a:spcPts val="200"/>
              </a:spcAft>
              <a:buNone/>
            </a:pPr>
            <a:r>
              <a:rPr sz="1000" b="1" i="0" lang="es-CL">
                <a:solidFill>
                  <a:srgbClr val="FFFFFF"/>
                </a:solidFill>
                <a:latin typeface="Inter"/>
                <a:ea typeface="Inter"/>
                <a:cs typeface="Inter"/>
              </a:rPr>
              <a:t>unit</a:t>
            </a:r>
          </a:p>
        </p:txBody>
      </p:sp>
      <p:sp>
        <p:nvSpPr>
          <p:cNvPr id="8" name="TextBox 7"/>
          <p:cNvSpPr txBox="1"/>
          <p:nvPr/>
        </p:nvSpPr>
        <p:spPr>
          <a:xfrm>
            <a:off x="3291840" y="1097280"/>
            <a:ext cx="1444752" cy="548640"/>
          </a:xfrm>
          <a:prstGeom prst="rect">
            <a:avLst/>
          </a:prstGeom>
          <a:noFill/>
        </p:spPr>
        <p:txBody>
          <a:bodyPr wrap="square" lIns="36576" rIns="36576" tIns="36576" bIns="36576" anchor="ctr"/>
          <a:lstStyle/>
          <a:p>
            <a:pPr algn="l" marL="0" indent="0">
              <a:spcAft>
                <a:spcPts val="400"/>
              </a:spcAft>
              <a:buNone/>
            </a:pPr>
            <a:r>
              <a:rPr sz="800" b="0" i="0" lang="es-CL">
                <a:solidFill>
                  <a:srgbClr val="1F2328"/>
                </a:solidFill>
                <a:latin typeface="Consolas"/>
                <a:ea typeface="Consolas"/>
                <a:cs typeface="Consolas"/>
              </a:rPr>
              <a:t>loan-policy.spec.ts</a:t>
            </a:r>
          </a:p>
        </p:txBody>
      </p:sp>
      <p:cxnSp>
        <p:nvCxnSpPr>
          <p:cNvPr id="9" name="Connector 8"/>
          <p:cNvCxnSpPr/>
          <p:nvPr/>
        </p:nvCxnSpPr>
        <p:spPr>
          <a:xfrm>
            <a:off x="1920240" y="1389888"/>
            <a:ext cx="411480" cy="667512"/>
          </a:xfrm>
          <a:prstGeom prst="line">
            <a:avLst/>
          </a:prstGeom>
          <a:ln w="15875">
            <a:solidFill>
              <a:srgbClr val="8C959F"/>
            </a:solidFill>
            <a:tailEnd type="triangle" w="med" len="med"/>
          </a:ln>
        </p:spPr>
      </p:cxnSp>
      <p:sp>
        <p:nvSpPr>
          <p:cNvPr id="10" name="Rounded Rectangle 9"/>
          <p:cNvSpPr/>
          <p:nvPr/>
        </p:nvSpPr>
        <p:spPr>
          <a:xfrm>
            <a:off x="2377440" y="1783080"/>
            <a:ext cx="868680" cy="548640"/>
          </a:xfrm>
          <a:prstGeom prst="roundRect">
            <a:avLst>
              <a:gd name="adj" fmla="val 13333"/>
            </a:avLst>
          </a:prstGeom>
          <a:solidFill>
            <a:srgbClr val="47A1AD"/>
          </a:solidFill>
          <a:ln>
            <a:noFill/>
          </a:ln>
        </p:spPr>
        <p:txBody>
          <a:bodyPr rtlCol="0" anchor="ctr" wrap="square" lIns="54864" rIns="54864" tIns="54864" bIns="54864"/>
          <a:lstStyle/>
          <a:p>
            <a:pPr algn="ctr" marL="0" indent="0">
              <a:spcAft>
                <a:spcPts val="200"/>
              </a:spcAft>
              <a:buNone/>
            </a:pPr>
            <a:r>
              <a:rPr sz="1000" b="1" i="0" lang="es-CL">
                <a:solidFill>
                  <a:srgbClr val="FFFFFF"/>
                </a:solidFill>
                <a:latin typeface="Inter"/>
                <a:ea typeface="Inter"/>
                <a:cs typeface="Inter"/>
              </a:rPr>
              <a:t>contrato</a:t>
            </a:r>
          </a:p>
        </p:txBody>
      </p:sp>
      <p:sp>
        <p:nvSpPr>
          <p:cNvPr id="11" name="TextBox 10"/>
          <p:cNvSpPr txBox="1"/>
          <p:nvPr/>
        </p:nvSpPr>
        <p:spPr>
          <a:xfrm>
            <a:off x="3291840" y="1783080"/>
            <a:ext cx="1444752" cy="548640"/>
          </a:xfrm>
          <a:prstGeom prst="rect">
            <a:avLst/>
          </a:prstGeom>
          <a:noFill/>
        </p:spPr>
        <p:txBody>
          <a:bodyPr wrap="square" lIns="36576" rIns="36576" tIns="36576" bIns="36576" anchor="ctr"/>
          <a:lstStyle/>
          <a:p>
            <a:pPr algn="l" marL="0" indent="0">
              <a:spcAft>
                <a:spcPts val="400"/>
              </a:spcAft>
              <a:buNone/>
            </a:pPr>
            <a:r>
              <a:rPr sz="800" b="0" i="0" lang="es-CL">
                <a:solidFill>
                  <a:srgbClr val="1F2328"/>
                </a:solidFill>
                <a:latin typeface="Consolas"/>
                <a:ea typeface="Consolas"/>
                <a:cs typeface="Consolas"/>
              </a:rPr>
              <a:t>loans.contract.spec.ts</a:t>
            </a:r>
          </a:p>
        </p:txBody>
      </p:sp>
      <p:cxnSp>
        <p:nvCxnSpPr>
          <p:cNvPr id="12" name="Connector 11"/>
          <p:cNvCxnSpPr/>
          <p:nvPr/>
        </p:nvCxnSpPr>
        <p:spPr>
          <a:xfrm>
            <a:off x="1920240" y="1389888"/>
            <a:ext cx="411480" cy="1353312"/>
          </a:xfrm>
          <a:prstGeom prst="line">
            <a:avLst/>
          </a:prstGeom>
          <a:ln w="15875">
            <a:solidFill>
              <a:srgbClr val="8C959F"/>
            </a:solidFill>
            <a:tailEnd type="triangle" w="med" len="med"/>
          </a:ln>
        </p:spPr>
      </p:cxnSp>
      <p:sp>
        <p:nvSpPr>
          <p:cNvPr id="13" name="Rounded Rectangle 12"/>
          <p:cNvSpPr/>
          <p:nvPr/>
        </p:nvSpPr>
        <p:spPr>
          <a:xfrm>
            <a:off x="2377440" y="2468880"/>
            <a:ext cx="868680" cy="548640"/>
          </a:xfrm>
          <a:prstGeom prst="roundRect">
            <a:avLst>
              <a:gd name="adj" fmla="val 13333"/>
            </a:avLst>
          </a:prstGeom>
          <a:solidFill>
            <a:srgbClr val="CC850A"/>
          </a:solidFill>
          <a:ln>
            <a:noFill/>
          </a:ln>
        </p:spPr>
        <p:txBody>
          <a:bodyPr rtlCol="0" anchor="ctr" wrap="square" lIns="54864" rIns="54864" tIns="54864" bIns="54864"/>
          <a:lstStyle/>
          <a:p>
            <a:pPr algn="ctr" marL="0" indent="0">
              <a:spcAft>
                <a:spcPts val="200"/>
              </a:spcAft>
              <a:buNone/>
            </a:pPr>
            <a:r>
              <a:rPr sz="1000" b="1" i="0" lang="es-CL">
                <a:solidFill>
                  <a:srgbClr val="FFFFFF"/>
                </a:solidFill>
                <a:latin typeface="Inter"/>
                <a:ea typeface="Inter"/>
                <a:cs typeface="Inter"/>
              </a:rPr>
              <a:t>E2E</a:t>
            </a:r>
          </a:p>
        </p:txBody>
      </p:sp>
      <p:sp>
        <p:nvSpPr>
          <p:cNvPr id="14" name="TextBox 13"/>
          <p:cNvSpPr txBox="1"/>
          <p:nvPr/>
        </p:nvSpPr>
        <p:spPr>
          <a:xfrm>
            <a:off x="3291840" y="2468880"/>
            <a:ext cx="1444752" cy="548640"/>
          </a:xfrm>
          <a:prstGeom prst="rect">
            <a:avLst/>
          </a:prstGeom>
          <a:noFill/>
        </p:spPr>
        <p:txBody>
          <a:bodyPr wrap="square" lIns="36576" rIns="36576" tIns="36576" bIns="36576" anchor="ctr"/>
          <a:lstStyle/>
          <a:p>
            <a:pPr algn="l" marL="0" indent="0">
              <a:spcAft>
                <a:spcPts val="400"/>
              </a:spcAft>
              <a:buNone/>
            </a:pPr>
            <a:r>
              <a:rPr sz="800" b="0" i="0" lang="es-CL">
                <a:solidFill>
                  <a:srgbClr val="1F2328"/>
                </a:solidFill>
                <a:latin typeface="Consolas"/>
                <a:ea typeface="Consolas"/>
                <a:cs typeface="Consolas"/>
              </a:rPr>
              <a:t>FLOW-PRE-03</a:t>
            </a:r>
          </a:p>
        </p:txBody>
      </p:sp>
      <p:sp>
        <p:nvSpPr>
          <p:cNvPr id="15" name="TextBox 14"/>
          <p:cNvSpPr txBox="1"/>
          <p:nvPr/>
        </p:nvSpPr>
        <p:spPr>
          <a:xfrm>
            <a:off x="411480" y="3246120"/>
            <a:ext cx="4206240" cy="1234440"/>
          </a:xfrm>
          <a:prstGeom prst="rect">
            <a:avLst/>
          </a:prstGeom>
          <a:noFill/>
        </p:spPr>
        <p:txBody>
          <a:bodyPr wrap="square" lIns="36576" rIns="36576" tIns="36576" bIns="36576" anchor="t"/>
          <a:lstStyle/>
          <a:p>
            <a:pPr algn="l" marL="182880" indent="-164592">
              <a:spcAft>
                <a:spcPts val="500"/>
              </a:spcAft>
              <a:buClr>
                <a:srgbClr val="F2617A"/>
              </a:buClr>
              <a:buSzPct val="100000"/>
              <a:buFont typeface="Arial"/>
              <a:buChar char="●"/>
            </a:pPr>
            <a:r>
              <a:rPr sz="1050" b="0" i="0" lang="es-CL">
                <a:solidFill>
                  <a:srgbClr val="1F2328"/>
                </a:solidFill>
                <a:latin typeface="Inter"/>
                <a:ea typeface="Inter"/>
                <a:cs typeface="Inter"/>
              </a:rPr>
              <a:t>Cada test nombra su regla al inicio del título.</a:t>
            </a:r>
          </a:p>
          <a:p>
            <a:pPr algn="l" marL="182880" indent="-164592">
              <a:spcAft>
                <a:spcPts val="500"/>
              </a:spcAft>
              <a:buClr>
                <a:srgbClr val="F2617A"/>
              </a:buClr>
              <a:buSzPct val="100000"/>
              <a:buFont typeface="Arial"/>
              <a:buChar char="●"/>
            </a:pPr>
            <a:r>
              <a:rPr sz="1050" b="0" i="0" lang="es-CL">
                <a:solidFill>
                  <a:srgbClr val="1F2328"/>
                </a:solidFill>
                <a:latin typeface="Inter"/>
                <a:ea typeface="Inter"/>
                <a:cs typeface="Inter"/>
              </a:rPr>
              <a:t>Falla si hay un </a:t>
            </a:r>
            <a:r>
              <a:rPr sz="1050" b="1" i="0" lang="es-CL">
                <a:solidFill>
                  <a:srgbClr val="1F2328"/>
                </a:solidFill>
                <a:latin typeface="Inter"/>
                <a:ea typeface="Inter"/>
                <a:cs typeface="Inter"/>
              </a:rPr>
              <a:t>test huérfano</a:t>
            </a:r>
            <a:r>
              <a:rPr sz="1050" b="0" i="0" lang="es-CL">
                <a:solidFill>
                  <a:srgbClr val="1F2328"/>
                </a:solidFill>
                <a:latin typeface="Inter"/>
                <a:ea typeface="Inter"/>
                <a:cs typeface="Inter"/>
              </a:rPr>
              <a:t> (sin ID), una regla sin tests, un ID que no existe o más de 6 tests por regla y capa.</a:t>
            </a:r>
          </a:p>
        </p:txBody>
      </p:sp>
      <p:sp>
        <p:nvSpPr>
          <p:cNvPr id="16" name="Rounded Rectangle 15"/>
          <p:cNvSpPr/>
          <p:nvPr/>
        </p:nvSpPr>
        <p:spPr>
          <a:xfrm>
            <a:off x="4754880" y="1051560"/>
            <a:ext cx="3977639" cy="3429000"/>
          </a:xfrm>
          <a:prstGeom prst="roundRect">
            <a:avLst>
              <a:gd name="adj" fmla="val 1600"/>
            </a:avLst>
          </a:prstGeom>
          <a:solidFill>
            <a:srgbClr val="F6F8FA"/>
          </a:solidFill>
          <a:ln w="9525">
            <a:solidFill>
              <a:srgbClr val="D0D7DE"/>
            </a:solidFill>
          </a:ln>
        </p:spPr>
        <p:txBody>
          <a:bodyPr rtlCol="0" anchor="ctr" wrap="square" lIns="54864" rIns="54864" tIns="54864" bIns="54864"/>
          <a:lstStyle/>
          <a:p>
            <a:pPr algn="ctr"/>
          </a:p>
        </p:txBody>
      </p:sp>
      <p:sp>
        <p:nvSpPr>
          <p:cNvPr id="17" name="TextBox 16"/>
          <p:cNvSpPr txBox="1"/>
          <p:nvPr/>
        </p:nvSpPr>
        <p:spPr>
          <a:xfrm>
            <a:off x="4864608" y="1106424"/>
            <a:ext cx="37581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Salida real durante la construcción del repo</a:t>
            </a:r>
          </a:p>
        </p:txBody>
      </p:sp>
      <p:sp>
        <p:nvSpPr>
          <p:cNvPr id="18" name="TextBox 17"/>
          <p:cNvSpPr txBox="1"/>
          <p:nvPr/>
        </p:nvSpPr>
        <p:spPr>
          <a:xfrm>
            <a:off x="4864608" y="1362456"/>
            <a:ext cx="3758183" cy="3063240"/>
          </a:xfrm>
          <a:prstGeom prst="rect">
            <a:avLst/>
          </a:prstGeom>
          <a:noFill/>
        </p:spPr>
        <p:txBody>
          <a:bodyPr wrap="none" lIns="0" rIns="0" tIns="0" bIns="0"/>
          <a:lstStyle/>
          <a:p>
            <a:pPr marL="0" indent="0">
              <a:lnSpc>
                <a:spcPct val="100000"/>
              </a:lnSpc>
              <a:spcAft>
                <a:spcPts val="0"/>
              </a:spcAft>
              <a:buNone/>
            </a:pPr>
            <a:r>
              <a:rPr sz="1000" b="0" i="0" lang="es-CL">
                <a:solidFill>
                  <a:srgbClr val="8C959F"/>
                </a:solidFill>
                <a:latin typeface="Consolas"/>
                <a:ea typeface="Consolas"/>
                <a:cs typeface="Consolas"/>
              </a:rPr>
              <a:t>$ </a:t>
            </a:r>
            <a:r>
              <a:rPr sz="1000" b="0" i="0" lang="es-CL">
                <a:solidFill>
                  <a:srgbClr val="1F2328"/>
                </a:solidFill>
                <a:latin typeface="Consolas"/>
                <a:ea typeface="Consolas"/>
                <a:cs typeface="Consolas"/>
              </a:rPr>
              <a:t>npm run spec:trace</a:t>
            </a:r>
          </a:p>
          <a:p>
            <a:pPr marL="0" indent="0">
              <a:lnSpc>
                <a:spcPct val="100000"/>
              </a:lnSpc>
              <a:spcAft>
                <a:spcPts val="0"/>
              </a:spcAft>
              <a:buNone/>
            </a:pPr>
            <a:r>
              <a:rPr sz="1000" b="0" i="0" lang="es-CL">
                <a:solidFill>
                  <a:srgbClr val="1F2328"/>
                </a:solidFill>
                <a:latin typeface="Consolas"/>
                <a:ea typeface="Consolas"/>
                <a:cs typeface="Consolas"/>
              </a:rPr>
              <a:t>Regla      unit integ contr comp e2e Estado</a:t>
            </a:r>
          </a:p>
          <a:p>
            <a:pPr marL="0" indent="0">
              <a:lnSpc>
                <a:spcPct val="100000"/>
              </a:lnSpc>
              <a:spcAft>
                <a:spcPts val="0"/>
              </a:spcAft>
              <a:buNone/>
            </a:pPr>
            <a:r>
              <a:rPr sz="1000" b="0" i="0" lang="es-CL">
                <a:solidFill>
                  <a:srgbClr val="1F2328"/>
                </a:solidFill>
                <a:latin typeface="Consolas"/>
                <a:ea typeface="Consolas"/>
                <a:cs typeface="Consolas"/>
              </a:rPr>
              <a:t>BOOK-R1      11     .     1    .   . excede</a:t>
            </a:r>
          </a:p>
          <a:p>
            <a:pPr marL="0" indent="0">
              <a:lnSpc>
                <a:spcPct val="100000"/>
              </a:lnSpc>
              <a:spcAft>
                <a:spcPts val="0"/>
              </a:spcAft>
              <a:buNone/>
            </a:pPr>
            <a:r>
              <a:rPr sz="1000" b="0" i="0" lang="es-CL">
                <a:solidFill>
                  <a:srgbClr val="1F2328"/>
                </a:solidFill>
                <a:latin typeface="Consolas"/>
                <a:ea typeface="Consolas"/>
                <a:cs typeface="Consolas"/>
              </a:rPr>
              <a:t>BOOK-R2       1     2     1    .   . ok</a:t>
            </a:r>
          </a:p>
          <a:p>
            <a:pPr marL="0" indent="0">
              <a:lnSpc>
                <a:spcPct val="100000"/>
              </a:lnSpc>
              <a:spcAft>
                <a:spcPts val="0"/>
              </a:spcAft>
              <a:buNone/>
            </a:pPr>
            <a:r>
              <a:rPr sz="1000" b="0" i="0" lang="es-CL">
                <a:solidFill>
                  <a:srgbClr val="1F2328"/>
                </a:solidFill>
                <a:latin typeface="Consolas"/>
                <a:ea typeface="Consolas"/>
                <a:cs typeface="Consolas"/>
              </a:rPr>
              <a:t>LOAN-R1       4     1     1    .   . ok</a:t>
            </a:r>
          </a:p>
          <a:p>
            <a:pPr marL="0" indent="0">
              <a:lnSpc>
                <a:spcPct val="100000"/>
              </a:lnSpc>
              <a:spcAft>
                <a:spcPts val="0"/>
              </a:spcAft>
              <a:buNone/>
            </a:pPr>
            <a:r>
              <a:rPr sz="1000" b="0" i="0" lang="es-CL">
                <a:solidFill>
                  <a:srgbClr val="1F2328"/>
                </a:solidFill>
                <a:latin typeface="Consolas"/>
                <a:ea typeface="Consolas"/>
                <a:cs typeface="Consolas"/>
              </a:rPr>
              <a:t>LOAN-R2       5     1     1    .   . ok</a:t>
            </a:r>
          </a:p>
          <a:p>
            <a:pPr marL="0" indent="0">
              <a:lnSpc>
                <a:spcPct val="100000"/>
              </a:lnSpc>
              <a:spcAft>
                <a:spcPts val="0"/>
              </a:spcAft>
              <a:buNone/>
            </a:pPr>
            <a:r>
              <a:rPr sz="1000" b="0" i="0" lang="es-CL">
                <a:solidFill>
                  <a:srgbClr val="1F2328"/>
                </a:solidFill>
                <a:latin typeface="Consolas"/>
                <a:ea typeface="Consolas"/>
                <a:cs typeface="Consolas"/>
              </a:rPr>
              <a:t>UI-LOAN-4     .     .     .    3   . ok</a:t>
            </a:r>
          </a:p>
          <a:p>
            <a:pPr marL="0" indent="0">
              <a:lnSpc>
                <a:spcPct val="100000"/>
              </a:lnSpc>
              <a:spcAft>
                <a:spcPts val="0"/>
              </a:spcAft>
              <a:buNone/>
            </a:pPr>
            <a:r>
              <a:rPr sz="1000" b="0" i="0" lang="es-CL">
                <a:solidFill>
                  <a:srgbClr val="1F2328"/>
                </a:solidFill>
                <a:latin typeface="Consolas"/>
                <a:ea typeface="Consolas"/>
                <a:cs typeface="Consolas"/>
              </a:rPr>
              <a:t>FLOW-PRE-03   .     .     .    .   1 ok</a:t>
            </a:r>
          </a:p>
          <a:p>
            <a:pPr marL="0" indent="0">
              <a:lnSpc>
                <a:spcPct val="100000"/>
              </a:lnSpc>
              <a:spcAft>
                <a:spcPts val="0"/>
              </a:spcAft>
              <a:buNone/>
            </a:pPr>
            <a:r>
              <a:rPr sz="1000" b="0" i="0" lang="es-CL">
                <a:solidFill>
                  <a:srgbClr val="1F2328"/>
                </a:solidFill>
                <a:latin typeface="Consolas"/>
                <a:ea typeface="Consolas"/>
                <a:cs typeface="Consolas"/>
              </a:rPr>
              <a:t>...</a:t>
            </a:r>
          </a:p>
          <a:p>
            <a:pPr marL="0" indent="0">
              <a:lnSpc>
                <a:spcPct val="100000"/>
              </a:lnSpc>
              <a:spcAft>
                <a:spcPts val="0"/>
              </a:spcAft>
              <a:buNone/>
            </a:pPr>
            <a:r>
              <a:rPr sz="1000" b="1" i="0" lang="es-CL">
                <a:solidFill>
                  <a:srgbClr val="980000"/>
                </a:solidFill>
                <a:latin typeface="Consolas"/>
                <a:ea typeface="Consolas"/>
                <a:cs typeface="Consolas"/>
              </a:rPr>
              <a:t>✗ PRESUPUESTO BOOK-R1 tiene 11 tests</a:t>
            </a:r>
          </a:p>
          <a:p>
            <a:pPr marL="0" indent="0">
              <a:lnSpc>
                <a:spcPct val="100000"/>
              </a:lnSpc>
              <a:spcAft>
                <a:spcPts val="0"/>
              </a:spcAft>
              <a:buNone/>
            </a:pPr>
            <a:r>
              <a:rPr sz="1000" b="0" i="0" lang="es-CL">
                <a:solidFill>
                  <a:srgbClr val="1F2328"/>
                </a:solidFill>
                <a:latin typeface="Consolas"/>
                <a:ea typeface="Consolas"/>
                <a:cs typeface="Consolas"/>
              </a:rPr>
              <a:t>  en unit (máx. 6)</a:t>
            </a:r>
          </a:p>
          <a:p>
            <a:pPr marL="0" indent="0">
              <a:lnSpc>
                <a:spcPct val="100000"/>
              </a:lnSpc>
              <a:spcAft>
                <a:spcPts val="0"/>
              </a:spcAft>
              <a:buNone/>
            </a:pPr>
            <a:r>
              <a:rPr sz="1000" b="1" i="0" lang="es-CL">
                <a:solidFill>
                  <a:srgbClr val="980000"/>
                </a:solidFill>
                <a:latin typeface="Consolas"/>
                <a:ea typeface="Consolas"/>
                <a:cs typeface="Consolas"/>
              </a:rPr>
              <a:t>✗ ID NO EXISTE MOCK-R1</a:t>
            </a:r>
          </a:p>
          <a:p>
            <a:pPr marL="0" indent="0">
              <a:lnSpc>
                <a:spcPct val="100000"/>
              </a:lnSpc>
              <a:spcAft>
                <a:spcPts val="0"/>
              </a:spcAft>
              <a:buNone/>
            </a:pPr>
            <a:r>
              <a:rPr sz="1000" b="0" i="0" lang="es-CL">
                <a:solidFill>
                  <a:srgbClr val="1F2328"/>
                </a:solidFill>
                <a:latin typeface="Consolas"/>
                <a:ea typeface="Consolas"/>
                <a:cs typeface="Consolas"/>
              </a:rPr>
              <a:t>  handlers.contract.test.ts:282</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FALLA: 29/29 reglas cubiertas,</a:t>
            </a:r>
          </a:p>
          <a:p>
            <a:pPr marL="0" indent="0">
              <a:lnSpc>
                <a:spcPct val="100000"/>
              </a:lnSpc>
              <a:spcAft>
                <a:spcPts val="0"/>
              </a:spcAft>
              <a:buNone/>
            </a:pPr>
            <a:r>
              <a:rPr sz="1000" b="0" i="0" lang="es-CL">
                <a:solidFill>
                  <a:srgbClr val="1F2328"/>
                </a:solidFill>
                <a:latin typeface="Consolas"/>
                <a:ea typeface="Consolas"/>
                <a:cs typeface="Consolas"/>
              </a:rPr>
              <a:t>118 tests, 0 huérfanos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OpenAPI: el contrato es la fuente de verdad</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4754880" cy="3429000"/>
          </a:xfrm>
          <a:prstGeom prst="roundRect">
            <a:avLst>
              <a:gd name="adj" fmla="val 1600"/>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106424"/>
            <a:ext cx="4535424"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specs/api/openapi.yaml</a:t>
            </a:r>
          </a:p>
        </p:txBody>
      </p:sp>
      <p:sp>
        <p:nvSpPr>
          <p:cNvPr id="6" name="TextBox 5"/>
          <p:cNvSpPr txBox="1"/>
          <p:nvPr/>
        </p:nvSpPr>
        <p:spPr>
          <a:xfrm>
            <a:off x="521208" y="1362456"/>
            <a:ext cx="4535424" cy="3063240"/>
          </a:xfrm>
          <a:prstGeom prst="rect">
            <a:avLst/>
          </a:prstGeom>
          <a:noFill/>
        </p:spPr>
        <p:txBody>
          <a:bodyPr wrap="none" lIns="0" rIns="0" tIns="0" bIns="0"/>
          <a:lstStyle/>
          <a:p>
            <a:pPr marL="0" indent="0">
              <a:lnSpc>
                <a:spcPct val="100000"/>
              </a:lnSpc>
              <a:spcAft>
                <a:spcPts val="0"/>
              </a:spcAft>
              <a:buNone/>
            </a:pPr>
            <a:r>
              <a:rPr sz="950" b="0" i="0" lang="es-CL">
                <a:solidFill>
                  <a:srgbClr val="0451A5"/>
                </a:solidFill>
                <a:latin typeface="Consolas"/>
                <a:ea typeface="Consolas"/>
                <a:cs typeface="Consolas"/>
              </a:rPr>
              <a:t>/api/loans</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post</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operationId</a:t>
            </a:r>
            <a:r>
              <a:rPr sz="950" b="0" i="0" lang="es-CL">
                <a:solidFill>
                  <a:srgbClr val="1F2328"/>
                </a:solidFill>
                <a:latin typeface="Consolas"/>
                <a:ea typeface="Consolas"/>
                <a:cs typeface="Consolas"/>
              </a:rPr>
              <a:t>: createLoan</a:t>
            </a:r>
          </a:p>
          <a:p>
            <a:pPr marL="0" indent="0">
              <a:lnSpc>
                <a:spcPct val="100000"/>
              </a:lnSpc>
              <a:spcAft>
                <a:spcPts val="0"/>
              </a:spcAft>
              <a:buNone/>
            </a:pPr>
            <a:r>
              <a:rPr sz="950" b="0" i="0" lang="es-CL">
                <a:solidFill>
                  <a:srgbClr val="0451A5"/>
                </a:solidFill>
                <a:latin typeface="Consolas"/>
                <a:ea typeface="Consolas"/>
                <a:cs typeface="Consolas"/>
              </a:rPr>
              <a:t>    tags</a:t>
            </a:r>
            <a:r>
              <a:rPr sz="950" b="0" i="0" lang="es-CL">
                <a:solidFill>
                  <a:srgbClr val="1F2328"/>
                </a:solidFill>
                <a:latin typeface="Consolas"/>
                <a:ea typeface="Consolas"/>
                <a:cs typeface="Consolas"/>
              </a:rPr>
              <a:t>: [loans]</a:t>
            </a:r>
          </a:p>
          <a:p>
            <a:pPr marL="0" indent="0">
              <a:lnSpc>
                <a:spcPct val="100000"/>
              </a:lnSpc>
              <a:spcAft>
                <a:spcPts val="0"/>
              </a:spcAft>
              <a:buNone/>
            </a:pPr>
            <a:r>
              <a:rPr sz="950" b="0" i="0" lang="es-CL">
                <a:solidFill>
                  <a:srgbClr val="0451A5"/>
                </a:solidFill>
                <a:latin typeface="Consolas"/>
                <a:ea typeface="Consolas"/>
                <a:cs typeface="Consolas"/>
              </a:rPr>
              <a:t>    summary</a:t>
            </a:r>
            <a:r>
              <a:rPr sz="950" b="0" i="0" lang="es-CL">
                <a:solidFill>
                  <a:srgbClr val="1F2328"/>
                </a:solidFill>
                <a:latin typeface="Consolas"/>
                <a:ea typeface="Consolas"/>
                <a:cs typeface="Consolas"/>
              </a:rPr>
              <a:t>: Registra un préstamo</a:t>
            </a:r>
          </a:p>
          <a:p>
            <a:pPr marL="0" indent="0">
              <a:lnSpc>
                <a:spcPct val="100000"/>
              </a:lnSpc>
              <a:spcAft>
                <a:spcPts val="0"/>
              </a:spcAft>
              <a:buNone/>
            </a:pPr>
            <a:r>
              <a:rPr sz="950" b="0" i="0" lang="es-CL">
                <a:solidFill>
                  <a:srgbClr val="0451A5"/>
                </a:solidFill>
                <a:latin typeface="Consolas"/>
                <a:ea typeface="Consolas"/>
                <a:cs typeface="Consolas"/>
              </a:rPr>
              <a:t>    responses</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'201'</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content</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application/json</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schema</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$ref</a:t>
            </a: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'#/components/schemas/Loan'</a:t>
            </a:r>
          </a:p>
          <a:p>
            <a:pPr marL="0" indent="0">
              <a:lnSpc>
                <a:spcPct val="100000"/>
              </a:lnSpc>
              <a:spcAft>
                <a:spcPts val="0"/>
              </a:spcAft>
              <a:buNone/>
            </a:pPr>
            <a:r>
              <a:rPr sz="950" b="0" i="0" lang="es-CL">
                <a:solidFill>
                  <a:srgbClr val="0451A5"/>
                </a:solidFill>
                <a:latin typeface="Consolas"/>
                <a:ea typeface="Consolas"/>
                <a:cs typeface="Consolas"/>
              </a:rPr>
              <a:t>      '404'</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$ref</a:t>
            </a: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'#/components/responses/NotFound'</a:t>
            </a:r>
          </a:p>
          <a:p>
            <a:pPr marL="0" indent="0">
              <a:lnSpc>
                <a:spcPct val="100000"/>
              </a:lnSpc>
              <a:spcAft>
                <a:spcPts val="0"/>
              </a:spcAft>
              <a:buNone/>
            </a:pPr>
            <a:r>
              <a:rPr sz="950" b="0" i="0" lang="es-CL">
                <a:solidFill>
                  <a:srgbClr val="0451A5"/>
                </a:solidFill>
                <a:latin typeface="Consolas"/>
                <a:ea typeface="Consolas"/>
                <a:cs typeface="Consolas"/>
              </a:rPr>
              <a:t>      '409'</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description</a:t>
            </a:r>
            <a:r>
              <a:rPr sz="950" b="0" i="0" lang="es-CL">
                <a:solidFill>
                  <a:srgbClr val="1F2328"/>
                </a:solidFill>
                <a:latin typeface="Consolas"/>
                <a:ea typeface="Consolas"/>
                <a:cs typeface="Consolas"/>
              </a:rPr>
              <a:t>: Sin copias (LOAN-R1), límite</a:t>
            </a:r>
          </a:p>
          <a:p>
            <a:pPr marL="0" indent="0">
              <a:lnSpc>
                <a:spcPct val="100000"/>
              </a:lnSpc>
              <a:spcAft>
                <a:spcPts val="0"/>
              </a:spcAft>
              <a:buNone/>
            </a:pPr>
            <a:r>
              <a:rPr sz="950" b="0" i="0" lang="es-CL">
                <a:solidFill>
                  <a:srgbClr val="1F2328"/>
                </a:solidFill>
                <a:latin typeface="Consolas"/>
                <a:ea typeface="Consolas"/>
                <a:cs typeface="Consolas"/>
              </a:rPr>
              <a:t>          (LOAN-R2) o préstamo duplicado (LOAN-R4)</a:t>
            </a:r>
          </a:p>
        </p:txBody>
      </p:sp>
      <p:sp>
        <p:nvSpPr>
          <p:cNvPr id="7" name="TextBox 6"/>
          <p:cNvSpPr txBox="1"/>
          <p:nvPr/>
        </p:nvSpPr>
        <p:spPr>
          <a:xfrm>
            <a:off x="5394960" y="1051560"/>
            <a:ext cx="3337560" cy="274320"/>
          </a:xfrm>
          <a:prstGeom prst="rect">
            <a:avLst/>
          </a:prstGeom>
          <a:noFill/>
        </p:spPr>
        <p:txBody>
          <a:bodyPr wrap="square" lIns="36576" rIns="36576" tIns="36576" bIns="36576" anchor="t"/>
          <a:lstStyle/>
          <a:p>
            <a:pPr algn="l" marL="0" indent="0">
              <a:spcAft>
                <a:spcPts val="400"/>
              </a:spcAft>
              <a:buNone/>
            </a:pPr>
            <a:r>
              <a:rPr sz="1200" b="1" i="0" lang="es-CL">
                <a:solidFill>
                  <a:srgbClr val="1F2328"/>
                </a:solidFill>
                <a:latin typeface="Inter"/>
                <a:ea typeface="Inter"/>
                <a:cs typeface="Inter"/>
              </a:rPr>
              <a:t>Un archivo, cinco consumidores</a:t>
            </a:r>
          </a:p>
        </p:txBody>
      </p:sp>
      <p:sp>
        <p:nvSpPr>
          <p:cNvPr id="8" name="Rounded Rectangle 7"/>
          <p:cNvSpPr/>
          <p:nvPr/>
        </p:nvSpPr>
        <p:spPr>
          <a:xfrm>
            <a:off x="5394960" y="1417320"/>
            <a:ext cx="1188720" cy="457200"/>
          </a:xfrm>
          <a:prstGeom prst="roundRect">
            <a:avLst>
              <a:gd name="adj" fmla="val 16000"/>
            </a:avLst>
          </a:prstGeom>
          <a:solidFill>
            <a:srgbClr val="003D4F"/>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Backend</a:t>
            </a:r>
          </a:p>
        </p:txBody>
      </p:sp>
      <p:sp>
        <p:nvSpPr>
          <p:cNvPr id="9" name="TextBox 8"/>
          <p:cNvSpPr txBox="1"/>
          <p:nvPr/>
        </p:nvSpPr>
        <p:spPr>
          <a:xfrm>
            <a:off x="6675120" y="1417320"/>
            <a:ext cx="2057400" cy="457200"/>
          </a:xfrm>
          <a:prstGeom prst="rect">
            <a:avLst/>
          </a:prstGeom>
          <a:noFill/>
        </p:spPr>
        <p:txBody>
          <a:bodyPr wrap="square" lIns="36576" rIns="36576" tIns="36576" bIns="36576" anchor="ctr"/>
          <a:lstStyle/>
          <a:p>
            <a:pPr algn="l" marL="0" indent="0">
              <a:spcAft>
                <a:spcPts val="400"/>
              </a:spcAft>
              <a:buNone/>
            </a:pPr>
            <a:r>
              <a:rPr sz="950" b="0" i="0" lang="es-CL">
                <a:solidFill>
                  <a:srgbClr val="1F2328"/>
                </a:solidFill>
                <a:latin typeface="Inter"/>
                <a:ea typeface="Inter"/>
                <a:cs typeface="Inter"/>
              </a:rPr>
              <a:t>lo implementa y sus respuestas se validan contra él</a:t>
            </a:r>
          </a:p>
        </p:txBody>
      </p:sp>
      <p:sp>
        <p:nvSpPr>
          <p:cNvPr id="10" name="Rounded Rectangle 9"/>
          <p:cNvSpPr/>
          <p:nvPr/>
        </p:nvSpPr>
        <p:spPr>
          <a:xfrm>
            <a:off x="5394960" y="2020824"/>
            <a:ext cx="1188720" cy="457200"/>
          </a:xfrm>
          <a:prstGeom prst="roundRect">
            <a:avLst>
              <a:gd name="adj" fmla="val 16000"/>
            </a:avLst>
          </a:prstGeom>
          <a:solidFill>
            <a:srgbClr val="CC850A"/>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Frontend</a:t>
            </a:r>
          </a:p>
        </p:txBody>
      </p:sp>
      <p:sp>
        <p:nvSpPr>
          <p:cNvPr id="11" name="TextBox 10"/>
          <p:cNvSpPr txBox="1"/>
          <p:nvPr/>
        </p:nvSpPr>
        <p:spPr>
          <a:xfrm>
            <a:off x="6675120" y="2020824"/>
            <a:ext cx="2057400" cy="457200"/>
          </a:xfrm>
          <a:prstGeom prst="rect">
            <a:avLst/>
          </a:prstGeom>
          <a:noFill/>
        </p:spPr>
        <p:txBody>
          <a:bodyPr wrap="square" lIns="36576" rIns="36576" tIns="36576" bIns="36576" anchor="ctr"/>
          <a:lstStyle/>
          <a:p>
            <a:pPr algn="l" marL="0" indent="0">
              <a:spcAft>
                <a:spcPts val="400"/>
              </a:spcAft>
              <a:buNone/>
            </a:pPr>
            <a:r>
              <a:rPr sz="950" b="0" i="0" lang="es-CL">
                <a:solidFill>
                  <a:srgbClr val="1F2328"/>
                </a:solidFill>
                <a:latin typeface="Inter"/>
                <a:ea typeface="Inter"/>
                <a:cs typeface="Inter"/>
              </a:rPr>
              <a:t>genera sus tipos con openapi-typescript</a:t>
            </a:r>
          </a:p>
        </p:txBody>
      </p:sp>
      <p:sp>
        <p:nvSpPr>
          <p:cNvPr id="12" name="Rounded Rectangle 11"/>
          <p:cNvSpPr/>
          <p:nvPr/>
        </p:nvSpPr>
        <p:spPr>
          <a:xfrm>
            <a:off x="5394960" y="2624328"/>
            <a:ext cx="1188720" cy="457200"/>
          </a:xfrm>
          <a:prstGeom prst="roundRect">
            <a:avLst>
              <a:gd name="adj" fmla="val 16000"/>
            </a:avLst>
          </a:prstGeom>
          <a:solidFill>
            <a:srgbClr val="47A1AD"/>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Mocks MSW</a:t>
            </a:r>
          </a:p>
        </p:txBody>
      </p:sp>
      <p:sp>
        <p:nvSpPr>
          <p:cNvPr id="13" name="TextBox 12"/>
          <p:cNvSpPr txBox="1"/>
          <p:nvPr/>
        </p:nvSpPr>
        <p:spPr>
          <a:xfrm>
            <a:off x="6675120" y="2624328"/>
            <a:ext cx="2057400" cy="457200"/>
          </a:xfrm>
          <a:prstGeom prst="rect">
            <a:avLst/>
          </a:prstGeom>
          <a:noFill/>
        </p:spPr>
        <p:txBody>
          <a:bodyPr wrap="square" lIns="36576" rIns="36576" tIns="36576" bIns="36576" anchor="ctr"/>
          <a:lstStyle/>
          <a:p>
            <a:pPr algn="l" marL="0" indent="0">
              <a:spcAft>
                <a:spcPts val="400"/>
              </a:spcAft>
              <a:buNone/>
            </a:pPr>
            <a:r>
              <a:rPr sz="950" b="0" i="0" lang="es-CL">
                <a:solidFill>
                  <a:srgbClr val="1F2328"/>
                </a:solidFill>
                <a:latin typeface="Inter"/>
                <a:ea typeface="Inter"/>
                <a:cs typeface="Inter"/>
              </a:rPr>
              <a:t>se validan contra el mismo contrato</a:t>
            </a:r>
          </a:p>
        </p:txBody>
      </p:sp>
      <p:sp>
        <p:nvSpPr>
          <p:cNvPr id="14" name="Rounded Rectangle 13"/>
          <p:cNvSpPr/>
          <p:nvPr/>
        </p:nvSpPr>
        <p:spPr>
          <a:xfrm>
            <a:off x="5394960" y="3227832"/>
            <a:ext cx="1188720" cy="457200"/>
          </a:xfrm>
          <a:prstGeom prst="roundRect">
            <a:avLst>
              <a:gd name="adj" fmla="val 16000"/>
            </a:avLst>
          </a:prstGeom>
          <a:solidFill>
            <a:srgbClr val="634F7D"/>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Spectral</a:t>
            </a:r>
          </a:p>
        </p:txBody>
      </p:sp>
      <p:sp>
        <p:nvSpPr>
          <p:cNvPr id="15" name="TextBox 14"/>
          <p:cNvSpPr txBox="1"/>
          <p:nvPr/>
        </p:nvSpPr>
        <p:spPr>
          <a:xfrm>
            <a:off x="6675120" y="3227832"/>
            <a:ext cx="2057400" cy="457200"/>
          </a:xfrm>
          <a:prstGeom prst="rect">
            <a:avLst/>
          </a:prstGeom>
          <a:noFill/>
        </p:spPr>
        <p:txBody>
          <a:bodyPr wrap="square" lIns="36576" rIns="36576" tIns="36576" bIns="36576" anchor="ctr"/>
          <a:lstStyle/>
          <a:p>
            <a:pPr algn="l" marL="0" indent="0">
              <a:spcAft>
                <a:spcPts val="400"/>
              </a:spcAft>
              <a:buNone/>
            </a:pPr>
            <a:r>
              <a:rPr sz="950" b="0" i="0" lang="es-CL">
                <a:solidFill>
                  <a:srgbClr val="1F2328"/>
                </a:solidFill>
                <a:latin typeface="Inter"/>
                <a:ea typeface="Inter"/>
                <a:cs typeface="Inter"/>
              </a:rPr>
              <a:t>revisa el estilo del contrato</a:t>
            </a:r>
          </a:p>
        </p:txBody>
      </p:sp>
      <p:sp>
        <p:nvSpPr>
          <p:cNvPr id="16" name="Rounded Rectangle 15"/>
          <p:cNvSpPr/>
          <p:nvPr/>
        </p:nvSpPr>
        <p:spPr>
          <a:xfrm>
            <a:off x="5394960" y="3831336"/>
            <a:ext cx="1188720" cy="457200"/>
          </a:xfrm>
          <a:prstGeom prst="roundRect">
            <a:avLst>
              <a:gd name="adj" fmla="val 16000"/>
            </a:avLst>
          </a:prstGeom>
          <a:solidFill>
            <a:srgbClr val="980000"/>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Schemathesis y ZAP</a:t>
            </a:r>
          </a:p>
        </p:txBody>
      </p:sp>
      <p:sp>
        <p:nvSpPr>
          <p:cNvPr id="17" name="TextBox 16"/>
          <p:cNvSpPr txBox="1"/>
          <p:nvPr/>
        </p:nvSpPr>
        <p:spPr>
          <a:xfrm>
            <a:off x="6675120" y="3831336"/>
            <a:ext cx="2057400" cy="457200"/>
          </a:xfrm>
          <a:prstGeom prst="rect">
            <a:avLst/>
          </a:prstGeom>
          <a:noFill/>
        </p:spPr>
        <p:txBody>
          <a:bodyPr wrap="square" lIns="36576" rIns="36576" tIns="36576" bIns="36576" anchor="ctr"/>
          <a:lstStyle/>
          <a:p>
            <a:pPr algn="l" marL="0" indent="0">
              <a:spcAft>
                <a:spcPts val="400"/>
              </a:spcAft>
              <a:buNone/>
            </a:pPr>
            <a:r>
              <a:rPr sz="950" b="0" i="0" lang="es-CL">
                <a:solidFill>
                  <a:srgbClr val="1F2328"/>
                </a:solidFill>
                <a:latin typeface="Inter"/>
                <a:ea typeface="Inter"/>
                <a:cs typeface="Inter"/>
              </a:rPr>
              <a:t>lo usan para atacar la API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El contrato se verifica antes que el código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43000"/>
            <a:ext cx="1508760" cy="685800"/>
          </a:xfrm>
          <a:prstGeom prst="roundRect">
            <a:avLst>
              <a:gd name="adj" fmla="val 10666"/>
            </a:avLst>
          </a:prstGeom>
          <a:solidFill>
            <a:srgbClr val="003D4F"/>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openapi.yaml</a:t>
            </a:r>
          </a:p>
          <a:p>
            <a:pPr algn="ctr" marL="0" indent="0">
              <a:spcAft>
                <a:spcPts val="0"/>
              </a:spcAft>
              <a:buNone/>
            </a:pPr>
            <a:r>
              <a:rPr sz="1000" b="0" i="0" lang="es-CL">
                <a:solidFill>
                  <a:srgbClr val="FFFFFF"/>
                </a:solidFill>
                <a:latin typeface="Inter"/>
                <a:ea typeface="Inter"/>
                <a:cs typeface="Inter"/>
              </a:rPr>
              <a:t>cambio en el PR</a:t>
            </a:r>
          </a:p>
        </p:txBody>
      </p:sp>
      <p:cxnSp>
        <p:nvCxnSpPr>
          <p:cNvPr id="5" name="Connector 4"/>
          <p:cNvCxnSpPr/>
          <p:nvPr/>
        </p:nvCxnSpPr>
        <p:spPr>
          <a:xfrm>
            <a:off x="1947672" y="1481328"/>
            <a:ext cx="173736" cy="0"/>
          </a:xfrm>
          <a:prstGeom prst="line">
            <a:avLst/>
          </a:prstGeom>
          <a:ln w="22225">
            <a:solidFill>
              <a:srgbClr val="8C959F"/>
            </a:solidFill>
            <a:tailEnd type="triangle" w="med" len="med"/>
          </a:ln>
        </p:spPr>
      </p:cxnSp>
      <p:sp>
        <p:nvSpPr>
          <p:cNvPr id="6" name="Rounded Rectangle 5"/>
          <p:cNvSpPr/>
          <p:nvPr/>
        </p:nvSpPr>
        <p:spPr>
          <a:xfrm>
            <a:off x="2148840" y="1143000"/>
            <a:ext cx="1508760" cy="685800"/>
          </a:xfrm>
          <a:prstGeom prst="roundRect">
            <a:avLst>
              <a:gd name="adj" fmla="val 10666"/>
            </a:avLst>
          </a:prstGeom>
          <a:solidFill>
            <a:srgbClr val="634F7D"/>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Spectral</a:t>
            </a:r>
          </a:p>
          <a:p>
            <a:pPr algn="ctr" marL="0" indent="0">
              <a:spcAft>
                <a:spcPts val="0"/>
              </a:spcAft>
              <a:buNone/>
            </a:pPr>
            <a:r>
              <a:rPr sz="1000" b="0" i="0" lang="es-CL">
                <a:solidFill>
                  <a:srgbClr val="FFFFFF"/>
                </a:solidFill>
                <a:latin typeface="Inter"/>
                <a:ea typeface="Inter"/>
                <a:cs typeface="Inter"/>
              </a:rPr>
              <a:t>estilo y reglas del curso</a:t>
            </a:r>
          </a:p>
        </p:txBody>
      </p:sp>
      <p:cxnSp>
        <p:nvCxnSpPr>
          <p:cNvPr id="7" name="Connector 6"/>
          <p:cNvCxnSpPr/>
          <p:nvPr/>
        </p:nvCxnSpPr>
        <p:spPr>
          <a:xfrm>
            <a:off x="3685032" y="1481328"/>
            <a:ext cx="173736" cy="0"/>
          </a:xfrm>
          <a:prstGeom prst="line">
            <a:avLst/>
          </a:prstGeom>
          <a:ln w="22225">
            <a:solidFill>
              <a:srgbClr val="8C959F"/>
            </a:solidFill>
            <a:tailEnd type="triangle" w="med" len="med"/>
          </a:ln>
        </p:spPr>
      </p:cxnSp>
      <p:sp>
        <p:nvSpPr>
          <p:cNvPr id="8" name="Rounded Rectangle 7"/>
          <p:cNvSpPr/>
          <p:nvPr/>
        </p:nvSpPr>
        <p:spPr>
          <a:xfrm>
            <a:off x="3886200" y="1143000"/>
            <a:ext cx="1508760" cy="685800"/>
          </a:xfrm>
          <a:prstGeom prst="roundRect">
            <a:avLst>
              <a:gd name="adj" fmla="val 10666"/>
            </a:avLst>
          </a:prstGeom>
          <a:solidFill>
            <a:srgbClr val="980000"/>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oasdiff</a:t>
            </a:r>
          </a:p>
          <a:p>
            <a:pPr algn="ctr" marL="0" indent="0">
              <a:spcAft>
                <a:spcPts val="0"/>
              </a:spcAft>
              <a:buNone/>
            </a:pPr>
            <a:r>
              <a:rPr sz="1000" b="0" i="0" lang="es-CL">
                <a:solidFill>
                  <a:srgbClr val="FFFFFF"/>
                </a:solidFill>
                <a:latin typeface="Inter"/>
                <a:ea typeface="Inter"/>
                <a:cs typeface="Inter"/>
              </a:rPr>
              <a:t>¿rompe a los clientes?</a:t>
            </a:r>
          </a:p>
        </p:txBody>
      </p:sp>
      <p:cxnSp>
        <p:nvCxnSpPr>
          <p:cNvPr id="9" name="Connector 8"/>
          <p:cNvCxnSpPr/>
          <p:nvPr/>
        </p:nvCxnSpPr>
        <p:spPr>
          <a:xfrm>
            <a:off x="5422392" y="1481328"/>
            <a:ext cx="173736" cy="0"/>
          </a:xfrm>
          <a:prstGeom prst="line">
            <a:avLst/>
          </a:prstGeom>
          <a:ln w="22225">
            <a:solidFill>
              <a:srgbClr val="8C959F"/>
            </a:solidFill>
            <a:tailEnd type="triangle" w="med" len="med"/>
          </a:ln>
        </p:spPr>
      </p:cxnSp>
      <p:sp>
        <p:nvSpPr>
          <p:cNvPr id="10" name="Rounded Rectangle 9"/>
          <p:cNvSpPr/>
          <p:nvPr/>
        </p:nvSpPr>
        <p:spPr>
          <a:xfrm>
            <a:off x="5623560" y="1143000"/>
            <a:ext cx="1508760" cy="685800"/>
          </a:xfrm>
          <a:prstGeom prst="roundRect">
            <a:avLst>
              <a:gd name="adj" fmla="val 10666"/>
            </a:avLst>
          </a:prstGeom>
          <a:solidFill>
            <a:srgbClr val="CC850A"/>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openapi-typescript</a:t>
            </a:r>
          </a:p>
          <a:p>
            <a:pPr algn="ctr" marL="0" indent="0">
              <a:spcAft>
                <a:spcPts val="0"/>
              </a:spcAft>
              <a:buNone/>
            </a:pPr>
            <a:r>
              <a:rPr sz="1000" b="0" i="0" lang="es-CL">
                <a:solidFill>
                  <a:srgbClr val="FFFFFF"/>
                </a:solidFill>
                <a:latin typeface="Inter"/>
                <a:ea typeface="Inter"/>
                <a:cs typeface="Inter"/>
              </a:rPr>
              <a:t>tipos del frontend</a:t>
            </a:r>
          </a:p>
        </p:txBody>
      </p:sp>
      <p:sp>
        <p:nvSpPr>
          <p:cNvPr id="11" name="Rounded Rectangle 10"/>
          <p:cNvSpPr/>
          <p:nvPr/>
        </p:nvSpPr>
        <p:spPr>
          <a:xfrm>
            <a:off x="7360920" y="1143000"/>
            <a:ext cx="1371600" cy="685800"/>
          </a:xfrm>
          <a:prstGeom prst="roundRect">
            <a:avLst>
              <a:gd name="adj" fmla="val 10666"/>
            </a:avLst>
          </a:prstGeom>
          <a:solidFill>
            <a:srgbClr val="38761D"/>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api:check</a:t>
            </a:r>
          </a:p>
          <a:p>
            <a:pPr algn="ctr" marL="0" indent="0">
              <a:spcAft>
                <a:spcPts val="0"/>
              </a:spcAft>
              <a:buNone/>
            </a:pPr>
            <a:r>
              <a:rPr sz="1000" b="0" i="0" lang="es-CL">
                <a:solidFill>
                  <a:srgbClr val="FFFFFF"/>
                </a:solidFill>
                <a:latin typeface="Inter"/>
                <a:ea typeface="Inter"/>
                <a:cs typeface="Inter"/>
              </a:rPr>
              <a:t>drift = falla</a:t>
            </a:r>
          </a:p>
        </p:txBody>
      </p:sp>
      <p:cxnSp>
        <p:nvCxnSpPr>
          <p:cNvPr id="12" name="Connector 11"/>
          <p:cNvCxnSpPr/>
          <p:nvPr/>
        </p:nvCxnSpPr>
        <p:spPr>
          <a:xfrm>
            <a:off x="7159752" y="1481328"/>
            <a:ext cx="173736" cy="0"/>
          </a:xfrm>
          <a:prstGeom prst="line">
            <a:avLst/>
          </a:prstGeom>
          <a:ln w="22225">
            <a:solidFill>
              <a:srgbClr val="8C959F"/>
            </a:solidFill>
            <a:tailEnd type="triangle" w="med" len="med"/>
          </a:ln>
        </p:spPr>
      </p:cxnSp>
      <p:sp>
        <p:nvSpPr>
          <p:cNvPr id="13" name="Rounded Rectangle 12"/>
          <p:cNvSpPr/>
          <p:nvPr/>
        </p:nvSpPr>
        <p:spPr>
          <a:xfrm>
            <a:off x="411480" y="2103120"/>
            <a:ext cx="4069080" cy="2377440"/>
          </a:xfrm>
          <a:prstGeom prst="roundRect">
            <a:avLst>
              <a:gd name="adj" fmla="val 2307"/>
            </a:avLst>
          </a:prstGeom>
          <a:solidFill>
            <a:srgbClr val="F6F8FA"/>
          </a:solidFill>
          <a:ln w="9525">
            <a:solidFill>
              <a:srgbClr val="D0D7DE"/>
            </a:solidFill>
          </a:ln>
        </p:spPr>
        <p:txBody>
          <a:bodyPr rtlCol="0" anchor="ctr" wrap="square" lIns="54864" rIns="54864" tIns="54864" bIns="54864"/>
          <a:lstStyle/>
          <a:p>
            <a:pPr algn="ctr"/>
          </a:p>
        </p:txBody>
      </p:sp>
      <p:sp>
        <p:nvSpPr>
          <p:cNvPr id="14" name="TextBox 13"/>
          <p:cNvSpPr txBox="1"/>
          <p:nvPr/>
        </p:nvSpPr>
        <p:spPr>
          <a:xfrm>
            <a:off x="521208" y="2157984"/>
            <a:ext cx="3849624"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.spectral.yaml (extracto)</a:t>
            </a:r>
          </a:p>
        </p:txBody>
      </p:sp>
      <p:sp>
        <p:nvSpPr>
          <p:cNvPr id="15" name="TextBox 14"/>
          <p:cNvSpPr txBox="1"/>
          <p:nvPr/>
        </p:nvSpPr>
        <p:spPr>
          <a:xfrm>
            <a:off x="521208" y="2414015"/>
            <a:ext cx="3849624" cy="2011680"/>
          </a:xfrm>
          <a:prstGeom prst="rect">
            <a:avLst/>
          </a:prstGeom>
          <a:noFill/>
        </p:spPr>
        <p:txBody>
          <a:bodyPr wrap="none" lIns="0" rIns="0" tIns="0" bIns="0"/>
          <a:lstStyle/>
          <a:p>
            <a:pPr marL="0" indent="0">
              <a:lnSpc>
                <a:spcPct val="100000"/>
              </a:lnSpc>
              <a:spcAft>
                <a:spcPts val="0"/>
              </a:spcAft>
              <a:buNone/>
            </a:pPr>
            <a:r>
              <a:rPr sz="950" b="0" i="0" lang="es-CL">
                <a:solidFill>
                  <a:srgbClr val="0451A5"/>
                </a:solidFill>
                <a:latin typeface="Consolas"/>
                <a:ea typeface="Consolas"/>
                <a:cs typeface="Consolas"/>
              </a:rPr>
              <a:t>extends</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 spectral:oas</a:t>
            </a:r>
          </a:p>
          <a:p>
            <a:pPr marL="0" indent="0">
              <a:lnSpc>
                <a:spcPct val="100000"/>
              </a:lnSpc>
              <a:spcAft>
                <a:spcPts val="0"/>
              </a:spcAft>
              <a:buNone/>
            </a:pPr>
            <a:r>
              <a:rPr sz="950" b="0" i="0" lang="es-CL">
                <a:solidFill>
                  <a:srgbClr val="0451A5"/>
                </a:solidFill>
                <a:latin typeface="Consolas"/>
                <a:ea typeface="Consolas"/>
                <a:cs typeface="Consolas"/>
              </a:rPr>
              <a:t>rules</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008000"/>
                </a:solidFill>
                <a:latin typeface="Consolas"/>
                <a:ea typeface="Consolas"/>
                <a:cs typeface="Consolas"/>
              </a:rPr>
              <a:t># Un path fuera de /api nunca llega al backend</a:t>
            </a:r>
          </a:p>
          <a:p>
            <a:pPr marL="0" indent="0">
              <a:lnSpc>
                <a:spcPct val="100000"/>
              </a:lnSpc>
              <a:spcAft>
                <a:spcPts val="0"/>
              </a:spcAft>
              <a:buNone/>
            </a:pPr>
            <a:r>
              <a:rPr sz="950" b="0" i="0" lang="es-CL">
                <a:solidFill>
                  <a:srgbClr val="0451A5"/>
                </a:solidFill>
                <a:latin typeface="Consolas"/>
                <a:ea typeface="Consolas"/>
                <a:cs typeface="Consolas"/>
              </a:rPr>
              <a:t>  biblioteca-paths-under-api</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description</a:t>
            </a:r>
            <a:r>
              <a:rPr sz="950" b="0" i="0" lang="es-CL">
                <a:solidFill>
                  <a:srgbClr val="1F2328"/>
                </a:solidFill>
                <a:latin typeface="Consolas"/>
                <a:ea typeface="Consolas"/>
                <a:cs typeface="Consolas"/>
              </a:rPr>
              <a:t>: Todos los paths empiezan con /api.</a:t>
            </a:r>
          </a:p>
          <a:p>
            <a:pPr marL="0" indent="0">
              <a:lnSpc>
                <a:spcPct val="100000"/>
              </a:lnSpc>
              <a:spcAft>
                <a:spcPts val="0"/>
              </a:spcAft>
              <a:buNone/>
            </a:pPr>
            <a:r>
              <a:rPr sz="950" b="0" i="0" lang="es-CL">
                <a:solidFill>
                  <a:srgbClr val="0451A5"/>
                </a:solidFill>
                <a:latin typeface="Consolas"/>
                <a:ea typeface="Consolas"/>
                <a:cs typeface="Consolas"/>
              </a:rPr>
              <a:t>    severity</a:t>
            </a:r>
            <a:r>
              <a:rPr sz="950" b="0" i="0" lang="es-CL">
                <a:solidFill>
                  <a:srgbClr val="1F2328"/>
                </a:solidFill>
                <a:latin typeface="Consolas"/>
                <a:ea typeface="Consolas"/>
                <a:cs typeface="Consolas"/>
              </a:rPr>
              <a:t>: error</a:t>
            </a:r>
          </a:p>
          <a:p>
            <a:pPr marL="0" indent="0">
              <a:lnSpc>
                <a:spcPct val="100000"/>
              </a:lnSpc>
              <a:spcAft>
                <a:spcPts val="0"/>
              </a:spcAft>
              <a:buNone/>
            </a:pPr>
            <a:r>
              <a:rPr sz="950" b="0" i="0" lang="es-CL">
                <a:solidFill>
                  <a:srgbClr val="0451A5"/>
                </a:solidFill>
                <a:latin typeface="Consolas"/>
                <a:ea typeface="Consolas"/>
                <a:cs typeface="Consolas"/>
              </a:rPr>
              <a:t>    given</a:t>
            </a:r>
            <a:r>
              <a:rPr sz="950" b="0" i="0" lang="es-CL">
                <a:solidFill>
                  <a:srgbClr val="1F2328"/>
                </a:solidFill>
                <a:latin typeface="Consolas"/>
                <a:ea typeface="Consolas"/>
                <a:cs typeface="Consolas"/>
              </a:rPr>
              <a:t>: $.paths</a:t>
            </a:r>
          </a:p>
          <a:p>
            <a:pPr marL="0" indent="0">
              <a:lnSpc>
                <a:spcPct val="100000"/>
              </a:lnSpc>
              <a:spcAft>
                <a:spcPts val="0"/>
              </a:spcAft>
              <a:buNone/>
            </a:pPr>
            <a:r>
              <a:rPr sz="950" b="0" i="0" lang="es-CL">
                <a:solidFill>
                  <a:srgbClr val="0451A5"/>
                </a:solidFill>
                <a:latin typeface="Consolas"/>
                <a:ea typeface="Consolas"/>
                <a:cs typeface="Consolas"/>
              </a:rPr>
              <a:t>    then</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field</a:t>
            </a: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'@key'</a:t>
            </a:r>
          </a:p>
          <a:p>
            <a:pPr marL="0" indent="0">
              <a:lnSpc>
                <a:spcPct val="100000"/>
              </a:lnSpc>
              <a:spcAft>
                <a:spcPts val="0"/>
              </a:spcAft>
              <a:buNone/>
            </a:pPr>
            <a:r>
              <a:rPr sz="950" b="0" i="0" lang="es-CL">
                <a:solidFill>
                  <a:srgbClr val="0451A5"/>
                </a:solidFill>
                <a:latin typeface="Consolas"/>
                <a:ea typeface="Consolas"/>
                <a:cs typeface="Consolas"/>
              </a:rPr>
              <a:t>      function</a:t>
            </a:r>
            <a:r>
              <a:rPr sz="950" b="0" i="0" lang="es-CL">
                <a:solidFill>
                  <a:srgbClr val="1F2328"/>
                </a:solidFill>
                <a:latin typeface="Consolas"/>
                <a:ea typeface="Consolas"/>
                <a:cs typeface="Consolas"/>
              </a:rPr>
              <a:t>: pattern</a:t>
            </a:r>
          </a:p>
          <a:p>
            <a:pPr marL="0" indent="0">
              <a:lnSpc>
                <a:spcPct val="100000"/>
              </a:lnSpc>
              <a:spcAft>
                <a:spcPts val="0"/>
              </a:spcAft>
              <a:buNone/>
            </a:pPr>
            <a:r>
              <a:rPr sz="950" b="0" i="0" lang="es-CL">
                <a:solidFill>
                  <a:srgbClr val="0451A5"/>
                </a:solidFill>
                <a:latin typeface="Consolas"/>
                <a:ea typeface="Consolas"/>
                <a:cs typeface="Consolas"/>
              </a:rPr>
              <a:t>      functionOptions</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0451A5"/>
                </a:solidFill>
                <a:latin typeface="Consolas"/>
                <a:ea typeface="Consolas"/>
                <a:cs typeface="Consolas"/>
              </a:rPr>
              <a:t>        match</a:t>
            </a: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'^/api(/|$)'</a:t>
            </a:r>
          </a:p>
        </p:txBody>
      </p:sp>
      <p:sp>
        <p:nvSpPr>
          <p:cNvPr id="16" name="Rounded Rectangle 15"/>
          <p:cNvSpPr/>
          <p:nvPr/>
        </p:nvSpPr>
        <p:spPr>
          <a:xfrm>
            <a:off x="4663440" y="2103120"/>
            <a:ext cx="4069080" cy="2377440"/>
          </a:xfrm>
          <a:prstGeom prst="roundRect">
            <a:avLst>
              <a:gd name="adj" fmla="val 2307"/>
            </a:avLst>
          </a:prstGeom>
          <a:solidFill>
            <a:srgbClr val="F6F8FA"/>
          </a:solidFill>
          <a:ln w="9525">
            <a:solidFill>
              <a:srgbClr val="D0D7DE"/>
            </a:solidFill>
          </a:ln>
        </p:spPr>
        <p:txBody>
          <a:bodyPr rtlCol="0" anchor="ctr" wrap="square" lIns="54864" rIns="54864" tIns="54864" bIns="54864"/>
          <a:lstStyle/>
          <a:p>
            <a:pPr algn="ctr"/>
          </a:p>
        </p:txBody>
      </p:sp>
      <p:sp>
        <p:nvSpPr>
          <p:cNvPr id="17" name="TextBox 16"/>
          <p:cNvSpPr txBox="1"/>
          <p:nvPr/>
        </p:nvSpPr>
        <p:spPr>
          <a:xfrm>
            <a:off x="4773168" y="2157984"/>
            <a:ext cx="3849624"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etapa 2 del pipeline</a:t>
            </a:r>
          </a:p>
        </p:txBody>
      </p:sp>
      <p:sp>
        <p:nvSpPr>
          <p:cNvPr id="18" name="TextBox 17"/>
          <p:cNvSpPr txBox="1"/>
          <p:nvPr/>
        </p:nvSpPr>
        <p:spPr>
          <a:xfrm>
            <a:off x="4773168" y="2414015"/>
            <a:ext cx="3849624" cy="2011680"/>
          </a:xfrm>
          <a:prstGeom prst="rect">
            <a:avLst/>
          </a:prstGeom>
          <a:noFill/>
        </p:spPr>
        <p:txBody>
          <a:bodyPr wrap="none" lIns="0" rIns="0" tIns="0" bIns="0"/>
          <a:lstStyle/>
          <a:p>
            <a:pPr marL="0" indent="0">
              <a:lnSpc>
                <a:spcPct val="100000"/>
              </a:lnSpc>
              <a:spcAft>
                <a:spcPts val="0"/>
              </a:spcAft>
              <a:buNone/>
            </a:pPr>
            <a:r>
              <a:rPr sz="900" b="0" i="0" lang="es-CL">
                <a:solidFill>
                  <a:srgbClr val="8C959F"/>
                </a:solidFill>
                <a:latin typeface="Consolas"/>
                <a:ea typeface="Consolas"/>
                <a:cs typeface="Consolas"/>
              </a:rPr>
              <a:t>$ </a:t>
            </a:r>
            <a:r>
              <a:rPr sz="900" b="0" i="0" lang="es-CL">
                <a:solidFill>
                  <a:srgbClr val="1F2328"/>
                </a:solidFill>
                <a:latin typeface="Consolas"/>
                <a:ea typeface="Consolas"/>
                <a:cs typeface="Consolas"/>
              </a:rPr>
              <a:t>npm run lint:openapi</a:t>
            </a:r>
          </a:p>
          <a:p>
            <a:pPr marL="0" indent="0">
              <a:lnSpc>
                <a:spcPct val="100000"/>
              </a:lnSpc>
              <a:spcAft>
                <a:spcPts val="0"/>
              </a:spcAft>
              <a:buNone/>
            </a:pPr>
            <a:r>
              <a:rPr sz="900" b="1" i="0" lang="es-CL">
                <a:solidFill>
                  <a:srgbClr val="38761D"/>
                </a:solidFill>
                <a:latin typeface="Consolas"/>
                <a:ea typeface="Consolas"/>
                <a:cs typeface="Consolas"/>
              </a:rPr>
              <a:t>✓ No results with a severity of 'error'</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8C959F"/>
                </a:solidFill>
                <a:latin typeface="Consolas"/>
                <a:ea typeface="Consolas"/>
                <a:cs typeface="Consolas"/>
              </a:rPr>
              <a:t>$ </a:t>
            </a:r>
            <a:r>
              <a:rPr sz="900" b="0" i="0" lang="es-CL">
                <a:solidFill>
                  <a:srgbClr val="1F2328"/>
                </a:solidFill>
                <a:latin typeface="Consolas"/>
                <a:ea typeface="Consolas"/>
                <a:cs typeface="Consolas"/>
              </a:rPr>
              <a:t>oasdiff breaking main.yaml openapi.yaml</a:t>
            </a:r>
          </a:p>
          <a:p>
            <a:pPr marL="0" indent="0">
              <a:lnSpc>
                <a:spcPct val="100000"/>
              </a:lnSpc>
              <a:spcAft>
                <a:spcPts val="0"/>
              </a:spcAft>
              <a:buNone/>
            </a:pPr>
            <a:r>
              <a:rPr sz="900" b="1" i="0" lang="es-CL">
                <a:solidFill>
                  <a:srgbClr val="980000"/>
                </a:solidFill>
                <a:latin typeface="Consolas"/>
                <a:ea typeface="Consolas"/>
                <a:cs typeface="Consolas"/>
              </a:rPr>
              <a:t>✗ error api-path-removed-without-deprecation</a:t>
            </a:r>
          </a:p>
          <a:p>
            <a:pPr marL="0" indent="0">
              <a:lnSpc>
                <a:spcPct val="100000"/>
              </a:lnSpc>
              <a:spcAft>
                <a:spcPts val="0"/>
              </a:spcAft>
              <a:buNone/>
            </a:pPr>
            <a:r>
              <a:rPr sz="900" b="0" i="0" lang="es-CL">
                <a:solidFill>
                  <a:srgbClr val="1F2328"/>
                </a:solidFill>
                <a:latin typeface="Consolas"/>
                <a:ea typeface="Consolas"/>
                <a:cs typeface="Consolas"/>
              </a:rPr>
              <a:t>  DELETE /api/loans/{loanId}</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8C959F"/>
                </a:solidFill>
                <a:latin typeface="Consolas"/>
                <a:ea typeface="Consolas"/>
                <a:cs typeface="Consolas"/>
              </a:rPr>
              <a:t>$ </a:t>
            </a:r>
            <a:r>
              <a:rPr sz="900" b="0" i="0" lang="es-CL">
                <a:solidFill>
                  <a:srgbClr val="1F2328"/>
                </a:solidFill>
                <a:latin typeface="Consolas"/>
                <a:ea typeface="Consolas"/>
                <a:cs typeface="Consolas"/>
              </a:rPr>
              <a:t>npm run api:check   </a:t>
            </a:r>
            <a:r>
              <a:rPr sz="900" b="0" i="0" lang="es-CL">
                <a:solidFill>
                  <a:srgbClr val="008000"/>
                </a:solidFill>
                <a:latin typeface="Consolas"/>
                <a:ea typeface="Consolas"/>
                <a:cs typeface="Consolas"/>
              </a:rPr>
              <a:t># en frontend/</a:t>
            </a:r>
          </a:p>
          <a:p>
            <a:pPr marL="0" indent="0">
              <a:lnSpc>
                <a:spcPct val="100000"/>
              </a:lnSpc>
              <a:spcAft>
                <a:spcPts val="0"/>
              </a:spcAft>
              <a:buNone/>
            </a:pPr>
            <a:r>
              <a:rPr sz="900" b="1" i="0" lang="es-CL">
                <a:solidFill>
                  <a:srgbClr val="38761D"/>
                </a:solidFill>
                <a:latin typeface="Consolas"/>
                <a:ea typeface="Consolas"/>
                <a:cs typeface="Consolas"/>
              </a:rPr>
              <a:t>✓ los tipos coinciden con el contrato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Flujos en Gherkin: escribir el flujo es escribir el test</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5394960" cy="2011680"/>
          </a:xfrm>
          <a:prstGeom prst="roundRect">
            <a:avLst>
              <a:gd name="adj" fmla="val 2727"/>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106424"/>
            <a:ext cx="5175504"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specs/flows/prestamos.feature (extracto)</a:t>
            </a:r>
          </a:p>
        </p:txBody>
      </p:sp>
      <p:sp>
        <p:nvSpPr>
          <p:cNvPr id="6" name="TextBox 5"/>
          <p:cNvSpPr txBox="1"/>
          <p:nvPr/>
        </p:nvSpPr>
        <p:spPr>
          <a:xfrm>
            <a:off x="521208" y="1362456"/>
            <a:ext cx="5175504" cy="1645920"/>
          </a:xfrm>
          <a:prstGeom prst="rect">
            <a:avLst/>
          </a:prstGeom>
          <a:noFill/>
        </p:spPr>
        <p:txBody>
          <a:bodyPr wrap="none" lIns="0" rIns="0" tIns="0" bIns="0"/>
          <a:lstStyle/>
          <a:p>
            <a:pPr marL="0" indent="0">
              <a:lnSpc>
                <a:spcPct val="100000"/>
              </a:lnSpc>
              <a:spcAft>
                <a:spcPts val="0"/>
              </a:spcAft>
              <a:buNone/>
            </a:pPr>
            <a:r>
              <a:rPr sz="900" b="0" i="0" lang="es-CL">
                <a:solidFill>
                  <a:srgbClr val="008000"/>
                </a:solidFill>
                <a:latin typeface="Consolas"/>
                <a:ea typeface="Consolas"/>
                <a:cs typeface="Consolas"/>
              </a:rPr>
              <a:t># language: es</a:t>
            </a:r>
          </a:p>
          <a:p>
            <a:pPr marL="0" indent="0">
              <a:lnSpc>
                <a:spcPct val="100000"/>
              </a:lnSpc>
              <a:spcAft>
                <a:spcPts val="0"/>
              </a:spcAft>
              <a:buNone/>
            </a:pPr>
            <a:r>
              <a:rPr sz="900" b="0" i="0" lang="es-CL">
                <a:solidFill>
                  <a:srgbClr val="800080"/>
                </a:solidFill>
                <a:latin typeface="Consolas"/>
                <a:ea typeface="Consolas"/>
                <a:cs typeface="Consolas"/>
              </a:rPr>
              <a:t>@SPEC-LIB-02</a:t>
            </a:r>
          </a:p>
          <a:p>
            <a:pPr marL="0" indent="0">
              <a:lnSpc>
                <a:spcPct val="100000"/>
              </a:lnSpc>
              <a:spcAft>
                <a:spcPts val="0"/>
              </a:spcAft>
              <a:buNone/>
            </a:pPr>
            <a:r>
              <a:rPr sz="900" b="1" i="0" lang="es-CL">
                <a:solidFill>
                  <a:srgbClr val="0000FF"/>
                </a:solidFill>
                <a:latin typeface="Consolas"/>
                <a:ea typeface="Consolas"/>
                <a:cs typeface="Consolas"/>
              </a:rPr>
              <a:t>Característica</a:t>
            </a:r>
            <a:r>
              <a:rPr sz="900" b="0" i="0" lang="es-CL">
                <a:solidFill>
                  <a:srgbClr val="1F2328"/>
                </a:solidFill>
                <a:latin typeface="Consolas"/>
                <a:ea typeface="Consolas"/>
                <a:cs typeface="Consolas"/>
              </a:rPr>
              <a:t>: Préstamos</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800080"/>
                </a:solidFill>
                <a:latin typeface="Consolas"/>
                <a:ea typeface="Consolas"/>
                <a:cs typeface="Consolas"/>
              </a:rPr>
              <a:t>@FLOW-PRE-01</a:t>
            </a:r>
            <a:r>
              <a:rPr sz="900" b="0" i="0" lang="es-CL">
                <a:solidFill>
                  <a:srgbClr val="1F2328"/>
                </a:solidFill>
                <a:latin typeface="Consolas"/>
                <a:ea typeface="Consolas"/>
                <a:cs typeface="Consolas"/>
              </a:rPr>
              <a:t> </a:t>
            </a:r>
            <a:r>
              <a:rPr sz="900" b="0" i="0" lang="es-CL">
                <a:solidFill>
                  <a:srgbClr val="800080"/>
                </a:solidFill>
                <a:latin typeface="Consolas"/>
                <a:ea typeface="Consolas"/>
                <a:cs typeface="Consolas"/>
              </a:rPr>
              <a:t>@smoke</a:t>
            </a:r>
          </a:p>
          <a:p>
            <a:pPr marL="0" indent="0">
              <a:lnSpc>
                <a:spcPct val="100000"/>
              </a:lnSpc>
              <a:spcAft>
                <a:spcPts val="0"/>
              </a:spcAft>
              <a:buNone/>
            </a:pPr>
            <a:r>
              <a:rPr sz="900" b="1" i="0" lang="es-CL">
                <a:solidFill>
                  <a:srgbClr val="0000FF"/>
                </a:solidFill>
                <a:latin typeface="Consolas"/>
                <a:ea typeface="Consolas"/>
                <a:cs typeface="Consolas"/>
              </a:rPr>
              <a:t>  Escenario</a:t>
            </a:r>
            <a:r>
              <a:rPr sz="900" b="0" i="0" lang="es-CL">
                <a:solidFill>
                  <a:srgbClr val="1F2328"/>
                </a:solidFill>
                <a:latin typeface="Consolas"/>
                <a:ea typeface="Consolas"/>
                <a:cs typeface="Consolas"/>
              </a:rPr>
              <a:t>: Pedir prestado un libro disponible</a:t>
            </a:r>
          </a:p>
          <a:p>
            <a:pPr marL="0" indent="0">
              <a:lnSpc>
                <a:spcPct val="100000"/>
              </a:lnSpc>
              <a:spcAft>
                <a:spcPts val="0"/>
              </a:spcAft>
              <a:buNone/>
            </a:pPr>
            <a:r>
              <a:rPr sz="900" b="1" i="0" lang="es-CL">
                <a:solidFill>
                  <a:srgbClr val="0000FF"/>
                </a:solidFill>
                <a:latin typeface="Consolas"/>
                <a:ea typeface="Consolas"/>
                <a:cs typeface="Consolas"/>
              </a:rPr>
              <a:t>    Dado</a:t>
            </a:r>
            <a:r>
              <a:rPr sz="900" b="0" i="0" lang="es-CL">
                <a:solidFill>
                  <a:srgbClr val="1F2328"/>
                </a:solidFill>
                <a:latin typeface="Consolas"/>
                <a:ea typeface="Consolas"/>
                <a:cs typeface="Consolas"/>
              </a:rPr>
              <a:t> que estoy en el catálogo</a:t>
            </a:r>
          </a:p>
          <a:p>
            <a:pPr marL="0" indent="0">
              <a:lnSpc>
                <a:spcPct val="100000"/>
              </a:lnSpc>
              <a:spcAft>
                <a:spcPts val="0"/>
              </a:spcAft>
              <a:buNone/>
            </a:pPr>
            <a:r>
              <a:rPr sz="900" b="1" i="0" lang="es-CL">
                <a:solidFill>
                  <a:srgbClr val="0000FF"/>
                </a:solidFill>
                <a:latin typeface="Consolas"/>
                <a:ea typeface="Consolas"/>
                <a:cs typeface="Consolas"/>
              </a:rPr>
              <a:t>    Cuando</a:t>
            </a:r>
            <a:r>
              <a:rPr sz="900" b="0" i="0" lang="es-CL">
                <a:solidFill>
                  <a:srgbClr val="1F2328"/>
                </a:solidFill>
                <a:latin typeface="Consolas"/>
                <a:ea typeface="Consolas"/>
                <a:cs typeface="Consolas"/>
              </a:rPr>
              <a:t> pido prestado </a:t>
            </a:r>
            <a:r>
              <a:rPr sz="900" b="0" i="0" lang="es-CL">
                <a:solidFill>
                  <a:srgbClr val="A31515"/>
                </a:solidFill>
                <a:latin typeface="Consolas"/>
                <a:ea typeface="Consolas"/>
                <a:cs typeface="Consolas"/>
              </a:rPr>
              <a:t>"Cien años de soledad"</a:t>
            </a:r>
            <a:r>
              <a:rPr sz="900" b="0" i="0" lang="es-CL">
                <a:solidFill>
                  <a:srgbClr val="1F2328"/>
                </a:solidFill>
                <a:latin typeface="Consolas"/>
                <a:ea typeface="Consolas"/>
                <a:cs typeface="Consolas"/>
              </a:rPr>
              <a:t> con el correo </a:t>
            </a:r>
            <a:r>
              <a:rPr sz="900" b="0" i="0" lang="es-CL">
                <a:solidFill>
                  <a:srgbClr val="A31515"/>
                </a:solidFill>
                <a:latin typeface="Consolas"/>
                <a:ea typeface="Consolas"/>
                <a:cs typeface="Consolas"/>
              </a:rPr>
              <a:t>"ana@uc.cl"</a:t>
            </a:r>
          </a:p>
          <a:p>
            <a:pPr marL="0" indent="0">
              <a:lnSpc>
                <a:spcPct val="100000"/>
              </a:lnSpc>
              <a:spcAft>
                <a:spcPts val="0"/>
              </a:spcAft>
              <a:buNone/>
            </a:pPr>
            <a:r>
              <a:rPr sz="900" b="1" i="0" lang="es-CL">
                <a:solidFill>
                  <a:srgbClr val="0000FF"/>
                </a:solidFill>
                <a:latin typeface="Consolas"/>
                <a:ea typeface="Consolas"/>
                <a:cs typeface="Consolas"/>
              </a:rPr>
              <a:t>    Entonces</a:t>
            </a:r>
            <a:r>
              <a:rPr sz="900" b="0" i="0" lang="es-CL">
                <a:solidFill>
                  <a:srgbClr val="1F2328"/>
                </a:solidFill>
                <a:latin typeface="Consolas"/>
                <a:ea typeface="Consolas"/>
                <a:cs typeface="Consolas"/>
              </a:rPr>
              <a:t> veo el mensaje </a:t>
            </a:r>
            <a:r>
              <a:rPr sz="900" b="0" i="0" lang="es-CL">
                <a:solidFill>
                  <a:srgbClr val="A31515"/>
                </a:solidFill>
                <a:latin typeface="Consolas"/>
                <a:ea typeface="Consolas"/>
                <a:cs typeface="Consolas"/>
              </a:rPr>
              <a:t>"Préstamo registrado"</a:t>
            </a:r>
          </a:p>
          <a:p>
            <a:pPr marL="0" indent="0">
              <a:lnSpc>
                <a:spcPct val="100000"/>
              </a:lnSpc>
              <a:spcAft>
                <a:spcPts val="0"/>
              </a:spcAft>
              <a:buNone/>
            </a:pPr>
            <a:r>
              <a:rPr sz="900" b="1" i="0" lang="es-CL">
                <a:solidFill>
                  <a:srgbClr val="0000FF"/>
                </a:solidFill>
                <a:latin typeface="Consolas"/>
                <a:ea typeface="Consolas"/>
                <a:cs typeface="Consolas"/>
              </a:rPr>
              <a:t>    Y</a:t>
            </a:r>
            <a:r>
              <a:rPr sz="900" b="0" i="0" lang="es-CL">
                <a:solidFill>
                  <a:srgbClr val="1F2328"/>
                </a:solidFill>
                <a:latin typeface="Consolas"/>
                <a:ea typeface="Consolas"/>
                <a:cs typeface="Consolas"/>
              </a:rPr>
              <a:t> veo la fecha de devolución </a:t>
            </a:r>
            <a:r>
              <a:rPr sz="900" b="0" i="0" lang="es-CL">
                <a:solidFill>
                  <a:srgbClr val="A31515"/>
                </a:solidFill>
                <a:latin typeface="Consolas"/>
                <a:ea typeface="Consolas"/>
                <a:cs typeface="Consolas"/>
              </a:rPr>
              <a:t>"16-03-2026"</a:t>
            </a:r>
          </a:p>
        </p:txBody>
      </p:sp>
      <p:sp>
        <p:nvSpPr>
          <p:cNvPr id="7" name="Rounded Rectangle 6"/>
          <p:cNvSpPr/>
          <p:nvPr/>
        </p:nvSpPr>
        <p:spPr>
          <a:xfrm>
            <a:off x="5989320" y="1051560"/>
            <a:ext cx="2743200" cy="2011680"/>
          </a:xfrm>
          <a:prstGeom prst="roundRect">
            <a:avLst>
              <a:gd name="adj" fmla="val 4545"/>
            </a:avLst>
          </a:prstGeom>
          <a:solidFill>
            <a:srgbClr val="DCE9F7"/>
          </a:solidFill>
          <a:ln>
            <a:noFill/>
          </a:ln>
        </p:spPr>
        <p:txBody>
          <a:bodyPr rtlCol="0" anchor="ctr" wrap="square" lIns="54864" rIns="54864" tIns="54864" bIns="54864"/>
          <a:lstStyle/>
          <a:p>
            <a:pPr algn="ctr"/>
          </a:p>
        </p:txBody>
      </p:sp>
      <p:sp>
        <p:nvSpPr>
          <p:cNvPr id="8" name="TextBox 7"/>
          <p:cNvSpPr txBox="1"/>
          <p:nvPr/>
        </p:nvSpPr>
        <p:spPr>
          <a:xfrm>
            <a:off x="6126480" y="1115568"/>
            <a:ext cx="2468880" cy="1920240"/>
          </a:xfrm>
          <a:prstGeom prst="rect">
            <a:avLst/>
          </a:prstGeom>
          <a:noFill/>
        </p:spPr>
        <p:txBody>
          <a:bodyPr wrap="square" lIns="36576" rIns="36576" tIns="36576" bIns="36576" anchor="t"/>
          <a:lstStyle/>
          <a:p>
            <a:pPr algn="l" marL="182880" indent="-164592">
              <a:spcAft>
                <a:spcPts val="500"/>
              </a:spcAft>
              <a:buClr>
                <a:srgbClr val="F2617A"/>
              </a:buClr>
              <a:buSzPct val="100000"/>
              <a:buFont typeface="Arial"/>
              <a:buChar char="●"/>
            </a:pPr>
            <a:r>
              <a:rPr sz="1000" b="0" i="0" lang="es-CL">
                <a:solidFill>
                  <a:srgbClr val="1F2328"/>
                </a:solidFill>
                <a:latin typeface="Inter"/>
                <a:ea typeface="Inter"/>
                <a:cs typeface="Inter"/>
              </a:rPr>
              <a:t>Cada escenario es un test de Playwright con su ID (@FLOW-PRE-01).</a:t>
            </a:r>
          </a:p>
          <a:p>
            <a:pPr algn="l" marL="182880" indent="-164592">
              <a:spcAft>
                <a:spcPts val="500"/>
              </a:spcAft>
              <a:buClr>
                <a:srgbClr val="F2617A"/>
              </a:buClr>
              <a:buSzPct val="100000"/>
              <a:buFont typeface="Arial"/>
              <a:buChar char="●"/>
            </a:pPr>
            <a:r>
              <a:rPr sz="1000" b="0" i="0" lang="es-CL">
                <a:solidFill>
                  <a:srgbClr val="1F2328"/>
                </a:solidFill>
                <a:latin typeface="Inter"/>
                <a:ea typeface="Inter"/>
                <a:cs typeface="Inter"/>
              </a:rPr>
              <a:t>@smoke: también corre contra el stack real.</a:t>
            </a:r>
          </a:p>
          <a:p>
            <a:pPr algn="l" marL="182880" indent="-164592">
              <a:spcAft>
                <a:spcPts val="500"/>
              </a:spcAft>
              <a:buClr>
                <a:srgbClr val="F2617A"/>
              </a:buClr>
              <a:buSzPct val="100000"/>
              <a:buFont typeface="Arial"/>
              <a:buChar char="●"/>
            </a:pPr>
            <a:r>
              <a:rPr sz="1000" b="0" i="0" lang="es-CL">
                <a:solidFill>
                  <a:srgbClr val="1F2328"/>
                </a:solidFill>
                <a:latin typeface="Inter"/>
                <a:ea typeface="Inter"/>
                <a:cs typeface="Inter"/>
              </a:rPr>
              <a:t>Los datos de prueba y el reloj fijo también son spec (specs/flows/README.md).</a:t>
            </a:r>
          </a:p>
        </p:txBody>
      </p:sp>
      <p:sp>
        <p:nvSpPr>
          <p:cNvPr id="9" name="Rounded Rectangle 8"/>
          <p:cNvSpPr/>
          <p:nvPr/>
        </p:nvSpPr>
        <p:spPr>
          <a:xfrm>
            <a:off x="411480" y="3520440"/>
            <a:ext cx="960120" cy="502920"/>
          </a:xfrm>
          <a:prstGeom prst="roundRect">
            <a:avLst>
              <a:gd name="adj" fmla="val 14545"/>
            </a:avLst>
          </a:prstGeom>
          <a:solidFill>
            <a:srgbClr val="634F7D"/>
          </a:solidFill>
          <a:ln>
            <a:noFill/>
          </a:ln>
        </p:spPr>
        <p:txBody>
          <a:bodyPr rtlCol="0" anchor="ctr" wrap="square" lIns="54864" rIns="54864" tIns="54864" bIns="54864"/>
          <a:lstStyle/>
          <a:p>
            <a:pPr algn="ctr" marL="0" indent="0">
              <a:spcAft>
                <a:spcPts val="200"/>
              </a:spcAft>
              <a:buNone/>
            </a:pPr>
            <a:r>
              <a:rPr sz="1050" b="1" i="0" lang="es-CL">
                <a:solidFill>
                  <a:srgbClr val="FFFFFF"/>
                </a:solidFill>
                <a:latin typeface="Inter"/>
                <a:ea typeface="Inter"/>
                <a:cs typeface="Inter"/>
              </a:rPr>
              <a:t>bddgen</a:t>
            </a:r>
          </a:p>
        </p:txBody>
      </p:sp>
      <p:cxnSp>
        <p:nvCxnSpPr>
          <p:cNvPr id="10" name="Connector 9"/>
          <p:cNvCxnSpPr/>
          <p:nvPr/>
        </p:nvCxnSpPr>
        <p:spPr>
          <a:xfrm>
            <a:off x="914400" y="3090672"/>
            <a:ext cx="0" cy="411480"/>
          </a:xfrm>
          <a:prstGeom prst="line">
            <a:avLst/>
          </a:prstGeom>
          <a:ln w="22225">
            <a:solidFill>
              <a:srgbClr val="8C959F"/>
            </a:solidFill>
            <a:tailEnd type="triangle" w="med" len="med"/>
          </a:ln>
        </p:spPr>
      </p:cxnSp>
      <p:cxnSp>
        <p:nvCxnSpPr>
          <p:cNvPr id="11" name="Connector 10"/>
          <p:cNvCxnSpPr/>
          <p:nvPr/>
        </p:nvCxnSpPr>
        <p:spPr>
          <a:xfrm>
            <a:off x="1389888" y="3767328"/>
            <a:ext cx="146304" cy="0"/>
          </a:xfrm>
          <a:prstGeom prst="line">
            <a:avLst/>
          </a:prstGeom>
          <a:ln w="22225">
            <a:solidFill>
              <a:srgbClr val="8C959F"/>
            </a:solidFill>
            <a:tailEnd type="triangle" w="med" len="med"/>
          </a:ln>
        </p:spPr>
      </p:cxnSp>
      <p:sp>
        <p:nvSpPr>
          <p:cNvPr id="12" name="Rounded Rectangle 11"/>
          <p:cNvSpPr/>
          <p:nvPr/>
        </p:nvSpPr>
        <p:spPr>
          <a:xfrm>
            <a:off x="1554480" y="3200400"/>
            <a:ext cx="7178040" cy="1325880"/>
          </a:xfrm>
          <a:prstGeom prst="roundRect">
            <a:avLst>
              <a:gd name="adj" fmla="val 4137"/>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1664207" y="3255264"/>
            <a:ext cx="69585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frontend/tests/e2e/steps/loans.steps.ts (extracto)</a:t>
            </a:r>
          </a:p>
        </p:txBody>
      </p:sp>
      <p:sp>
        <p:nvSpPr>
          <p:cNvPr id="14" name="TextBox 13"/>
          <p:cNvSpPr txBox="1"/>
          <p:nvPr/>
        </p:nvSpPr>
        <p:spPr>
          <a:xfrm>
            <a:off x="1664207" y="3511296"/>
            <a:ext cx="6958583" cy="960120"/>
          </a:xfrm>
          <a:prstGeom prst="rect">
            <a:avLst/>
          </a:prstGeom>
          <a:noFill/>
        </p:spPr>
        <p:txBody>
          <a:bodyPr wrap="none" lIns="0" rIns="0" tIns="0" bIns="0"/>
          <a:lstStyle/>
          <a:p>
            <a:pPr marL="0" indent="0">
              <a:lnSpc>
                <a:spcPct val="100000"/>
              </a:lnSpc>
              <a:spcAft>
                <a:spcPts val="0"/>
              </a:spcAft>
              <a:buNone/>
            </a:pPr>
            <a:r>
              <a:rPr sz="850" b="0" i="0" lang="es-CL">
                <a:solidFill>
                  <a:srgbClr val="795E26"/>
                </a:solidFill>
                <a:latin typeface="Consolas"/>
                <a:ea typeface="Consolas"/>
                <a:cs typeface="Consolas"/>
              </a:rPr>
              <a:t>When</a:t>
            </a:r>
            <a:r>
              <a:rPr sz="850" b="0" i="0" lang="es-CL">
                <a:solidFill>
                  <a:srgbClr val="1F2328"/>
                </a:solidFill>
                <a:latin typeface="Consolas"/>
                <a:ea typeface="Consolas"/>
                <a:cs typeface="Consolas"/>
              </a:rPr>
              <a:t>(</a:t>
            </a:r>
            <a:r>
              <a:rPr sz="850" b="0" i="0" lang="es-CL">
                <a:solidFill>
                  <a:srgbClr val="A31515"/>
                </a:solidFill>
                <a:latin typeface="Consolas"/>
                <a:ea typeface="Consolas"/>
                <a:cs typeface="Consolas"/>
              </a:rPr>
              <a:t>'pido prestado {string} con el correo {string}'</a:t>
            </a:r>
            <a:r>
              <a:rPr sz="850" b="0" i="0" lang="es-CL">
                <a:solidFill>
                  <a:srgbClr val="1F2328"/>
                </a:solidFill>
                <a:latin typeface="Consolas"/>
                <a:ea typeface="Consolas"/>
                <a:cs typeface="Consolas"/>
              </a:rPr>
              <a:t>, </a:t>
            </a:r>
            <a:r>
              <a:rPr sz="850" b="0" i="0" lang="es-CL">
                <a:solidFill>
                  <a:srgbClr val="0000FF"/>
                </a:solidFill>
                <a:latin typeface="Consolas"/>
                <a:ea typeface="Consolas"/>
                <a:cs typeface="Consolas"/>
              </a:rPr>
              <a:t>async</a:t>
            </a:r>
            <a:r>
              <a:rPr sz="850" b="0" i="0" lang="es-CL">
                <a:solidFill>
                  <a:srgbClr val="1F2328"/>
                </a:solidFill>
                <a:latin typeface="Consolas"/>
                <a:ea typeface="Consolas"/>
                <a:cs typeface="Consolas"/>
              </a:rPr>
              <a:t> ({ page }, title: string, email: string) =&gt; {</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AF00DB"/>
                </a:solidFill>
                <a:latin typeface="Consolas"/>
                <a:ea typeface="Consolas"/>
                <a:cs typeface="Consolas"/>
              </a:rPr>
              <a:t>await</a:t>
            </a:r>
            <a:r>
              <a:rPr sz="850" b="0" i="0" lang="es-CL">
                <a:solidFill>
                  <a:srgbClr val="1F2328"/>
                </a:solidFill>
                <a:latin typeface="Consolas"/>
                <a:ea typeface="Consolas"/>
                <a:cs typeface="Consolas"/>
              </a:rPr>
              <a:t> bookCard(page, title).getByRole(</a:t>
            </a:r>
            <a:r>
              <a:rPr sz="850" b="0" i="0" lang="es-CL">
                <a:solidFill>
                  <a:srgbClr val="A31515"/>
                </a:solidFill>
                <a:latin typeface="Consolas"/>
                <a:ea typeface="Consolas"/>
                <a:cs typeface="Consolas"/>
              </a:rPr>
              <a:t>'link'</a:t>
            </a:r>
            <a:r>
              <a:rPr sz="850" b="0" i="0" lang="es-CL">
                <a:solidFill>
                  <a:srgbClr val="1F2328"/>
                </a:solidFill>
                <a:latin typeface="Consolas"/>
                <a:ea typeface="Consolas"/>
                <a:cs typeface="Consolas"/>
              </a:rPr>
              <a:t>, { name: /pedir prestado/i }).click()</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AF00DB"/>
                </a:solidFill>
                <a:latin typeface="Consolas"/>
                <a:ea typeface="Consolas"/>
                <a:cs typeface="Consolas"/>
              </a:rPr>
              <a:t>await</a:t>
            </a:r>
            <a:r>
              <a:rPr sz="850" b="0" i="0" lang="es-CL">
                <a:solidFill>
                  <a:srgbClr val="1F2328"/>
                </a:solidFill>
                <a:latin typeface="Consolas"/>
                <a:ea typeface="Consolas"/>
                <a:cs typeface="Consolas"/>
              </a:rPr>
              <a:t> </a:t>
            </a:r>
            <a:r>
              <a:rPr sz="850" b="0" i="0" lang="es-CL">
                <a:solidFill>
                  <a:srgbClr val="795E26"/>
                </a:solidFill>
                <a:latin typeface="Consolas"/>
                <a:ea typeface="Consolas"/>
                <a:cs typeface="Consolas"/>
              </a:rPr>
              <a:t>expect</a:t>
            </a:r>
            <a:r>
              <a:rPr sz="850" b="0" i="0" lang="es-CL">
                <a:solidFill>
                  <a:srgbClr val="1F2328"/>
                </a:solidFill>
                <a:latin typeface="Consolas"/>
                <a:ea typeface="Consolas"/>
                <a:cs typeface="Consolas"/>
              </a:rPr>
              <a:t>(page.getByRole(</a:t>
            </a:r>
            <a:r>
              <a:rPr sz="850" b="0" i="0" lang="es-CL">
                <a:solidFill>
                  <a:srgbClr val="A31515"/>
                </a:solidFill>
                <a:latin typeface="Consolas"/>
                <a:ea typeface="Consolas"/>
                <a:cs typeface="Consolas"/>
              </a:rPr>
              <a:t>'heading'</a:t>
            </a:r>
            <a:r>
              <a:rPr sz="850" b="0" i="0" lang="es-CL">
                <a:solidFill>
                  <a:srgbClr val="1F2328"/>
                </a:solidFill>
                <a:latin typeface="Consolas"/>
                <a:ea typeface="Consolas"/>
                <a:cs typeface="Consolas"/>
              </a:rPr>
              <a:t>, { level: </a:t>
            </a:r>
            <a:r>
              <a:rPr sz="850" b="0" i="0" lang="es-CL">
                <a:solidFill>
                  <a:srgbClr val="098658"/>
                </a:solidFill>
                <a:latin typeface="Consolas"/>
                <a:ea typeface="Consolas"/>
                <a:cs typeface="Consolas"/>
              </a:rPr>
              <a:t>1</a:t>
            </a:r>
            <a:r>
              <a:rPr sz="850" b="0" i="0" lang="es-CL">
                <a:solidFill>
                  <a:srgbClr val="1F2328"/>
                </a:solidFill>
                <a:latin typeface="Consolas"/>
                <a:ea typeface="Consolas"/>
                <a:cs typeface="Consolas"/>
              </a:rPr>
              <a:t>, name: title })).toBeVisible()</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AF00DB"/>
                </a:solidFill>
                <a:latin typeface="Consolas"/>
                <a:ea typeface="Consolas"/>
                <a:cs typeface="Consolas"/>
              </a:rPr>
              <a:t>await</a:t>
            </a:r>
            <a:r>
              <a:rPr sz="850" b="0" i="0" lang="es-CL">
                <a:solidFill>
                  <a:srgbClr val="1F2328"/>
                </a:solidFill>
                <a:latin typeface="Consolas"/>
                <a:ea typeface="Consolas"/>
                <a:cs typeface="Consolas"/>
              </a:rPr>
              <a:t> page.getByLabel(</a:t>
            </a:r>
            <a:r>
              <a:rPr sz="850" b="0" i="0" lang="es-CL">
                <a:solidFill>
                  <a:srgbClr val="A31515"/>
                </a:solidFill>
                <a:latin typeface="Consolas"/>
                <a:ea typeface="Consolas"/>
                <a:cs typeface="Consolas"/>
              </a:rPr>
              <a:t>'Correo'</a:t>
            </a:r>
            <a:r>
              <a:rPr sz="850" b="0" i="0" lang="es-CL">
                <a:solidFill>
                  <a:srgbClr val="1F2328"/>
                </a:solidFill>
                <a:latin typeface="Consolas"/>
                <a:ea typeface="Consolas"/>
                <a:cs typeface="Consolas"/>
              </a:rPr>
              <a:t>).fill(email)</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AF00DB"/>
                </a:solidFill>
                <a:latin typeface="Consolas"/>
                <a:ea typeface="Consolas"/>
                <a:cs typeface="Consolas"/>
              </a:rPr>
              <a:t>await</a:t>
            </a:r>
            <a:r>
              <a:rPr sz="850" b="0" i="0" lang="es-CL">
                <a:solidFill>
                  <a:srgbClr val="1F2328"/>
                </a:solidFill>
                <a:latin typeface="Consolas"/>
                <a:ea typeface="Consolas"/>
                <a:cs typeface="Consolas"/>
              </a:rPr>
              <a:t> page.getByRole(</a:t>
            </a:r>
            <a:r>
              <a:rPr sz="850" b="0" i="0" lang="es-CL">
                <a:solidFill>
                  <a:srgbClr val="A31515"/>
                </a:solidFill>
                <a:latin typeface="Consolas"/>
                <a:ea typeface="Consolas"/>
                <a:cs typeface="Consolas"/>
              </a:rPr>
              <a:t>'button'</a:t>
            </a:r>
            <a:r>
              <a:rPr sz="850" b="0" i="0" lang="es-CL">
                <a:solidFill>
                  <a:srgbClr val="1F2328"/>
                </a:solidFill>
                <a:latin typeface="Consolas"/>
                <a:ea typeface="Consolas"/>
                <a:cs typeface="Consolas"/>
              </a:rPr>
              <a:t>, { name: </a:t>
            </a:r>
            <a:r>
              <a:rPr sz="850" b="0" i="0" lang="es-CL">
                <a:solidFill>
                  <a:srgbClr val="A31515"/>
                </a:solidFill>
                <a:latin typeface="Consolas"/>
                <a:ea typeface="Consolas"/>
                <a:cs typeface="Consolas"/>
              </a:rPr>
              <a:t>'Pedir prestado'</a:t>
            </a:r>
            <a:r>
              <a:rPr sz="850" b="0" i="0" lang="es-CL">
                <a:solidFill>
                  <a:srgbClr val="1F2328"/>
                </a:solidFill>
                <a:latin typeface="Consolas"/>
                <a:ea typeface="Consolas"/>
                <a:cs typeface="Consolas"/>
              </a:rPr>
              <a:t>, exact: </a:t>
            </a:r>
            <a:r>
              <a:rPr sz="850" b="0" i="0" lang="es-CL">
                <a:solidFill>
                  <a:srgbClr val="0000FF"/>
                </a:solidFill>
                <a:latin typeface="Consolas"/>
                <a:ea typeface="Consolas"/>
                <a:cs typeface="Consolas"/>
              </a:rPr>
              <a:t>true</a:t>
            </a:r>
            <a:r>
              <a:rPr sz="850" b="0" i="0" lang="es-CL">
                <a:solidFill>
                  <a:srgbClr val="1F2328"/>
                </a:solidFill>
                <a:latin typeface="Consolas"/>
                <a:ea typeface="Consolas"/>
                <a:cs typeface="Consolas"/>
              </a:rPr>
              <a:t> }).click()</a:t>
            </a:r>
          </a:p>
          <a:p>
            <a:pPr marL="0" indent="0">
              <a:lnSpc>
                <a:spcPct val="100000"/>
              </a:lnSpc>
              <a:spcAft>
                <a:spcPts val="0"/>
              </a:spcAft>
              <a:buNone/>
            </a:pPr>
            <a:r>
              <a:rPr sz="850" b="0" i="0" lang="es-CL">
                <a:solidFill>
                  <a:srgbClr val="1F2328"/>
                </a:solidFill>
                <a:latin typeface="Consolas"/>
                <a:ea typeface="Consolas"/>
                <a:cs typeface="Consolas"/>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La IA en SDD: dos pasos y un juez</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88720"/>
            <a:ext cx="1536192" cy="1143000"/>
          </a:xfrm>
          <a:prstGeom prst="roundRect">
            <a:avLst>
              <a:gd name="adj" fmla="val 6400"/>
            </a:avLst>
          </a:prstGeom>
          <a:solidFill>
            <a:srgbClr val="003D4F"/>
          </a:solidFill>
          <a:ln>
            <a:noFill/>
          </a:ln>
        </p:spPr>
        <p:txBody>
          <a:bodyPr rtlCol="0" anchor="ctr" wrap="square" lIns="54864" rIns="54864" tIns="54864" bIns="54864"/>
          <a:lstStyle/>
          <a:p>
            <a:pPr algn="ctr" marL="0" indent="0">
              <a:spcAft>
                <a:spcPts val="300"/>
              </a:spcAft>
              <a:buNone/>
            </a:pPr>
            <a:r>
              <a:rPr sz="1000" b="1" i="0" lang="es-CL">
                <a:solidFill>
                  <a:srgbClr val="FFFFFF"/>
                </a:solidFill>
                <a:latin typeface="Inter"/>
                <a:ea typeface="Inter"/>
                <a:cs typeface="Inter"/>
              </a:rPr>
              <a:t>Spec y reglas</a:t>
            </a:r>
          </a:p>
          <a:p>
            <a:pPr algn="ctr" marL="0" indent="0">
              <a:spcAft>
                <a:spcPts val="300"/>
              </a:spcAft>
              <a:buNone/>
            </a:pPr>
            <a:r>
              <a:rPr sz="1000" b="0" i="0" lang="es-CL">
                <a:solidFill>
                  <a:srgbClr val="FFFFFF"/>
                </a:solidFill>
                <a:latin typeface="Inter"/>
                <a:ea typeface="Inter"/>
                <a:cs typeface="Inter"/>
              </a:rPr>
              <a:t>SPEC-LIB-XX con IDs</a:t>
            </a:r>
          </a:p>
        </p:txBody>
      </p:sp>
      <p:cxnSp>
        <p:nvCxnSpPr>
          <p:cNvPr id="5" name="Connector 4"/>
          <p:cNvCxnSpPr/>
          <p:nvPr/>
        </p:nvCxnSpPr>
        <p:spPr>
          <a:xfrm>
            <a:off x="1956815" y="1755648"/>
            <a:ext cx="146305" cy="0"/>
          </a:xfrm>
          <a:prstGeom prst="line">
            <a:avLst/>
          </a:prstGeom>
          <a:ln w="22225">
            <a:solidFill>
              <a:srgbClr val="8C959F"/>
            </a:solidFill>
            <a:tailEnd type="triangle" w="med" len="med"/>
          </a:ln>
        </p:spPr>
      </p:cxnSp>
      <p:sp>
        <p:nvSpPr>
          <p:cNvPr id="6" name="Rounded Rectangle 5"/>
          <p:cNvSpPr/>
          <p:nvPr/>
        </p:nvSpPr>
        <p:spPr>
          <a:xfrm>
            <a:off x="2112264" y="1188720"/>
            <a:ext cx="1536192" cy="1143000"/>
          </a:xfrm>
          <a:prstGeom prst="roundRect">
            <a:avLst>
              <a:gd name="adj" fmla="val 6400"/>
            </a:avLst>
          </a:prstGeom>
          <a:solidFill>
            <a:srgbClr val="CC850A"/>
          </a:solidFill>
          <a:ln>
            <a:noFill/>
          </a:ln>
        </p:spPr>
        <p:txBody>
          <a:bodyPr rtlCol="0" anchor="ctr" wrap="square" lIns="54864" rIns="54864" tIns="54864" bIns="54864"/>
          <a:lstStyle/>
          <a:p>
            <a:pPr algn="ctr" marL="0" indent="0">
              <a:spcAft>
                <a:spcPts val="300"/>
              </a:spcAft>
              <a:buNone/>
            </a:pPr>
            <a:r>
              <a:rPr sz="1000" b="1" i="0" lang="es-CL">
                <a:solidFill>
                  <a:srgbClr val="FFFFFF"/>
                </a:solidFill>
                <a:latin typeface="Inter"/>
                <a:ea typeface="Inter"/>
                <a:cs typeface="Inter"/>
              </a:rPr>
              <a:t>Paso 1: plan</a:t>
            </a:r>
          </a:p>
          <a:p>
            <a:pPr algn="ctr" marL="0" indent="0">
              <a:spcAft>
                <a:spcPts val="300"/>
              </a:spcAft>
              <a:buNone/>
            </a:pPr>
            <a:r>
              <a:rPr sz="1000" b="0" i="0" lang="es-CL">
                <a:solidFill>
                  <a:srgbClr val="FFFFFF"/>
                </a:solidFill>
                <a:latin typeface="Inter"/>
                <a:ea typeface="Inter"/>
                <a:cs typeface="Inter"/>
              </a:rPr>
              <a:t>La IA propone casos: regla, capa y partición</a:t>
            </a:r>
          </a:p>
        </p:txBody>
      </p:sp>
      <p:cxnSp>
        <p:nvCxnSpPr>
          <p:cNvPr id="7" name="Connector 6"/>
          <p:cNvCxnSpPr/>
          <p:nvPr/>
        </p:nvCxnSpPr>
        <p:spPr>
          <a:xfrm>
            <a:off x="3657600" y="1755648"/>
            <a:ext cx="146304" cy="0"/>
          </a:xfrm>
          <a:prstGeom prst="line">
            <a:avLst/>
          </a:prstGeom>
          <a:ln w="22225">
            <a:solidFill>
              <a:srgbClr val="8C959F"/>
            </a:solidFill>
            <a:tailEnd type="triangle" w="med" len="med"/>
          </a:ln>
        </p:spPr>
      </p:cxnSp>
      <p:sp>
        <p:nvSpPr>
          <p:cNvPr id="8" name="Rounded Rectangle 7"/>
          <p:cNvSpPr/>
          <p:nvPr/>
        </p:nvSpPr>
        <p:spPr>
          <a:xfrm>
            <a:off x="3813048" y="1188720"/>
            <a:ext cx="1536192" cy="1143000"/>
          </a:xfrm>
          <a:prstGeom prst="roundRect">
            <a:avLst>
              <a:gd name="adj" fmla="val 6400"/>
            </a:avLst>
          </a:prstGeom>
          <a:solidFill>
            <a:srgbClr val="980000"/>
          </a:solidFill>
          <a:ln>
            <a:noFill/>
          </a:ln>
        </p:spPr>
        <p:txBody>
          <a:bodyPr rtlCol="0" anchor="ctr" wrap="square" lIns="54864" rIns="54864" tIns="54864" bIns="54864"/>
          <a:lstStyle/>
          <a:p>
            <a:pPr algn="ctr" marL="0" indent="0">
              <a:spcAft>
                <a:spcPts val="300"/>
              </a:spcAft>
              <a:buNone/>
            </a:pPr>
            <a:r>
              <a:rPr sz="1000" b="1" i="0" lang="es-CL">
                <a:solidFill>
                  <a:srgbClr val="FFFFFF"/>
                </a:solidFill>
                <a:latin typeface="Inter"/>
                <a:ea typeface="Inter"/>
                <a:cs typeface="Inter"/>
              </a:rPr>
              <a:t>Tú apruebas</a:t>
            </a:r>
          </a:p>
          <a:p>
            <a:pPr algn="ctr" marL="0" indent="0">
              <a:spcAft>
                <a:spcPts val="300"/>
              </a:spcAft>
              <a:buNone/>
            </a:pPr>
            <a:r>
              <a:rPr sz="1000" b="0" i="0" lang="es-CL">
                <a:solidFill>
                  <a:srgbClr val="FFFFFF"/>
                </a:solidFill>
                <a:latin typeface="Inter"/>
                <a:ea typeface="Inter"/>
                <a:cs typeface="Inter"/>
              </a:rPr>
              <a:t>Podas duplicados y subes casos a la capa baja</a:t>
            </a:r>
          </a:p>
        </p:txBody>
      </p:sp>
      <p:cxnSp>
        <p:nvCxnSpPr>
          <p:cNvPr id="9" name="Connector 8"/>
          <p:cNvCxnSpPr/>
          <p:nvPr/>
        </p:nvCxnSpPr>
        <p:spPr>
          <a:xfrm>
            <a:off x="5358383" y="1755648"/>
            <a:ext cx="146305" cy="0"/>
          </a:xfrm>
          <a:prstGeom prst="line">
            <a:avLst/>
          </a:prstGeom>
          <a:ln w="22225">
            <a:solidFill>
              <a:srgbClr val="8C959F"/>
            </a:solidFill>
            <a:tailEnd type="triangle" w="med" len="med"/>
          </a:ln>
        </p:spPr>
      </p:cxnSp>
      <p:sp>
        <p:nvSpPr>
          <p:cNvPr id="10" name="Rounded Rectangle 9"/>
          <p:cNvSpPr/>
          <p:nvPr/>
        </p:nvSpPr>
        <p:spPr>
          <a:xfrm>
            <a:off x="5513832" y="1188720"/>
            <a:ext cx="1536192" cy="1143000"/>
          </a:xfrm>
          <a:prstGeom prst="roundRect">
            <a:avLst>
              <a:gd name="adj" fmla="val 6400"/>
            </a:avLst>
          </a:prstGeom>
          <a:solidFill>
            <a:srgbClr val="38761D"/>
          </a:solidFill>
          <a:ln>
            <a:noFill/>
          </a:ln>
        </p:spPr>
        <p:txBody>
          <a:bodyPr rtlCol="0" anchor="ctr" wrap="square" lIns="54864" rIns="54864" tIns="54864" bIns="54864"/>
          <a:lstStyle/>
          <a:p>
            <a:pPr algn="ctr" marL="0" indent="0">
              <a:spcAft>
                <a:spcPts val="300"/>
              </a:spcAft>
              <a:buNone/>
            </a:pPr>
            <a:r>
              <a:rPr sz="1000" b="1" i="0" lang="es-CL">
                <a:solidFill>
                  <a:srgbClr val="FFFFFF"/>
                </a:solidFill>
                <a:latin typeface="Inter"/>
                <a:ea typeface="Inter"/>
                <a:cs typeface="Inter"/>
              </a:rPr>
              <a:t>Paso 2: un test a la vez</a:t>
            </a:r>
          </a:p>
          <a:p>
            <a:pPr algn="ctr" marL="0" indent="0">
              <a:spcAft>
                <a:spcPts val="300"/>
              </a:spcAft>
              <a:buNone/>
            </a:pPr>
            <a:r>
              <a:rPr sz="1000" b="0" i="0" lang="es-CL">
                <a:solidFill>
                  <a:srgbClr val="FFFFFF"/>
                </a:solidFill>
                <a:latin typeface="Inter"/>
                <a:ea typeface="Inter"/>
                <a:cs typeface="Inter"/>
              </a:rPr>
              <a:t>Falla por la razón correcta, después el código</a:t>
            </a:r>
          </a:p>
        </p:txBody>
      </p:sp>
      <p:cxnSp>
        <p:nvCxnSpPr>
          <p:cNvPr id="11" name="Connector 10"/>
          <p:cNvCxnSpPr/>
          <p:nvPr/>
        </p:nvCxnSpPr>
        <p:spPr>
          <a:xfrm>
            <a:off x="7059168" y="1755648"/>
            <a:ext cx="146304" cy="0"/>
          </a:xfrm>
          <a:prstGeom prst="line">
            <a:avLst/>
          </a:prstGeom>
          <a:ln w="22225">
            <a:solidFill>
              <a:srgbClr val="8C959F"/>
            </a:solidFill>
            <a:tailEnd type="triangle" w="med" len="med"/>
          </a:ln>
        </p:spPr>
      </p:cxnSp>
      <p:sp>
        <p:nvSpPr>
          <p:cNvPr id="12" name="Rounded Rectangle 11"/>
          <p:cNvSpPr/>
          <p:nvPr/>
        </p:nvSpPr>
        <p:spPr>
          <a:xfrm>
            <a:off x="7214616" y="1188720"/>
            <a:ext cx="1536192" cy="1143000"/>
          </a:xfrm>
          <a:prstGeom prst="roundRect">
            <a:avLst>
              <a:gd name="adj" fmla="val 6400"/>
            </a:avLst>
          </a:prstGeom>
          <a:solidFill>
            <a:srgbClr val="634F7D"/>
          </a:solidFill>
          <a:ln>
            <a:noFill/>
          </a:ln>
        </p:spPr>
        <p:txBody>
          <a:bodyPr rtlCol="0" anchor="ctr" wrap="square" lIns="54864" rIns="54864" tIns="54864" bIns="54864"/>
          <a:lstStyle/>
          <a:p>
            <a:pPr algn="ctr" marL="0" indent="0">
              <a:spcAft>
                <a:spcPts val="300"/>
              </a:spcAft>
              <a:buNone/>
            </a:pPr>
            <a:r>
              <a:rPr sz="1000" b="1" i="0" lang="es-CL">
                <a:solidFill>
                  <a:srgbClr val="FFFFFF"/>
                </a:solidFill>
                <a:latin typeface="Inter"/>
                <a:ea typeface="Inter"/>
                <a:cs typeface="Inter"/>
              </a:rPr>
              <a:t>Revisor IA</a:t>
            </a:r>
          </a:p>
          <a:p>
            <a:pPr algn="ctr" marL="0" indent="0">
              <a:spcAft>
                <a:spcPts val="300"/>
              </a:spcAft>
              <a:buNone/>
            </a:pPr>
            <a:r>
              <a:rPr sz="1000" b="0" i="0" lang="es-CL">
                <a:solidFill>
                  <a:srgbClr val="FFFFFF"/>
                </a:solidFill>
                <a:latin typeface="Inter"/>
                <a:ea typeface="Inter"/>
                <a:cs typeface="Inter"/>
              </a:rPr>
              <a:t>Otro modelo evalúa contra la spec (LLM-as-judge)</a:t>
            </a:r>
          </a:p>
        </p:txBody>
      </p:sp>
      <p:sp>
        <p:nvSpPr>
          <p:cNvPr id="13" name="Rounded Rectangle 12"/>
          <p:cNvSpPr/>
          <p:nvPr/>
        </p:nvSpPr>
        <p:spPr>
          <a:xfrm>
            <a:off x="411480" y="2606040"/>
            <a:ext cx="4572000" cy="1463040"/>
          </a:xfrm>
          <a:prstGeom prst="roundRect">
            <a:avLst>
              <a:gd name="adj" fmla="val 3750"/>
            </a:avLst>
          </a:prstGeom>
          <a:solidFill>
            <a:srgbClr val="F6F8FA"/>
          </a:solidFill>
          <a:ln w="9525">
            <a:solidFill>
              <a:srgbClr val="D0D7DE"/>
            </a:solidFill>
          </a:ln>
        </p:spPr>
        <p:txBody>
          <a:bodyPr rtlCol="0" anchor="ctr" wrap="square" lIns="54864" rIns="54864" tIns="54864" bIns="54864"/>
          <a:lstStyle/>
          <a:p>
            <a:pPr algn="ctr"/>
          </a:p>
        </p:txBody>
      </p:sp>
      <p:sp>
        <p:nvSpPr>
          <p:cNvPr id="14" name="TextBox 13"/>
          <p:cNvSpPr txBox="1"/>
          <p:nvPr/>
        </p:nvSpPr>
        <p:spPr>
          <a:xfrm>
            <a:off x="521208" y="2660904"/>
            <a:ext cx="4352544"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Plan propuesto por el agente (paso 1)</a:t>
            </a:r>
          </a:p>
        </p:txBody>
      </p:sp>
      <p:sp>
        <p:nvSpPr>
          <p:cNvPr id="15" name="TextBox 14"/>
          <p:cNvSpPr txBox="1"/>
          <p:nvPr/>
        </p:nvSpPr>
        <p:spPr>
          <a:xfrm>
            <a:off x="521208" y="2916936"/>
            <a:ext cx="4352544" cy="1097280"/>
          </a:xfrm>
          <a:prstGeom prst="rect">
            <a:avLst/>
          </a:prstGeom>
          <a:noFill/>
        </p:spPr>
        <p:txBody>
          <a:bodyPr wrap="none" lIns="0" rIns="0" tIns="0" bIns="0"/>
          <a:lstStyle/>
          <a:p>
            <a:pPr marL="0" indent="0">
              <a:lnSpc>
                <a:spcPct val="100000"/>
              </a:lnSpc>
              <a:spcAft>
                <a:spcPts val="0"/>
              </a:spcAft>
              <a:buNone/>
            </a:pPr>
            <a:r>
              <a:rPr sz="900" b="0" i="0" lang="es-CL">
                <a:solidFill>
                  <a:srgbClr val="57606A"/>
                </a:solidFill>
                <a:latin typeface="Consolas"/>
                <a:ea typeface="Consolas"/>
                <a:cs typeface="Consolas"/>
              </a:rPr>
              <a:t>| Regla   | Capa     | Partición               |</a:t>
            </a:r>
          </a:p>
          <a:p>
            <a:pPr marL="0" indent="0">
              <a:lnSpc>
                <a:spcPct val="100000"/>
              </a:lnSpc>
              <a:spcAft>
                <a:spcPts val="0"/>
              </a:spcAft>
              <a:buNone/>
            </a:pPr>
            <a:r>
              <a:rPr sz="900" b="0" i="0" lang="es-CL">
                <a:solidFill>
                  <a:srgbClr val="57606A"/>
                </a:solidFill>
                <a:latin typeface="Consolas"/>
                <a:ea typeface="Consolas"/>
                <a:cs typeface="Consolas"/>
              </a:rPr>
              <a:t>| LOAN-R2 | unit     | 2 préstamos: permite    |</a:t>
            </a:r>
          </a:p>
          <a:p>
            <a:pPr marL="0" indent="0">
              <a:lnSpc>
                <a:spcPct val="100000"/>
              </a:lnSpc>
              <a:spcAft>
                <a:spcPts val="0"/>
              </a:spcAft>
              <a:buNone/>
            </a:pPr>
            <a:r>
              <a:rPr sz="900" b="0" i="0" lang="es-CL">
                <a:solidFill>
                  <a:srgbClr val="57606A"/>
                </a:solidFill>
                <a:latin typeface="Consolas"/>
                <a:ea typeface="Consolas"/>
                <a:cs typeface="Consolas"/>
              </a:rPr>
              <a:t>| LOAN-R2 | unit     | 3 préstamos: rechaza    |</a:t>
            </a:r>
          </a:p>
          <a:p>
            <a:pPr marL="0" indent="0">
              <a:lnSpc>
                <a:spcPct val="100000"/>
              </a:lnSpc>
              <a:spcAft>
                <a:spcPts val="0"/>
              </a:spcAft>
              <a:buNone/>
            </a:pPr>
            <a:r>
              <a:rPr sz="900" b="0" i="0" lang="es-CL">
                <a:solidFill>
                  <a:srgbClr val="57606A"/>
                </a:solidFill>
                <a:latin typeface="Consolas"/>
                <a:ea typeface="Consolas"/>
                <a:cs typeface="Consolas"/>
              </a:rPr>
              <a:t>| LOAN-R2 | contrato | 409 LOAN_LIMIT_REACHED  |</a:t>
            </a:r>
          </a:p>
          <a:p>
            <a:pPr marL="0" indent="0">
              <a:lnSpc>
                <a:spcPct val="100000"/>
              </a:lnSpc>
              <a:spcAft>
                <a:spcPts val="0"/>
              </a:spcAft>
              <a:buNone/>
            </a:pPr>
            <a:r>
              <a:rPr sz="900" b="0" i="0" lang="es-CL">
                <a:solidFill>
                  <a:srgbClr val="57606A"/>
                </a:solidFill>
                <a:latin typeface="Consolas"/>
                <a:ea typeface="Consolas"/>
                <a:cs typeface="Consolas"/>
              </a:rPr>
              <a:t>| LOAN-R2 | UI       | (ya cubierto en E2E-03) |</a:t>
            </a:r>
          </a:p>
        </p:txBody>
      </p:sp>
      <p:sp>
        <p:nvSpPr>
          <p:cNvPr id="16" name="TextBox 15"/>
          <p:cNvSpPr txBox="1"/>
          <p:nvPr/>
        </p:nvSpPr>
        <p:spPr>
          <a:xfrm>
            <a:off x="5212080" y="2606040"/>
            <a:ext cx="3520440" cy="1920240"/>
          </a:xfrm>
          <a:prstGeom prst="rect">
            <a:avLst/>
          </a:prstGeom>
          <a:noFill/>
        </p:spPr>
        <p:txBody>
          <a:bodyPr wrap="square" lIns="36576" rIns="36576" tIns="36576" bIns="36576" anchor="t"/>
          <a:lstStyle/>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“Generate one test at a time, so that you can review them diligently” (p. 94).</a:t>
            </a:r>
          </a:p>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El flujo de dos pasos existe para que </a:t>
            </a:r>
            <a:r>
              <a:rPr sz="1000" b="1" i="0" lang="es-CL">
                <a:solidFill>
                  <a:srgbClr val="1F2328"/>
                </a:solidFill>
                <a:latin typeface="Inter"/>
                <a:ea typeface="Inter"/>
                <a:cs typeface="Inter"/>
              </a:rPr>
              <a:t>tú elijas</a:t>
            </a:r>
            <a:r>
              <a:rPr sz="1000" b="0" i="0" lang="es-CL">
                <a:solidFill>
                  <a:srgbClr val="1F2328"/>
                </a:solidFill>
                <a:latin typeface="Inter"/>
                <a:ea typeface="Inter"/>
                <a:cs typeface="Inter"/>
              </a:rPr>
              <a:t> qué casos automatizar en cada capa (p. 96).</a:t>
            </a:r>
          </a:p>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El juez usa un modelo distinto al que generó y puntúa de 0 a 1 con razones (p. 103).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Un agente que propone tests desde el OpenAPI</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3200400" cy="585216"/>
          </a:xfrm>
          <a:prstGeom prst="roundRect">
            <a:avLst>
              <a:gd name="adj" fmla="val 12500"/>
            </a:avLst>
          </a:prstGeom>
          <a:solidFill>
            <a:srgbClr val="003D4F"/>
          </a:solidFill>
          <a:ln>
            <a:noFill/>
          </a:ln>
        </p:spPr>
        <p:txBody>
          <a:bodyPr rtlCol="0" anchor="ctr" wrap="square" tIns="91440" bIns="91440"/>
          <a:lstStyle/>
          <a:p>
            <a:pPr algn="l" marL="0" indent="0">
              <a:spcAft>
                <a:spcPts val="100"/>
              </a:spcAft>
              <a:buNone/>
            </a:pPr>
            <a:r>
              <a:rPr sz="950" b="1" i="0" lang="es-CL">
                <a:solidFill>
                  <a:srgbClr val="FFFFFF"/>
                </a:solidFill>
                <a:latin typeface="Inter"/>
                <a:ea typeface="Inter"/>
                <a:cs typeface="Inter"/>
              </a:rPr>
              <a:t>Disparo manual</a:t>
            </a:r>
          </a:p>
          <a:p>
            <a:pPr algn="l" marL="0" indent="0">
              <a:spcAft>
                <a:spcPts val="100"/>
              </a:spcAft>
              <a:buNone/>
            </a:pPr>
            <a:r>
              <a:rPr sz="950" b="0" i="0" lang="es-CL">
                <a:solidFill>
                  <a:srgbClr val="FFFFFF"/>
                </a:solidFill>
                <a:latin typeface="Inter"/>
                <a:ea typeface="Inter"/>
                <a:cs typeface="Inter"/>
              </a:rPr>
              <a:t>workflow_dispatch con un operationId</a:t>
            </a:r>
          </a:p>
        </p:txBody>
      </p:sp>
      <p:cxnSp>
        <p:nvCxnSpPr>
          <p:cNvPr id="5" name="Connector 4"/>
          <p:cNvCxnSpPr/>
          <p:nvPr/>
        </p:nvCxnSpPr>
        <p:spPr>
          <a:xfrm>
            <a:off x="2011680" y="1645919"/>
            <a:ext cx="0" cy="91441"/>
          </a:xfrm>
          <a:prstGeom prst="line">
            <a:avLst/>
          </a:prstGeom>
          <a:ln w="19050">
            <a:solidFill>
              <a:srgbClr val="8C959F"/>
            </a:solidFill>
            <a:tailEnd type="triangle" w="med" len="med"/>
          </a:ln>
        </p:spPr>
      </p:cxnSp>
      <p:sp>
        <p:nvSpPr>
          <p:cNvPr id="6" name="Rounded Rectangle 5"/>
          <p:cNvSpPr/>
          <p:nvPr/>
        </p:nvSpPr>
        <p:spPr>
          <a:xfrm>
            <a:off x="411480" y="1746504"/>
            <a:ext cx="3200400" cy="585216"/>
          </a:xfrm>
          <a:prstGeom prst="roundRect">
            <a:avLst>
              <a:gd name="adj" fmla="val 12500"/>
            </a:avLst>
          </a:prstGeom>
          <a:solidFill>
            <a:srgbClr val="CC850A"/>
          </a:solidFill>
          <a:ln>
            <a:noFill/>
          </a:ln>
        </p:spPr>
        <p:txBody>
          <a:bodyPr rtlCol="0" anchor="ctr" wrap="square" tIns="91440" bIns="91440"/>
          <a:lstStyle/>
          <a:p>
            <a:pPr algn="l" marL="0" indent="0">
              <a:spcAft>
                <a:spcPts val="100"/>
              </a:spcAft>
              <a:buNone/>
            </a:pPr>
            <a:r>
              <a:rPr sz="950" b="1" i="0" lang="es-CL">
                <a:solidFill>
                  <a:srgbClr val="FFFFFF"/>
                </a:solidFill>
                <a:latin typeface="Inter"/>
                <a:ea typeface="Inter"/>
                <a:cs typeface="Inter"/>
              </a:rPr>
              <a:t>Paso 1: plan</a:t>
            </a:r>
          </a:p>
          <a:p>
            <a:pPr algn="l" marL="0" indent="0">
              <a:spcAft>
                <a:spcPts val="100"/>
              </a:spcAft>
              <a:buNone/>
            </a:pPr>
            <a:r>
              <a:rPr sz="950" b="0" i="0" lang="es-CL">
                <a:solidFill>
                  <a:srgbClr val="FFFFFF"/>
                </a:solidFill>
                <a:latin typeface="Inter"/>
                <a:ea typeface="Inter"/>
                <a:cs typeface="Inter"/>
              </a:rPr>
              <a:t>docs/propuestas-ia/&lt;op&gt;.md: caso, partición, código, capa, regla</a:t>
            </a:r>
          </a:p>
        </p:txBody>
      </p:sp>
      <p:cxnSp>
        <p:nvCxnSpPr>
          <p:cNvPr id="7" name="Connector 6"/>
          <p:cNvCxnSpPr/>
          <p:nvPr/>
        </p:nvCxnSpPr>
        <p:spPr>
          <a:xfrm>
            <a:off x="2011680" y="2340864"/>
            <a:ext cx="0" cy="91440"/>
          </a:xfrm>
          <a:prstGeom prst="line">
            <a:avLst/>
          </a:prstGeom>
          <a:ln w="19050">
            <a:solidFill>
              <a:srgbClr val="8C959F"/>
            </a:solidFill>
            <a:tailEnd type="triangle" w="med" len="med"/>
          </a:ln>
        </p:spPr>
      </p:cxnSp>
      <p:sp>
        <p:nvSpPr>
          <p:cNvPr id="8" name="Rounded Rectangle 7"/>
          <p:cNvSpPr/>
          <p:nvPr/>
        </p:nvSpPr>
        <p:spPr>
          <a:xfrm>
            <a:off x="411480" y="2441448"/>
            <a:ext cx="3200400" cy="585216"/>
          </a:xfrm>
          <a:prstGeom prst="roundRect">
            <a:avLst>
              <a:gd name="adj" fmla="val 12500"/>
            </a:avLst>
          </a:prstGeom>
          <a:solidFill>
            <a:srgbClr val="38761D"/>
          </a:solidFill>
          <a:ln>
            <a:noFill/>
          </a:ln>
        </p:spPr>
        <p:txBody>
          <a:bodyPr rtlCol="0" anchor="ctr" wrap="square" tIns="91440" bIns="91440"/>
          <a:lstStyle/>
          <a:p>
            <a:pPr algn="l" marL="0" indent="0">
              <a:spcAft>
                <a:spcPts val="100"/>
              </a:spcAft>
              <a:buNone/>
            </a:pPr>
            <a:r>
              <a:rPr sz="950" b="1" i="0" lang="es-CL">
                <a:solidFill>
                  <a:srgbClr val="FFFFFF"/>
                </a:solidFill>
                <a:latin typeface="Inter"/>
                <a:ea typeface="Inter"/>
                <a:cs typeface="Inter"/>
              </a:rPr>
              <a:t>Paso 2: tests</a:t>
            </a:r>
          </a:p>
          <a:p>
            <a:pPr algn="l" marL="0" indent="0">
              <a:spcAft>
                <a:spcPts val="100"/>
              </a:spcAft>
              <a:buNone/>
            </a:pPr>
            <a:r>
              <a:rPr sz="950" b="0" i="0" lang="es-CL">
                <a:solidFill>
                  <a:srgbClr val="FFFFFF"/>
                </a:solidFill>
                <a:latin typeface="Inter"/>
                <a:ea typeface="Inter"/>
                <a:cs typeface="Inter"/>
              </a:rPr>
              <a:t>*.proposed.contract.spec.ts, solo casos nuevos</a:t>
            </a:r>
          </a:p>
        </p:txBody>
      </p:sp>
      <p:cxnSp>
        <p:nvCxnSpPr>
          <p:cNvPr id="9" name="Connector 8"/>
          <p:cNvCxnSpPr/>
          <p:nvPr/>
        </p:nvCxnSpPr>
        <p:spPr>
          <a:xfrm>
            <a:off x="2011680" y="3035808"/>
            <a:ext cx="0" cy="91440"/>
          </a:xfrm>
          <a:prstGeom prst="line">
            <a:avLst/>
          </a:prstGeom>
          <a:ln w="19050">
            <a:solidFill>
              <a:srgbClr val="8C959F"/>
            </a:solidFill>
            <a:tailEnd type="triangle" w="med" len="med"/>
          </a:ln>
        </p:spPr>
      </p:cxnSp>
      <p:sp>
        <p:nvSpPr>
          <p:cNvPr id="10" name="Rounded Rectangle 9"/>
          <p:cNvSpPr/>
          <p:nvPr/>
        </p:nvSpPr>
        <p:spPr>
          <a:xfrm>
            <a:off x="411480" y="3136392"/>
            <a:ext cx="3200400" cy="585216"/>
          </a:xfrm>
          <a:prstGeom prst="roundRect">
            <a:avLst>
              <a:gd name="adj" fmla="val 12500"/>
            </a:avLst>
          </a:prstGeom>
          <a:solidFill>
            <a:srgbClr val="634F7D"/>
          </a:solidFill>
          <a:ln>
            <a:noFill/>
          </a:ln>
        </p:spPr>
        <p:txBody>
          <a:bodyPr rtlCol="0" anchor="ctr" wrap="square" tIns="91440" bIns="91440"/>
          <a:lstStyle/>
          <a:p>
            <a:pPr algn="l" marL="0" indent="0">
              <a:spcAft>
                <a:spcPts val="100"/>
              </a:spcAft>
              <a:buNone/>
            </a:pPr>
            <a:r>
              <a:rPr sz="950" b="1" i="0" lang="es-CL">
                <a:solidFill>
                  <a:srgbClr val="FFFFFF"/>
                </a:solidFill>
                <a:latin typeface="Inter"/>
                <a:ea typeface="Inter"/>
                <a:cs typeface="Inter"/>
              </a:rPr>
              <a:t>Paso 3: verifica</a:t>
            </a:r>
          </a:p>
          <a:p>
            <a:pPr algn="l" marL="0" indent="0">
              <a:spcAft>
                <a:spcPts val="100"/>
              </a:spcAft>
              <a:buNone/>
            </a:pPr>
            <a:r>
              <a:rPr sz="950" b="0" i="0" lang="es-CL">
                <a:solidFill>
                  <a:srgbClr val="FFFFFF"/>
                </a:solidFill>
                <a:latin typeface="Inter"/>
                <a:ea typeface="Inter"/>
                <a:cs typeface="Inter"/>
              </a:rPr>
              <a:t>typecheck y spec-trace en verde</a:t>
            </a:r>
          </a:p>
        </p:txBody>
      </p:sp>
      <p:cxnSp>
        <p:nvCxnSpPr>
          <p:cNvPr id="11" name="Connector 10"/>
          <p:cNvCxnSpPr/>
          <p:nvPr/>
        </p:nvCxnSpPr>
        <p:spPr>
          <a:xfrm>
            <a:off x="2011680" y="3730752"/>
            <a:ext cx="0" cy="91439"/>
          </a:xfrm>
          <a:prstGeom prst="line">
            <a:avLst/>
          </a:prstGeom>
          <a:ln w="19050">
            <a:solidFill>
              <a:srgbClr val="8C959F"/>
            </a:solidFill>
            <a:tailEnd type="triangle" w="med" len="med"/>
          </a:ln>
        </p:spPr>
      </p:cxnSp>
      <p:sp>
        <p:nvSpPr>
          <p:cNvPr id="12" name="Rounded Rectangle 11"/>
          <p:cNvSpPr/>
          <p:nvPr/>
        </p:nvSpPr>
        <p:spPr>
          <a:xfrm>
            <a:off x="411480" y="3831335"/>
            <a:ext cx="3200400" cy="585216"/>
          </a:xfrm>
          <a:prstGeom prst="roundRect">
            <a:avLst>
              <a:gd name="adj" fmla="val 12500"/>
            </a:avLst>
          </a:prstGeom>
          <a:solidFill>
            <a:srgbClr val="980000"/>
          </a:solidFill>
          <a:ln>
            <a:noFill/>
          </a:ln>
        </p:spPr>
        <p:txBody>
          <a:bodyPr rtlCol="0" anchor="ctr" wrap="square" tIns="91440" bIns="91440"/>
          <a:lstStyle/>
          <a:p>
            <a:pPr algn="l" marL="0" indent="0">
              <a:spcAft>
                <a:spcPts val="100"/>
              </a:spcAft>
              <a:buNone/>
            </a:pPr>
            <a:r>
              <a:rPr sz="950" b="1" i="0" lang="es-CL">
                <a:solidFill>
                  <a:srgbClr val="FFFFFF"/>
                </a:solidFill>
                <a:latin typeface="Inter"/>
                <a:ea typeface="Inter"/>
                <a:cs typeface="Inter"/>
              </a:rPr>
              <a:t>PR en borrador</a:t>
            </a:r>
          </a:p>
          <a:p>
            <a:pPr algn="l" marL="0" indent="0">
              <a:spcAft>
                <a:spcPts val="100"/>
              </a:spcAft>
              <a:buNone/>
            </a:pPr>
            <a:r>
              <a:rPr sz="950" b="0" i="0" lang="es-CL">
                <a:solidFill>
                  <a:srgbClr val="FFFFFF"/>
                </a:solidFill>
                <a:latin typeface="Inter"/>
                <a:ea typeface="Inter"/>
                <a:cs typeface="Inter"/>
              </a:rPr>
              <a:t>Una persona aprueba el plan antes del código</a:t>
            </a:r>
          </a:p>
        </p:txBody>
      </p:sp>
      <p:sp>
        <p:nvSpPr>
          <p:cNvPr id="13" name="Rounded Rectangle 12"/>
          <p:cNvSpPr/>
          <p:nvPr/>
        </p:nvSpPr>
        <p:spPr>
          <a:xfrm>
            <a:off x="3794760" y="1051560"/>
            <a:ext cx="493776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4" name="TextBox 13"/>
          <p:cNvSpPr txBox="1"/>
          <p:nvPr/>
        </p:nvSpPr>
        <p:spPr>
          <a:xfrm>
            <a:off x="3904488" y="1106424"/>
            <a:ext cx="4718304"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.github/workflows/ai-generate-tests.yml (prompt, extracto)</a:t>
            </a:r>
          </a:p>
        </p:txBody>
      </p:sp>
      <p:sp>
        <p:nvSpPr>
          <p:cNvPr id="15" name="TextBox 14"/>
          <p:cNvSpPr txBox="1"/>
          <p:nvPr/>
        </p:nvSpPr>
        <p:spPr>
          <a:xfrm>
            <a:off x="3904488" y="1362456"/>
            <a:ext cx="4718304" cy="3108959"/>
          </a:xfrm>
          <a:prstGeom prst="rect">
            <a:avLst/>
          </a:prstGeom>
          <a:noFill/>
        </p:spPr>
        <p:txBody>
          <a:bodyPr wrap="none" lIns="0" rIns="0" tIns="0" bIns="0"/>
          <a:lstStyle/>
          <a:p>
            <a:pPr marL="0" indent="0">
              <a:lnSpc>
                <a:spcPct val="100000"/>
              </a:lnSpc>
              <a:spcAft>
                <a:spcPts val="0"/>
              </a:spcAft>
              <a:buNone/>
            </a:pPr>
            <a:r>
              <a:rPr sz="1000" b="0" i="0" lang="es-CL">
                <a:solidFill>
                  <a:srgbClr val="1F2328"/>
                </a:solidFill>
                <a:latin typeface="Consolas"/>
                <a:ea typeface="Consolas"/>
                <a:cs typeface="Consolas"/>
              </a:rPr>
              <a:t>Paso 1. Plan. Crea docs/propuestas-ia/&lt;op&gt;.md con una tabla:</a:t>
            </a:r>
          </a:p>
          <a:p>
            <a:pPr marL="0" indent="0">
              <a:lnSpc>
                <a:spcPct val="100000"/>
              </a:lnSpc>
              <a:spcAft>
                <a:spcPts val="0"/>
              </a:spcAft>
              <a:buNone/>
            </a:pPr>
            <a:r>
              <a:rPr sz="1000" b="0" i="0" lang="es-CL">
                <a:solidFill>
                  <a:srgbClr val="57606A"/>
                </a:solidFill>
                <a:latin typeface="Consolas"/>
                <a:ea typeface="Consolas"/>
                <a:cs typeface="Consolas"/>
              </a:rPr>
              <a:t>| Caso | Partición o valor límite | Respuesta | Capa | ID |</a:t>
            </a:r>
          </a:p>
          <a:p>
            <a:pPr marL="0" indent="0">
              <a:lnSpc>
                <a:spcPct val="100000"/>
              </a:lnSpc>
              <a:spcAft>
                <a:spcPts val="0"/>
              </a:spcAft>
              <a:buNone/>
            </a:pPr>
            <a:r>
              <a:rPr sz="1000" b="0" i="0" lang="es-CL">
                <a:solidFill>
                  <a:srgbClr val="1F2328"/>
                </a:solidFill>
                <a:latin typeface="Consolas"/>
                <a:ea typeface="Consolas"/>
                <a:cs typeface="Consolas"/>
              </a:rPr>
              <a:t>Reglas del plan:</a:t>
            </a:r>
          </a:p>
          <a:p>
            <a:pPr marL="0" indent="0">
              <a:lnSpc>
                <a:spcPct val="100000"/>
              </a:lnSpc>
              <a:spcAft>
                <a:spcPts val="0"/>
              </a:spcAft>
              <a:buNone/>
            </a:pPr>
            <a:r>
              <a:rPr sz="1000" b="0" i="0" lang="es-CL">
                <a:solidFill>
                  <a:srgbClr val="1F2328"/>
                </a:solidFill>
                <a:latin typeface="Consolas"/>
                <a:ea typeface="Consolas"/>
                <a:cs typeface="Consolas"/>
              </a:rPr>
              <a:t>- Solo casos que pertenecen a la capa de contrato.</a:t>
            </a:r>
          </a:p>
          <a:p>
            <a:pPr marL="0" indent="0">
              <a:lnSpc>
                <a:spcPct val="100000"/>
              </a:lnSpc>
              <a:spcAft>
                <a:spcPts val="0"/>
              </a:spcAft>
              <a:buNone/>
            </a:pPr>
            <a:r>
              <a:rPr sz="1000" b="0" i="0" lang="es-CL">
                <a:solidFill>
                  <a:srgbClr val="1F2328"/>
                </a:solidFill>
                <a:latin typeface="Consolas"/>
                <a:ea typeface="Consolas"/>
                <a:cs typeface="Consolas"/>
              </a:rPr>
              <a:t>  Si un caso se detecta en una capa más baja (unit),</a:t>
            </a:r>
          </a:p>
          <a:p>
            <a:pPr marL="0" indent="0">
              <a:lnSpc>
                <a:spcPct val="100000"/>
              </a:lnSpc>
              <a:spcAft>
                <a:spcPts val="0"/>
              </a:spcAft>
              <a:buNone/>
            </a:pPr>
            <a:r>
              <a:rPr sz="1000" b="0" i="0" lang="es-CL">
                <a:solidFill>
                  <a:srgbClr val="1F2328"/>
                </a:solidFill>
                <a:latin typeface="Consolas"/>
                <a:ea typeface="Consolas"/>
                <a:cs typeface="Consolas"/>
              </a:rPr>
              <a:t>  anótalo en "Fuera de esta capa" y NO lo propongas.</a:t>
            </a:r>
          </a:p>
          <a:p>
            <a:pPr marL="0" indent="0">
              <a:lnSpc>
                <a:spcPct val="100000"/>
              </a:lnSpc>
              <a:spcAft>
                <a:spcPts val="0"/>
              </a:spcAft>
              <a:buNone/>
            </a:pPr>
            <a:r>
              <a:rPr sz="1000" b="0" i="0" lang="es-CL">
                <a:solidFill>
                  <a:srgbClr val="1F2328"/>
                </a:solidFill>
                <a:latin typeface="Consolas"/>
                <a:ea typeface="Consolas"/>
                <a:cs typeface="Consolas"/>
              </a:rPr>
              <a:t>- Máximo 6 casos por regla. Una partición, un caso.</a:t>
            </a:r>
          </a:p>
          <a:p>
            <a:pPr marL="0" indent="0">
              <a:lnSpc>
                <a:spcPct val="100000"/>
              </a:lnSpc>
              <a:spcAft>
                <a:spcPts val="0"/>
              </a:spcAft>
              <a:buNone/>
            </a:pPr>
            <a:r>
              <a:rPr sz="1000" b="0" i="0" lang="es-CL">
                <a:solidFill>
                  <a:srgbClr val="1F2328"/>
                </a:solidFill>
                <a:latin typeface="Consolas"/>
                <a:ea typeface="Consolas"/>
                <a:cs typeface="Consolas"/>
              </a:rPr>
              <a:t>- Marca los casos que ya están cubiertos y no los repitas.</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Paso 2. Tests. Escribe solo los casos nuevos del plan.</a:t>
            </a:r>
          </a:p>
          <a:p>
            <a:pPr marL="0" indent="0">
              <a:lnSpc>
                <a:spcPct val="100000"/>
              </a:lnSpc>
              <a:spcAft>
                <a:spcPts val="0"/>
              </a:spcAft>
              <a:buNone/>
            </a:pPr>
            <a:r>
              <a:rPr sz="1000" b="0" i="0" lang="es-CL">
                <a:solidFill>
                  <a:srgbClr val="1F2328"/>
                </a:solidFill>
                <a:latin typeface="Consolas"/>
                <a:ea typeface="Consolas"/>
                <a:cs typeface="Consolas"/>
              </a:rPr>
              <a:t>Cada título empieza con el ID de la regla.</a:t>
            </a:r>
          </a:p>
          <a:p>
            <a:pPr marL="0" indent="0">
              <a:lnSpc>
                <a:spcPct val="100000"/>
              </a:lnSpc>
              <a:spcAft>
                <a:spcPts val="0"/>
              </a:spcAft>
              <a:buNone/>
            </a:pPr>
            <a:r>
              <a:rPr sz="1000" b="0" i="0" lang="es-CL">
                <a:solidFill>
                  <a:srgbClr val="1F2328"/>
                </a:solidFill>
                <a:latin typeface="Consolas"/>
                <a:ea typeface="Consolas"/>
                <a:cs typeface="Consolas"/>
              </a:rPr>
              <a:t>Sin mocks, sin aserciones débiles, oráculos literales.</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Paso 3. Verifica que compila con npm run typecheck y</a:t>
            </a:r>
          </a:p>
          <a:p>
            <a:pPr marL="0" indent="0">
              <a:lnSpc>
                <a:spcPct val="100000"/>
              </a:lnSpc>
              <a:spcAft>
                <a:spcPts val="0"/>
              </a:spcAft>
              <a:buNone/>
            </a:pPr>
            <a:r>
              <a:rPr sz="1000" b="0" i="0" lang="es-CL">
                <a:solidFill>
                  <a:srgbClr val="1F2328"/>
                </a:solidFill>
                <a:latin typeface="Consolas"/>
                <a:ea typeface="Consolas"/>
                <a:cs typeface="Consolas"/>
              </a:rPr>
              <a:t>que la trazabilidad sigue en verde (spec-trace).</a:t>
            </a:r>
          </a:p>
          <a:p>
            <a:pPr marL="0" indent="0">
              <a:lnSpc>
                <a:spcPct val="100000"/>
              </a:lnSpc>
              <a:spcAft>
                <a:spcPts val="0"/>
              </a:spcAft>
              <a:buNone/>
            </a:pPr>
            <a:r>
              <a:rPr sz="1000" b="0" i="0" lang="es-CL">
                <a:solidFill>
                  <a:srgbClr val="1F2328"/>
                </a:solidFill>
                <a:latin typeface="Consolas"/>
                <a:ea typeface="Consolas"/>
                <a:cs typeface="Consolas"/>
              </a:rPr>
              <a:t>No modifiques specs/ ni código de producción.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3</a:t>
            </a:r>
          </a:p>
          <a:p>
            <a:pPr algn="ctr">
              <a:spcAft>
                <a:spcPts val="1600"/>
              </a:spcAft>
            </a:pPr>
            <a:r>
              <a:rPr sz="3600" b="1" i="0" lang="es-CL">
                <a:solidFill>
                  <a:srgbClr val="4A86E8"/>
                </a:solidFill>
                <a:latin typeface="Bitter"/>
                <a:ea typeface="Bitter"/>
                <a:cs typeface="Bitter"/>
              </a:rPr>
              <a:t>El proyecto: Biblioteca UC</a:t>
            </a:r>
          </a:p>
          <a:p>
            <a:pPr algn="ctr">
              <a:spcAft>
                <a:spcPts val="1400"/>
              </a:spcAft>
            </a:pPr>
            <a:r>
              <a:rPr sz="1500" b="0" i="0" lang="es-CL">
                <a:solidFill>
                  <a:srgbClr val="57606A"/>
                </a:solidFill>
                <a:latin typeface="Inter"/>
                <a:ea typeface="Inter"/>
                <a:cs typeface="Inter"/>
              </a:rPr>
              <a:t>Catálogo de libros y préstamos. NestJS, Next.js y PostgreSQL en un monorepo.</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Mapa del monorepo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4846320" cy="3429000"/>
          </a:xfrm>
          <a:prstGeom prst="roundRect">
            <a:avLst>
              <a:gd name="adj" fmla="val 1600"/>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106424"/>
            <a:ext cx="4626864"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github.com/UC-IIC-3143-Software-Development/full_stack_testing</a:t>
            </a:r>
          </a:p>
        </p:txBody>
      </p:sp>
      <p:sp>
        <p:nvSpPr>
          <p:cNvPr id="6" name="TextBox 5"/>
          <p:cNvSpPr txBox="1"/>
          <p:nvPr/>
        </p:nvSpPr>
        <p:spPr>
          <a:xfrm>
            <a:off x="521208" y="1362456"/>
            <a:ext cx="4626864" cy="3063240"/>
          </a:xfrm>
          <a:prstGeom prst="rect">
            <a:avLst/>
          </a:prstGeom>
          <a:noFill/>
        </p:spPr>
        <p:txBody>
          <a:bodyPr wrap="none" lIns="0" rIns="0" tIns="0" bIns="0"/>
          <a:lstStyle/>
          <a:p>
            <a:pPr marL="0" indent="0">
              <a:lnSpc>
                <a:spcPct val="100000"/>
              </a:lnSpc>
              <a:spcAft>
                <a:spcPts val="0"/>
              </a:spcAft>
              <a:buNone/>
            </a:pPr>
            <a:r>
              <a:rPr sz="950" b="0" i="0" lang="es-CL">
                <a:solidFill>
                  <a:srgbClr val="1F2328"/>
                </a:solidFill>
                <a:latin typeface="Consolas"/>
                <a:ea typeface="Consolas"/>
                <a:cs typeface="Consolas"/>
              </a:rPr>
              <a:t>full_stack_testing/</a:t>
            </a:r>
          </a:p>
          <a:p>
            <a:pPr marL="0" indent="0">
              <a:lnSpc>
                <a:spcPct val="100000"/>
              </a:lnSpc>
              <a:spcAft>
                <a:spcPts val="0"/>
              </a:spcAft>
              <a:buNone/>
            </a:pPr>
            <a:r>
              <a:rPr sz="950" b="0" i="0" lang="es-CL">
                <a:solidFill>
                  <a:srgbClr val="1F2328"/>
                </a:solidFill>
                <a:latin typeface="Consolas"/>
                <a:ea typeface="Consolas"/>
                <a:cs typeface="Consolas"/>
              </a:rPr>
              <a:t>├── specs/            fuente de verdad</a:t>
            </a:r>
          </a:p>
          <a:p>
            <a:pPr marL="0" indent="0">
              <a:lnSpc>
                <a:spcPct val="100000"/>
              </a:lnSpc>
              <a:spcAft>
                <a:spcPts val="0"/>
              </a:spcAft>
              <a:buNone/>
            </a:pPr>
            <a:r>
              <a:rPr sz="950" b="0" i="0" lang="es-CL">
                <a:solidFill>
                  <a:srgbClr val="1F2328"/>
                </a:solidFill>
                <a:latin typeface="Consolas"/>
                <a:ea typeface="Consolas"/>
                <a:cs typeface="Consolas"/>
              </a:rPr>
              <a:t>│   ├── constitution.md  architecture.md</a:t>
            </a:r>
          </a:p>
          <a:p>
            <a:pPr marL="0" indent="0">
              <a:lnSpc>
                <a:spcPct val="100000"/>
              </a:lnSpc>
              <a:spcAft>
                <a:spcPts val="0"/>
              </a:spcAft>
              <a:buNone/>
            </a:pPr>
            <a:r>
              <a:rPr sz="950" b="0" i="0" lang="es-CL">
                <a:solidFill>
                  <a:srgbClr val="1F2328"/>
                </a:solidFill>
                <a:latin typeface="Consolas"/>
                <a:ea typeface="Consolas"/>
                <a:cs typeface="Consolas"/>
              </a:rPr>
              <a:t>│   ├── api/openapi.yaml</a:t>
            </a:r>
          </a:p>
          <a:p>
            <a:pPr marL="0" indent="0">
              <a:lnSpc>
                <a:spcPct val="100000"/>
              </a:lnSpc>
              <a:spcAft>
                <a:spcPts val="0"/>
              </a:spcAft>
              <a:buNone/>
            </a:pPr>
            <a:r>
              <a:rPr sz="950" b="0" i="0" lang="es-CL">
                <a:solidFill>
                  <a:srgbClr val="1F2328"/>
                </a:solidFill>
                <a:latin typeface="Consolas"/>
                <a:ea typeface="Consolas"/>
                <a:cs typeface="Consolas"/>
              </a:rPr>
              <a:t>│   ├── features/  SPEC-LIB-01, SPEC-LIB-02</a:t>
            </a:r>
          </a:p>
          <a:p>
            <a:pPr marL="0" indent="0">
              <a:lnSpc>
                <a:spcPct val="100000"/>
              </a:lnSpc>
              <a:spcAft>
                <a:spcPts val="0"/>
              </a:spcAft>
              <a:buNone/>
            </a:pPr>
            <a:r>
              <a:rPr sz="950" b="0" i="0" lang="es-CL">
                <a:solidFill>
                  <a:srgbClr val="1F2328"/>
                </a:solidFill>
                <a:latin typeface="Consolas"/>
                <a:ea typeface="Consolas"/>
                <a:cs typeface="Consolas"/>
              </a:rPr>
              <a:t>│   └── flows/     *.feature (Gherkin)</a:t>
            </a:r>
          </a:p>
          <a:p>
            <a:pPr marL="0" indent="0">
              <a:lnSpc>
                <a:spcPct val="100000"/>
              </a:lnSpc>
              <a:spcAft>
                <a:spcPts val="0"/>
              </a:spcAft>
              <a:buNone/>
            </a:pPr>
            <a:r>
              <a:rPr sz="950" b="0" i="0" lang="es-CL">
                <a:solidFill>
                  <a:srgbClr val="1F2328"/>
                </a:solidFill>
                <a:latin typeface="Consolas"/>
                <a:ea typeface="Consolas"/>
                <a:cs typeface="Consolas"/>
              </a:rPr>
              <a:t>├── backend/          NestJS + TypeORM + PostgreSQL</a:t>
            </a:r>
          </a:p>
          <a:p>
            <a:pPr marL="0" indent="0">
              <a:lnSpc>
                <a:spcPct val="100000"/>
              </a:lnSpc>
              <a:spcAft>
                <a:spcPts val="0"/>
              </a:spcAft>
              <a:buNone/>
            </a:pPr>
            <a:r>
              <a:rPr sz="950" b="0" i="0" lang="es-CL">
                <a:solidFill>
                  <a:srgbClr val="1F2328"/>
                </a:solidFill>
                <a:latin typeface="Consolas"/>
                <a:ea typeface="Consolas"/>
                <a:cs typeface="Consolas"/>
              </a:rPr>
              <a:t>├── frontend/         Next.js + MSW</a:t>
            </a:r>
          </a:p>
          <a:p>
            <a:pPr marL="0" indent="0">
              <a:lnSpc>
                <a:spcPct val="100000"/>
              </a:lnSpc>
              <a:spcAft>
                <a:spcPts val="0"/>
              </a:spcAft>
              <a:buNone/>
            </a:pPr>
            <a:r>
              <a:rPr sz="950" b="0" i="0" lang="es-CL">
                <a:solidFill>
                  <a:srgbClr val="1F2328"/>
                </a:solidFill>
                <a:latin typeface="Consolas"/>
                <a:ea typeface="Consolas"/>
                <a:cs typeface="Consolas"/>
              </a:rPr>
              <a:t>├── tools/            spec-trace, evidencia del PR</a:t>
            </a:r>
          </a:p>
          <a:p>
            <a:pPr marL="0" indent="0">
              <a:lnSpc>
                <a:spcPct val="100000"/>
              </a:lnSpc>
              <a:spcAft>
                <a:spcPts val="0"/>
              </a:spcAft>
              <a:buNone/>
            </a:pPr>
            <a:r>
              <a:rPr sz="950" b="0" i="0" lang="es-CL">
                <a:solidFill>
                  <a:srgbClr val="1F2328"/>
                </a:solidFill>
                <a:latin typeface="Consolas"/>
                <a:ea typeface="Consolas"/>
                <a:cs typeface="Consolas"/>
              </a:rPr>
              <a:t>├── .github/workflows CI con DevSecOps</a:t>
            </a:r>
          </a:p>
          <a:p>
            <a:pPr marL="0" indent="0">
              <a:lnSpc>
                <a:spcPct val="100000"/>
              </a:lnSpc>
              <a:spcAft>
                <a:spcPts val="0"/>
              </a:spcAft>
              <a:buNone/>
            </a:pPr>
            <a:r>
              <a:rPr sz="950" b="0" i="0" lang="es-CL">
                <a:solidFill>
                  <a:srgbClr val="1F2328"/>
                </a:solidFill>
                <a:latin typeface="Consolas"/>
                <a:ea typeface="Consolas"/>
                <a:cs typeface="Consolas"/>
              </a:rPr>
              <a:t>└── docs/             esta presentación</a:t>
            </a:r>
          </a:p>
        </p:txBody>
      </p:sp>
      <p:sp>
        <p:nvSpPr>
          <p:cNvPr id="7" name="TextBox 6"/>
          <p:cNvSpPr txBox="1"/>
          <p:nvPr/>
        </p:nvSpPr>
        <p:spPr>
          <a:xfrm>
            <a:off x="5486400" y="1051560"/>
            <a:ext cx="3246120" cy="274320"/>
          </a:xfrm>
          <a:prstGeom prst="rect">
            <a:avLst/>
          </a:prstGeom>
          <a:noFill/>
        </p:spPr>
        <p:txBody>
          <a:bodyPr wrap="square" lIns="36576" rIns="36576" tIns="36576" bIns="36576" anchor="t"/>
          <a:lstStyle/>
          <a:p>
            <a:pPr algn="l" marL="0" indent="0">
              <a:spcAft>
                <a:spcPts val="400"/>
              </a:spcAft>
              <a:buNone/>
            </a:pPr>
            <a:r>
              <a:rPr sz="1200" b="1" i="0" lang="es-CL">
                <a:solidFill>
                  <a:srgbClr val="1F2328"/>
                </a:solidFill>
                <a:latin typeface="Inter"/>
                <a:ea typeface="Inter"/>
                <a:cs typeface="Inter"/>
              </a:rPr>
              <a:t>Stack</a:t>
            </a:r>
          </a:p>
        </p:txBody>
      </p:sp>
      <p:sp>
        <p:nvSpPr>
          <p:cNvPr id="8" name="Rounded Rectangle 7"/>
          <p:cNvSpPr/>
          <p:nvPr/>
        </p:nvSpPr>
        <p:spPr>
          <a:xfrm>
            <a:off x="5486400" y="1417320"/>
            <a:ext cx="1554480" cy="329184"/>
          </a:xfrm>
          <a:prstGeom prst="roundRect">
            <a:avLst>
              <a:gd name="adj" fmla="val 16666"/>
            </a:avLst>
          </a:prstGeom>
          <a:solidFill>
            <a:srgbClr val="003D4F"/>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NestJS</a:t>
            </a:r>
          </a:p>
        </p:txBody>
      </p:sp>
      <p:sp>
        <p:nvSpPr>
          <p:cNvPr id="9" name="Rounded Rectangle 8"/>
          <p:cNvSpPr/>
          <p:nvPr/>
        </p:nvSpPr>
        <p:spPr>
          <a:xfrm>
            <a:off x="7132320" y="1417320"/>
            <a:ext cx="1554480" cy="329184"/>
          </a:xfrm>
          <a:prstGeom prst="roundRect">
            <a:avLst>
              <a:gd name="adj" fmla="val 16666"/>
            </a:avLst>
          </a:prstGeom>
          <a:solidFill>
            <a:srgbClr val="003D4F"/>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PostgreSQL</a:t>
            </a:r>
          </a:p>
        </p:txBody>
      </p:sp>
      <p:sp>
        <p:nvSpPr>
          <p:cNvPr id="10" name="Rounded Rectangle 9"/>
          <p:cNvSpPr/>
          <p:nvPr/>
        </p:nvSpPr>
        <p:spPr>
          <a:xfrm>
            <a:off x="5486400" y="1847088"/>
            <a:ext cx="1554480" cy="329184"/>
          </a:xfrm>
          <a:prstGeom prst="roundRect">
            <a:avLst>
              <a:gd name="adj" fmla="val 16666"/>
            </a:avLst>
          </a:prstGeom>
          <a:solidFill>
            <a:srgbClr val="003D4F"/>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TypeORM</a:t>
            </a:r>
          </a:p>
        </p:txBody>
      </p:sp>
      <p:sp>
        <p:nvSpPr>
          <p:cNvPr id="11" name="Rounded Rectangle 10"/>
          <p:cNvSpPr/>
          <p:nvPr/>
        </p:nvSpPr>
        <p:spPr>
          <a:xfrm>
            <a:off x="7132320" y="1847088"/>
            <a:ext cx="1554480" cy="329184"/>
          </a:xfrm>
          <a:prstGeom prst="roundRect">
            <a:avLst>
              <a:gd name="adj" fmla="val 16666"/>
            </a:avLst>
          </a:prstGeom>
          <a:solidFill>
            <a:srgbClr val="CC850A"/>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Next.js</a:t>
            </a:r>
          </a:p>
        </p:txBody>
      </p:sp>
      <p:sp>
        <p:nvSpPr>
          <p:cNvPr id="12" name="Rounded Rectangle 11"/>
          <p:cNvSpPr/>
          <p:nvPr/>
        </p:nvSpPr>
        <p:spPr>
          <a:xfrm>
            <a:off x="5486400" y="2276856"/>
            <a:ext cx="1554480" cy="329184"/>
          </a:xfrm>
          <a:prstGeom prst="roundRect">
            <a:avLst>
              <a:gd name="adj" fmla="val 16666"/>
            </a:avLst>
          </a:prstGeom>
          <a:solidFill>
            <a:srgbClr val="CC850A"/>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React</a:t>
            </a:r>
          </a:p>
        </p:txBody>
      </p:sp>
      <p:sp>
        <p:nvSpPr>
          <p:cNvPr id="13" name="Rounded Rectangle 12"/>
          <p:cNvSpPr/>
          <p:nvPr/>
        </p:nvSpPr>
        <p:spPr>
          <a:xfrm>
            <a:off x="7132320" y="2276856"/>
            <a:ext cx="1554480" cy="329184"/>
          </a:xfrm>
          <a:prstGeom prst="roundRect">
            <a:avLst>
              <a:gd name="adj" fmla="val 16666"/>
            </a:avLst>
          </a:prstGeom>
          <a:solidFill>
            <a:srgbClr val="CC850A"/>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MSW</a:t>
            </a:r>
          </a:p>
        </p:txBody>
      </p:sp>
      <p:sp>
        <p:nvSpPr>
          <p:cNvPr id="14" name="Rounded Rectangle 13"/>
          <p:cNvSpPr/>
          <p:nvPr/>
        </p:nvSpPr>
        <p:spPr>
          <a:xfrm>
            <a:off x="5486400" y="2706624"/>
            <a:ext cx="1554480" cy="329184"/>
          </a:xfrm>
          <a:prstGeom prst="roundRect">
            <a:avLst>
              <a:gd name="adj" fmla="val 16666"/>
            </a:avLst>
          </a:prstGeom>
          <a:solidFill>
            <a:srgbClr val="38761D"/>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Jest</a:t>
            </a:r>
          </a:p>
        </p:txBody>
      </p:sp>
      <p:sp>
        <p:nvSpPr>
          <p:cNvPr id="15" name="Rounded Rectangle 14"/>
          <p:cNvSpPr/>
          <p:nvPr/>
        </p:nvSpPr>
        <p:spPr>
          <a:xfrm>
            <a:off x="7132320" y="2706624"/>
            <a:ext cx="1554480" cy="329184"/>
          </a:xfrm>
          <a:prstGeom prst="roundRect">
            <a:avLst>
              <a:gd name="adj" fmla="val 16666"/>
            </a:avLst>
          </a:prstGeom>
          <a:solidFill>
            <a:srgbClr val="38761D"/>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Vitest</a:t>
            </a:r>
          </a:p>
        </p:txBody>
      </p:sp>
      <p:sp>
        <p:nvSpPr>
          <p:cNvPr id="16" name="Rounded Rectangle 15"/>
          <p:cNvSpPr/>
          <p:nvPr/>
        </p:nvSpPr>
        <p:spPr>
          <a:xfrm>
            <a:off x="5486400" y="3136391"/>
            <a:ext cx="1554480" cy="329184"/>
          </a:xfrm>
          <a:prstGeom prst="roundRect">
            <a:avLst>
              <a:gd name="adj" fmla="val 16666"/>
            </a:avLst>
          </a:prstGeom>
          <a:solidFill>
            <a:srgbClr val="38761D"/>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Playwright</a:t>
            </a:r>
          </a:p>
        </p:txBody>
      </p:sp>
      <p:sp>
        <p:nvSpPr>
          <p:cNvPr id="17" name="Rounded Rectangle 16"/>
          <p:cNvSpPr/>
          <p:nvPr/>
        </p:nvSpPr>
        <p:spPr>
          <a:xfrm>
            <a:off x="7132320" y="3136391"/>
            <a:ext cx="1554480" cy="329184"/>
          </a:xfrm>
          <a:prstGeom prst="roundRect">
            <a:avLst>
              <a:gd name="adj" fmla="val 16666"/>
            </a:avLst>
          </a:prstGeom>
          <a:solidFill>
            <a:srgbClr val="38761D"/>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Testcontainers</a:t>
            </a:r>
          </a:p>
        </p:txBody>
      </p:sp>
      <p:sp>
        <p:nvSpPr>
          <p:cNvPr id="18" name="Rounded Rectangle 17"/>
          <p:cNvSpPr/>
          <p:nvPr/>
        </p:nvSpPr>
        <p:spPr>
          <a:xfrm>
            <a:off x="5486400" y="3566159"/>
            <a:ext cx="1554480" cy="329184"/>
          </a:xfrm>
          <a:prstGeom prst="roundRect">
            <a:avLst>
              <a:gd name="adj" fmla="val 16666"/>
            </a:avLst>
          </a:prstGeom>
          <a:solidFill>
            <a:srgbClr val="634F7D"/>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Spectral</a:t>
            </a:r>
          </a:p>
        </p:txBody>
      </p:sp>
      <p:sp>
        <p:nvSpPr>
          <p:cNvPr id="19" name="Rounded Rectangle 18"/>
          <p:cNvSpPr/>
          <p:nvPr/>
        </p:nvSpPr>
        <p:spPr>
          <a:xfrm>
            <a:off x="7132320" y="3566159"/>
            <a:ext cx="1554480" cy="329184"/>
          </a:xfrm>
          <a:prstGeom prst="roundRect">
            <a:avLst>
              <a:gd name="adj" fmla="val 16666"/>
            </a:avLst>
          </a:prstGeom>
          <a:solidFill>
            <a:srgbClr val="980000"/>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Semgrep</a:t>
            </a:r>
          </a:p>
        </p:txBody>
      </p:sp>
      <p:sp>
        <p:nvSpPr>
          <p:cNvPr id="20" name="Rounded Rectangle 19"/>
          <p:cNvSpPr/>
          <p:nvPr/>
        </p:nvSpPr>
        <p:spPr>
          <a:xfrm>
            <a:off x="5486400" y="3995928"/>
            <a:ext cx="1554480" cy="329184"/>
          </a:xfrm>
          <a:prstGeom prst="roundRect">
            <a:avLst>
              <a:gd name="adj" fmla="val 16666"/>
            </a:avLst>
          </a:prstGeom>
          <a:solidFill>
            <a:srgbClr val="980000"/>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Trivy</a:t>
            </a:r>
          </a:p>
        </p:txBody>
      </p:sp>
      <p:sp>
        <p:nvSpPr>
          <p:cNvPr id="21" name="Rounded Rectangle 20"/>
          <p:cNvSpPr/>
          <p:nvPr/>
        </p:nvSpPr>
        <p:spPr>
          <a:xfrm>
            <a:off x="7132320" y="3995928"/>
            <a:ext cx="1554480" cy="329184"/>
          </a:xfrm>
          <a:prstGeom prst="roundRect">
            <a:avLst>
              <a:gd name="adj" fmla="val 16666"/>
            </a:avLst>
          </a:prstGeom>
          <a:solidFill>
            <a:srgbClr val="980000"/>
          </a:solidFill>
          <a:ln>
            <a:noFill/>
          </a:ln>
        </p:spPr>
        <p:txBody>
          <a:bodyPr rtlCol="0" anchor="ctr" wrap="square" lIns="27432" rIns="27432" tIns="27432" bIns="27432"/>
          <a:lstStyle/>
          <a:p>
            <a:pPr algn="ctr" marL="0" indent="0">
              <a:spcAft>
                <a:spcPts val="200"/>
              </a:spcAft>
              <a:buNone/>
            </a:pPr>
            <a:r>
              <a:rPr sz="1000" b="1" i="0" lang="es-CL">
                <a:solidFill>
                  <a:srgbClr val="FFFFFF"/>
                </a:solidFill>
                <a:latin typeface="Inter"/>
                <a:ea typeface="Inter"/>
                <a:cs typeface="Inter"/>
              </a:rPr>
              <a:t>ZAP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La app: Biblioteca UC</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pic>
        <p:nvPicPr>
          <p:cNvPr id="4" name="Picture 3" descr="Captura de pantalla del catálogo de la Biblioteca UC"/>
          <p:cNvPicPr>
            <a:picLocks noChangeAspect="1"/>
          </p:cNvPicPr>
          <p:nvPr/>
        </p:nvPicPr>
        <p:blipFill>
          <a:blip r:embed="rId2"/>
          <a:stretch>
            <a:fillRect/>
          </a:stretch>
        </p:blipFill>
        <p:spPr>
          <a:xfrm>
            <a:off x="411480" y="1051560"/>
            <a:ext cx="4069080" cy="2543175"/>
          </a:xfrm>
          <a:prstGeom prst="rect">
            <a:avLst/>
          </a:prstGeom>
          <a:ln w="9525">
            <a:solidFill>
              <a:srgbClr val="D0D7DE"/>
            </a:solidFill>
          </a:ln>
        </p:spPr>
      </p:pic>
      <p:sp>
        <p:nvSpPr>
          <p:cNvPr id="5" name="TextBox 4"/>
          <p:cNvSpPr txBox="1"/>
          <p:nvPr/>
        </p:nvSpPr>
        <p:spPr>
          <a:xfrm>
            <a:off x="411480" y="3675887"/>
            <a:ext cx="4069080" cy="45720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Catálogo: insignia verde o roja según las copias (UI-CAT-2) y botón deshabilitado si está agotado (UI-CAT-3).</a:t>
            </a:r>
          </a:p>
        </p:txBody>
      </p:sp>
      <p:pic>
        <p:nvPicPr>
          <p:cNvPr id="6" name="Picture 5" descr="Captura del error al superar el límite de préstamos"/>
          <p:cNvPicPr>
            <a:picLocks noChangeAspect="1"/>
          </p:cNvPicPr>
          <p:nvPr/>
        </p:nvPicPr>
        <p:blipFill>
          <a:blip r:embed="rId3"/>
          <a:stretch>
            <a:fillRect/>
          </a:stretch>
        </p:blipFill>
        <p:spPr>
          <a:xfrm>
            <a:off x="4663440" y="1051560"/>
            <a:ext cx="4069080" cy="2543175"/>
          </a:xfrm>
          <a:prstGeom prst="rect">
            <a:avLst/>
          </a:prstGeom>
          <a:ln w="9525">
            <a:solidFill>
              <a:srgbClr val="D0D7DE"/>
            </a:solidFill>
          </a:ln>
        </p:spPr>
      </p:pic>
      <p:sp>
        <p:nvSpPr>
          <p:cNvPr id="7" name="TextBox 6"/>
          <p:cNvSpPr txBox="1"/>
          <p:nvPr/>
        </p:nvSpPr>
        <p:spPr>
          <a:xfrm>
            <a:off x="4663440" y="3675887"/>
            <a:ext cx="4069080" cy="457200"/>
          </a:xfrm>
          <a:prstGeom prst="rect">
            <a:avLst/>
          </a:prstGeom>
          <a:noFill/>
        </p:spPr>
        <p:txBody>
          <a:bodyPr wrap="square" lIns="36576" rIns="36576" tIns="36576" bIns="36576" anchor="t"/>
          <a:lstStyle/>
          <a:p>
            <a:pPr algn="l" marL="0" indent="0">
              <a:spcAft>
                <a:spcPts val="400"/>
              </a:spcAft>
              <a:buNone/>
            </a:pPr>
            <a:r>
              <a:rPr sz="1000" b="0" i="0" lang="es-CL">
                <a:solidFill>
                  <a:srgbClr val="1F2328"/>
                </a:solidFill>
                <a:latin typeface="Inter"/>
                <a:ea typeface="Inter"/>
                <a:cs typeface="Inter"/>
              </a:rPr>
              <a:t>Detalle del libro: el cuarto préstamo muestra el mensaje de LOAN-R2 (UI-LOAN-4).</a:t>
            </a:r>
          </a:p>
        </p:txBody>
      </p:sp>
      <p:sp>
        <p:nvSpPr>
          <p:cNvPr id="8" name="TextBox 7"/>
          <p:cNvSpPr txBox="1"/>
          <p:nvPr/>
        </p:nvSpPr>
        <p:spPr>
          <a:xfrm>
            <a:off x="411480" y="4206240"/>
            <a:ext cx="8321040" cy="274320"/>
          </a:xfrm>
          <a:prstGeom prst="rect">
            <a:avLst/>
          </a:prstGeom>
          <a:noFill/>
        </p:spPr>
        <p:txBody>
          <a:bodyPr wrap="square" lIns="36576" rIns="36576" tIns="36576" bIns="36576" anchor="t"/>
          <a:lstStyle/>
          <a:p>
            <a:pPr algn="ctr" marL="0" indent="0">
              <a:spcAft>
                <a:spcPts val="400"/>
              </a:spcAft>
              <a:buNone/>
            </a:pPr>
            <a:r>
              <a:rPr sz="900" b="0" i="0" lang="es-CL">
                <a:solidFill>
                  <a:srgbClr val="8C959F"/>
                </a:solidFill>
                <a:latin typeface="Inter"/>
                <a:ea typeface="Inter"/>
                <a:cs typeface="Inter"/>
              </a:rPr>
              <a:t>Capturas reales que toma Playwright en el pipeline (FLOW-CAT-01 y FLOW-PRE-03), con el mock server y el reloj fijo.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Arquitectura en capas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TextBox 3"/>
          <p:cNvSpPr txBox="1"/>
          <p:nvPr/>
        </p:nvSpPr>
        <p:spPr>
          <a:xfrm>
            <a:off x="411480" y="1024128"/>
            <a:ext cx="4023360" cy="274320"/>
          </a:xfrm>
          <a:prstGeom prst="rect">
            <a:avLst/>
          </a:prstGeom>
          <a:noFill/>
        </p:spPr>
        <p:txBody>
          <a:bodyPr wrap="square" lIns="36576" rIns="36576" tIns="36576" bIns="36576" anchor="t"/>
          <a:lstStyle/>
          <a:p>
            <a:pPr algn="l" marL="0" indent="0">
              <a:spcAft>
                <a:spcPts val="400"/>
              </a:spcAft>
              <a:buNone/>
            </a:pPr>
            <a:r>
              <a:rPr sz="1200" b="1" i="0" lang="es-CL">
                <a:solidFill>
                  <a:srgbClr val="003D4F"/>
                </a:solidFill>
                <a:latin typeface="Inter"/>
                <a:ea typeface="Inter"/>
                <a:cs typeface="Inter"/>
              </a:rPr>
              <a:t>Backend (NestJS)</a:t>
            </a:r>
          </a:p>
        </p:txBody>
      </p:sp>
      <p:sp>
        <p:nvSpPr>
          <p:cNvPr id="5" name="Rounded Rectangle 4"/>
          <p:cNvSpPr/>
          <p:nvPr/>
        </p:nvSpPr>
        <p:spPr>
          <a:xfrm>
            <a:off x="411480" y="1371600"/>
            <a:ext cx="2377440" cy="566928"/>
          </a:xfrm>
          <a:prstGeom prst="roundRect">
            <a:avLst>
              <a:gd name="adj" fmla="val 12903"/>
            </a:avLst>
          </a:prstGeom>
          <a:solidFill>
            <a:srgbClr val="47A1AD"/>
          </a:solidFill>
          <a:ln>
            <a:noFill/>
          </a:ln>
        </p:spPr>
        <p:txBody>
          <a:bodyPr rtlCol="0" anchor="ctr" wrap="square" lIns="54864" rIns="54864" tIns="54864" bIns="54864"/>
          <a:lstStyle/>
          <a:p>
            <a:pPr algn="ctr" marL="0" indent="0">
              <a:spcAft>
                <a:spcPts val="0"/>
              </a:spcAft>
              <a:buNone/>
            </a:pPr>
            <a:r>
              <a:rPr sz="950" b="1" i="0" lang="es-CL">
                <a:solidFill>
                  <a:srgbClr val="FFFFFF"/>
                </a:solidFill>
                <a:latin typeface="Inter"/>
                <a:ea typeface="Inter"/>
                <a:cs typeface="Inter"/>
              </a:rPr>
              <a:t>presentation</a:t>
            </a:r>
          </a:p>
          <a:p>
            <a:pPr algn="ctr" marL="0" indent="0">
              <a:spcAft>
                <a:spcPts val="0"/>
              </a:spcAft>
              <a:buNone/>
            </a:pPr>
            <a:r>
              <a:rPr sz="950" b="0" i="0" lang="es-CL">
                <a:solidFill>
                  <a:srgbClr val="FFFFFF"/>
                </a:solidFill>
                <a:latin typeface="Inter"/>
                <a:ea typeface="Inter"/>
                <a:cs typeface="Inter"/>
              </a:rPr>
              <a:t>controllers, DTOs, problem+json</a:t>
            </a:r>
          </a:p>
        </p:txBody>
      </p:sp>
      <p:sp>
        <p:nvSpPr>
          <p:cNvPr id="6" name="Rounded Rectangle 5"/>
          <p:cNvSpPr/>
          <p:nvPr/>
        </p:nvSpPr>
        <p:spPr>
          <a:xfrm>
            <a:off x="411480" y="2103120"/>
            <a:ext cx="2377440" cy="566928"/>
          </a:xfrm>
          <a:prstGeom prst="roundRect">
            <a:avLst>
              <a:gd name="adj" fmla="val 12903"/>
            </a:avLst>
          </a:prstGeom>
          <a:solidFill>
            <a:srgbClr val="003D4F"/>
          </a:solidFill>
          <a:ln>
            <a:noFill/>
          </a:ln>
        </p:spPr>
        <p:txBody>
          <a:bodyPr rtlCol="0" anchor="ctr" wrap="square" lIns="54864" rIns="54864" tIns="54864" bIns="54864"/>
          <a:lstStyle/>
          <a:p>
            <a:pPr algn="ctr" marL="0" indent="0">
              <a:spcAft>
                <a:spcPts val="0"/>
              </a:spcAft>
              <a:buNone/>
            </a:pPr>
            <a:r>
              <a:rPr sz="950" b="1" i="0" lang="es-CL">
                <a:solidFill>
                  <a:srgbClr val="FFFFFF"/>
                </a:solidFill>
                <a:latin typeface="Inter"/>
                <a:ea typeface="Inter"/>
                <a:cs typeface="Inter"/>
              </a:rPr>
              <a:t>application</a:t>
            </a:r>
          </a:p>
          <a:p>
            <a:pPr algn="ctr" marL="0" indent="0">
              <a:spcAft>
                <a:spcPts val="0"/>
              </a:spcAft>
              <a:buNone/>
            </a:pPr>
            <a:r>
              <a:rPr sz="950" b="0" i="0" lang="es-CL">
                <a:solidFill>
                  <a:srgbClr val="FFFFFF"/>
                </a:solidFill>
                <a:latin typeface="Inter"/>
                <a:ea typeface="Inter"/>
                <a:cs typeface="Inter"/>
              </a:rPr>
              <a:t>casos de uso y puertos</a:t>
            </a:r>
          </a:p>
        </p:txBody>
      </p:sp>
      <p:sp>
        <p:nvSpPr>
          <p:cNvPr id="7" name="Rounded Rectangle 6"/>
          <p:cNvSpPr/>
          <p:nvPr/>
        </p:nvSpPr>
        <p:spPr>
          <a:xfrm>
            <a:off x="411480" y="2834640"/>
            <a:ext cx="2377440" cy="566928"/>
          </a:xfrm>
          <a:prstGeom prst="roundRect">
            <a:avLst>
              <a:gd name="adj" fmla="val 12903"/>
            </a:avLst>
          </a:prstGeom>
          <a:solidFill>
            <a:srgbClr val="38761D"/>
          </a:solidFill>
          <a:ln>
            <a:noFill/>
          </a:ln>
        </p:spPr>
        <p:txBody>
          <a:bodyPr rtlCol="0" anchor="ctr" wrap="square" lIns="54864" rIns="54864" tIns="54864" bIns="54864"/>
          <a:lstStyle/>
          <a:p>
            <a:pPr algn="ctr" marL="0" indent="0">
              <a:spcAft>
                <a:spcPts val="0"/>
              </a:spcAft>
              <a:buNone/>
            </a:pPr>
            <a:r>
              <a:rPr sz="950" b="1" i="0" lang="es-CL">
                <a:solidFill>
                  <a:srgbClr val="FFFFFF"/>
                </a:solidFill>
                <a:latin typeface="Inter"/>
                <a:ea typeface="Inter"/>
                <a:cs typeface="Inter"/>
              </a:rPr>
              <a:t>domain</a:t>
            </a:r>
          </a:p>
          <a:p>
            <a:pPr algn="ctr" marL="0" indent="0">
              <a:spcAft>
                <a:spcPts val="0"/>
              </a:spcAft>
              <a:buNone/>
            </a:pPr>
            <a:r>
              <a:rPr sz="950" b="0" i="0" lang="es-CL">
                <a:solidFill>
                  <a:srgbClr val="FFFFFF"/>
                </a:solidFill>
                <a:latin typeface="Inter"/>
                <a:ea typeface="Inter"/>
                <a:cs typeface="Inter"/>
              </a:rPr>
              <a:t>reglas puras: ISBN, préstamo</a:t>
            </a:r>
          </a:p>
        </p:txBody>
      </p:sp>
      <p:sp>
        <p:nvSpPr>
          <p:cNvPr id="8" name="Rounded Rectangle 7"/>
          <p:cNvSpPr/>
          <p:nvPr/>
        </p:nvSpPr>
        <p:spPr>
          <a:xfrm>
            <a:off x="3063240" y="2103120"/>
            <a:ext cx="1371600" cy="1298448"/>
          </a:xfrm>
          <a:prstGeom prst="roundRect">
            <a:avLst>
              <a:gd name="adj" fmla="val 5633"/>
            </a:avLst>
          </a:prstGeom>
          <a:solidFill>
            <a:srgbClr val="CC850A"/>
          </a:solidFill>
          <a:ln>
            <a:noFill/>
          </a:ln>
        </p:spPr>
        <p:txBody>
          <a:bodyPr rtlCol="0" anchor="ctr" wrap="square" lIns="54864" rIns="54864" tIns="54864" bIns="54864"/>
          <a:lstStyle/>
          <a:p>
            <a:pPr algn="ctr" marL="0" indent="0">
              <a:spcAft>
                <a:spcPts val="0"/>
              </a:spcAft>
              <a:buNone/>
            </a:pPr>
            <a:r>
              <a:rPr sz="950" b="1" i="0" lang="es-CL">
                <a:solidFill>
                  <a:srgbClr val="FFFFFF"/>
                </a:solidFill>
                <a:latin typeface="Inter"/>
                <a:ea typeface="Inter"/>
                <a:cs typeface="Inter"/>
              </a:rPr>
              <a:t>infrastructure</a:t>
            </a:r>
          </a:p>
          <a:p>
            <a:pPr algn="ctr" marL="0" indent="0">
              <a:spcAft>
                <a:spcPts val="0"/>
              </a:spcAft>
              <a:buNone/>
            </a:pPr>
            <a:r>
              <a:rPr sz="950" b="0" i="0" lang="es-CL">
                <a:solidFill>
                  <a:srgbClr val="FFFFFF"/>
                </a:solidFill>
                <a:latin typeface="Inter"/>
                <a:ea typeface="Inter"/>
                <a:cs typeface="Inter"/>
              </a:rPr>
              <a:t>TypeORM, migraciones</a:t>
            </a:r>
          </a:p>
        </p:txBody>
      </p:sp>
      <p:cxnSp>
        <p:nvCxnSpPr>
          <p:cNvPr id="9" name="Connector 8"/>
          <p:cNvCxnSpPr/>
          <p:nvPr/>
        </p:nvCxnSpPr>
        <p:spPr>
          <a:xfrm>
            <a:off x="1600200" y="1947672"/>
            <a:ext cx="0" cy="137159"/>
          </a:xfrm>
          <a:prstGeom prst="line">
            <a:avLst/>
          </a:prstGeom>
          <a:ln w="19050">
            <a:solidFill>
              <a:srgbClr val="1F2328"/>
            </a:solidFill>
            <a:tailEnd type="triangle" w="med" len="med"/>
          </a:ln>
        </p:spPr>
      </p:cxnSp>
      <p:cxnSp>
        <p:nvCxnSpPr>
          <p:cNvPr id="10" name="Connector 9"/>
          <p:cNvCxnSpPr/>
          <p:nvPr/>
        </p:nvCxnSpPr>
        <p:spPr>
          <a:xfrm>
            <a:off x="1600200" y="2679192"/>
            <a:ext cx="0" cy="137160"/>
          </a:xfrm>
          <a:prstGeom prst="line">
            <a:avLst/>
          </a:prstGeom>
          <a:ln w="19050">
            <a:solidFill>
              <a:srgbClr val="1F2328"/>
            </a:solidFill>
            <a:tailEnd type="triangle" w="med" len="med"/>
          </a:ln>
        </p:spPr>
      </p:cxnSp>
      <p:cxnSp>
        <p:nvCxnSpPr>
          <p:cNvPr id="11" name="Connector 10"/>
          <p:cNvCxnSpPr/>
          <p:nvPr/>
        </p:nvCxnSpPr>
        <p:spPr>
          <a:xfrm flipH="1">
            <a:off x="2807208" y="3108960"/>
            <a:ext cx="237744" cy="0"/>
          </a:xfrm>
          <a:prstGeom prst="line">
            <a:avLst/>
          </a:prstGeom>
          <a:ln w="19050">
            <a:solidFill>
              <a:srgbClr val="1F2328"/>
            </a:solidFill>
            <a:tailEnd type="triangle" w="med" len="med"/>
          </a:ln>
        </p:spPr>
      </p:cxnSp>
      <p:cxnSp>
        <p:nvCxnSpPr>
          <p:cNvPr id="12" name="Connector 11"/>
          <p:cNvCxnSpPr/>
          <p:nvPr/>
        </p:nvCxnSpPr>
        <p:spPr>
          <a:xfrm flipH="1">
            <a:off x="2807208" y="2377440"/>
            <a:ext cx="237744" cy="0"/>
          </a:xfrm>
          <a:prstGeom prst="line">
            <a:avLst/>
          </a:prstGeom>
          <a:ln w="19050">
            <a:solidFill>
              <a:srgbClr val="1F2328"/>
            </a:solidFill>
            <a:tailEnd type="triangle" w="med" len="med"/>
          </a:ln>
        </p:spPr>
      </p:cxnSp>
      <p:sp>
        <p:nvSpPr>
          <p:cNvPr id="13" name="TextBox 12"/>
          <p:cNvSpPr txBox="1"/>
          <p:nvPr/>
        </p:nvSpPr>
        <p:spPr>
          <a:xfrm>
            <a:off x="411480" y="3566160"/>
            <a:ext cx="4023360" cy="960120"/>
          </a:xfrm>
          <a:prstGeom prst="rect">
            <a:avLst/>
          </a:prstGeom>
          <a:noFill/>
        </p:spPr>
        <p:txBody>
          <a:bodyPr wrap="square" lIns="36576" rIns="36576" tIns="36576" bIns="36576" anchor="t"/>
          <a:lstStyle/>
          <a:p>
            <a:pPr algn="l" marL="182880" indent="-164592">
              <a:spcAft>
                <a:spcPts val="200"/>
              </a:spcAft>
              <a:buClr>
                <a:srgbClr val="F2617A"/>
              </a:buClr>
              <a:buSzPct val="100000"/>
              <a:buFont typeface="Arial"/>
              <a:buChar char="●"/>
            </a:pPr>
            <a:r>
              <a:rPr sz="950" b="1" i="0" lang="es-CL">
                <a:solidFill>
                  <a:srgbClr val="1F2328"/>
                </a:solidFill>
                <a:latin typeface="Inter"/>
                <a:ea typeface="Inter"/>
                <a:cs typeface="Inter"/>
              </a:rPr>
              <a:t>ARCH-R1</a:t>
            </a:r>
            <a:r>
              <a:rPr sz="950" b="0" i="0" lang="es-CL">
                <a:solidFill>
                  <a:srgbClr val="1F2328"/>
                </a:solidFill>
                <a:latin typeface="Inter"/>
                <a:ea typeface="Inter"/>
                <a:cs typeface="Inter"/>
              </a:rPr>
              <a:t> domain no importa Nest, TypeORM ni pg</a:t>
            </a:r>
          </a:p>
          <a:p>
            <a:pPr algn="l" marL="182880" indent="-164592">
              <a:spcAft>
                <a:spcPts val="200"/>
              </a:spcAft>
              <a:buClr>
                <a:srgbClr val="F2617A"/>
              </a:buClr>
              <a:buSzPct val="100000"/>
              <a:buFont typeface="Arial"/>
              <a:buChar char="●"/>
            </a:pPr>
            <a:r>
              <a:rPr sz="950" b="1" i="0" lang="es-CL">
                <a:solidFill>
                  <a:srgbClr val="1F2328"/>
                </a:solidFill>
                <a:latin typeface="Inter"/>
                <a:ea typeface="Inter"/>
                <a:cs typeface="Inter"/>
              </a:rPr>
              <a:t>ARCH-R2</a:t>
            </a:r>
            <a:r>
              <a:rPr sz="950" b="0" i="0" lang="es-CL">
                <a:solidFill>
                  <a:srgbClr val="1F2328"/>
                </a:solidFill>
                <a:latin typeface="Inter"/>
                <a:ea typeface="Inter"/>
                <a:cs typeface="Inter"/>
              </a:rPr>
              <a:t> application depende de puertos, no de infraestructura</a:t>
            </a:r>
          </a:p>
          <a:p>
            <a:pPr algn="l" marL="182880" indent="-164592">
              <a:spcAft>
                <a:spcPts val="200"/>
              </a:spcAft>
              <a:buClr>
                <a:srgbClr val="F2617A"/>
              </a:buClr>
              <a:buSzPct val="100000"/>
              <a:buFont typeface="Arial"/>
              <a:buChar char="●"/>
            </a:pPr>
            <a:r>
              <a:rPr sz="950" b="1" i="0" lang="es-CL">
                <a:solidFill>
                  <a:srgbClr val="1F2328"/>
                </a:solidFill>
                <a:latin typeface="Inter"/>
                <a:ea typeface="Inter"/>
                <a:cs typeface="Inter"/>
              </a:rPr>
              <a:t>ARCH-R3</a:t>
            </a:r>
            <a:r>
              <a:rPr sz="950" b="0" i="0" lang="es-CL">
                <a:solidFill>
                  <a:srgbClr val="1F2328"/>
                </a:solidFill>
                <a:latin typeface="Inter"/>
                <a:ea typeface="Inter"/>
                <a:cs typeface="Inter"/>
              </a:rPr>
              <a:t> presentation no toca repositorios</a:t>
            </a:r>
          </a:p>
        </p:txBody>
      </p:sp>
      <p:sp>
        <p:nvSpPr>
          <p:cNvPr id="14" name="TextBox 13"/>
          <p:cNvSpPr txBox="1"/>
          <p:nvPr/>
        </p:nvSpPr>
        <p:spPr>
          <a:xfrm>
            <a:off x="4709160" y="1024128"/>
            <a:ext cx="4023360" cy="274320"/>
          </a:xfrm>
          <a:prstGeom prst="rect">
            <a:avLst/>
          </a:prstGeom>
          <a:noFill/>
        </p:spPr>
        <p:txBody>
          <a:bodyPr wrap="square" lIns="36576" rIns="36576" tIns="36576" bIns="36576" anchor="t"/>
          <a:lstStyle/>
          <a:p>
            <a:pPr algn="l" marL="0" indent="0">
              <a:spcAft>
                <a:spcPts val="400"/>
              </a:spcAft>
              <a:buNone/>
            </a:pPr>
            <a:r>
              <a:rPr sz="1200" b="1" i="0" lang="es-CL">
                <a:solidFill>
                  <a:srgbClr val="CC850A"/>
                </a:solidFill>
                <a:latin typeface="Inter"/>
                <a:ea typeface="Inter"/>
                <a:cs typeface="Inter"/>
              </a:rPr>
              <a:t>Frontend (Next.js)</a:t>
            </a:r>
          </a:p>
        </p:txBody>
      </p:sp>
      <p:sp>
        <p:nvSpPr>
          <p:cNvPr id="15" name="Rounded Rectangle 14"/>
          <p:cNvSpPr/>
          <p:nvPr/>
        </p:nvSpPr>
        <p:spPr>
          <a:xfrm>
            <a:off x="4709160" y="1371600"/>
            <a:ext cx="2194560" cy="384048"/>
          </a:xfrm>
          <a:prstGeom prst="roundRect">
            <a:avLst>
              <a:gd name="adj" fmla="val 19047"/>
            </a:avLst>
          </a:prstGeom>
          <a:solidFill>
            <a:srgbClr val="CC850A"/>
          </a:solidFill>
          <a:ln>
            <a:noFill/>
          </a:ln>
        </p:spPr>
        <p:txBody>
          <a:bodyPr rtlCol="0" anchor="ctr" wrap="square" lIns="54864" rIns="54864" tIns="54864" bIns="54864"/>
          <a:lstStyle/>
          <a:p>
            <a:pPr algn="ctr" marL="0" indent="0">
              <a:spcAft>
                <a:spcPts val="200"/>
              </a:spcAft>
              <a:buNone/>
            </a:pPr>
            <a:r>
              <a:rPr sz="1000" b="1" i="0" lang="es-CL">
                <a:solidFill>
                  <a:srgbClr val="FFFFFF"/>
                </a:solidFill>
                <a:latin typeface="Inter"/>
                <a:ea typeface="Inter"/>
                <a:cs typeface="Inter"/>
              </a:rPr>
              <a:t>app (rutas)</a:t>
            </a:r>
          </a:p>
        </p:txBody>
      </p:sp>
      <p:sp>
        <p:nvSpPr>
          <p:cNvPr id="16" name="Rounded Rectangle 15"/>
          <p:cNvSpPr/>
          <p:nvPr/>
        </p:nvSpPr>
        <p:spPr>
          <a:xfrm>
            <a:off x="4709160" y="1901952"/>
            <a:ext cx="2194560" cy="384048"/>
          </a:xfrm>
          <a:prstGeom prst="roundRect">
            <a:avLst>
              <a:gd name="adj" fmla="val 19047"/>
            </a:avLst>
          </a:prstGeom>
          <a:solidFill>
            <a:srgbClr val="CC850A"/>
          </a:solidFill>
          <a:ln>
            <a:noFill/>
          </a:ln>
        </p:spPr>
        <p:txBody>
          <a:bodyPr rtlCol="0" anchor="ctr" wrap="square" lIns="54864" rIns="54864" tIns="54864" bIns="54864"/>
          <a:lstStyle/>
          <a:p>
            <a:pPr algn="ctr" marL="0" indent="0">
              <a:spcAft>
                <a:spcPts val="200"/>
              </a:spcAft>
              <a:buNone/>
            </a:pPr>
            <a:r>
              <a:rPr sz="1000" b="1" i="0" lang="es-CL">
                <a:solidFill>
                  <a:srgbClr val="FFFFFF"/>
                </a:solidFill>
                <a:latin typeface="Inter"/>
                <a:ea typeface="Inter"/>
                <a:cs typeface="Inter"/>
              </a:rPr>
              <a:t>features/*/components</a:t>
            </a:r>
          </a:p>
        </p:txBody>
      </p:sp>
      <p:sp>
        <p:nvSpPr>
          <p:cNvPr id="17" name="Rounded Rectangle 16"/>
          <p:cNvSpPr/>
          <p:nvPr/>
        </p:nvSpPr>
        <p:spPr>
          <a:xfrm>
            <a:off x="4709160" y="2432304"/>
            <a:ext cx="2194560" cy="384048"/>
          </a:xfrm>
          <a:prstGeom prst="roundRect">
            <a:avLst>
              <a:gd name="adj" fmla="val 19047"/>
            </a:avLst>
          </a:prstGeom>
          <a:solidFill>
            <a:srgbClr val="B5651D"/>
          </a:solidFill>
          <a:ln>
            <a:noFill/>
          </a:ln>
        </p:spPr>
        <p:txBody>
          <a:bodyPr rtlCol="0" anchor="ctr" wrap="square" lIns="54864" rIns="54864" tIns="54864" bIns="54864"/>
          <a:lstStyle/>
          <a:p>
            <a:pPr algn="ctr" marL="0" indent="0">
              <a:spcAft>
                <a:spcPts val="200"/>
              </a:spcAft>
              <a:buNone/>
            </a:pPr>
            <a:r>
              <a:rPr sz="1000" b="1" i="0" lang="es-CL">
                <a:solidFill>
                  <a:srgbClr val="FFFFFF"/>
                </a:solidFill>
                <a:latin typeface="Inter"/>
                <a:ea typeface="Inter"/>
                <a:cs typeface="Inter"/>
              </a:rPr>
              <a:t>features/*/hooks</a:t>
            </a:r>
          </a:p>
        </p:txBody>
      </p:sp>
      <p:sp>
        <p:nvSpPr>
          <p:cNvPr id="18" name="Rounded Rectangle 17"/>
          <p:cNvSpPr/>
          <p:nvPr/>
        </p:nvSpPr>
        <p:spPr>
          <a:xfrm>
            <a:off x="4709160" y="2962656"/>
            <a:ext cx="2194560" cy="384048"/>
          </a:xfrm>
          <a:prstGeom prst="roundRect">
            <a:avLst>
              <a:gd name="adj" fmla="val 19047"/>
            </a:avLst>
          </a:prstGeom>
          <a:solidFill>
            <a:srgbClr val="B5651D"/>
          </a:solidFill>
          <a:ln>
            <a:noFill/>
          </a:ln>
        </p:spPr>
        <p:txBody>
          <a:bodyPr rtlCol="0" anchor="ctr" wrap="square" lIns="54864" rIns="54864" tIns="54864" bIns="54864"/>
          <a:lstStyle/>
          <a:p>
            <a:pPr algn="ctr" marL="0" indent="0">
              <a:spcAft>
                <a:spcPts val="200"/>
              </a:spcAft>
              <a:buNone/>
            </a:pPr>
            <a:r>
              <a:rPr sz="1000" b="1" i="0" lang="es-CL">
                <a:solidFill>
                  <a:srgbClr val="FFFFFF"/>
                </a:solidFill>
                <a:latin typeface="Inter"/>
                <a:ea typeface="Inter"/>
                <a:cs typeface="Inter"/>
              </a:rPr>
              <a:t>shared/api</a:t>
            </a:r>
          </a:p>
        </p:txBody>
      </p:sp>
      <p:cxnSp>
        <p:nvCxnSpPr>
          <p:cNvPr id="19" name="Connector 18"/>
          <p:cNvCxnSpPr/>
          <p:nvPr/>
        </p:nvCxnSpPr>
        <p:spPr>
          <a:xfrm>
            <a:off x="5806440" y="1764792"/>
            <a:ext cx="0" cy="118872"/>
          </a:xfrm>
          <a:prstGeom prst="line">
            <a:avLst/>
          </a:prstGeom>
          <a:ln w="19050">
            <a:solidFill>
              <a:srgbClr val="1F2328"/>
            </a:solidFill>
            <a:tailEnd type="triangle" w="med" len="med"/>
          </a:ln>
        </p:spPr>
      </p:cxnSp>
      <p:cxnSp>
        <p:nvCxnSpPr>
          <p:cNvPr id="20" name="Connector 19"/>
          <p:cNvCxnSpPr/>
          <p:nvPr/>
        </p:nvCxnSpPr>
        <p:spPr>
          <a:xfrm>
            <a:off x="5806440" y="2295144"/>
            <a:ext cx="0" cy="118871"/>
          </a:xfrm>
          <a:prstGeom prst="line">
            <a:avLst/>
          </a:prstGeom>
          <a:ln w="19050">
            <a:solidFill>
              <a:srgbClr val="1F2328"/>
            </a:solidFill>
            <a:tailEnd type="triangle" w="med" len="med"/>
          </a:ln>
        </p:spPr>
      </p:cxnSp>
      <p:cxnSp>
        <p:nvCxnSpPr>
          <p:cNvPr id="21" name="Connector 20"/>
          <p:cNvCxnSpPr/>
          <p:nvPr/>
        </p:nvCxnSpPr>
        <p:spPr>
          <a:xfrm>
            <a:off x="5806440" y="2825496"/>
            <a:ext cx="0" cy="118872"/>
          </a:xfrm>
          <a:prstGeom prst="line">
            <a:avLst/>
          </a:prstGeom>
          <a:ln w="19050">
            <a:solidFill>
              <a:srgbClr val="1F2328"/>
            </a:solidFill>
            <a:tailEnd type="triangle" w="med" len="med"/>
          </a:ln>
        </p:spPr>
      </p:cxnSp>
      <p:sp>
        <p:nvSpPr>
          <p:cNvPr id="22" name="Rounded Rectangle 21"/>
          <p:cNvSpPr/>
          <p:nvPr/>
        </p:nvSpPr>
        <p:spPr>
          <a:xfrm>
            <a:off x="7269480" y="1901952"/>
            <a:ext cx="1463040" cy="914400"/>
          </a:xfrm>
          <a:prstGeom prst="roundRect">
            <a:avLst>
              <a:gd name="adj" fmla="val 8000"/>
            </a:avLst>
          </a:prstGeom>
          <a:solidFill>
            <a:srgbClr val="38761D"/>
          </a:solidFill>
          <a:ln>
            <a:noFill/>
          </a:ln>
        </p:spPr>
        <p:txBody>
          <a:bodyPr rtlCol="0" anchor="ctr" wrap="square" lIns="54864" rIns="54864" tIns="54864" bIns="54864"/>
          <a:lstStyle/>
          <a:p>
            <a:pPr algn="ctr" marL="0" indent="0">
              <a:spcAft>
                <a:spcPts val="0"/>
              </a:spcAft>
              <a:buNone/>
            </a:pPr>
            <a:r>
              <a:rPr sz="950" b="1" i="0" lang="es-CL">
                <a:solidFill>
                  <a:srgbClr val="FFFFFF"/>
                </a:solidFill>
                <a:latin typeface="Inter"/>
                <a:ea typeface="Inter"/>
                <a:cs typeface="Inter"/>
              </a:rPr>
              <a:t>shared/domain</a:t>
            </a:r>
          </a:p>
          <a:p>
            <a:pPr algn="ctr" marL="0" indent="0">
              <a:spcAft>
                <a:spcPts val="0"/>
              </a:spcAft>
              <a:buNone/>
            </a:pPr>
            <a:r>
              <a:rPr sz="950" b="0" i="0" lang="es-CL">
                <a:solidFill>
                  <a:srgbClr val="FFFFFF"/>
                </a:solidFill>
                <a:latin typeface="Inter"/>
                <a:ea typeface="Inter"/>
                <a:cs typeface="Inter"/>
              </a:rPr>
              <a:t>funciones puras</a:t>
            </a:r>
          </a:p>
        </p:txBody>
      </p:sp>
      <p:cxnSp>
        <p:nvCxnSpPr>
          <p:cNvPr id="23" name="Connector 22"/>
          <p:cNvCxnSpPr/>
          <p:nvPr/>
        </p:nvCxnSpPr>
        <p:spPr>
          <a:xfrm>
            <a:off x="6922008" y="2093976"/>
            <a:ext cx="329184" cy="146304"/>
          </a:xfrm>
          <a:prstGeom prst="line">
            <a:avLst/>
          </a:prstGeom>
          <a:ln w="19050">
            <a:solidFill>
              <a:srgbClr val="1F2328"/>
            </a:solidFill>
            <a:tailEnd type="triangle" w="med" len="med"/>
          </a:ln>
        </p:spPr>
      </p:cxnSp>
      <p:cxnSp>
        <p:nvCxnSpPr>
          <p:cNvPr id="24" name="Connector 23"/>
          <p:cNvCxnSpPr/>
          <p:nvPr/>
        </p:nvCxnSpPr>
        <p:spPr>
          <a:xfrm flipV="1">
            <a:off x="6922008" y="2468880"/>
            <a:ext cx="329184" cy="155448"/>
          </a:xfrm>
          <a:prstGeom prst="line">
            <a:avLst/>
          </a:prstGeom>
          <a:ln w="19050">
            <a:solidFill>
              <a:srgbClr val="1F2328"/>
            </a:solidFill>
            <a:tailEnd type="triangle" w="med" len="med"/>
          </a:ln>
        </p:spPr>
      </p:cxnSp>
      <p:sp>
        <p:nvSpPr>
          <p:cNvPr id="25" name="Rounded Rectangle 24"/>
          <p:cNvSpPr/>
          <p:nvPr/>
        </p:nvSpPr>
        <p:spPr>
          <a:xfrm>
            <a:off x="7269480" y="2962656"/>
            <a:ext cx="1463040" cy="384048"/>
          </a:xfrm>
          <a:prstGeom prst="roundRect">
            <a:avLst>
              <a:gd name="adj" fmla="val 19047"/>
            </a:avLst>
          </a:prstGeom>
          <a:solidFill>
            <a:srgbClr val="47A1AD"/>
          </a:solidFill>
          <a:ln>
            <a:noFill/>
          </a:ln>
        </p:spPr>
        <p:txBody>
          <a:bodyPr rtlCol="0" anchor="ctr" wrap="square" lIns="54864" rIns="54864" tIns="54864" bIns="54864"/>
          <a:lstStyle/>
          <a:p>
            <a:pPr algn="ctr" marL="0" indent="0">
              <a:spcAft>
                <a:spcPts val="200"/>
              </a:spcAft>
              <a:buNone/>
            </a:pPr>
            <a:r>
              <a:rPr sz="1000" b="1" i="0" lang="es-CL">
                <a:solidFill>
                  <a:srgbClr val="FFFFFF"/>
                </a:solidFill>
                <a:latin typeface="Inter"/>
                <a:ea typeface="Inter"/>
                <a:cs typeface="Inter"/>
              </a:rPr>
              <a:t>mocks (MSW)</a:t>
            </a:r>
          </a:p>
        </p:txBody>
      </p:sp>
      <p:cxnSp>
        <p:nvCxnSpPr>
          <p:cNvPr id="26" name="Connector 25"/>
          <p:cNvCxnSpPr/>
          <p:nvPr/>
        </p:nvCxnSpPr>
        <p:spPr>
          <a:xfrm flipH="1">
            <a:off x="6922008" y="3154680"/>
            <a:ext cx="329184" cy="0"/>
          </a:xfrm>
          <a:prstGeom prst="line">
            <a:avLst/>
          </a:prstGeom>
          <a:ln w="19050">
            <a:solidFill>
              <a:srgbClr val="47A1AD"/>
            </a:solidFill>
            <a:prstDash val="dash"/>
            <a:tailEnd type="triangle" w="med" len="med"/>
          </a:ln>
        </p:spPr>
      </p:cxnSp>
      <p:sp>
        <p:nvSpPr>
          <p:cNvPr id="27" name="TextBox 26"/>
          <p:cNvSpPr txBox="1"/>
          <p:nvPr/>
        </p:nvSpPr>
        <p:spPr>
          <a:xfrm>
            <a:off x="4709160" y="3566160"/>
            <a:ext cx="4023360" cy="960120"/>
          </a:xfrm>
          <a:prstGeom prst="rect">
            <a:avLst/>
          </a:prstGeom>
          <a:noFill/>
        </p:spPr>
        <p:txBody>
          <a:bodyPr wrap="square" lIns="36576" rIns="36576" tIns="36576" bIns="36576" anchor="t"/>
          <a:lstStyle/>
          <a:p>
            <a:pPr algn="l" marL="182880" indent="-164592">
              <a:spcAft>
                <a:spcPts val="200"/>
              </a:spcAft>
              <a:buClr>
                <a:srgbClr val="F2617A"/>
              </a:buClr>
              <a:buSzPct val="100000"/>
              <a:buFont typeface="Arial"/>
              <a:buChar char="●"/>
            </a:pPr>
            <a:r>
              <a:rPr sz="950" b="1" i="0" lang="es-CL">
                <a:solidFill>
                  <a:srgbClr val="1F2328"/>
                </a:solidFill>
                <a:latin typeface="Inter"/>
                <a:ea typeface="Inter"/>
                <a:cs typeface="Inter"/>
              </a:rPr>
              <a:t>ARCH-R6</a:t>
            </a:r>
            <a:r>
              <a:rPr sz="950" b="0" i="0" lang="es-CL">
                <a:solidFill>
                  <a:srgbClr val="1F2328"/>
                </a:solidFill>
                <a:latin typeface="Inter"/>
                <a:ea typeface="Inter"/>
                <a:cs typeface="Inter"/>
              </a:rPr>
              <a:t> shared/domain no importa React ni la API</a:t>
            </a:r>
          </a:p>
          <a:p>
            <a:pPr algn="l" marL="182880" indent="-164592">
              <a:spcAft>
                <a:spcPts val="200"/>
              </a:spcAft>
              <a:buClr>
                <a:srgbClr val="F2617A"/>
              </a:buClr>
              <a:buSzPct val="100000"/>
              <a:buFont typeface="Arial"/>
              <a:buChar char="●"/>
            </a:pPr>
            <a:r>
              <a:rPr sz="950" b="1" i="0" lang="es-CL">
                <a:solidFill>
                  <a:srgbClr val="1F2328"/>
                </a:solidFill>
                <a:latin typeface="Inter"/>
                <a:ea typeface="Inter"/>
                <a:cs typeface="Inter"/>
              </a:rPr>
              <a:t>ARCH-R7</a:t>
            </a:r>
            <a:r>
              <a:rPr sz="950" b="0" i="0" lang="es-CL">
                <a:solidFill>
                  <a:srgbClr val="1F2328"/>
                </a:solidFill>
                <a:latin typeface="Inter"/>
                <a:ea typeface="Inter"/>
                <a:cs typeface="Inter"/>
              </a:rPr>
              <a:t> los componentes no llaman fetch directo</a:t>
            </a:r>
          </a:p>
          <a:p>
            <a:pPr algn="l" marL="182880" indent="-164592">
              <a:spcAft>
                <a:spcPts val="200"/>
              </a:spcAft>
              <a:buClr>
                <a:srgbClr val="F2617A"/>
              </a:buClr>
              <a:buSzPct val="100000"/>
              <a:buFont typeface="Arial"/>
              <a:buChar char="●"/>
            </a:pPr>
            <a:r>
              <a:rPr sz="950" b="1" i="0" lang="es-CL">
                <a:solidFill>
                  <a:srgbClr val="1F2328"/>
                </a:solidFill>
                <a:latin typeface="Inter"/>
                <a:ea typeface="Inter"/>
                <a:cs typeface="Inter"/>
              </a:rPr>
              <a:t>ARCH-R8</a:t>
            </a:r>
            <a:r>
              <a:rPr sz="950" b="0" i="0" lang="es-CL">
                <a:solidFill>
                  <a:srgbClr val="1F2328"/>
                </a:solidFill>
                <a:latin typeface="Inter"/>
                <a:ea typeface="Inter"/>
                <a:cs typeface="Inter"/>
              </a:rPr>
              <a:t> app no importa mocks (MSW se activa por variable)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Test de arquitectura con dependency-cruiser</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4937760" cy="2514600"/>
          </a:xfrm>
          <a:prstGeom prst="roundRect">
            <a:avLst>
              <a:gd name="adj" fmla="val 2181"/>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106424"/>
            <a:ext cx="4718304"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backend/.dependency-cruiser.cjs (extracto)</a:t>
            </a:r>
          </a:p>
        </p:txBody>
      </p:sp>
      <p:sp>
        <p:nvSpPr>
          <p:cNvPr id="6" name="TextBox 5"/>
          <p:cNvSpPr txBox="1"/>
          <p:nvPr/>
        </p:nvSpPr>
        <p:spPr>
          <a:xfrm>
            <a:off x="521208" y="1362456"/>
            <a:ext cx="4718304" cy="2148840"/>
          </a:xfrm>
          <a:prstGeom prst="rect">
            <a:avLst/>
          </a:prstGeom>
          <a:noFill/>
        </p:spPr>
        <p:txBody>
          <a:bodyPr wrap="none" lIns="0" rIns="0" tIns="0" bIns="0"/>
          <a:lstStyle/>
          <a:p>
            <a:pPr marL="0" indent="0">
              <a:lnSpc>
                <a:spcPct val="100000"/>
              </a:lnSpc>
              <a:spcAft>
                <a:spcPts val="0"/>
              </a:spcAft>
              <a:buNone/>
            </a:pPr>
            <a:r>
              <a:rPr sz="900" b="0" i="0" lang="es-CL">
                <a:solidFill>
                  <a:srgbClr val="008000"/>
                </a:solidFill>
                <a:latin typeface="Consolas"/>
                <a:ea typeface="Consolas"/>
                <a:cs typeface="Consolas"/>
              </a:rPr>
              <a:t>// Cada regla lleva su ID para que el error apunte a la spec</a:t>
            </a:r>
          </a:p>
          <a:p>
            <a:pPr marL="0" indent="0">
              <a:lnSpc>
                <a:spcPct val="100000"/>
              </a:lnSpc>
              <a:spcAft>
                <a:spcPts val="0"/>
              </a:spcAft>
              <a:buNone/>
            </a:pPr>
            <a:r>
              <a:rPr sz="900" b="0" i="0" lang="es-CL">
                <a:solidFill>
                  <a:srgbClr val="0000FF"/>
                </a:solidFill>
                <a:latin typeface="Consolas"/>
                <a:ea typeface="Consolas"/>
                <a:cs typeface="Consolas"/>
              </a:rPr>
              <a:t>const</a:t>
            </a:r>
            <a:r>
              <a:rPr sz="900" b="0" i="0" lang="es-CL">
                <a:solidFill>
                  <a:srgbClr val="1F2328"/>
                </a:solidFill>
                <a:latin typeface="Consolas"/>
                <a:ea typeface="Consolas"/>
                <a:cs typeface="Consolas"/>
              </a:rPr>
              <a:t> LAYER = (layer) =&gt; </a:t>
            </a:r>
            <a:r>
              <a:rPr sz="900" b="0" i="0" lang="es-CL">
                <a:solidFill>
                  <a:srgbClr val="A31515"/>
                </a:solidFill>
                <a:latin typeface="Consolas"/>
                <a:ea typeface="Consolas"/>
                <a:cs typeface="Consolas"/>
              </a:rPr>
              <a:t>`^src/[^/]+/${layer}/`</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module.exports = {</a:t>
            </a:r>
          </a:p>
          <a:p>
            <a:pPr marL="0" indent="0">
              <a:lnSpc>
                <a:spcPct val="100000"/>
              </a:lnSpc>
              <a:spcAft>
                <a:spcPts val="0"/>
              </a:spcAft>
              <a:buNone/>
            </a:pPr>
            <a:r>
              <a:rPr sz="900" b="0" i="0" lang="es-CL">
                <a:solidFill>
                  <a:srgbClr val="1F2328"/>
                </a:solidFill>
                <a:latin typeface="Consolas"/>
                <a:ea typeface="Consolas"/>
                <a:cs typeface="Consolas"/>
              </a:rPr>
              <a:t>  forbidden: [</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name: </a:t>
            </a:r>
            <a:r>
              <a:rPr sz="900" b="0" i="0" lang="es-CL">
                <a:solidFill>
                  <a:srgbClr val="A31515"/>
                </a:solidFill>
                <a:latin typeface="Consolas"/>
                <a:ea typeface="Consolas"/>
                <a:cs typeface="Consolas"/>
              </a:rPr>
              <a:t>'ARCH-R1-dominio-puro'</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severity: </a:t>
            </a:r>
            <a:r>
              <a:rPr sz="900" b="0" i="0" lang="es-CL">
                <a:solidFill>
                  <a:srgbClr val="A31515"/>
                </a:solidFill>
                <a:latin typeface="Consolas"/>
                <a:ea typeface="Consolas"/>
                <a:cs typeface="Consolas"/>
              </a:rPr>
              <a:t>'error'</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F00DB"/>
                </a:solidFill>
                <a:latin typeface="Consolas"/>
                <a:ea typeface="Consolas"/>
                <a:cs typeface="Consolas"/>
              </a:rPr>
              <a:t>from</a:t>
            </a:r>
            <a:r>
              <a:rPr sz="900" b="0" i="0" lang="es-CL">
                <a:solidFill>
                  <a:srgbClr val="1F2328"/>
                </a:solidFill>
                <a:latin typeface="Consolas"/>
                <a:ea typeface="Consolas"/>
                <a:cs typeface="Consolas"/>
              </a:rPr>
              <a:t>: { path: LAYER(</a:t>
            </a:r>
            <a:r>
              <a:rPr sz="900" b="0" i="0" lang="es-CL">
                <a:solidFill>
                  <a:srgbClr val="A31515"/>
                </a:solidFill>
                <a:latin typeface="Consolas"/>
                <a:ea typeface="Consolas"/>
                <a:cs typeface="Consolas"/>
              </a:rPr>
              <a:t>'domain'</a:t>
            </a: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to: { pathNot: LAYER(</a:t>
            </a:r>
            <a:r>
              <a:rPr sz="900" b="0" i="0" lang="es-CL">
                <a:solidFill>
                  <a:srgbClr val="A31515"/>
                </a:solidFill>
                <a:latin typeface="Consolas"/>
                <a:ea typeface="Consolas"/>
                <a:cs typeface="Consolas"/>
              </a:rPr>
              <a:t>'domain'</a:t>
            </a: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 name: </a:t>
            </a:r>
            <a:r>
              <a:rPr sz="900" b="0" i="0" lang="es-CL">
                <a:solidFill>
                  <a:srgbClr val="A31515"/>
                </a:solidFill>
                <a:latin typeface="Consolas"/>
                <a:ea typeface="Consolas"/>
                <a:cs typeface="Consolas"/>
              </a:rPr>
              <a:t>'ARCH-R4-sin-ciclos'</a:t>
            </a:r>
            <a:r>
              <a:rPr sz="900" b="0" i="0" lang="es-CL">
                <a:solidFill>
                  <a:srgbClr val="1F2328"/>
                </a:solidFill>
                <a:latin typeface="Consolas"/>
                <a:ea typeface="Consolas"/>
                <a:cs typeface="Consolas"/>
              </a:rPr>
              <a:t>, severity: </a:t>
            </a:r>
            <a:r>
              <a:rPr sz="900" b="0" i="0" lang="es-CL">
                <a:solidFill>
                  <a:srgbClr val="A31515"/>
                </a:solidFill>
                <a:latin typeface="Consolas"/>
                <a:ea typeface="Consolas"/>
                <a:cs typeface="Consolas"/>
              </a:rPr>
              <a:t>'error'</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F00DB"/>
                </a:solidFill>
                <a:latin typeface="Consolas"/>
                <a:ea typeface="Consolas"/>
                <a:cs typeface="Consolas"/>
              </a:rPr>
              <a:t>from</a:t>
            </a:r>
            <a:r>
              <a:rPr sz="900" b="0" i="0" lang="es-CL">
                <a:solidFill>
                  <a:srgbClr val="1F2328"/>
                </a:solidFill>
                <a:latin typeface="Consolas"/>
                <a:ea typeface="Consolas"/>
                <a:cs typeface="Consolas"/>
              </a:rPr>
              <a:t>: {}, to: { circular: </a:t>
            </a:r>
            <a:r>
              <a:rPr sz="900" b="0" i="0" lang="es-CL">
                <a:solidFill>
                  <a:srgbClr val="0000FF"/>
                </a:solidFill>
                <a:latin typeface="Consolas"/>
                <a:ea typeface="Consolas"/>
                <a:cs typeface="Consolas"/>
              </a:rPr>
              <a:t>true</a:t>
            </a:r>
            <a:r>
              <a:rPr sz="900" b="0" i="0" lang="es-CL">
                <a:solidFill>
                  <a:srgbClr val="1F2328"/>
                </a:solidFill>
                <a:latin typeface="Consolas"/>
                <a:ea typeface="Consolas"/>
                <a:cs typeface="Consolas"/>
              </a:rPr>
              <a:t> } },</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a:t>
            </a:r>
          </a:p>
        </p:txBody>
      </p:sp>
      <p:sp>
        <p:nvSpPr>
          <p:cNvPr id="7" name="Rounded Rectangle 6"/>
          <p:cNvSpPr/>
          <p:nvPr/>
        </p:nvSpPr>
        <p:spPr>
          <a:xfrm>
            <a:off x="411480" y="3703320"/>
            <a:ext cx="4937760" cy="777240"/>
          </a:xfrm>
          <a:prstGeom prst="roundRect">
            <a:avLst>
              <a:gd name="adj" fmla="val 7058"/>
            </a:avLst>
          </a:prstGeom>
          <a:solidFill>
            <a:srgbClr val="F6F8FA"/>
          </a:solidFill>
          <a:ln w="9525">
            <a:solidFill>
              <a:srgbClr val="D0D7DE"/>
            </a:solidFill>
          </a:ln>
        </p:spPr>
        <p:txBody>
          <a:bodyPr rtlCol="0" anchor="ctr" wrap="square" lIns="54864" rIns="54864" tIns="54864" bIns="54864"/>
          <a:lstStyle/>
          <a:p>
            <a:pPr algn="ctr"/>
          </a:p>
        </p:txBody>
      </p:sp>
      <p:sp>
        <p:nvSpPr>
          <p:cNvPr id="8" name="TextBox 7"/>
          <p:cNvSpPr txBox="1"/>
          <p:nvPr/>
        </p:nvSpPr>
        <p:spPr>
          <a:xfrm>
            <a:off x="521208" y="3776472"/>
            <a:ext cx="4718304" cy="649223"/>
          </a:xfrm>
          <a:prstGeom prst="rect">
            <a:avLst/>
          </a:prstGeom>
          <a:noFill/>
        </p:spPr>
        <p:txBody>
          <a:bodyPr wrap="none" lIns="0" rIns="0" tIns="0" bIns="0"/>
          <a:lstStyle/>
          <a:p>
            <a:pPr marL="0" indent="0">
              <a:lnSpc>
                <a:spcPct val="100000"/>
              </a:lnSpc>
              <a:spcAft>
                <a:spcPts val="0"/>
              </a:spcAft>
              <a:buNone/>
            </a:pPr>
            <a:r>
              <a:rPr sz="1000" b="0" i="0" lang="es-CL">
                <a:solidFill>
                  <a:srgbClr val="8C959F"/>
                </a:solidFill>
                <a:latin typeface="Consolas"/>
                <a:ea typeface="Consolas"/>
                <a:cs typeface="Consolas"/>
              </a:rPr>
              <a:t>$ </a:t>
            </a:r>
            <a:r>
              <a:rPr sz="1000" b="0" i="0" lang="es-CL">
                <a:solidFill>
                  <a:srgbClr val="1F2328"/>
                </a:solidFill>
                <a:latin typeface="Consolas"/>
                <a:ea typeface="Consolas"/>
                <a:cs typeface="Consolas"/>
              </a:rPr>
              <a:t>npm run test:arch</a:t>
            </a:r>
          </a:p>
          <a:p>
            <a:pPr marL="0" indent="0">
              <a:lnSpc>
                <a:spcPct val="100000"/>
              </a:lnSpc>
              <a:spcAft>
                <a:spcPts val="0"/>
              </a:spcAft>
              <a:buNone/>
            </a:pPr>
            <a:r>
              <a:rPr sz="1000" b="1" i="0" lang="es-CL">
                <a:solidFill>
                  <a:srgbClr val="980000"/>
                </a:solidFill>
                <a:latin typeface="Consolas"/>
                <a:ea typeface="Consolas"/>
                <a:cs typeface="Consolas"/>
              </a:rPr>
              <a:t>✗ error ARCH-R1-dominio-puro:</a:t>
            </a:r>
          </a:p>
          <a:p>
            <a:pPr marL="0" indent="0">
              <a:lnSpc>
                <a:spcPct val="100000"/>
              </a:lnSpc>
              <a:spcAft>
                <a:spcPts val="0"/>
              </a:spcAft>
              <a:buNone/>
            </a:pPr>
            <a:r>
              <a:rPr sz="1000" b="0" i="0" lang="es-CL">
                <a:solidFill>
                  <a:srgbClr val="1F2328"/>
                </a:solidFill>
                <a:latin typeface="Consolas"/>
                <a:ea typeface="Consolas"/>
                <a:cs typeface="Consolas"/>
              </a:rPr>
              <a:t>  src/loans/domain/loan.ts → node_modules/@nestjs/common</a:t>
            </a:r>
          </a:p>
        </p:txBody>
      </p:sp>
      <p:sp>
        <p:nvSpPr>
          <p:cNvPr id="9" name="Rounded Rectangle 8"/>
          <p:cNvSpPr/>
          <p:nvPr/>
        </p:nvSpPr>
        <p:spPr>
          <a:xfrm>
            <a:off x="5577840" y="1051560"/>
            <a:ext cx="3154680" cy="3429000"/>
          </a:xfrm>
          <a:prstGeom prst="roundRect">
            <a:avLst>
              <a:gd name="adj" fmla="val 2898"/>
            </a:avLst>
          </a:prstGeom>
          <a:solidFill>
            <a:srgbClr val="EDF1F3"/>
          </a:solidFill>
          <a:ln>
            <a:noFill/>
          </a:ln>
        </p:spPr>
        <p:txBody>
          <a:bodyPr rtlCol="0" anchor="ctr" wrap="square" lIns="54864" rIns="54864" tIns="54864" bIns="54864"/>
          <a:lstStyle/>
          <a:p>
            <a:pPr algn="ctr"/>
          </a:p>
        </p:txBody>
      </p:sp>
      <p:sp>
        <p:nvSpPr>
          <p:cNvPr id="10" name="TextBox 9"/>
          <p:cNvSpPr txBox="1"/>
          <p:nvPr/>
        </p:nvSpPr>
        <p:spPr>
          <a:xfrm>
            <a:off x="5760720" y="1143000"/>
            <a:ext cx="2834640" cy="274320"/>
          </a:xfrm>
          <a:prstGeom prst="rect">
            <a:avLst/>
          </a:prstGeom>
          <a:noFill/>
        </p:spPr>
        <p:txBody>
          <a:bodyPr wrap="square" lIns="36576" rIns="36576" tIns="36576" bIns="36576" anchor="t"/>
          <a:lstStyle/>
          <a:p>
            <a:pPr algn="l" marL="0" indent="0">
              <a:spcAft>
                <a:spcPts val="400"/>
              </a:spcAft>
              <a:buNone/>
            </a:pPr>
            <a:r>
              <a:rPr sz="1200" b="1" i="0" lang="es-CL">
                <a:solidFill>
                  <a:srgbClr val="003D4F"/>
                </a:solidFill>
                <a:latin typeface="Inter"/>
                <a:ea typeface="Inter"/>
                <a:cs typeface="Inter"/>
              </a:rPr>
              <a:t>Por qué importa</a:t>
            </a:r>
          </a:p>
        </p:txBody>
      </p:sp>
      <p:sp>
        <p:nvSpPr>
          <p:cNvPr id="11" name="TextBox 10"/>
          <p:cNvSpPr txBox="1"/>
          <p:nvPr/>
        </p:nvSpPr>
        <p:spPr>
          <a:xfrm>
            <a:off x="5760720" y="1508760"/>
            <a:ext cx="2834640" cy="2926080"/>
          </a:xfrm>
          <a:prstGeom prst="rect">
            <a:avLst/>
          </a:prstGeom>
          <a:noFill/>
        </p:spPr>
        <p:txBody>
          <a:bodyPr wrap="square" lIns="36576" rIns="36576" tIns="36576" bIns="36576" anchor="t"/>
          <a:lstStyle/>
          <a:p>
            <a:pPr algn="l" marL="182880" indent="-164592">
              <a:spcAft>
                <a:spcPts val="800"/>
              </a:spcAft>
              <a:buClr>
                <a:srgbClr val="F2617A"/>
              </a:buClr>
              <a:buSzPct val="100000"/>
              <a:buFont typeface="Arial"/>
              <a:buChar char="●"/>
            </a:pPr>
            <a:r>
              <a:rPr sz="1050" b="0" i="0" lang="es-CL">
                <a:solidFill>
                  <a:srgbClr val="1F2328"/>
                </a:solidFill>
                <a:latin typeface="Inter"/>
                <a:ea typeface="Inter"/>
                <a:cs typeface="Inter"/>
              </a:rPr>
              <a:t>La IA no respeta capas por iniciativa propia: importa lo que encuentra más cerca.</a:t>
            </a:r>
          </a:p>
          <a:p>
            <a:pPr algn="l" marL="182880" indent="-164592">
              <a:spcAft>
                <a:spcPts val="800"/>
              </a:spcAft>
              <a:buClr>
                <a:srgbClr val="F2617A"/>
              </a:buClr>
              <a:buSzPct val="100000"/>
              <a:buFont typeface="Arial"/>
              <a:buChar char="●"/>
            </a:pPr>
            <a:r>
              <a:rPr sz="1050" b="0" i="0" lang="es-CL">
                <a:solidFill>
                  <a:srgbClr val="1F2328"/>
                </a:solidFill>
                <a:latin typeface="Inter"/>
                <a:ea typeface="Inter"/>
                <a:cs typeface="Inter"/>
              </a:rPr>
              <a:t>Una regla escrita en la spec, verificada en CI, convierte la arquitectura en un test.</a:t>
            </a:r>
          </a:p>
          <a:p>
            <a:pPr algn="l" marL="182880" indent="-164592">
              <a:spcAft>
                <a:spcPts val="800"/>
              </a:spcAft>
              <a:buClr>
                <a:srgbClr val="F2617A"/>
              </a:buClr>
              <a:buSzPct val="100000"/>
              <a:buFont typeface="Arial"/>
              <a:buChar char="●"/>
            </a:pPr>
            <a:r>
              <a:rPr sz="1050" b="0" i="0" lang="es-CL">
                <a:solidFill>
                  <a:srgbClr val="1F2328"/>
                </a:solidFill>
                <a:latin typeface="Inter"/>
                <a:ea typeface="Inter"/>
                <a:cs typeface="Inter"/>
              </a:rPr>
              <a:t>El libro lo llama architecture testing: ArchUnit en Java, aquí dependency-cruiser (p. 315).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4</a:t>
            </a:r>
          </a:p>
          <a:p>
            <a:pPr algn="ctr">
              <a:spcAft>
                <a:spcPts val="1600"/>
              </a:spcAft>
            </a:pPr>
            <a:r>
              <a:rPr sz="3600" b="1" i="0" lang="es-CL">
                <a:solidFill>
                  <a:srgbClr val="4A86E8"/>
                </a:solidFill>
                <a:latin typeface="Bitter"/>
                <a:ea typeface="Bitter"/>
                <a:cs typeface="Bitter"/>
              </a:rPr>
              <a:t>Tipos de prueba, uno por uno</a:t>
            </a:r>
          </a:p>
          <a:p>
            <a:pPr algn="ctr">
              <a:spcAft>
                <a:spcPts val="1400"/>
              </a:spcAft>
            </a:pPr>
            <a:r>
              <a:rPr sz="1500" b="0" i="0" lang="es-CL">
                <a:solidFill>
                  <a:srgbClr val="57606A"/>
                </a:solidFill>
                <a:latin typeface="Inter"/>
                <a:ea typeface="Inter"/>
                <a:cs typeface="Inter"/>
              </a:rPr>
              <a:t>Qué es, qué detecta, con qué herramienta, dónde corre y un ejemplo real.</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Mapa de pruebas del proyecto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1417320" cy="960120"/>
          </a:xfrm>
          <a:prstGeom prst="roundRect">
            <a:avLst>
              <a:gd name="adj" fmla="val 7619"/>
            </a:avLst>
          </a:prstGeom>
          <a:solidFill>
            <a:srgbClr val="003D4F"/>
          </a:solidFill>
          <a:ln>
            <a:noFill/>
          </a:ln>
        </p:spPr>
        <p:txBody>
          <a:bodyPr rtlCol="0" anchor="ctr" wrap="square" lIns="54864" rIns="54864" tIns="54864" bIns="54864"/>
          <a:lstStyle/>
          <a:p>
            <a:pPr algn="ctr" marL="0" indent="0">
              <a:spcAft>
                <a:spcPts val="200"/>
              </a:spcAft>
              <a:buNone/>
            </a:pPr>
            <a:r>
              <a:rPr sz="1050" b="1" i="0" lang="es-CL">
                <a:solidFill>
                  <a:srgbClr val="FFFFFF"/>
                </a:solidFill>
                <a:latin typeface="Inter"/>
                <a:ea typeface="Inter"/>
                <a:cs typeface="Inter"/>
              </a:rPr>
              <a:t>Micro: backend</a:t>
            </a:r>
          </a:p>
        </p:txBody>
      </p:sp>
      <p:sp>
        <p:nvSpPr>
          <p:cNvPr id="5" name="Rounded Rectangle 4"/>
          <p:cNvSpPr/>
          <p:nvPr/>
        </p:nvSpPr>
        <p:spPr>
          <a:xfrm>
            <a:off x="1965960" y="105156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6" name="TextBox 5"/>
          <p:cNvSpPr txBox="1"/>
          <p:nvPr/>
        </p:nvSpPr>
        <p:spPr>
          <a:xfrm>
            <a:off x="2039112" y="105156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Unit dominio</a:t>
            </a:r>
          </a:p>
        </p:txBody>
      </p:sp>
      <p:sp>
        <p:nvSpPr>
          <p:cNvPr id="7" name="Rounded Rectangle 6"/>
          <p:cNvSpPr/>
          <p:nvPr/>
        </p:nvSpPr>
        <p:spPr>
          <a:xfrm>
            <a:off x="3557015" y="1143000"/>
            <a:ext cx="502920" cy="246888"/>
          </a:xfrm>
          <a:prstGeom prst="roundRect">
            <a:avLst>
              <a:gd name="adj" fmla="val 22222"/>
            </a:avLst>
          </a:prstGeom>
          <a:solidFill>
            <a:srgbClr val="003D4F"/>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5</a:t>
            </a:r>
          </a:p>
        </p:txBody>
      </p:sp>
      <p:sp>
        <p:nvSpPr>
          <p:cNvPr id="8" name="Rounded Rectangle 7"/>
          <p:cNvSpPr/>
          <p:nvPr/>
        </p:nvSpPr>
        <p:spPr>
          <a:xfrm>
            <a:off x="4233672" y="105156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9" name="TextBox 8"/>
          <p:cNvSpPr txBox="1"/>
          <p:nvPr/>
        </p:nvSpPr>
        <p:spPr>
          <a:xfrm>
            <a:off x="4306824" y="105156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Unit aplicación con fakes</a:t>
            </a:r>
          </a:p>
        </p:txBody>
      </p:sp>
      <p:sp>
        <p:nvSpPr>
          <p:cNvPr id="10" name="Rounded Rectangle 9"/>
          <p:cNvSpPr/>
          <p:nvPr/>
        </p:nvSpPr>
        <p:spPr>
          <a:xfrm>
            <a:off x="5824728" y="1143000"/>
            <a:ext cx="502920" cy="246888"/>
          </a:xfrm>
          <a:prstGeom prst="roundRect">
            <a:avLst>
              <a:gd name="adj" fmla="val 22222"/>
            </a:avLst>
          </a:prstGeom>
          <a:solidFill>
            <a:srgbClr val="003D4F"/>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5</a:t>
            </a:r>
          </a:p>
        </p:txBody>
      </p:sp>
      <p:sp>
        <p:nvSpPr>
          <p:cNvPr id="11" name="Rounded Rectangle 10"/>
          <p:cNvSpPr/>
          <p:nvPr/>
        </p:nvSpPr>
        <p:spPr>
          <a:xfrm>
            <a:off x="6501383" y="105156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12" name="TextBox 11"/>
          <p:cNvSpPr txBox="1"/>
          <p:nvPr/>
        </p:nvSpPr>
        <p:spPr>
          <a:xfrm>
            <a:off x="6574536" y="105156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Integración PostgreSQL</a:t>
            </a:r>
          </a:p>
        </p:txBody>
      </p:sp>
      <p:sp>
        <p:nvSpPr>
          <p:cNvPr id="13" name="Rounded Rectangle 12"/>
          <p:cNvSpPr/>
          <p:nvPr/>
        </p:nvSpPr>
        <p:spPr>
          <a:xfrm>
            <a:off x="8092440" y="1143000"/>
            <a:ext cx="502920" cy="246888"/>
          </a:xfrm>
          <a:prstGeom prst="roundRect">
            <a:avLst>
              <a:gd name="adj" fmla="val 22222"/>
            </a:avLst>
          </a:prstGeom>
          <a:solidFill>
            <a:srgbClr val="003D4F"/>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6</a:t>
            </a:r>
          </a:p>
        </p:txBody>
      </p:sp>
      <p:sp>
        <p:nvSpPr>
          <p:cNvPr id="14" name="Rounded Rectangle 13"/>
          <p:cNvSpPr/>
          <p:nvPr/>
        </p:nvSpPr>
        <p:spPr>
          <a:xfrm>
            <a:off x="1965960" y="155448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15" name="TextBox 14"/>
          <p:cNvSpPr txBox="1"/>
          <p:nvPr/>
        </p:nvSpPr>
        <p:spPr>
          <a:xfrm>
            <a:off x="2039112" y="155448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Data testing</a:t>
            </a:r>
          </a:p>
        </p:txBody>
      </p:sp>
      <p:sp>
        <p:nvSpPr>
          <p:cNvPr id="16" name="Rounded Rectangle 15"/>
          <p:cNvSpPr/>
          <p:nvPr/>
        </p:nvSpPr>
        <p:spPr>
          <a:xfrm>
            <a:off x="3557015" y="1645920"/>
            <a:ext cx="502920" cy="246888"/>
          </a:xfrm>
          <a:prstGeom prst="roundRect">
            <a:avLst>
              <a:gd name="adj" fmla="val 22222"/>
            </a:avLst>
          </a:prstGeom>
          <a:solidFill>
            <a:srgbClr val="003D4F"/>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6</a:t>
            </a:r>
          </a:p>
        </p:txBody>
      </p:sp>
      <p:sp>
        <p:nvSpPr>
          <p:cNvPr id="17" name="Rounded Rectangle 16"/>
          <p:cNvSpPr/>
          <p:nvPr/>
        </p:nvSpPr>
        <p:spPr>
          <a:xfrm>
            <a:off x="4233672" y="155448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18" name="TextBox 17"/>
          <p:cNvSpPr txBox="1"/>
          <p:nvPr/>
        </p:nvSpPr>
        <p:spPr>
          <a:xfrm>
            <a:off x="4306824" y="155448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Contrato proveedor</a:t>
            </a:r>
          </a:p>
        </p:txBody>
      </p:sp>
      <p:sp>
        <p:nvSpPr>
          <p:cNvPr id="19" name="Rounded Rectangle 18"/>
          <p:cNvSpPr/>
          <p:nvPr/>
        </p:nvSpPr>
        <p:spPr>
          <a:xfrm>
            <a:off x="5824728" y="1645920"/>
            <a:ext cx="502920" cy="246888"/>
          </a:xfrm>
          <a:prstGeom prst="roundRect">
            <a:avLst>
              <a:gd name="adj" fmla="val 22222"/>
            </a:avLst>
          </a:prstGeom>
          <a:solidFill>
            <a:srgbClr val="003D4F"/>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6</a:t>
            </a:r>
          </a:p>
        </p:txBody>
      </p:sp>
      <p:sp>
        <p:nvSpPr>
          <p:cNvPr id="20" name="Rounded Rectangle 19"/>
          <p:cNvSpPr/>
          <p:nvPr/>
        </p:nvSpPr>
        <p:spPr>
          <a:xfrm>
            <a:off x="6501383" y="155448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21" name="TextBox 20"/>
          <p:cNvSpPr txBox="1"/>
          <p:nvPr/>
        </p:nvSpPr>
        <p:spPr>
          <a:xfrm>
            <a:off x="6574536" y="155448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Fuzzing del contrato</a:t>
            </a:r>
          </a:p>
        </p:txBody>
      </p:sp>
      <p:sp>
        <p:nvSpPr>
          <p:cNvPr id="22" name="Rounded Rectangle 21"/>
          <p:cNvSpPr/>
          <p:nvPr/>
        </p:nvSpPr>
        <p:spPr>
          <a:xfrm>
            <a:off x="8092440" y="1645920"/>
            <a:ext cx="502920" cy="246888"/>
          </a:xfrm>
          <a:prstGeom prst="roundRect">
            <a:avLst>
              <a:gd name="adj" fmla="val 22222"/>
            </a:avLst>
          </a:prstGeom>
          <a:solidFill>
            <a:srgbClr val="003D4F"/>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6</a:t>
            </a:r>
          </a:p>
        </p:txBody>
      </p:sp>
      <p:sp>
        <p:nvSpPr>
          <p:cNvPr id="23" name="Rounded Rectangle 22"/>
          <p:cNvSpPr/>
          <p:nvPr/>
        </p:nvSpPr>
        <p:spPr>
          <a:xfrm>
            <a:off x="411480" y="2194560"/>
            <a:ext cx="1417320" cy="960120"/>
          </a:xfrm>
          <a:prstGeom prst="roundRect">
            <a:avLst>
              <a:gd name="adj" fmla="val 7619"/>
            </a:avLst>
          </a:prstGeom>
          <a:solidFill>
            <a:srgbClr val="CC850A"/>
          </a:solidFill>
          <a:ln>
            <a:noFill/>
          </a:ln>
        </p:spPr>
        <p:txBody>
          <a:bodyPr rtlCol="0" anchor="ctr" wrap="square" lIns="54864" rIns="54864" tIns="54864" bIns="54864"/>
          <a:lstStyle/>
          <a:p>
            <a:pPr algn="ctr" marL="0" indent="0">
              <a:spcAft>
                <a:spcPts val="200"/>
              </a:spcAft>
              <a:buNone/>
            </a:pPr>
            <a:r>
              <a:rPr sz="1050" b="1" i="0" lang="es-CL">
                <a:solidFill>
                  <a:srgbClr val="FFFFFF"/>
                </a:solidFill>
                <a:latin typeface="Inter"/>
                <a:ea typeface="Inter"/>
                <a:cs typeface="Inter"/>
              </a:rPr>
              <a:t>Frontend sin backend</a:t>
            </a:r>
          </a:p>
        </p:txBody>
      </p:sp>
      <p:sp>
        <p:nvSpPr>
          <p:cNvPr id="24" name="Rounded Rectangle 23"/>
          <p:cNvSpPr/>
          <p:nvPr/>
        </p:nvSpPr>
        <p:spPr>
          <a:xfrm>
            <a:off x="1965960" y="219456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25" name="TextBox 24"/>
          <p:cNvSpPr txBox="1"/>
          <p:nvPr/>
        </p:nvSpPr>
        <p:spPr>
          <a:xfrm>
            <a:off x="2039112" y="219456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Unit shared/domain</a:t>
            </a:r>
          </a:p>
        </p:txBody>
      </p:sp>
      <p:sp>
        <p:nvSpPr>
          <p:cNvPr id="26" name="Rounded Rectangle 25"/>
          <p:cNvSpPr/>
          <p:nvPr/>
        </p:nvSpPr>
        <p:spPr>
          <a:xfrm>
            <a:off x="3557015" y="2286000"/>
            <a:ext cx="502920" cy="246888"/>
          </a:xfrm>
          <a:prstGeom prst="roundRect">
            <a:avLst>
              <a:gd name="adj" fmla="val 22222"/>
            </a:avLst>
          </a:prstGeom>
          <a:solidFill>
            <a:srgbClr val="CC850A"/>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5</a:t>
            </a:r>
          </a:p>
        </p:txBody>
      </p:sp>
      <p:sp>
        <p:nvSpPr>
          <p:cNvPr id="27" name="Rounded Rectangle 26"/>
          <p:cNvSpPr/>
          <p:nvPr/>
        </p:nvSpPr>
        <p:spPr>
          <a:xfrm>
            <a:off x="4233672" y="219456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28" name="TextBox 27"/>
          <p:cNvSpPr txBox="1"/>
          <p:nvPr/>
        </p:nvSpPr>
        <p:spPr>
          <a:xfrm>
            <a:off x="4306824" y="219456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Componentes con MSW</a:t>
            </a:r>
          </a:p>
        </p:txBody>
      </p:sp>
      <p:sp>
        <p:nvSpPr>
          <p:cNvPr id="29" name="Rounded Rectangle 28"/>
          <p:cNvSpPr/>
          <p:nvPr/>
        </p:nvSpPr>
        <p:spPr>
          <a:xfrm>
            <a:off x="5824728" y="2286000"/>
            <a:ext cx="502920" cy="246888"/>
          </a:xfrm>
          <a:prstGeom prst="roundRect">
            <a:avLst>
              <a:gd name="adj" fmla="val 22222"/>
            </a:avLst>
          </a:prstGeom>
          <a:solidFill>
            <a:srgbClr val="CC850A"/>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5</a:t>
            </a:r>
          </a:p>
        </p:txBody>
      </p:sp>
      <p:sp>
        <p:nvSpPr>
          <p:cNvPr id="30" name="Rounded Rectangle 29"/>
          <p:cNvSpPr/>
          <p:nvPr/>
        </p:nvSpPr>
        <p:spPr>
          <a:xfrm>
            <a:off x="6501383" y="219456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31" name="TextBox 30"/>
          <p:cNvSpPr txBox="1"/>
          <p:nvPr/>
        </p:nvSpPr>
        <p:spPr>
          <a:xfrm>
            <a:off x="6574536" y="219456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Contrato de mocks</a:t>
            </a:r>
          </a:p>
        </p:txBody>
      </p:sp>
      <p:sp>
        <p:nvSpPr>
          <p:cNvPr id="32" name="Rounded Rectangle 31"/>
          <p:cNvSpPr/>
          <p:nvPr/>
        </p:nvSpPr>
        <p:spPr>
          <a:xfrm>
            <a:off x="8092440" y="2286000"/>
            <a:ext cx="502920" cy="246888"/>
          </a:xfrm>
          <a:prstGeom prst="roundRect">
            <a:avLst>
              <a:gd name="adj" fmla="val 22222"/>
            </a:avLst>
          </a:prstGeom>
          <a:solidFill>
            <a:srgbClr val="CC850A"/>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5</a:t>
            </a:r>
          </a:p>
        </p:txBody>
      </p:sp>
      <p:sp>
        <p:nvSpPr>
          <p:cNvPr id="33" name="Rounded Rectangle 32"/>
          <p:cNvSpPr/>
          <p:nvPr/>
        </p:nvSpPr>
        <p:spPr>
          <a:xfrm>
            <a:off x="1965960" y="269748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34" name="TextBox 33"/>
          <p:cNvSpPr txBox="1"/>
          <p:nvPr/>
        </p:nvSpPr>
        <p:spPr>
          <a:xfrm>
            <a:off x="2039112" y="269748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E2E de flujos</a:t>
            </a:r>
          </a:p>
        </p:txBody>
      </p:sp>
      <p:sp>
        <p:nvSpPr>
          <p:cNvPr id="35" name="Rounded Rectangle 34"/>
          <p:cNvSpPr/>
          <p:nvPr/>
        </p:nvSpPr>
        <p:spPr>
          <a:xfrm>
            <a:off x="3557015" y="2788920"/>
            <a:ext cx="502920" cy="246888"/>
          </a:xfrm>
          <a:prstGeom prst="roundRect">
            <a:avLst>
              <a:gd name="adj" fmla="val 22222"/>
            </a:avLst>
          </a:prstGeom>
          <a:solidFill>
            <a:srgbClr val="CC850A"/>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7</a:t>
            </a:r>
          </a:p>
        </p:txBody>
      </p:sp>
      <p:sp>
        <p:nvSpPr>
          <p:cNvPr id="36" name="Rounded Rectangle 35"/>
          <p:cNvSpPr/>
          <p:nvPr/>
        </p:nvSpPr>
        <p:spPr>
          <a:xfrm>
            <a:off x="4233672" y="269748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37" name="TextBox 36"/>
          <p:cNvSpPr txBox="1"/>
          <p:nvPr/>
        </p:nvSpPr>
        <p:spPr>
          <a:xfrm>
            <a:off x="4306824" y="269748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Visual, color y posición</a:t>
            </a:r>
          </a:p>
        </p:txBody>
      </p:sp>
      <p:sp>
        <p:nvSpPr>
          <p:cNvPr id="38" name="Rounded Rectangle 37"/>
          <p:cNvSpPr/>
          <p:nvPr/>
        </p:nvSpPr>
        <p:spPr>
          <a:xfrm>
            <a:off x="5824728" y="2788920"/>
            <a:ext cx="502920" cy="246888"/>
          </a:xfrm>
          <a:prstGeom prst="roundRect">
            <a:avLst>
              <a:gd name="adj" fmla="val 22222"/>
            </a:avLst>
          </a:prstGeom>
          <a:solidFill>
            <a:srgbClr val="CC850A"/>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7</a:t>
            </a:r>
          </a:p>
        </p:txBody>
      </p:sp>
      <p:sp>
        <p:nvSpPr>
          <p:cNvPr id="39" name="Rounded Rectangle 38"/>
          <p:cNvSpPr/>
          <p:nvPr/>
        </p:nvSpPr>
        <p:spPr>
          <a:xfrm>
            <a:off x="6501383" y="269748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40" name="TextBox 39"/>
          <p:cNvSpPr txBox="1"/>
          <p:nvPr/>
        </p:nvSpPr>
        <p:spPr>
          <a:xfrm>
            <a:off x="6574536" y="269748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Accesibilidad</a:t>
            </a:r>
          </a:p>
        </p:txBody>
      </p:sp>
      <p:sp>
        <p:nvSpPr>
          <p:cNvPr id="41" name="Rounded Rectangle 40"/>
          <p:cNvSpPr/>
          <p:nvPr/>
        </p:nvSpPr>
        <p:spPr>
          <a:xfrm>
            <a:off x="8092440" y="2788920"/>
            <a:ext cx="502920" cy="246888"/>
          </a:xfrm>
          <a:prstGeom prst="roundRect">
            <a:avLst>
              <a:gd name="adj" fmla="val 22222"/>
            </a:avLst>
          </a:prstGeom>
          <a:solidFill>
            <a:srgbClr val="CC850A"/>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7</a:t>
            </a:r>
          </a:p>
        </p:txBody>
      </p:sp>
      <p:sp>
        <p:nvSpPr>
          <p:cNvPr id="42" name="Rounded Rectangle 41"/>
          <p:cNvSpPr/>
          <p:nvPr/>
        </p:nvSpPr>
        <p:spPr>
          <a:xfrm>
            <a:off x="411480" y="3337560"/>
            <a:ext cx="1417320" cy="960120"/>
          </a:xfrm>
          <a:prstGeom prst="roundRect">
            <a:avLst>
              <a:gd name="adj" fmla="val 7619"/>
            </a:avLst>
          </a:prstGeom>
          <a:solidFill>
            <a:srgbClr val="634F7D"/>
          </a:solidFill>
          <a:ln>
            <a:noFill/>
          </a:ln>
        </p:spPr>
        <p:txBody>
          <a:bodyPr rtlCol="0" anchor="ctr" wrap="square" lIns="54864" rIns="54864" tIns="54864" bIns="54864"/>
          <a:lstStyle/>
          <a:p>
            <a:pPr algn="ctr" marL="0" indent="0">
              <a:spcAft>
                <a:spcPts val="200"/>
              </a:spcAft>
              <a:buNone/>
            </a:pPr>
            <a:r>
              <a:rPr sz="1050" b="1" i="0" lang="es-CL">
                <a:solidFill>
                  <a:srgbClr val="FFFFFF"/>
                </a:solidFill>
                <a:latin typeface="Inter"/>
                <a:ea typeface="Inter"/>
                <a:cs typeface="Inter"/>
              </a:rPr>
              <a:t>Sistema y transversales</a:t>
            </a:r>
          </a:p>
        </p:txBody>
      </p:sp>
      <p:sp>
        <p:nvSpPr>
          <p:cNvPr id="43" name="Rounded Rectangle 42"/>
          <p:cNvSpPr/>
          <p:nvPr/>
        </p:nvSpPr>
        <p:spPr>
          <a:xfrm>
            <a:off x="1965960" y="333756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44" name="TextBox 43"/>
          <p:cNvSpPr txBox="1"/>
          <p:nvPr/>
        </p:nvSpPr>
        <p:spPr>
          <a:xfrm>
            <a:off x="2039112" y="333756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Arquitectura</a:t>
            </a:r>
          </a:p>
        </p:txBody>
      </p:sp>
      <p:sp>
        <p:nvSpPr>
          <p:cNvPr id="45" name="Rounded Rectangle 44"/>
          <p:cNvSpPr/>
          <p:nvPr/>
        </p:nvSpPr>
        <p:spPr>
          <a:xfrm>
            <a:off x="3557015" y="3429000"/>
            <a:ext cx="502920" cy="246888"/>
          </a:xfrm>
          <a:prstGeom prst="roundRect">
            <a:avLst>
              <a:gd name="adj" fmla="val 22222"/>
            </a:avLst>
          </a:prstGeom>
          <a:solidFill>
            <a:srgbClr val="634F7D"/>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2</a:t>
            </a:r>
          </a:p>
        </p:txBody>
      </p:sp>
      <p:sp>
        <p:nvSpPr>
          <p:cNvPr id="46" name="Rounded Rectangle 45"/>
          <p:cNvSpPr/>
          <p:nvPr/>
        </p:nvSpPr>
        <p:spPr>
          <a:xfrm>
            <a:off x="4233672" y="333756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47" name="TextBox 46"/>
          <p:cNvSpPr txBox="1"/>
          <p:nvPr/>
        </p:nvSpPr>
        <p:spPr>
          <a:xfrm>
            <a:off x="4306824" y="333756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SAST y dependencias</a:t>
            </a:r>
          </a:p>
        </p:txBody>
      </p:sp>
      <p:sp>
        <p:nvSpPr>
          <p:cNvPr id="48" name="Rounded Rectangle 47"/>
          <p:cNvSpPr/>
          <p:nvPr/>
        </p:nvSpPr>
        <p:spPr>
          <a:xfrm>
            <a:off x="5824728" y="3429000"/>
            <a:ext cx="502920" cy="246888"/>
          </a:xfrm>
          <a:prstGeom prst="roundRect">
            <a:avLst>
              <a:gd name="adj" fmla="val 22222"/>
            </a:avLst>
          </a:prstGeom>
          <a:solidFill>
            <a:srgbClr val="634F7D"/>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3 y 4</a:t>
            </a:r>
          </a:p>
        </p:txBody>
      </p:sp>
      <p:sp>
        <p:nvSpPr>
          <p:cNvPr id="49" name="Rounded Rectangle 48"/>
          <p:cNvSpPr/>
          <p:nvPr/>
        </p:nvSpPr>
        <p:spPr>
          <a:xfrm>
            <a:off x="6501383" y="333756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50" name="TextBox 49"/>
          <p:cNvSpPr txBox="1"/>
          <p:nvPr/>
        </p:nvSpPr>
        <p:spPr>
          <a:xfrm>
            <a:off x="6574536" y="333756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Smoke en stack real</a:t>
            </a:r>
          </a:p>
        </p:txBody>
      </p:sp>
      <p:sp>
        <p:nvSpPr>
          <p:cNvPr id="51" name="Rounded Rectangle 50"/>
          <p:cNvSpPr/>
          <p:nvPr/>
        </p:nvSpPr>
        <p:spPr>
          <a:xfrm>
            <a:off x="8092440" y="3429000"/>
            <a:ext cx="502920" cy="246888"/>
          </a:xfrm>
          <a:prstGeom prst="roundRect">
            <a:avLst>
              <a:gd name="adj" fmla="val 22222"/>
            </a:avLst>
          </a:prstGeom>
          <a:solidFill>
            <a:srgbClr val="634F7D"/>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9</a:t>
            </a:r>
          </a:p>
        </p:txBody>
      </p:sp>
      <p:sp>
        <p:nvSpPr>
          <p:cNvPr id="52" name="Rounded Rectangle 51"/>
          <p:cNvSpPr/>
          <p:nvPr/>
        </p:nvSpPr>
        <p:spPr>
          <a:xfrm>
            <a:off x="1965960" y="384048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53" name="TextBox 52"/>
          <p:cNvSpPr txBox="1"/>
          <p:nvPr/>
        </p:nvSpPr>
        <p:spPr>
          <a:xfrm>
            <a:off x="2039112" y="384048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DAST con ZAP</a:t>
            </a:r>
          </a:p>
        </p:txBody>
      </p:sp>
      <p:sp>
        <p:nvSpPr>
          <p:cNvPr id="54" name="Rounded Rectangle 53"/>
          <p:cNvSpPr/>
          <p:nvPr/>
        </p:nvSpPr>
        <p:spPr>
          <a:xfrm>
            <a:off x="3557015" y="3931920"/>
            <a:ext cx="502920" cy="246888"/>
          </a:xfrm>
          <a:prstGeom prst="roundRect">
            <a:avLst>
              <a:gd name="adj" fmla="val 22222"/>
            </a:avLst>
          </a:prstGeom>
          <a:solidFill>
            <a:srgbClr val="634F7D"/>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9</a:t>
            </a:r>
          </a:p>
        </p:txBody>
      </p:sp>
      <p:sp>
        <p:nvSpPr>
          <p:cNvPr id="55" name="Rounded Rectangle 54"/>
          <p:cNvSpPr/>
          <p:nvPr/>
        </p:nvSpPr>
        <p:spPr>
          <a:xfrm>
            <a:off x="4233672" y="384048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56" name="TextBox 55"/>
          <p:cNvSpPr txBox="1"/>
          <p:nvPr/>
        </p:nvSpPr>
        <p:spPr>
          <a:xfrm>
            <a:off x="4306824" y="384048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Performance</a:t>
            </a:r>
          </a:p>
        </p:txBody>
      </p:sp>
      <p:sp>
        <p:nvSpPr>
          <p:cNvPr id="57" name="Rounded Rectangle 56"/>
          <p:cNvSpPr/>
          <p:nvPr/>
        </p:nvSpPr>
        <p:spPr>
          <a:xfrm>
            <a:off x="5824728" y="3931920"/>
            <a:ext cx="502920" cy="246888"/>
          </a:xfrm>
          <a:prstGeom prst="roundRect">
            <a:avLst>
              <a:gd name="adj" fmla="val 22222"/>
            </a:avLst>
          </a:prstGeom>
          <a:solidFill>
            <a:srgbClr val="634F7D"/>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9</a:t>
            </a:r>
          </a:p>
        </p:txBody>
      </p:sp>
      <p:sp>
        <p:nvSpPr>
          <p:cNvPr id="58" name="Rounded Rectangle 57"/>
          <p:cNvSpPr/>
          <p:nvPr/>
        </p:nvSpPr>
        <p:spPr>
          <a:xfrm>
            <a:off x="6501383" y="3840480"/>
            <a:ext cx="2157984" cy="429768"/>
          </a:xfrm>
          <a:prstGeom prst="roundRect">
            <a:avLst>
              <a:gd name="adj" fmla="val 17021"/>
            </a:avLst>
          </a:prstGeom>
          <a:solidFill>
            <a:srgbClr val="EDF1F3"/>
          </a:solidFill>
          <a:ln>
            <a:noFill/>
          </a:ln>
        </p:spPr>
        <p:txBody>
          <a:bodyPr rtlCol="0" anchor="ctr" wrap="square" lIns="54864" rIns="54864" tIns="54864" bIns="54864"/>
          <a:lstStyle/>
          <a:p>
            <a:pPr algn="ctr"/>
          </a:p>
        </p:txBody>
      </p:sp>
      <p:sp>
        <p:nvSpPr>
          <p:cNvPr id="59" name="TextBox 58"/>
          <p:cNvSpPr txBox="1"/>
          <p:nvPr/>
        </p:nvSpPr>
        <p:spPr>
          <a:xfrm>
            <a:off x="6574536" y="3840480"/>
            <a:ext cx="1508760" cy="429768"/>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Mutación</a:t>
            </a:r>
          </a:p>
        </p:txBody>
      </p:sp>
      <p:sp>
        <p:nvSpPr>
          <p:cNvPr id="60" name="Rounded Rectangle 59"/>
          <p:cNvSpPr/>
          <p:nvPr/>
        </p:nvSpPr>
        <p:spPr>
          <a:xfrm>
            <a:off x="8092440" y="3931920"/>
            <a:ext cx="502920" cy="246888"/>
          </a:xfrm>
          <a:prstGeom prst="roundRect">
            <a:avLst>
              <a:gd name="adj" fmla="val 22222"/>
            </a:avLst>
          </a:prstGeom>
          <a:solidFill>
            <a:srgbClr val="634F7D"/>
          </a:solidFill>
          <a:ln>
            <a:noFill/>
          </a:ln>
        </p:spPr>
        <p:txBody>
          <a:bodyPr rtlCol="0" anchor="ctr" wrap="square" lIns="27432" rIns="27432" tIns="27432" bIns="27432"/>
          <a:lstStyle/>
          <a:p>
            <a:pPr algn="ctr" marL="0" indent="0">
              <a:spcAft>
                <a:spcPts val="200"/>
              </a:spcAft>
              <a:buNone/>
            </a:pPr>
            <a:r>
              <a:rPr sz="850" b="1" i="0" lang="es-CL">
                <a:solidFill>
                  <a:srgbClr val="FFFFFF"/>
                </a:solidFill>
                <a:latin typeface="Inter"/>
                <a:ea typeface="Inter"/>
                <a:cs typeface="Inter"/>
              </a:rPr>
              <a:t>noche</a:t>
            </a:r>
          </a:p>
        </p:txBody>
      </p:sp>
      <p:sp>
        <p:nvSpPr>
          <p:cNvPr id="61" name="TextBox 60"/>
          <p:cNvSpPr txBox="1"/>
          <p:nvPr/>
        </p:nvSpPr>
        <p:spPr>
          <a:xfrm>
            <a:off x="411480" y="4498848"/>
            <a:ext cx="8321040" cy="256032"/>
          </a:xfrm>
          <a:prstGeom prst="rect">
            <a:avLst/>
          </a:prstGeom>
          <a:noFill/>
        </p:spPr>
        <p:txBody>
          <a:bodyPr wrap="square" lIns="36576" rIns="36576" tIns="36576" bIns="36576" anchor="t"/>
          <a:lstStyle/>
          <a:p>
            <a:pPr algn="ctr" marL="0" indent="0">
              <a:spcAft>
                <a:spcPts val="400"/>
              </a:spcAft>
              <a:buNone/>
            </a:pPr>
            <a:r>
              <a:rPr sz="900" b="0" i="0" lang="es-CL">
                <a:solidFill>
                  <a:srgbClr val="8C959F"/>
                </a:solidFill>
                <a:latin typeface="Inter"/>
                <a:ea typeface="Inter"/>
                <a:cs typeface="Inter"/>
              </a:rPr>
              <a:t>El número es la etapa del pipeline donde corre (ver Parte 5). La revisión con IA comenta cada PR.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Dobles de prueba: cuándo usar cada uno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1051560"/>
          <a:ext cx="5120640" cy="2286000"/>
        </p:xfrm>
        <a:graphic>
          <a:graphicData uri="http://schemas.openxmlformats.org/drawingml/2006/table">
            <a:tbl>
              <a:tblPr firstRow="0" bandRow="0">
                <a:tableStyleId>{5C22544A-7EE6-4342-B048-85BDC9FD1C3A}</a:tableStyleId>
              </a:tblPr>
              <a:tblGrid>
                <a:gridCol w="822960"/>
                <a:gridCol w="2103120"/>
                <a:gridCol w="2194560"/>
              </a:tblGrid>
              <a:tr h="457200">
                <a:tc>
                  <a:txBody>
                    <a:bodyPr wrap="square"/>
                    <a:lstStyle/>
                    <a:p>
                      <a:pPr algn="l" marL="0" indent="0">
                        <a:spcAft>
                          <a:spcPts val="0"/>
                        </a:spcAft>
                        <a:buNone/>
                      </a:pPr>
                      <a:r>
                        <a:rPr sz="1050" b="1" i="0" lang="es-CL">
                          <a:solidFill>
                            <a:srgbClr val="FFFFFF"/>
                          </a:solidFill>
                          <a:latin typeface="Inter"/>
                          <a:ea typeface="Inter"/>
                          <a:cs typeface="Inter"/>
                        </a:rPr>
                        <a:t>Doble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50" b="1" i="0" lang="es-CL">
                          <a:solidFill>
                            <a:srgbClr val="FFFFFF"/>
                          </a:solidFill>
                          <a:latin typeface="Inter"/>
                          <a:ea typeface="Inter"/>
                          <a:cs typeface="Inter"/>
                        </a:rPr>
                        <a:t>Qué es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50" b="1" i="0" lang="es-CL">
                          <a:solidFill>
                            <a:srgbClr val="FFFFFF"/>
                          </a:solidFill>
                          <a:latin typeface="Inter"/>
                          <a:ea typeface="Inter"/>
                          <a:cs typeface="Inter"/>
                        </a:rPr>
                        <a:t>En este proyecto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457200">
                <a:tc>
                  <a:txBody>
                    <a:bodyPr wrap="square"/>
                    <a:lstStyle/>
                    <a:p>
                      <a:pPr algn="l" marL="0" indent="0">
                        <a:spcAft>
                          <a:spcPts val="0"/>
                        </a:spcAft>
                        <a:buNone/>
                      </a:pPr>
                      <a:r>
                        <a:rPr sz="1050" b="1" i="0" lang="es-CL">
                          <a:solidFill>
                            <a:srgbClr val="1F2328"/>
                          </a:solidFill>
                          <a:latin typeface="Inter"/>
                          <a:ea typeface="Inter"/>
                          <a:cs typeface="Inter"/>
                        </a:rPr>
                        <a:t>Dummy</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Un objeto que se pasa pero no se usa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Casi nunca hace falta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050" b="1" i="0" lang="es-CL">
                          <a:solidFill>
                            <a:srgbClr val="1F2328"/>
                          </a:solidFill>
                          <a:latin typeface="Inter"/>
                          <a:ea typeface="Inter"/>
                          <a:cs typeface="Inter"/>
                        </a:rPr>
                        <a:t>Stub</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Respuestas fijas a llamadas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Handlers MSW en tests de componentes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57200">
                <a:tc>
                  <a:txBody>
                    <a:bodyPr wrap="square"/>
                    <a:lstStyle/>
                    <a:p>
                      <a:pPr algn="l" marL="0" indent="0">
                        <a:spcAft>
                          <a:spcPts val="0"/>
                        </a:spcAft>
                        <a:buNone/>
                      </a:pPr>
                      <a:r>
                        <a:rPr sz="1050" b="1" i="0" lang="es-CL">
                          <a:solidFill>
                            <a:srgbClr val="1F2328"/>
                          </a:solidFill>
                          <a:latin typeface="Inter"/>
                          <a:ea typeface="Inter"/>
                          <a:cs typeface="Inter"/>
                        </a:rPr>
                        <a:t>Fake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Implementación real pero simple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InMemoryLoanRepository, FixedClock</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050" b="1" i="0" lang="es-CL">
                          <a:solidFill>
                            <a:srgbClr val="1F2328"/>
                          </a:solidFill>
                          <a:latin typeface="Inter"/>
                          <a:ea typeface="Inter"/>
                          <a:cs typeface="Inter"/>
                        </a:rPr>
                        <a:t>Mock</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Verifica que ocurrió una interacción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Solo con justificación escrita (P4.3)</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bl>
          </a:graphicData>
        </a:graphic>
      </p:graphicFrame>
      <p:sp>
        <p:nvSpPr>
          <p:cNvPr id="5" name="Rounded Rectangle 4"/>
          <p:cNvSpPr/>
          <p:nvPr/>
        </p:nvSpPr>
        <p:spPr>
          <a:xfrm>
            <a:off x="5760720" y="1051560"/>
            <a:ext cx="2971800" cy="3429000"/>
          </a:xfrm>
          <a:prstGeom prst="roundRect">
            <a:avLst>
              <a:gd name="adj" fmla="val 3076"/>
            </a:avLst>
          </a:prstGeom>
          <a:solidFill>
            <a:srgbClr val="DCE9F7"/>
          </a:solidFill>
          <a:ln>
            <a:noFill/>
          </a:ln>
        </p:spPr>
        <p:txBody>
          <a:bodyPr rtlCol="0" anchor="ctr" wrap="square" lIns="54864" rIns="54864" tIns="54864" bIns="54864"/>
          <a:lstStyle/>
          <a:p>
            <a:pPr algn="ctr"/>
          </a:p>
        </p:txBody>
      </p:sp>
      <p:sp>
        <p:nvSpPr>
          <p:cNvPr id="6" name="TextBox 5"/>
          <p:cNvSpPr txBox="1"/>
          <p:nvPr/>
        </p:nvSpPr>
        <p:spPr>
          <a:xfrm>
            <a:off x="5897880" y="1143000"/>
            <a:ext cx="2697480" cy="274320"/>
          </a:xfrm>
          <a:prstGeom prst="rect">
            <a:avLst/>
          </a:prstGeom>
          <a:noFill/>
        </p:spPr>
        <p:txBody>
          <a:bodyPr wrap="square" lIns="36576" rIns="36576" tIns="36576" bIns="36576" anchor="t"/>
          <a:lstStyle/>
          <a:p>
            <a:pPr algn="l" marL="0" indent="0">
              <a:spcAft>
                <a:spcPts val="400"/>
              </a:spcAft>
              <a:buNone/>
            </a:pPr>
            <a:r>
              <a:rPr sz="1200" b="1" i="0" lang="es-CL">
                <a:solidFill>
                  <a:srgbClr val="003D4F"/>
                </a:solidFill>
                <a:latin typeface="Inter"/>
                <a:ea typeface="Inter"/>
                <a:cs typeface="Inter"/>
              </a:rPr>
              <a:t>Fakes que no mienten</a:t>
            </a:r>
          </a:p>
        </p:txBody>
      </p:sp>
      <p:sp>
        <p:nvSpPr>
          <p:cNvPr id="7" name="TextBox 6"/>
          <p:cNvSpPr txBox="1"/>
          <p:nvPr/>
        </p:nvSpPr>
        <p:spPr>
          <a:xfrm>
            <a:off x="5897880" y="1508760"/>
            <a:ext cx="2697480" cy="2926080"/>
          </a:xfrm>
          <a:prstGeom prst="rect">
            <a:avLst/>
          </a:prstGeom>
          <a:noFill/>
        </p:spPr>
        <p:txBody>
          <a:bodyPr wrap="square" lIns="36576" rIns="36576" tIns="36576" bIns="36576" anchor="t"/>
          <a:lstStyle/>
          <a:p>
            <a:pPr algn="l" marL="182880" indent="-164592">
              <a:spcAft>
                <a:spcPts val="700"/>
              </a:spcAft>
              <a:buClr>
                <a:srgbClr val="F2617A"/>
              </a:buClr>
              <a:buSzPct val="100000"/>
              <a:buFont typeface="Arial"/>
              <a:buChar char="●"/>
            </a:pPr>
            <a:r>
              <a:rPr sz="1050" b="0" i="0" lang="es-CL">
                <a:solidFill>
                  <a:srgbClr val="1F2328"/>
                </a:solidFill>
                <a:latin typeface="Inter"/>
                <a:ea typeface="Inter"/>
                <a:cs typeface="Inter"/>
              </a:rPr>
              <a:t>Un fake puede divergir del repositorio real y dar falsos verdes.</a:t>
            </a:r>
          </a:p>
          <a:p>
            <a:pPr algn="l" marL="182880" indent="-164592">
              <a:spcAft>
                <a:spcPts val="700"/>
              </a:spcAft>
              <a:buClr>
                <a:srgbClr val="F2617A"/>
              </a:buClr>
              <a:buSzPct val="100000"/>
              <a:buFont typeface="Arial"/>
              <a:buChar char="●"/>
            </a:pPr>
            <a:r>
              <a:rPr sz="1050" b="0" i="0" lang="es-CL">
                <a:solidFill>
                  <a:srgbClr val="1F2328"/>
                </a:solidFill>
                <a:latin typeface="Inter"/>
                <a:ea typeface="Inter"/>
                <a:cs typeface="Inter"/>
              </a:rPr>
              <a:t>Solución: </a:t>
            </a:r>
            <a:r>
              <a:rPr sz="1050" b="1" i="0" lang="es-CL">
                <a:solidFill>
                  <a:srgbClr val="1F2328"/>
                </a:solidFill>
                <a:latin typeface="Inter"/>
                <a:ea typeface="Inter"/>
                <a:cs typeface="Inter"/>
              </a:rPr>
              <a:t>la misma suite de contrato</a:t>
            </a:r>
            <a:r>
              <a:rPr sz="1050" b="0" i="0" lang="es-CL">
                <a:solidFill>
                  <a:srgbClr val="1F2328"/>
                </a:solidFill>
                <a:latin typeface="Inter"/>
                <a:ea typeface="Inter"/>
                <a:cs typeface="Inter"/>
              </a:rPr>
              <a:t> del puerto corre contra el fake (unit) y contra TypeORM con PostgreSQL (integración).</a:t>
            </a:r>
          </a:p>
          <a:p>
            <a:pPr algn="l" marL="182880" indent="-164592">
              <a:spcAft>
                <a:spcPts val="700"/>
              </a:spcAft>
              <a:buClr>
                <a:srgbClr val="F2617A"/>
              </a:buClr>
              <a:buSzPct val="100000"/>
              <a:buFont typeface="Arial"/>
              <a:buChar char="●"/>
            </a:pPr>
            <a:r>
              <a:rPr sz="1050" b="0" i="0" lang="es-CL">
                <a:solidFill>
                  <a:srgbClr val="1F2328"/>
                </a:solidFill>
                <a:latin typeface="Inter"/>
                <a:ea typeface="Inter"/>
                <a:cs typeface="Inter"/>
              </a:rPr>
              <a:t>Si el fake miente, la suite lo delata.</a:t>
            </a:r>
          </a:p>
        </p:txBody>
      </p:sp>
      <p:sp>
        <p:nvSpPr>
          <p:cNvPr id="8" name="TextBox 7"/>
          <p:cNvSpPr txBox="1"/>
          <p:nvPr/>
        </p:nvSpPr>
        <p:spPr>
          <a:xfrm>
            <a:off x="411480" y="3520440"/>
            <a:ext cx="5120640" cy="914400"/>
          </a:xfrm>
          <a:prstGeom prst="rect">
            <a:avLst/>
          </a:prstGeom>
          <a:noFill/>
        </p:spPr>
        <p:txBody>
          <a:bodyPr wrap="square" lIns="36576" rIns="36576" tIns="36576" bIns="36576" anchor="t"/>
          <a:lstStyle/>
          <a:p>
            <a:pPr algn="l" marL="182880" indent="-164592">
              <a:spcAft>
                <a:spcPts val="500"/>
              </a:spcAft>
              <a:buClr>
                <a:srgbClr val="F2617A"/>
              </a:buClr>
              <a:buSzPct val="100000"/>
              <a:buFont typeface="Arial"/>
              <a:buChar char="●"/>
            </a:pPr>
            <a:r>
              <a:rPr sz="1050" b="0" i="0" lang="es-CL">
                <a:solidFill>
                  <a:srgbClr val="1F2328"/>
                </a:solidFill>
                <a:latin typeface="Inter"/>
                <a:ea typeface="Inter"/>
                <a:cs typeface="Inter"/>
              </a:rPr>
              <a:t>Un mock prueba </a:t>
            </a:r>
            <a:r>
              <a:rPr sz="1050" b="1" i="0" lang="es-CL">
                <a:solidFill>
                  <a:srgbClr val="1F2328"/>
                </a:solidFill>
                <a:latin typeface="Inter"/>
                <a:ea typeface="Inter"/>
                <a:cs typeface="Inter"/>
              </a:rPr>
              <a:t>cómo</a:t>
            </a:r>
            <a:r>
              <a:rPr sz="1050" b="0" i="0" lang="es-CL">
                <a:solidFill>
                  <a:srgbClr val="1F2328"/>
                </a:solidFill>
                <a:latin typeface="Inter"/>
                <a:ea typeface="Inter"/>
                <a:cs typeface="Inter"/>
              </a:rPr>
              <a:t> se hizo algo. Un fake prueba </a:t>
            </a:r>
            <a:r>
              <a:rPr sz="1050" b="1" i="0" lang="es-CL">
                <a:solidFill>
                  <a:srgbClr val="1F2328"/>
                </a:solidFill>
                <a:latin typeface="Inter"/>
                <a:ea typeface="Inter"/>
                <a:cs typeface="Inter"/>
              </a:rPr>
              <a:t>qué</a:t>
            </a:r>
            <a:r>
              <a:rPr sz="1050" b="0" i="0" lang="es-CL">
                <a:solidFill>
                  <a:srgbClr val="1F2328"/>
                </a:solidFill>
                <a:latin typeface="Inter"/>
                <a:ea typeface="Inter"/>
                <a:cs typeface="Inter"/>
              </a:rPr>
              <a:t> resultó.</a:t>
            </a:r>
          </a:p>
          <a:p>
            <a:pPr algn="l" marL="182880" indent="-164592">
              <a:spcAft>
                <a:spcPts val="500"/>
              </a:spcAft>
              <a:buClr>
                <a:srgbClr val="F2617A"/>
              </a:buClr>
              <a:buSzPct val="100000"/>
              <a:buFont typeface="Arial"/>
              <a:buChar char="●"/>
            </a:pPr>
            <a:r>
              <a:rPr sz="1050" b="0" i="0" lang="es-CL">
                <a:solidFill>
                  <a:srgbClr val="1F2328"/>
                </a:solidFill>
                <a:latin typeface="Inter"/>
                <a:ea typeface="Inter"/>
                <a:cs typeface="Inter"/>
              </a:rPr>
              <a:t>Los tests con mocks se rompen al refactorizar aunque el comportamiento siga igual.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Unitarias de dominio, sin mocks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Prueba reglas puras del dominio: entidades y value objects, sin framework ni base de datos.</a:t>
            </a:r>
          </a:p>
        </p:txBody>
      </p:sp>
      <p:sp>
        <p:nvSpPr>
          <p:cNvPr id="6" name="Rounded Rectangle 5"/>
          <p:cNvSpPr/>
          <p:nvPr/>
        </p:nvSpPr>
        <p:spPr>
          <a:xfrm>
            <a:off x="411480" y="1783080"/>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755648"/>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Errores de lógica en particiones y valores límite: guiones, prefijo 979, dígito verificador.</a:t>
            </a:r>
          </a:p>
        </p:txBody>
      </p:sp>
      <p:sp>
        <p:nvSpPr>
          <p:cNvPr id="8" name="Rounded Rectangle 7"/>
          <p:cNvSpPr/>
          <p:nvPr/>
        </p:nvSpPr>
        <p:spPr>
          <a:xfrm>
            <a:off x="411480" y="2459735"/>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432303"/>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Jest con ts-jest. Objetos reales, oráculos literales.</a:t>
            </a:r>
          </a:p>
        </p:txBody>
      </p:sp>
      <p:sp>
        <p:nvSpPr>
          <p:cNvPr id="10" name="Rounded Rectangle 9"/>
          <p:cNvSpPr/>
          <p:nvPr/>
        </p:nvSpPr>
        <p:spPr>
          <a:xfrm>
            <a:off x="411480" y="2971799"/>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2944368"/>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5 · unit, en cada push. Milisegundos.</a:t>
            </a:r>
          </a:p>
        </p:txBody>
      </p:sp>
      <p:sp>
        <p:nvSpPr>
          <p:cNvPr id="12" name="Rounded Rectangle 11"/>
          <p:cNvSpPr/>
          <p:nvPr/>
        </p:nvSpPr>
        <p:spPr>
          <a:xfrm>
            <a:off x="411480" y="3483863"/>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456432"/>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Tests micro, p. 66 a 72. Buenos tests, p. 107.</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backend/src/books/domain/isbn.spec.ts (extracto)</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850" b="0" i="0" lang="es-CL">
                <a:solidFill>
                  <a:srgbClr val="0000FF"/>
                </a:solidFill>
                <a:latin typeface="Consolas"/>
                <a:ea typeface="Consolas"/>
                <a:cs typeface="Consolas"/>
              </a:rPr>
              <a:t>const</a:t>
            </a:r>
            <a:r>
              <a:rPr sz="850" b="0" i="0" lang="es-CL">
                <a:solidFill>
                  <a:srgbClr val="1F2328"/>
                </a:solidFill>
                <a:latin typeface="Consolas"/>
                <a:ea typeface="Consolas"/>
                <a:cs typeface="Consolas"/>
              </a:rPr>
              <a:t> invalidIsbn = {</a:t>
            </a:r>
          </a:p>
          <a:p>
            <a:pPr marL="0" indent="0">
              <a:lnSpc>
                <a:spcPct val="100000"/>
              </a:lnSpc>
              <a:spcAft>
                <a:spcPts val="0"/>
              </a:spcAft>
              <a:buNone/>
            </a:pPr>
            <a:r>
              <a:rPr sz="850" b="0" i="0" lang="es-CL">
                <a:solidFill>
                  <a:srgbClr val="1F2328"/>
                </a:solidFill>
                <a:latin typeface="Consolas"/>
                <a:ea typeface="Consolas"/>
                <a:cs typeface="Consolas"/>
              </a:rPr>
              <a:t>  code: </a:t>
            </a:r>
            <a:r>
              <a:rPr sz="850" b="0" i="0" lang="es-CL">
                <a:solidFill>
                  <a:srgbClr val="A31515"/>
                </a:solidFill>
                <a:latin typeface="Consolas"/>
                <a:ea typeface="Consolas"/>
                <a:cs typeface="Consolas"/>
              </a:rPr>
              <a:t>'VALIDATION_ERROR'</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field: </a:t>
            </a:r>
            <a:r>
              <a:rPr sz="850" b="0" i="0" lang="es-CL">
                <a:solidFill>
                  <a:srgbClr val="A31515"/>
                </a:solidFill>
                <a:latin typeface="Consolas"/>
                <a:ea typeface="Consolas"/>
                <a:cs typeface="Consolas"/>
              </a:rPr>
              <a:t>'isbn'</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message: </a:t>
            </a:r>
            <a:r>
              <a:rPr sz="850" b="0" i="0" lang="es-CL">
                <a:solidFill>
                  <a:srgbClr val="A31515"/>
                </a:solidFill>
                <a:latin typeface="Consolas"/>
                <a:ea typeface="Consolas"/>
                <a:cs typeface="Consolas"/>
              </a:rPr>
              <a:t>'El ISBN no es válido'</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795E26"/>
                </a:solidFill>
                <a:latin typeface="Consolas"/>
                <a:ea typeface="Consolas"/>
                <a:cs typeface="Consolas"/>
              </a:rPr>
              <a:t>describe</a:t>
            </a:r>
            <a:r>
              <a:rPr sz="850" b="0" i="0" lang="es-CL">
                <a:solidFill>
                  <a:srgbClr val="1F2328"/>
                </a:solidFill>
                <a:latin typeface="Consolas"/>
                <a:ea typeface="Consolas"/>
                <a:cs typeface="Consolas"/>
              </a:rPr>
              <a:t>(</a:t>
            </a:r>
            <a:r>
              <a:rPr sz="850" b="0" i="0" lang="es-CL">
                <a:solidFill>
                  <a:srgbClr val="A31515"/>
                </a:solidFill>
                <a:latin typeface="Consolas"/>
                <a:ea typeface="Consolas"/>
                <a:cs typeface="Consolas"/>
              </a:rPr>
              <a:t>'Isbn'</a:t>
            </a:r>
            <a:r>
              <a:rPr sz="850" b="0" i="0" lang="es-CL">
                <a:solidFill>
                  <a:srgbClr val="1F2328"/>
                </a:solidFill>
                <a:latin typeface="Consolas"/>
                <a:ea typeface="Consolas"/>
                <a:cs typeface="Consolas"/>
              </a:rPr>
              <a:t>, () =&gt; {</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795E26"/>
                </a:solidFill>
                <a:latin typeface="Consolas"/>
                <a:ea typeface="Consolas"/>
                <a:cs typeface="Consolas"/>
              </a:rPr>
              <a:t>it</a:t>
            </a:r>
            <a:r>
              <a:rPr sz="850" b="0" i="0" lang="es-CL">
                <a:solidFill>
                  <a:srgbClr val="1F2328"/>
                </a:solidFill>
                <a:latin typeface="Consolas"/>
                <a:ea typeface="Consolas"/>
                <a:cs typeface="Consolas"/>
              </a:rPr>
              <a:t>(</a:t>
            </a:r>
            <a:r>
              <a:rPr sz="850" b="0" i="0" lang="es-CL">
                <a:solidFill>
                  <a:srgbClr val="A31515"/>
                </a:solidFill>
                <a:latin typeface="Consolas"/>
                <a:ea typeface="Consolas"/>
                <a:cs typeface="Consolas"/>
              </a:rPr>
              <a:t>'</a:t>
            </a:r>
            <a:r>
              <a:rPr sz="850" b="1" i="0" lang="es-CL">
                <a:solidFill>
                  <a:srgbClr val="9900FF"/>
                </a:solidFill>
                <a:latin typeface="Consolas"/>
                <a:ea typeface="Consolas"/>
                <a:cs typeface="Consolas"/>
              </a:rPr>
              <a:t>[BOOK-R1]</a:t>
            </a:r>
            <a:r>
              <a:rPr sz="850" b="0" i="0" lang="es-CL">
                <a:solidFill>
                  <a:srgbClr val="A31515"/>
                </a:solidFill>
                <a:latin typeface="Consolas"/>
                <a:ea typeface="Consolas"/>
                <a:cs typeface="Consolas"/>
              </a:rPr>
              <a:t> normaliza quitando guiones y espacios'</a:t>
            </a:r>
            <a:r>
              <a:rPr sz="850" b="0" i="0" lang="es-CL">
                <a:solidFill>
                  <a:srgbClr val="1F2328"/>
                </a:solidFill>
                <a:latin typeface="Consolas"/>
                <a:ea typeface="Consolas"/>
                <a:cs typeface="Consolas"/>
              </a:rPr>
              <a:t>, () =&gt; {</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795E26"/>
                </a:solidFill>
                <a:latin typeface="Consolas"/>
                <a:ea typeface="Consolas"/>
                <a:cs typeface="Consolas"/>
              </a:rPr>
              <a:t>expect</a:t>
            </a:r>
            <a:r>
              <a:rPr sz="850" b="0" i="0" lang="es-CL">
                <a:solidFill>
                  <a:srgbClr val="1F2328"/>
                </a:solidFill>
                <a:latin typeface="Consolas"/>
                <a:ea typeface="Consolas"/>
                <a:cs typeface="Consolas"/>
              </a:rPr>
              <a:t>(Isbn.create(</a:t>
            </a:r>
            <a:r>
              <a:rPr sz="850" b="0" i="0" lang="es-CL">
                <a:solidFill>
                  <a:srgbClr val="A31515"/>
                </a:solidFill>
                <a:latin typeface="Consolas"/>
                <a:ea typeface="Consolas"/>
                <a:cs typeface="Consolas"/>
              </a:rPr>
              <a:t>'978-84-376 0494-7'</a:t>
            </a:r>
            <a:r>
              <a:rPr sz="850" b="0" i="0" lang="es-CL">
                <a:solidFill>
                  <a:srgbClr val="1F2328"/>
                </a:solidFill>
                <a:latin typeface="Consolas"/>
                <a:ea typeface="Consolas"/>
                <a:cs typeface="Consolas"/>
              </a:rPr>
              <a:t>).value)</a:t>
            </a:r>
          </a:p>
          <a:p>
            <a:pPr marL="0" indent="0">
              <a:lnSpc>
                <a:spcPct val="100000"/>
              </a:lnSpc>
              <a:spcAft>
                <a:spcPts val="0"/>
              </a:spcAft>
              <a:buNone/>
            </a:pPr>
            <a:r>
              <a:rPr sz="850" b="0" i="0" lang="es-CL">
                <a:solidFill>
                  <a:srgbClr val="1F2328"/>
                </a:solidFill>
                <a:latin typeface="Consolas"/>
                <a:ea typeface="Consolas"/>
                <a:cs typeface="Consolas"/>
              </a:rPr>
              <a:t>      .toBe(</a:t>
            </a:r>
            <a:r>
              <a:rPr sz="850" b="0" i="0" lang="es-CL">
                <a:solidFill>
                  <a:srgbClr val="A31515"/>
                </a:solidFill>
                <a:latin typeface="Consolas"/>
                <a:ea typeface="Consolas"/>
                <a:cs typeface="Consolas"/>
              </a:rPr>
              <a:t>'9788437604947'</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795E26"/>
                </a:solidFill>
                <a:latin typeface="Consolas"/>
                <a:ea typeface="Consolas"/>
                <a:cs typeface="Consolas"/>
              </a:rPr>
              <a:t>it</a:t>
            </a:r>
            <a:r>
              <a:rPr sz="850" b="0" i="0" lang="es-CL">
                <a:solidFill>
                  <a:srgbClr val="1F2328"/>
                </a:solidFill>
                <a:latin typeface="Consolas"/>
                <a:ea typeface="Consolas"/>
                <a:cs typeface="Consolas"/>
              </a:rPr>
              <a:t>(</a:t>
            </a:r>
            <a:r>
              <a:rPr sz="850" b="0" i="0" lang="es-CL">
                <a:solidFill>
                  <a:srgbClr val="A31515"/>
                </a:solidFill>
                <a:latin typeface="Consolas"/>
                <a:ea typeface="Consolas"/>
                <a:cs typeface="Consolas"/>
              </a:rPr>
              <a:t>'</a:t>
            </a:r>
            <a:r>
              <a:rPr sz="850" b="1" i="0" lang="es-CL">
                <a:solidFill>
                  <a:srgbClr val="9900FF"/>
                </a:solidFill>
                <a:latin typeface="Consolas"/>
                <a:ea typeface="Consolas"/>
                <a:cs typeface="Consolas"/>
              </a:rPr>
              <a:t>[BOOK-R1]</a:t>
            </a:r>
            <a:r>
              <a:rPr sz="850" b="0" i="0" lang="es-CL">
                <a:solidFill>
                  <a:srgbClr val="A31515"/>
                </a:solidFill>
                <a:latin typeface="Consolas"/>
                <a:ea typeface="Consolas"/>
                <a:cs typeface="Consolas"/>
              </a:rPr>
              <a:t> acepta el prefijo 979'</a:t>
            </a:r>
            <a:r>
              <a:rPr sz="850" b="0" i="0" lang="es-CL">
                <a:solidFill>
                  <a:srgbClr val="1F2328"/>
                </a:solidFill>
                <a:latin typeface="Consolas"/>
                <a:ea typeface="Consolas"/>
                <a:cs typeface="Consolas"/>
              </a:rPr>
              <a:t>, () =&gt; {</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795E26"/>
                </a:solidFill>
                <a:latin typeface="Consolas"/>
                <a:ea typeface="Consolas"/>
                <a:cs typeface="Consolas"/>
              </a:rPr>
              <a:t>expect</a:t>
            </a:r>
            <a:r>
              <a:rPr sz="850" b="0" i="0" lang="es-CL">
                <a:solidFill>
                  <a:srgbClr val="1F2328"/>
                </a:solidFill>
                <a:latin typeface="Consolas"/>
                <a:ea typeface="Consolas"/>
                <a:cs typeface="Consolas"/>
              </a:rPr>
              <a:t>(Isbn.create(</a:t>
            </a:r>
            <a:r>
              <a:rPr sz="850" b="0" i="0" lang="es-CL">
                <a:solidFill>
                  <a:srgbClr val="A31515"/>
                </a:solidFill>
                <a:latin typeface="Consolas"/>
                <a:ea typeface="Consolas"/>
                <a:cs typeface="Consolas"/>
              </a:rPr>
              <a:t>'979-10-323-0569-0'</a:t>
            </a:r>
            <a:r>
              <a:rPr sz="850" b="0" i="0" lang="es-CL">
                <a:solidFill>
                  <a:srgbClr val="1F2328"/>
                </a:solidFill>
                <a:latin typeface="Consolas"/>
                <a:ea typeface="Consolas"/>
                <a:cs typeface="Consolas"/>
              </a:rPr>
              <a:t>).value)</a:t>
            </a:r>
          </a:p>
          <a:p>
            <a:pPr marL="0" indent="0">
              <a:lnSpc>
                <a:spcPct val="100000"/>
              </a:lnSpc>
              <a:spcAft>
                <a:spcPts val="0"/>
              </a:spcAft>
              <a:buNone/>
            </a:pPr>
            <a:r>
              <a:rPr sz="850" b="0" i="0" lang="es-CL">
                <a:solidFill>
                  <a:srgbClr val="1F2328"/>
                </a:solidFill>
                <a:latin typeface="Consolas"/>
                <a:ea typeface="Consolas"/>
                <a:cs typeface="Consolas"/>
              </a:rPr>
              <a:t>      .toBe(</a:t>
            </a:r>
            <a:r>
              <a:rPr sz="850" b="0" i="0" lang="es-CL">
                <a:solidFill>
                  <a:srgbClr val="A31515"/>
                </a:solidFill>
                <a:latin typeface="Consolas"/>
                <a:ea typeface="Consolas"/>
                <a:cs typeface="Consolas"/>
              </a:rPr>
              <a:t>'9791032305690'</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795E26"/>
                </a:solidFill>
                <a:latin typeface="Consolas"/>
                <a:ea typeface="Consolas"/>
                <a:cs typeface="Consolas"/>
              </a:rPr>
              <a:t>it</a:t>
            </a:r>
            <a:r>
              <a:rPr sz="850" b="0" i="0" lang="es-CL">
                <a:solidFill>
                  <a:srgbClr val="1F2328"/>
                </a:solidFill>
                <a:latin typeface="Consolas"/>
                <a:ea typeface="Consolas"/>
                <a:cs typeface="Consolas"/>
              </a:rPr>
              <a:t>(</a:t>
            </a:r>
            <a:r>
              <a:rPr sz="850" b="0" i="0" lang="es-CL">
                <a:solidFill>
                  <a:srgbClr val="A31515"/>
                </a:solidFill>
                <a:latin typeface="Consolas"/>
                <a:ea typeface="Consolas"/>
                <a:cs typeface="Consolas"/>
              </a:rPr>
              <a:t>'</a:t>
            </a:r>
            <a:r>
              <a:rPr sz="850" b="1" i="0" lang="es-CL">
                <a:solidFill>
                  <a:srgbClr val="9900FF"/>
                </a:solidFill>
                <a:latin typeface="Consolas"/>
                <a:ea typeface="Consolas"/>
                <a:cs typeface="Consolas"/>
              </a:rPr>
              <a:t>[BOOK-R1]</a:t>
            </a:r>
            <a:r>
              <a:rPr sz="850" b="0" i="0" lang="es-CL">
                <a:solidFill>
                  <a:srgbClr val="A31515"/>
                </a:solidFill>
                <a:latin typeface="Consolas"/>
                <a:ea typeface="Consolas"/>
                <a:cs typeface="Consolas"/>
              </a:rPr>
              <a:t> rechaza un dígito verificador incorrecto'</a:t>
            </a:r>
            <a:r>
              <a:rPr sz="850" b="0" i="0" lang="es-CL">
                <a:solidFill>
                  <a:srgbClr val="1F2328"/>
                </a:solidFill>
                <a:latin typeface="Consolas"/>
                <a:ea typeface="Consolas"/>
                <a:cs typeface="Consolas"/>
              </a:rPr>
              <a:t>, () =&gt; {</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795E26"/>
                </a:solidFill>
                <a:latin typeface="Consolas"/>
                <a:ea typeface="Consolas"/>
                <a:cs typeface="Consolas"/>
              </a:rPr>
              <a:t>expect</a:t>
            </a:r>
            <a:r>
              <a:rPr sz="850" b="0" i="0" lang="es-CL">
                <a:solidFill>
                  <a:srgbClr val="1F2328"/>
                </a:solidFill>
                <a:latin typeface="Consolas"/>
                <a:ea typeface="Consolas"/>
                <a:cs typeface="Consolas"/>
              </a:rPr>
              <a:t>(thrownBy(() =&gt; Isbn.create(</a:t>
            </a:r>
            <a:r>
              <a:rPr sz="850" b="0" i="0" lang="es-CL">
                <a:solidFill>
                  <a:srgbClr val="A31515"/>
                </a:solidFill>
                <a:latin typeface="Consolas"/>
                <a:ea typeface="Consolas"/>
                <a:cs typeface="Consolas"/>
              </a:rPr>
              <a:t>'978-0-00-000000-1'</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.toMatchObject(invalidIsbn)</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Unitarias de aplicación con fakes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Prueba un caso de uso completo con repositorios en memoria y un reloj fijo.</a:t>
            </a:r>
          </a:p>
        </p:txBody>
      </p:sp>
      <p:sp>
        <p:nvSpPr>
          <p:cNvPr id="6" name="Rounded Rectangle 5"/>
          <p:cNvSpPr/>
          <p:nvPr/>
        </p:nvSpPr>
        <p:spPr>
          <a:xfrm>
            <a:off x="411480" y="1783080"/>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755648"/>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Orquestación incorrecta: no descontar la copia, fecha de devolución mal calculada.</a:t>
            </a:r>
          </a:p>
        </p:txBody>
      </p:sp>
      <p:sp>
        <p:nvSpPr>
          <p:cNvPr id="8" name="Rounded Rectangle 7"/>
          <p:cNvSpPr/>
          <p:nvPr/>
        </p:nvSpPr>
        <p:spPr>
          <a:xfrm>
            <a:off x="411480" y="2459735"/>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432303"/>
            <a:ext cx="2432304" cy="731519"/>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Jest. Fakes: InMemoryBookRepository, InMemoryLoanRepository, InMemoryUnitOfWork y FixedClock.</a:t>
            </a:r>
          </a:p>
        </p:txBody>
      </p:sp>
      <p:sp>
        <p:nvSpPr>
          <p:cNvPr id="10" name="Rounded Rectangle 9"/>
          <p:cNvSpPr/>
          <p:nvPr/>
        </p:nvSpPr>
        <p:spPr>
          <a:xfrm>
            <a:off x="411480" y="3300983"/>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3273551"/>
            <a:ext cx="2432304" cy="329184"/>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5 · unit, en cada push.</a:t>
            </a:r>
          </a:p>
        </p:txBody>
      </p:sp>
      <p:sp>
        <p:nvSpPr>
          <p:cNvPr id="12" name="Rounded Rectangle 11"/>
          <p:cNvSpPr/>
          <p:nvPr/>
        </p:nvSpPr>
        <p:spPr>
          <a:xfrm>
            <a:off x="411480" y="3739896"/>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712464"/>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Dobles de prueba y aislamiento, cap. 3.</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application-harness.ts y create-loan.spec.ts (extracto)</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800" b="0" i="0" lang="es-CL">
                <a:solidFill>
                  <a:srgbClr val="008000"/>
                </a:solidFill>
                <a:latin typeface="Consolas"/>
                <a:ea typeface="Consolas"/>
                <a:cs typeface="Consolas"/>
              </a:rPr>
              <a:t>// Sin mocks: los tests verifican el estado final de los</a:t>
            </a:r>
          </a:p>
          <a:p>
            <a:pPr marL="0" indent="0">
              <a:lnSpc>
                <a:spcPct val="100000"/>
              </a:lnSpc>
              <a:spcAft>
                <a:spcPts val="0"/>
              </a:spcAft>
              <a:buNone/>
            </a:pPr>
            <a:r>
              <a:rPr sz="800" b="0" i="0" lang="es-CL">
                <a:solidFill>
                  <a:srgbClr val="008000"/>
                </a:solidFill>
                <a:latin typeface="Consolas"/>
                <a:ea typeface="Consolas"/>
                <a:cs typeface="Consolas"/>
              </a:rPr>
              <a:t>// repositorios, no qué métodos se llamaron.</a:t>
            </a:r>
          </a:p>
          <a:p>
            <a:pPr marL="0" indent="0">
              <a:lnSpc>
                <a:spcPct val="100000"/>
              </a:lnSpc>
              <a:spcAft>
                <a:spcPts val="0"/>
              </a:spcAft>
              <a:buNone/>
            </a:pPr>
            <a:r>
              <a:rPr sz="800" b="0" i="0" lang="es-CL">
                <a:solidFill>
                  <a:srgbClr val="AF00DB"/>
                </a:solidFill>
                <a:latin typeface="Consolas"/>
                <a:ea typeface="Consolas"/>
                <a:cs typeface="Consolas"/>
              </a:rPr>
              <a:t>export</a:t>
            </a:r>
            <a:r>
              <a:rPr sz="800" b="0" i="0" lang="es-CL">
                <a:solidFill>
                  <a:srgbClr val="1F2328"/>
                </a:solidFill>
                <a:latin typeface="Consolas"/>
                <a:ea typeface="Consolas"/>
                <a:cs typeface="Consolas"/>
              </a:rPr>
              <a:t> </a:t>
            </a:r>
            <a:r>
              <a:rPr sz="800" b="0" i="0" lang="es-CL">
                <a:solidFill>
                  <a:srgbClr val="0000FF"/>
                </a:solidFill>
                <a:latin typeface="Consolas"/>
                <a:ea typeface="Consolas"/>
                <a:cs typeface="Consolas"/>
              </a:rPr>
              <a:t>function</a:t>
            </a:r>
            <a:r>
              <a:rPr sz="800" b="0" i="0" lang="es-CL">
                <a:solidFill>
                  <a:srgbClr val="1F2328"/>
                </a:solidFill>
                <a:latin typeface="Consolas"/>
                <a:ea typeface="Consolas"/>
                <a:cs typeface="Consolas"/>
              </a:rPr>
              <a:t> createApplication() {</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0000FF"/>
                </a:solidFill>
                <a:latin typeface="Consolas"/>
                <a:ea typeface="Consolas"/>
                <a:cs typeface="Consolas"/>
              </a:rPr>
              <a:t>const</a:t>
            </a:r>
            <a:r>
              <a:rPr sz="800" b="0" i="0" lang="es-CL">
                <a:solidFill>
                  <a:srgbClr val="1F2328"/>
                </a:solidFill>
                <a:latin typeface="Consolas"/>
                <a:ea typeface="Consolas"/>
                <a:cs typeface="Consolas"/>
              </a:rPr>
              <a:t> books = </a:t>
            </a:r>
            <a:r>
              <a:rPr sz="800" b="0" i="0" lang="es-CL">
                <a:solidFill>
                  <a:srgbClr val="0000FF"/>
                </a:solidFill>
                <a:latin typeface="Consolas"/>
                <a:ea typeface="Consolas"/>
                <a:cs typeface="Consolas"/>
              </a:rPr>
              <a:t>new</a:t>
            </a:r>
            <a:r>
              <a:rPr sz="800" b="0" i="0" lang="es-CL">
                <a:solidFill>
                  <a:srgbClr val="1F2328"/>
                </a:solidFill>
                <a:latin typeface="Consolas"/>
                <a:ea typeface="Consolas"/>
                <a:cs typeface="Consolas"/>
              </a:rPr>
              <a:t> InMemoryBookRepository()</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0000FF"/>
                </a:solidFill>
                <a:latin typeface="Consolas"/>
                <a:ea typeface="Consolas"/>
                <a:cs typeface="Consolas"/>
              </a:rPr>
              <a:t>const</a:t>
            </a:r>
            <a:r>
              <a:rPr sz="800" b="0" i="0" lang="es-CL">
                <a:solidFill>
                  <a:srgbClr val="1F2328"/>
                </a:solidFill>
                <a:latin typeface="Consolas"/>
                <a:ea typeface="Consolas"/>
                <a:cs typeface="Consolas"/>
              </a:rPr>
              <a:t> loans = </a:t>
            </a:r>
            <a:r>
              <a:rPr sz="800" b="0" i="0" lang="es-CL">
                <a:solidFill>
                  <a:srgbClr val="0000FF"/>
                </a:solidFill>
                <a:latin typeface="Consolas"/>
                <a:ea typeface="Consolas"/>
                <a:cs typeface="Consolas"/>
              </a:rPr>
              <a:t>new</a:t>
            </a:r>
            <a:r>
              <a:rPr sz="800" b="0" i="0" lang="es-CL">
                <a:solidFill>
                  <a:srgbClr val="1F2328"/>
                </a:solidFill>
                <a:latin typeface="Consolas"/>
                <a:ea typeface="Consolas"/>
                <a:cs typeface="Consolas"/>
              </a:rPr>
              <a:t> InMemoryLoanRepository()</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0000FF"/>
                </a:solidFill>
                <a:latin typeface="Consolas"/>
                <a:ea typeface="Consolas"/>
                <a:cs typeface="Consolas"/>
              </a:rPr>
              <a:t>const</a:t>
            </a:r>
            <a:r>
              <a:rPr sz="800" b="0" i="0" lang="es-CL">
                <a:solidFill>
                  <a:srgbClr val="1F2328"/>
                </a:solidFill>
                <a:latin typeface="Consolas"/>
                <a:ea typeface="Consolas"/>
                <a:cs typeface="Consolas"/>
              </a:rPr>
              <a:t> clock = </a:t>
            </a:r>
            <a:r>
              <a:rPr sz="800" b="0" i="0" lang="es-CL">
                <a:solidFill>
                  <a:srgbClr val="0000FF"/>
                </a:solidFill>
                <a:latin typeface="Consolas"/>
                <a:ea typeface="Consolas"/>
                <a:cs typeface="Consolas"/>
              </a:rPr>
              <a:t>new</a:t>
            </a:r>
            <a:r>
              <a:rPr sz="800" b="0" i="0" lang="es-CL">
                <a:solidFill>
                  <a:srgbClr val="1F2328"/>
                </a:solidFill>
                <a:latin typeface="Consolas"/>
                <a:ea typeface="Consolas"/>
                <a:cs typeface="Consolas"/>
              </a:rPr>
              <a:t> FixedClock(FIXED_NOW)</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0000FF"/>
                </a:solidFill>
                <a:latin typeface="Consolas"/>
                <a:ea typeface="Consolas"/>
                <a:cs typeface="Consolas"/>
              </a:rPr>
              <a:t>const</a:t>
            </a:r>
            <a:r>
              <a:rPr sz="800" b="0" i="0" lang="es-CL">
                <a:solidFill>
                  <a:srgbClr val="1F2328"/>
                </a:solidFill>
                <a:latin typeface="Consolas"/>
                <a:ea typeface="Consolas"/>
                <a:cs typeface="Consolas"/>
              </a:rPr>
              <a:t> unitOfWork = </a:t>
            </a:r>
            <a:r>
              <a:rPr sz="800" b="0" i="0" lang="es-CL">
                <a:solidFill>
                  <a:srgbClr val="0000FF"/>
                </a:solidFill>
                <a:latin typeface="Consolas"/>
                <a:ea typeface="Consolas"/>
                <a:cs typeface="Consolas"/>
              </a:rPr>
              <a:t>new</a:t>
            </a:r>
            <a:r>
              <a:rPr sz="800" b="0" i="0" lang="es-CL">
                <a:solidFill>
                  <a:srgbClr val="1F2328"/>
                </a:solidFill>
                <a:latin typeface="Consolas"/>
                <a:ea typeface="Consolas"/>
                <a:cs typeface="Consolas"/>
              </a:rPr>
              <a:t> InMemoryUnitOfWork([books, loans])</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AF00DB"/>
                </a:solidFill>
                <a:latin typeface="Consolas"/>
                <a:ea typeface="Consolas"/>
                <a:cs typeface="Consolas"/>
              </a:rPr>
              <a:t>return</a:t>
            </a:r>
            <a:r>
              <a:rPr sz="800" b="0" i="0" lang="es-CL">
                <a:solidFill>
                  <a:srgbClr val="1F2328"/>
                </a:solidFill>
                <a:latin typeface="Consolas"/>
                <a:ea typeface="Consolas"/>
                <a:cs typeface="Consolas"/>
              </a:rPr>
              <a:t> { books, loans, clock,</a:t>
            </a:r>
          </a:p>
          <a:p>
            <a:pPr marL="0" indent="0">
              <a:lnSpc>
                <a:spcPct val="100000"/>
              </a:lnSpc>
              <a:spcAft>
                <a:spcPts val="0"/>
              </a:spcAft>
              <a:buNone/>
            </a:pPr>
            <a:r>
              <a:rPr sz="800" b="0" i="0" lang="es-CL">
                <a:solidFill>
                  <a:srgbClr val="1F2328"/>
                </a:solidFill>
                <a:latin typeface="Consolas"/>
                <a:ea typeface="Consolas"/>
                <a:cs typeface="Consolas"/>
              </a:rPr>
              <a:t>    createLoan: </a:t>
            </a:r>
            <a:r>
              <a:rPr sz="800" b="0" i="0" lang="es-CL">
                <a:solidFill>
                  <a:srgbClr val="0000FF"/>
                </a:solidFill>
                <a:latin typeface="Consolas"/>
                <a:ea typeface="Consolas"/>
                <a:cs typeface="Consolas"/>
              </a:rPr>
              <a:t>new</a:t>
            </a:r>
            <a:r>
              <a:rPr sz="800" b="0" i="0" lang="es-CL">
                <a:solidFill>
                  <a:srgbClr val="1F2328"/>
                </a:solidFill>
                <a:latin typeface="Consolas"/>
                <a:ea typeface="Consolas"/>
                <a:cs typeface="Consolas"/>
              </a:rPr>
              <a:t> CreateLoan(books, loans, unitOfWork, clock) }</a:t>
            </a:r>
          </a:p>
          <a:p>
            <a:pPr marL="0" indent="0">
              <a:lnSpc>
                <a:spcPct val="100000"/>
              </a:lnSpc>
              <a:spcAft>
                <a:spcPts val="0"/>
              </a:spcAft>
              <a:buNone/>
            </a:pPr>
            <a:r>
              <a:rPr sz="800" b="0" i="0" lang="es-CL">
                <a:solidFill>
                  <a:srgbClr val="1F2328"/>
                </a:solidFill>
                <a:latin typeface="Consolas"/>
                <a:ea typeface="Consolas"/>
                <a:cs typeface="Consolas"/>
              </a:rPr>
              <a:t>}</a:t>
            </a:r>
          </a:p>
          <a:p>
            <a:pPr marL="0" indent="0">
              <a:lnSpc>
                <a:spcPct val="100000"/>
              </a:lnSpc>
              <a:spcAft>
                <a:spcPts val="0"/>
              </a:spcAft>
              <a:buNone/>
            </a:pPr>
            <a:r>
              <a:rPr sz="800" b="0" i="0" lang="es-CL">
                <a:solidFill>
                  <a:srgbClr val="1F2328"/>
                </a:solidFill>
                <a:latin typeface="Consolas"/>
                <a:ea typeface="Consolas"/>
                <a:cs typeface="Consolas"/>
              </a:rPr>
              <a:t> </a:t>
            </a:r>
          </a:p>
          <a:p>
            <a:pPr marL="0" indent="0">
              <a:lnSpc>
                <a:spcPct val="100000"/>
              </a:lnSpc>
              <a:spcAft>
                <a:spcPts val="0"/>
              </a:spcAft>
              <a:buNone/>
            </a:pPr>
            <a:r>
              <a:rPr sz="800" b="0" i="0" lang="es-CL">
                <a:solidFill>
                  <a:srgbClr val="795E26"/>
                </a:solidFill>
                <a:latin typeface="Consolas"/>
                <a:ea typeface="Consolas"/>
                <a:cs typeface="Consolas"/>
              </a:rPr>
              <a:t>it</a:t>
            </a:r>
            <a:r>
              <a:rPr sz="800" b="0" i="0" lang="es-CL">
                <a:solidFill>
                  <a:srgbClr val="1F2328"/>
                </a:solidFill>
                <a:latin typeface="Consolas"/>
                <a:ea typeface="Consolas"/>
                <a:cs typeface="Consolas"/>
              </a:rPr>
              <a:t>(</a:t>
            </a:r>
            <a:r>
              <a:rPr sz="800" b="0" i="0" lang="es-CL">
                <a:solidFill>
                  <a:srgbClr val="A31515"/>
                </a:solidFill>
                <a:latin typeface="Consolas"/>
                <a:ea typeface="Consolas"/>
                <a:cs typeface="Consolas"/>
              </a:rPr>
              <a:t>'</a:t>
            </a:r>
            <a:r>
              <a:rPr sz="800" b="1" i="0" lang="es-CL">
                <a:solidFill>
                  <a:srgbClr val="9900FF"/>
                </a:solidFill>
                <a:latin typeface="Consolas"/>
                <a:ea typeface="Consolas"/>
                <a:cs typeface="Consolas"/>
              </a:rPr>
              <a:t>[LOAN-R2]</a:t>
            </a:r>
            <a:r>
              <a:rPr sz="800" b="0" i="0" lang="es-CL">
                <a:solidFill>
                  <a:srgbClr val="A31515"/>
                </a:solidFill>
                <a:latin typeface="Consolas"/>
                <a:ea typeface="Consolas"/>
                <a:cs typeface="Consolas"/>
              </a:rPr>
              <a:t> rechaza el cuarto préstamo y no descuenta copias'</a:t>
            </a:r>
            <a:r>
              <a:rPr sz="800" b="0" i="0" lang="es-CL">
                <a:solidFill>
                  <a:srgbClr val="1F2328"/>
                </a:solidFill>
                <a:latin typeface="Consolas"/>
                <a:ea typeface="Consolas"/>
                <a:cs typeface="Consolas"/>
              </a:rPr>
              <a:t>,</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0000FF"/>
                </a:solidFill>
                <a:latin typeface="Consolas"/>
                <a:ea typeface="Consolas"/>
                <a:cs typeface="Consolas"/>
              </a:rPr>
              <a:t>async</a:t>
            </a:r>
            <a:r>
              <a:rPr sz="800" b="0" i="0" lang="es-CL">
                <a:solidFill>
                  <a:srgbClr val="1F2328"/>
                </a:solidFill>
                <a:latin typeface="Consolas"/>
                <a:ea typeface="Consolas"/>
                <a:cs typeface="Consolas"/>
              </a:rPr>
              <a:t> () =&gt; {</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0000FF"/>
                </a:solidFill>
                <a:latin typeface="Consolas"/>
                <a:ea typeface="Consolas"/>
                <a:cs typeface="Consolas"/>
              </a:rPr>
              <a:t>const</a:t>
            </a:r>
            <a:r>
              <a:rPr sz="800" b="0" i="0" lang="es-CL">
                <a:solidFill>
                  <a:srgbClr val="1F2328"/>
                </a:solidFill>
                <a:latin typeface="Consolas"/>
                <a:ea typeface="Consolas"/>
                <a:cs typeface="Consolas"/>
              </a:rPr>
              <a:t> { app, books, cienAnos } = </a:t>
            </a:r>
            <a:r>
              <a:rPr sz="800" b="0" i="0" lang="es-CL">
                <a:solidFill>
                  <a:srgbClr val="AF00DB"/>
                </a:solidFill>
                <a:latin typeface="Consolas"/>
                <a:ea typeface="Consolas"/>
                <a:cs typeface="Consolas"/>
              </a:rPr>
              <a:t>await</a:t>
            </a:r>
            <a:r>
              <a:rPr sz="800" b="0" i="0" lang="es-CL">
                <a:solidFill>
                  <a:srgbClr val="1F2328"/>
                </a:solidFill>
                <a:latin typeface="Consolas"/>
                <a:ea typeface="Consolas"/>
                <a:cs typeface="Consolas"/>
              </a:rPr>
              <a:t> appWithBooks()</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AF00DB"/>
                </a:solidFill>
                <a:latin typeface="Consolas"/>
                <a:ea typeface="Consolas"/>
                <a:cs typeface="Consolas"/>
              </a:rPr>
              <a:t>for</a:t>
            </a:r>
            <a:r>
              <a:rPr sz="800" b="0" i="0" lang="es-CL">
                <a:solidFill>
                  <a:srgbClr val="1F2328"/>
                </a:solidFill>
                <a:latin typeface="Consolas"/>
                <a:ea typeface="Consolas"/>
                <a:cs typeface="Consolas"/>
              </a:rPr>
              <a:t> (</a:t>
            </a:r>
            <a:r>
              <a:rPr sz="800" b="0" i="0" lang="es-CL">
                <a:solidFill>
                  <a:srgbClr val="0000FF"/>
                </a:solidFill>
                <a:latin typeface="Consolas"/>
                <a:ea typeface="Consolas"/>
                <a:cs typeface="Consolas"/>
              </a:rPr>
              <a:t>const</a:t>
            </a:r>
            <a:r>
              <a:rPr sz="800" b="0" i="0" lang="es-CL">
                <a:solidFill>
                  <a:srgbClr val="1F2328"/>
                </a:solidFill>
                <a:latin typeface="Consolas"/>
                <a:ea typeface="Consolas"/>
                <a:cs typeface="Consolas"/>
              </a:rPr>
              <a:t> book </a:t>
            </a:r>
            <a:r>
              <a:rPr sz="800" b="0" i="0" lang="es-CL">
                <a:solidFill>
                  <a:srgbClr val="0000FF"/>
                </a:solidFill>
                <a:latin typeface="Consolas"/>
                <a:ea typeface="Consolas"/>
                <a:cs typeface="Consolas"/>
              </a:rPr>
              <a:t>of</a:t>
            </a:r>
            <a:r>
              <a:rPr sz="800" b="0" i="0" lang="es-CL">
                <a:solidFill>
                  <a:srgbClr val="1F2328"/>
                </a:solidFill>
                <a:latin typeface="Consolas"/>
                <a:ea typeface="Consolas"/>
                <a:cs typeface="Consolas"/>
              </a:rPr>
              <a:t> books.slice(</a:t>
            </a:r>
            <a:r>
              <a:rPr sz="800" b="0" i="0" lang="es-CL">
                <a:solidFill>
                  <a:srgbClr val="098658"/>
                </a:solidFill>
                <a:latin typeface="Consolas"/>
                <a:ea typeface="Consolas"/>
                <a:cs typeface="Consolas"/>
              </a:rPr>
              <a:t>1</a:t>
            </a:r>
            <a:r>
              <a:rPr sz="800" b="0" i="0" lang="es-CL">
                <a:solidFill>
                  <a:srgbClr val="1F2328"/>
                </a:solidFill>
                <a:latin typeface="Consolas"/>
                <a:ea typeface="Consolas"/>
                <a:cs typeface="Consolas"/>
              </a:rPr>
              <a:t>)) {</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AF00DB"/>
                </a:solidFill>
                <a:latin typeface="Consolas"/>
                <a:ea typeface="Consolas"/>
                <a:cs typeface="Consolas"/>
              </a:rPr>
              <a:t>await</a:t>
            </a:r>
            <a:r>
              <a:rPr sz="800" b="0" i="0" lang="es-CL">
                <a:solidFill>
                  <a:srgbClr val="1F2328"/>
                </a:solidFill>
                <a:latin typeface="Consolas"/>
                <a:ea typeface="Consolas"/>
                <a:cs typeface="Consolas"/>
              </a:rPr>
              <a:t> app.createLoan.execute(</a:t>
            </a:r>
          </a:p>
          <a:p>
            <a:pPr marL="0" indent="0">
              <a:lnSpc>
                <a:spcPct val="100000"/>
              </a:lnSpc>
              <a:spcAft>
                <a:spcPts val="0"/>
              </a:spcAft>
              <a:buNone/>
            </a:pPr>
            <a:r>
              <a:rPr sz="800" b="0" i="0" lang="es-CL">
                <a:solidFill>
                  <a:srgbClr val="1F2328"/>
                </a:solidFill>
                <a:latin typeface="Consolas"/>
                <a:ea typeface="Consolas"/>
                <a:cs typeface="Consolas"/>
              </a:rPr>
              <a:t>        { bookId: book.id, borrowerEmail: </a:t>
            </a:r>
            <a:r>
              <a:rPr sz="800" b="0" i="0" lang="es-CL">
                <a:solidFill>
                  <a:srgbClr val="A31515"/>
                </a:solidFill>
                <a:latin typeface="Consolas"/>
                <a:ea typeface="Consolas"/>
                <a:cs typeface="Consolas"/>
              </a:rPr>
              <a:t>'beto@uc.cl'</a:t>
            </a:r>
            <a:r>
              <a:rPr sz="800" b="0" i="0" lang="es-CL">
                <a:solidFill>
                  <a:srgbClr val="1F2328"/>
                </a:solidFill>
                <a:latin typeface="Consolas"/>
                <a:ea typeface="Consolas"/>
                <a:cs typeface="Consolas"/>
              </a:rPr>
              <a:t> })</a:t>
            </a:r>
          </a:p>
          <a:p>
            <a:pPr marL="0" indent="0">
              <a:lnSpc>
                <a:spcPct val="100000"/>
              </a:lnSpc>
              <a:spcAft>
                <a:spcPts val="0"/>
              </a:spcAft>
              <a:buNone/>
            </a:pPr>
            <a:r>
              <a:rPr sz="800" b="0" i="0" lang="es-CL">
                <a:solidFill>
                  <a:srgbClr val="1F2328"/>
                </a:solidFill>
                <a:latin typeface="Consolas"/>
                <a:ea typeface="Consolas"/>
                <a:cs typeface="Consolas"/>
              </a:rPr>
              <a:t>    }</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0000FF"/>
                </a:solidFill>
                <a:latin typeface="Consolas"/>
                <a:ea typeface="Consolas"/>
                <a:cs typeface="Consolas"/>
              </a:rPr>
              <a:t>const</a:t>
            </a:r>
            <a:r>
              <a:rPr sz="800" b="0" i="0" lang="es-CL">
                <a:solidFill>
                  <a:srgbClr val="1F2328"/>
                </a:solidFill>
                <a:latin typeface="Consolas"/>
                <a:ea typeface="Consolas"/>
                <a:cs typeface="Consolas"/>
              </a:rPr>
              <a:t> error = </a:t>
            </a:r>
            <a:r>
              <a:rPr sz="800" b="0" i="0" lang="es-CL">
                <a:solidFill>
                  <a:srgbClr val="AF00DB"/>
                </a:solidFill>
                <a:latin typeface="Consolas"/>
                <a:ea typeface="Consolas"/>
                <a:cs typeface="Consolas"/>
              </a:rPr>
              <a:t>await</a:t>
            </a:r>
            <a:r>
              <a:rPr sz="800" b="0" i="0" lang="es-CL">
                <a:solidFill>
                  <a:srgbClr val="1F2328"/>
                </a:solidFill>
                <a:latin typeface="Consolas"/>
                <a:ea typeface="Consolas"/>
                <a:cs typeface="Consolas"/>
              </a:rPr>
              <a:t> rejectionOf(app.createLoan.execute(</a:t>
            </a:r>
          </a:p>
          <a:p>
            <a:pPr marL="0" indent="0">
              <a:lnSpc>
                <a:spcPct val="100000"/>
              </a:lnSpc>
              <a:spcAft>
                <a:spcPts val="0"/>
              </a:spcAft>
              <a:buNone/>
            </a:pPr>
            <a:r>
              <a:rPr sz="800" b="0" i="0" lang="es-CL">
                <a:solidFill>
                  <a:srgbClr val="1F2328"/>
                </a:solidFill>
                <a:latin typeface="Consolas"/>
                <a:ea typeface="Consolas"/>
                <a:cs typeface="Consolas"/>
              </a:rPr>
              <a:t>      { bookId: cienAnos.id, borrowerEmail: </a:t>
            </a:r>
            <a:r>
              <a:rPr sz="800" b="0" i="0" lang="es-CL">
                <a:solidFill>
                  <a:srgbClr val="A31515"/>
                </a:solidFill>
                <a:latin typeface="Consolas"/>
                <a:ea typeface="Consolas"/>
                <a:cs typeface="Consolas"/>
              </a:rPr>
              <a:t>'beto@uc.cl'</a:t>
            </a:r>
            <a:r>
              <a:rPr sz="800" b="0" i="0" lang="es-CL">
                <a:solidFill>
                  <a:srgbClr val="1F2328"/>
                </a:solidFill>
                <a:latin typeface="Consolas"/>
                <a:ea typeface="Consolas"/>
                <a:cs typeface="Consolas"/>
              </a:rPr>
              <a:t> }))</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795E26"/>
                </a:solidFill>
                <a:latin typeface="Consolas"/>
                <a:ea typeface="Consolas"/>
                <a:cs typeface="Consolas"/>
              </a:rPr>
              <a:t>expect</a:t>
            </a:r>
            <a:r>
              <a:rPr sz="800" b="0" i="0" lang="es-CL">
                <a:solidFill>
                  <a:srgbClr val="1F2328"/>
                </a:solidFill>
                <a:latin typeface="Consolas"/>
                <a:ea typeface="Consolas"/>
                <a:cs typeface="Consolas"/>
              </a:rPr>
              <a:t>(error).toBeInstanceOf(LoanLimitReachedError)</a:t>
            </a:r>
          </a:p>
          <a:p>
            <a:pPr marL="0" indent="0">
              <a:lnSpc>
                <a:spcPct val="100000"/>
              </a:lnSpc>
              <a:spcAft>
                <a:spcPts val="0"/>
              </a:spcAft>
              <a:buNone/>
            </a:pPr>
            <a:r>
              <a:rPr sz="800" b="0" i="0" lang="es-CL">
                <a:solidFill>
                  <a:srgbClr val="1F2328"/>
                </a:solidFill>
                <a:latin typeface="Consolas"/>
                <a:ea typeface="Consolas"/>
                <a:cs typeface="Consolas"/>
              </a:rPr>
              <a:t>    </a:t>
            </a:r>
            <a:r>
              <a:rPr sz="800" b="0" i="0" lang="es-CL">
                <a:solidFill>
                  <a:srgbClr val="795E26"/>
                </a:solidFill>
                <a:latin typeface="Consolas"/>
                <a:ea typeface="Consolas"/>
                <a:cs typeface="Consolas"/>
              </a:rPr>
              <a:t>expect</a:t>
            </a:r>
            <a:r>
              <a:rPr sz="800" b="0" i="0" lang="es-CL">
                <a:solidFill>
                  <a:srgbClr val="1F2328"/>
                </a:solidFill>
                <a:latin typeface="Consolas"/>
                <a:ea typeface="Consolas"/>
                <a:cs typeface="Consolas"/>
              </a:rPr>
              <a:t>((</a:t>
            </a:r>
            <a:r>
              <a:rPr sz="800" b="0" i="0" lang="es-CL">
                <a:solidFill>
                  <a:srgbClr val="AF00DB"/>
                </a:solidFill>
                <a:latin typeface="Consolas"/>
                <a:ea typeface="Consolas"/>
                <a:cs typeface="Consolas"/>
              </a:rPr>
              <a:t>await</a:t>
            </a:r>
            <a:r>
              <a:rPr sz="800" b="0" i="0" lang="es-CL">
                <a:solidFill>
                  <a:srgbClr val="1F2328"/>
                </a:solidFill>
                <a:latin typeface="Consolas"/>
                <a:ea typeface="Consolas"/>
                <a:cs typeface="Consolas"/>
              </a:rPr>
              <a:t> app.books.findById(cienAnos.id))</a:t>
            </a:r>
          </a:p>
          <a:p>
            <a:pPr marL="0" indent="0">
              <a:lnSpc>
                <a:spcPct val="100000"/>
              </a:lnSpc>
              <a:spcAft>
                <a:spcPts val="0"/>
              </a:spcAft>
              <a:buNone/>
            </a:pPr>
            <a:r>
              <a:rPr sz="800" b="0" i="0" lang="es-CL">
                <a:solidFill>
                  <a:srgbClr val="1F2328"/>
                </a:solidFill>
                <a:latin typeface="Consolas"/>
                <a:ea typeface="Consolas"/>
                <a:cs typeface="Consolas"/>
              </a:rPr>
              <a:t>      ?.availableCopies).toBe(</a:t>
            </a:r>
            <a:r>
              <a:rPr sz="800" b="0" i="0" lang="es-CL">
                <a:solidFill>
                  <a:srgbClr val="098658"/>
                </a:solidFill>
                <a:latin typeface="Consolas"/>
                <a:ea typeface="Consolas"/>
                <a:cs typeface="Consolas"/>
              </a:rPr>
              <a:t>3</a:t>
            </a:r>
            <a:r>
              <a:rPr sz="800" b="0" i="0" lang="es-CL">
                <a:solidFill>
                  <a:srgbClr val="1F2328"/>
                </a:solidFill>
                <a:latin typeface="Consolas"/>
                <a:ea typeface="Consolas"/>
                <a:cs typeface="Consolas"/>
              </a:rPr>
              <a:t>)</a:t>
            </a:r>
          </a:p>
          <a:p>
            <a:pPr marL="0" indent="0">
              <a:lnSpc>
                <a:spcPct val="100000"/>
              </a:lnSpc>
              <a:spcAft>
                <a:spcPts val="0"/>
              </a:spcAft>
              <a:buNone/>
            </a:pPr>
            <a:r>
              <a:rPr sz="800" b="0" i="0" lang="es-CL">
                <a:solidFill>
                  <a:srgbClr val="1F2328"/>
                </a:solidFill>
                <a:latin typeface="Consolas"/>
                <a:ea typeface="Consolas"/>
                <a:cs typeface="Consolas"/>
              </a:rPr>
              <a: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Integración con Testcontainers y PostgreSQL</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Prueba los repositorios TypeORM contra un PostgreSQL real que se crea y destruye en Docker.</a:t>
            </a:r>
          </a:p>
        </p:txBody>
      </p:sp>
      <p:sp>
        <p:nvSpPr>
          <p:cNvPr id="6" name="Rounded Rectangle 5"/>
          <p:cNvSpPr/>
          <p:nvPr/>
        </p:nvSpPr>
        <p:spPr>
          <a:xfrm>
            <a:off x="411480" y="1783080"/>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755648"/>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SQL incorrecto, migraciones rotas, índices y restricciones que faltan.</a:t>
            </a:r>
          </a:p>
        </p:txBody>
      </p:sp>
      <p:sp>
        <p:nvSpPr>
          <p:cNvPr id="8" name="Rounded Rectangle 7"/>
          <p:cNvSpPr/>
          <p:nvPr/>
        </p:nvSpPr>
        <p:spPr>
          <a:xfrm>
            <a:off x="411480" y="2459735"/>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432303"/>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Testcontainers (@testcontainers/postgresql, postgres:17-alpine) y Jest.</a:t>
            </a:r>
          </a:p>
        </p:txBody>
      </p:sp>
      <p:sp>
        <p:nvSpPr>
          <p:cNvPr id="10" name="Rounded Rectangle 9"/>
          <p:cNvSpPr/>
          <p:nvPr/>
        </p:nvSpPr>
        <p:spPr>
          <a:xfrm>
            <a:off x="411480" y="3136391"/>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3108960"/>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6 · integración y contrato. Necesita Docker en el runner.</a:t>
            </a:r>
          </a:p>
        </p:txBody>
      </p:sp>
      <p:sp>
        <p:nvSpPr>
          <p:cNvPr id="12" name="Rounded Rectangle 11"/>
          <p:cNvSpPr/>
          <p:nvPr/>
        </p:nvSpPr>
        <p:spPr>
          <a:xfrm>
            <a:off x="411480" y="3648456"/>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621024"/>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Testcontainers, p. 179. Data testing, cap. 5.</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backend/test y src/loans/infrastructure (extracto)</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850" b="0" i="0" lang="es-CL">
                <a:solidFill>
                  <a:srgbClr val="008000"/>
                </a:solidFill>
                <a:latin typeface="Consolas"/>
                <a:ea typeface="Consolas"/>
                <a:cs typeface="Consolas"/>
              </a:rPr>
              <a:t>// test/support/postgres-global-setup.ts: un contenedor por</a:t>
            </a:r>
          </a:p>
          <a:p>
            <a:pPr marL="0" indent="0">
              <a:lnSpc>
                <a:spcPct val="100000"/>
              </a:lnSpc>
              <a:spcAft>
                <a:spcPts val="0"/>
              </a:spcAft>
              <a:buNone/>
            </a:pPr>
            <a:r>
              <a:rPr sz="850" b="0" i="0" lang="es-CL">
                <a:solidFill>
                  <a:srgbClr val="008000"/>
                </a:solidFill>
                <a:latin typeface="Consolas"/>
                <a:ea typeface="Consolas"/>
                <a:cs typeface="Consolas"/>
              </a:rPr>
              <a:t>// corrida, en un puerto libre elegido al azar</a:t>
            </a:r>
          </a:p>
          <a:p>
            <a:pPr marL="0" indent="0">
              <a:lnSpc>
                <a:spcPct val="100000"/>
              </a:lnSpc>
              <a:spcAft>
                <a:spcPts val="0"/>
              </a:spcAft>
              <a:buNone/>
            </a:pPr>
            <a:r>
              <a:rPr sz="850" b="0" i="0" lang="es-CL">
                <a:solidFill>
                  <a:srgbClr val="0000FF"/>
                </a:solidFill>
                <a:latin typeface="Consolas"/>
                <a:ea typeface="Consolas"/>
                <a:cs typeface="Consolas"/>
              </a:rPr>
              <a:t>const</a:t>
            </a:r>
            <a:r>
              <a:rPr sz="850" b="0" i="0" lang="es-CL">
                <a:solidFill>
                  <a:srgbClr val="1F2328"/>
                </a:solidFill>
                <a:latin typeface="Consolas"/>
                <a:ea typeface="Consolas"/>
                <a:cs typeface="Consolas"/>
              </a:rPr>
              <a:t> container = </a:t>
            </a:r>
            <a:r>
              <a:rPr sz="850" b="0" i="0" lang="es-CL">
                <a:solidFill>
                  <a:srgbClr val="AF00DB"/>
                </a:solidFill>
                <a:latin typeface="Consolas"/>
                <a:ea typeface="Consolas"/>
                <a:cs typeface="Consolas"/>
              </a:rPr>
              <a:t>await</a:t>
            </a:r>
            <a:r>
              <a:rPr sz="850" b="0" i="0" lang="es-CL">
                <a:solidFill>
                  <a:srgbClr val="1F2328"/>
                </a:solidFill>
                <a:latin typeface="Consolas"/>
                <a:ea typeface="Consolas"/>
                <a:cs typeface="Consolas"/>
              </a:rPr>
              <a:t> </a:t>
            </a:r>
            <a:r>
              <a:rPr sz="850" b="0" i="0" lang="es-CL">
                <a:solidFill>
                  <a:srgbClr val="0000FF"/>
                </a:solidFill>
                <a:latin typeface="Consolas"/>
                <a:ea typeface="Consolas"/>
                <a:cs typeface="Consolas"/>
              </a:rPr>
              <a:t>new</a:t>
            </a:r>
            <a:r>
              <a:rPr sz="850" b="0" i="0" lang="es-CL">
                <a:solidFill>
                  <a:srgbClr val="1F2328"/>
                </a:solidFill>
                <a:latin typeface="Consolas"/>
                <a:ea typeface="Consolas"/>
                <a:cs typeface="Consolas"/>
              </a:rPr>
              <a:t> PostgreSqlContainer(POSTGRES_IMAGE)</a:t>
            </a:r>
          </a:p>
          <a:p>
            <a:pPr marL="0" indent="0">
              <a:lnSpc>
                <a:spcPct val="100000"/>
              </a:lnSpc>
              <a:spcAft>
                <a:spcPts val="0"/>
              </a:spcAft>
              <a:buNone/>
            </a:pPr>
            <a:r>
              <a:rPr sz="850" b="0" i="0" lang="es-CL">
                <a:solidFill>
                  <a:srgbClr val="1F2328"/>
                </a:solidFill>
                <a:latin typeface="Consolas"/>
                <a:ea typeface="Consolas"/>
                <a:cs typeface="Consolas"/>
              </a:rPr>
              <a:t>  .withDatabase(</a:t>
            </a:r>
            <a:r>
              <a:rPr sz="850" b="0" i="0" lang="es-CL">
                <a:solidFill>
                  <a:srgbClr val="A31515"/>
                </a:solidFill>
                <a:latin typeface="Consolas"/>
                <a:ea typeface="Consolas"/>
                <a:cs typeface="Consolas"/>
              </a:rPr>
              <a:t>'biblioteca'</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.start()</a:t>
            </a:r>
          </a:p>
          <a:p>
            <a:pPr marL="0" indent="0">
              <a:lnSpc>
                <a:spcPct val="100000"/>
              </a:lnSpc>
              <a:spcAft>
                <a:spcPts val="0"/>
              </a:spcAft>
              <a:buNone/>
            </a:pPr>
            <a:r>
              <a:rPr sz="850" b="0" i="0" lang="es-CL">
                <a:solidFill>
                  <a:srgbClr val="1F2328"/>
                </a:solidFill>
                <a:latin typeface="Consolas"/>
                <a:ea typeface="Consolas"/>
                <a:cs typeface="Consolas"/>
              </a:rPr>
              <a:t>process.env.DATABASE_URL = container.getConnectionUri()</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008000"/>
                </a:solidFill>
                <a:latin typeface="Consolas"/>
                <a:ea typeface="Consolas"/>
                <a:cs typeface="Consolas"/>
              </a:rPr>
              <a:t>// src/loans/infrastructure/loan.repository.int-spec.ts</a:t>
            </a:r>
          </a:p>
          <a:p>
            <a:pPr marL="0" indent="0">
              <a:lnSpc>
                <a:spcPct val="100000"/>
              </a:lnSpc>
              <a:spcAft>
                <a:spcPts val="0"/>
              </a:spcAft>
              <a:buNone/>
            </a:pPr>
            <a:r>
              <a:rPr sz="850" b="0" i="0" lang="es-CL">
                <a:solidFill>
                  <a:srgbClr val="795E26"/>
                </a:solidFill>
                <a:latin typeface="Consolas"/>
                <a:ea typeface="Consolas"/>
                <a:cs typeface="Consolas"/>
              </a:rPr>
              <a:t>beforeAll</a:t>
            </a:r>
            <a:r>
              <a:rPr sz="850" b="0" i="0" lang="es-CL">
                <a:solidFill>
                  <a:srgbClr val="1F2328"/>
                </a:solidFill>
                <a:latin typeface="Consolas"/>
                <a:ea typeface="Consolas"/>
                <a:cs typeface="Consolas"/>
              </a:rPr>
              <a:t>(</a:t>
            </a:r>
            <a:r>
              <a:rPr sz="850" b="0" i="0" lang="es-CL">
                <a:solidFill>
                  <a:srgbClr val="0000FF"/>
                </a:solidFill>
                <a:latin typeface="Consolas"/>
                <a:ea typeface="Consolas"/>
                <a:cs typeface="Consolas"/>
              </a:rPr>
              <a:t>async</a:t>
            </a:r>
            <a:r>
              <a:rPr sz="850" b="0" i="0" lang="es-CL">
                <a:solidFill>
                  <a:srgbClr val="1F2328"/>
                </a:solidFill>
                <a:latin typeface="Consolas"/>
                <a:ea typeface="Consolas"/>
                <a:cs typeface="Consolas"/>
              </a:rPr>
              <a:t> () =&gt; {</a:t>
            </a:r>
          </a:p>
          <a:p>
            <a:pPr marL="0" indent="0">
              <a:lnSpc>
                <a:spcPct val="100000"/>
              </a:lnSpc>
              <a:spcAft>
                <a:spcPts val="0"/>
              </a:spcAft>
              <a:buNone/>
            </a:pPr>
            <a:r>
              <a:rPr sz="850" b="0" i="0" lang="es-CL">
                <a:solidFill>
                  <a:srgbClr val="1F2328"/>
                </a:solidFill>
                <a:latin typeface="Consolas"/>
                <a:ea typeface="Consolas"/>
                <a:cs typeface="Consolas"/>
              </a:rPr>
              <a:t>  dataSource = </a:t>
            </a:r>
            <a:r>
              <a:rPr sz="850" b="0" i="0" lang="es-CL">
                <a:solidFill>
                  <a:srgbClr val="AF00DB"/>
                </a:solidFill>
                <a:latin typeface="Consolas"/>
                <a:ea typeface="Consolas"/>
                <a:cs typeface="Consolas"/>
              </a:rPr>
              <a:t>await</a:t>
            </a:r>
            <a:r>
              <a:rPr sz="850" b="0" i="0" lang="es-CL">
                <a:solidFill>
                  <a:srgbClr val="1F2328"/>
                </a:solidFill>
                <a:latin typeface="Consolas"/>
                <a:ea typeface="Consolas"/>
                <a:cs typeface="Consolas"/>
              </a:rPr>
              <a:t> openMigratedDataSource() </a:t>
            </a:r>
            <a:r>
              <a:rPr sz="850" b="0" i="0" lang="es-CL">
                <a:solidFill>
                  <a:srgbClr val="008000"/>
                </a:solidFill>
                <a:latin typeface="Consolas"/>
                <a:ea typeface="Consolas"/>
                <a:cs typeface="Consolas"/>
              </a:rPr>
              <a:t>// migraciones</a:t>
            </a:r>
          </a:p>
          <a:p>
            <a:pPr marL="0" indent="0">
              <a:lnSpc>
                <a:spcPct val="100000"/>
              </a:lnSpc>
              <a:spcAft>
                <a:spcPts val="0"/>
              </a:spcAft>
              <a:buNone/>
            </a:pP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795E26"/>
                </a:solidFill>
                <a:latin typeface="Consolas"/>
                <a:ea typeface="Consolas"/>
                <a:cs typeface="Consolas"/>
              </a:rPr>
              <a:t>beforeEach</a:t>
            </a:r>
            <a:r>
              <a:rPr sz="850" b="0" i="0" lang="es-CL">
                <a:solidFill>
                  <a:srgbClr val="1F2328"/>
                </a:solidFill>
                <a:latin typeface="Consolas"/>
                <a:ea typeface="Consolas"/>
                <a:cs typeface="Consolas"/>
              </a:rPr>
              <a:t>(</a:t>
            </a:r>
            <a:r>
              <a:rPr sz="850" b="0" i="0" lang="es-CL">
                <a:solidFill>
                  <a:srgbClr val="0000FF"/>
                </a:solidFill>
                <a:latin typeface="Consolas"/>
                <a:ea typeface="Consolas"/>
                <a:cs typeface="Consolas"/>
              </a:rPr>
              <a:t>async</a:t>
            </a:r>
            <a:r>
              <a:rPr sz="850" b="0" i="0" lang="es-CL">
                <a:solidFill>
                  <a:srgbClr val="1F2328"/>
                </a:solidFill>
                <a:latin typeface="Consolas"/>
                <a:ea typeface="Consolas"/>
                <a:cs typeface="Consolas"/>
              </a:rPr>
              <a:t> () =&gt; {</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AF00DB"/>
                </a:solidFill>
                <a:latin typeface="Consolas"/>
                <a:ea typeface="Consolas"/>
                <a:cs typeface="Consolas"/>
              </a:rPr>
              <a:t>await</a:t>
            </a:r>
            <a:r>
              <a:rPr sz="850" b="0" i="0" lang="es-CL">
                <a:solidFill>
                  <a:srgbClr val="1F2328"/>
                </a:solidFill>
                <a:latin typeface="Consolas"/>
                <a:ea typeface="Consolas"/>
                <a:cs typeface="Consolas"/>
              </a:rPr>
              <a:t> truncateAll(dataSource) </a:t>
            </a:r>
            <a:r>
              <a:rPr sz="850" b="0" i="0" lang="es-CL">
                <a:solidFill>
                  <a:srgbClr val="008000"/>
                </a:solidFill>
                <a:latin typeface="Consolas"/>
                <a:ea typeface="Consolas"/>
                <a:cs typeface="Consolas"/>
              </a:rPr>
              <a:t>// cada test arma su estado</a:t>
            </a:r>
          </a:p>
          <a:p>
            <a:pPr marL="0" indent="0">
              <a:lnSpc>
                <a:spcPct val="100000"/>
              </a:lnSpc>
              <a:spcAft>
                <a:spcPts val="0"/>
              </a:spcAft>
              <a:buNone/>
            </a:pP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008000"/>
                </a:solidFill>
                <a:latin typeface="Consolas"/>
                <a:ea typeface="Consolas"/>
                <a:cs typeface="Consolas"/>
              </a:rPr>
              <a:t>// La MISMA suite de contrato que corre contra el fake</a:t>
            </a:r>
          </a:p>
          <a:p>
            <a:pPr marL="0" indent="0">
              <a:lnSpc>
                <a:spcPct val="100000"/>
              </a:lnSpc>
              <a:spcAft>
                <a:spcPts val="0"/>
              </a:spcAft>
              <a:buNone/>
            </a:pPr>
            <a:r>
              <a:rPr sz="850" b="0" i="0" lang="es-CL">
                <a:solidFill>
                  <a:srgbClr val="1F2328"/>
                </a:solidFill>
                <a:latin typeface="Consolas"/>
                <a:ea typeface="Consolas"/>
                <a:cs typeface="Consolas"/>
              </a:rPr>
              <a:t>loanRepositoryContract(</a:t>
            </a:r>
            <a:r>
              <a:rPr sz="850" b="0" i="0" lang="es-CL">
                <a:solidFill>
                  <a:srgbClr val="A31515"/>
                </a:solidFill>
                <a:latin typeface="Consolas"/>
                <a:ea typeface="Consolas"/>
                <a:cs typeface="Consolas"/>
              </a:rPr>
              <a:t>'PostgreSQL'</a:t>
            </a:r>
            <a:r>
              <a:rPr sz="850" b="0" i="0" lang="es-CL">
                <a:solidFill>
                  <a:srgbClr val="1F2328"/>
                </a:solidFill>
                <a:latin typeface="Consolas"/>
                <a:ea typeface="Consolas"/>
                <a:cs typeface="Consolas"/>
              </a:rPr>
              <a:t>, </a:t>
            </a:r>
            <a:r>
              <a:rPr sz="850" b="0" i="0" lang="es-CL">
                <a:solidFill>
                  <a:srgbClr val="0000FF"/>
                </a:solidFill>
                <a:latin typeface="Consolas"/>
                <a:ea typeface="Consolas"/>
                <a:cs typeface="Consolas"/>
              </a:rPr>
              <a:t>async</a:t>
            </a:r>
            <a:r>
              <a:rPr sz="850" b="0" i="0" lang="es-CL">
                <a:solidFill>
                  <a:srgbClr val="1F2328"/>
                </a:solidFill>
                <a:latin typeface="Consolas"/>
                <a:ea typeface="Consolas"/>
                <a:cs typeface="Consolas"/>
              </a:rPr>
              <a:t> () =&gt; {</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0000FF"/>
                </a:solidFill>
                <a:latin typeface="Consolas"/>
                <a:ea typeface="Consolas"/>
                <a:cs typeface="Consolas"/>
              </a:rPr>
              <a:t>const</a:t>
            </a:r>
            <a:r>
              <a:rPr sz="850" b="0" i="0" lang="es-CL">
                <a:solidFill>
                  <a:srgbClr val="1F2328"/>
                </a:solidFill>
                <a:latin typeface="Consolas"/>
                <a:ea typeface="Consolas"/>
                <a:cs typeface="Consolas"/>
              </a:rPr>
              <a:t> unitOfWork = </a:t>
            </a:r>
            <a:r>
              <a:rPr sz="850" b="0" i="0" lang="es-CL">
                <a:solidFill>
                  <a:srgbClr val="0000FF"/>
                </a:solidFill>
                <a:latin typeface="Consolas"/>
                <a:ea typeface="Consolas"/>
                <a:cs typeface="Consolas"/>
              </a:rPr>
              <a:t>new</a:t>
            </a:r>
            <a:r>
              <a:rPr sz="850" b="0" i="0" lang="es-CL">
                <a:solidFill>
                  <a:srgbClr val="1F2328"/>
                </a:solidFill>
                <a:latin typeface="Consolas"/>
                <a:ea typeface="Consolas"/>
                <a:cs typeface="Consolas"/>
              </a:rPr>
              <a:t> TypeOrmUnitOfWork(dataSource)</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AF00DB"/>
                </a:solidFill>
                <a:latin typeface="Consolas"/>
                <a:ea typeface="Consolas"/>
                <a:cs typeface="Consolas"/>
              </a:rPr>
              <a:t>return</a:t>
            </a: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books: </a:t>
            </a:r>
            <a:r>
              <a:rPr sz="850" b="0" i="0" lang="es-CL">
                <a:solidFill>
                  <a:srgbClr val="0000FF"/>
                </a:solidFill>
                <a:latin typeface="Consolas"/>
                <a:ea typeface="Consolas"/>
                <a:cs typeface="Consolas"/>
              </a:rPr>
              <a:t>new</a:t>
            </a:r>
            <a:r>
              <a:rPr sz="850" b="0" i="0" lang="es-CL">
                <a:solidFill>
                  <a:srgbClr val="1F2328"/>
                </a:solidFill>
                <a:latin typeface="Consolas"/>
                <a:ea typeface="Consolas"/>
                <a:cs typeface="Consolas"/>
              </a:rPr>
              <a:t> TypeOrmBookRepository(unitOfWork),</a:t>
            </a:r>
          </a:p>
          <a:p>
            <a:pPr marL="0" indent="0">
              <a:lnSpc>
                <a:spcPct val="100000"/>
              </a:lnSpc>
              <a:spcAft>
                <a:spcPts val="0"/>
              </a:spcAft>
              <a:buNone/>
            </a:pPr>
            <a:r>
              <a:rPr sz="850" b="0" i="0" lang="es-CL">
                <a:solidFill>
                  <a:srgbClr val="1F2328"/>
                </a:solidFill>
                <a:latin typeface="Consolas"/>
                <a:ea typeface="Consolas"/>
                <a:cs typeface="Consolas"/>
              </a:rPr>
              <a:t>    loans: </a:t>
            </a:r>
            <a:r>
              <a:rPr sz="850" b="0" i="0" lang="es-CL">
                <a:solidFill>
                  <a:srgbClr val="0000FF"/>
                </a:solidFill>
                <a:latin typeface="Consolas"/>
                <a:ea typeface="Consolas"/>
                <a:cs typeface="Consolas"/>
              </a:rPr>
              <a:t>new</a:t>
            </a:r>
            <a:r>
              <a:rPr sz="850" b="0" i="0" lang="es-CL">
                <a:solidFill>
                  <a:srgbClr val="1F2328"/>
                </a:solidFill>
                <a:latin typeface="Consolas"/>
                <a:ea typeface="Consolas"/>
                <a:cs typeface="Consolas"/>
              </a:rPr>
              <a:t> TypeOrmLoanRepository(unitOfWork),</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Data testing: lo que solo la base de datos garantiza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97280"/>
            <a:ext cx="1417320" cy="932688"/>
          </a:xfrm>
          <a:prstGeom prst="roundRect">
            <a:avLst>
              <a:gd name="adj" fmla="val 7843"/>
            </a:avLst>
          </a:prstGeom>
          <a:solidFill>
            <a:srgbClr val="003D4F"/>
          </a:solidFill>
          <a:ln>
            <a:noFill/>
          </a:ln>
        </p:spPr>
        <p:txBody>
          <a:bodyPr rtlCol="0" anchor="ctr" wrap="square" lIns="54864" rIns="54864" tIns="54864" bIns="54864"/>
          <a:lstStyle/>
          <a:p>
            <a:pPr algn="ctr" marL="0" indent="0">
              <a:spcAft>
                <a:spcPts val="200"/>
              </a:spcAft>
              <a:buNone/>
            </a:pPr>
            <a:r>
              <a:rPr sz="1100" b="1" i="0" lang="es-CL">
                <a:solidFill>
                  <a:srgbClr val="FFFFFF"/>
                </a:solidFill>
                <a:latin typeface="Inter"/>
                <a:ea typeface="Inter"/>
                <a:cs typeface="Inter"/>
              </a:rPr>
              <a:t>Migraciones</a:t>
            </a:r>
          </a:p>
        </p:txBody>
      </p:sp>
      <p:sp>
        <p:nvSpPr>
          <p:cNvPr id="5" name="TextBox 4"/>
          <p:cNvSpPr txBox="1"/>
          <p:nvPr/>
        </p:nvSpPr>
        <p:spPr>
          <a:xfrm>
            <a:off x="1965960" y="1097280"/>
            <a:ext cx="2697480" cy="932688"/>
          </a:xfrm>
          <a:prstGeom prst="rect">
            <a:avLst/>
          </a:prstGeom>
          <a:noFill/>
        </p:spPr>
        <p:txBody>
          <a:bodyPr wrap="square" lIns="36576" rIns="36576" tIns="36576" bIns="36576" anchor="ctr"/>
          <a:lstStyle/>
          <a:p>
            <a:pPr algn="l" marL="0" indent="0">
              <a:spcAft>
                <a:spcPts val="400"/>
              </a:spcAft>
              <a:buNone/>
            </a:pPr>
            <a:r>
              <a:rPr sz="1050" b="0" i="0" lang="es-CL">
                <a:solidFill>
                  <a:srgbClr val="1F2328"/>
                </a:solidFill>
                <a:latin typeface="Inter"/>
                <a:ea typeface="Inter"/>
                <a:cs typeface="Inter"/>
              </a:rPr>
              <a:t>Se corren de verdad en cada test de integración. Una migración rota falla en el PR, no en producción.</a:t>
            </a:r>
          </a:p>
        </p:txBody>
      </p:sp>
      <p:sp>
        <p:nvSpPr>
          <p:cNvPr id="6" name="Rounded Rectangle 5"/>
          <p:cNvSpPr/>
          <p:nvPr/>
        </p:nvSpPr>
        <p:spPr>
          <a:xfrm>
            <a:off x="411480" y="2212848"/>
            <a:ext cx="1417320" cy="932688"/>
          </a:xfrm>
          <a:prstGeom prst="roundRect">
            <a:avLst>
              <a:gd name="adj" fmla="val 7843"/>
            </a:avLst>
          </a:prstGeom>
          <a:solidFill>
            <a:srgbClr val="CC850A"/>
          </a:solidFill>
          <a:ln>
            <a:noFill/>
          </a:ln>
        </p:spPr>
        <p:txBody>
          <a:bodyPr rtlCol="0" anchor="ctr" wrap="square" lIns="54864" rIns="54864" tIns="54864" bIns="54864"/>
          <a:lstStyle/>
          <a:p>
            <a:pPr algn="ctr" marL="0" indent="0">
              <a:spcAft>
                <a:spcPts val="200"/>
              </a:spcAft>
              <a:buNone/>
            </a:pPr>
            <a:r>
              <a:rPr sz="1100" b="1" i="0" lang="es-CL">
                <a:solidFill>
                  <a:srgbClr val="FFFFFF"/>
                </a:solidFill>
                <a:latin typeface="Inter"/>
                <a:ea typeface="Inter"/>
                <a:cs typeface="Inter"/>
              </a:rPr>
              <a:t>Restricciones</a:t>
            </a:r>
          </a:p>
        </p:txBody>
      </p:sp>
      <p:sp>
        <p:nvSpPr>
          <p:cNvPr id="7" name="TextBox 6"/>
          <p:cNvSpPr txBox="1"/>
          <p:nvPr/>
        </p:nvSpPr>
        <p:spPr>
          <a:xfrm>
            <a:off x="1965960" y="2212848"/>
            <a:ext cx="2697480" cy="932688"/>
          </a:xfrm>
          <a:prstGeom prst="rect">
            <a:avLst/>
          </a:prstGeom>
          <a:noFill/>
        </p:spPr>
        <p:txBody>
          <a:bodyPr wrap="square" lIns="36576" rIns="36576" tIns="36576" bIns="36576" anchor="ctr"/>
          <a:lstStyle/>
          <a:p>
            <a:pPr algn="l" marL="0" indent="0">
              <a:spcAft>
                <a:spcPts val="400"/>
              </a:spcAft>
              <a:buNone/>
            </a:pPr>
            <a:r>
              <a:rPr sz="1050" b="0" i="0" lang="es-CL">
                <a:solidFill>
                  <a:srgbClr val="1F2328"/>
                </a:solidFill>
                <a:latin typeface="Inter"/>
                <a:ea typeface="Inter"/>
                <a:cs typeface="Inter"/>
              </a:rPr>
              <a:t>CHECK 0 &lt;= availableCopies &lt;= totalCopies y el índice único de ISBN (BOOK-R2, BOOK-R4).</a:t>
            </a:r>
          </a:p>
        </p:txBody>
      </p:sp>
      <p:sp>
        <p:nvSpPr>
          <p:cNvPr id="8" name="Rounded Rectangle 7"/>
          <p:cNvSpPr/>
          <p:nvPr/>
        </p:nvSpPr>
        <p:spPr>
          <a:xfrm>
            <a:off x="411480" y="3328415"/>
            <a:ext cx="1417320" cy="932688"/>
          </a:xfrm>
          <a:prstGeom prst="roundRect">
            <a:avLst>
              <a:gd name="adj" fmla="val 7843"/>
            </a:avLst>
          </a:prstGeom>
          <a:solidFill>
            <a:srgbClr val="980000"/>
          </a:solidFill>
          <a:ln>
            <a:noFill/>
          </a:ln>
        </p:spPr>
        <p:txBody>
          <a:bodyPr rtlCol="0" anchor="ctr" wrap="square" lIns="54864" rIns="54864" tIns="54864" bIns="54864"/>
          <a:lstStyle/>
          <a:p>
            <a:pPr algn="ctr" marL="0" indent="0">
              <a:spcAft>
                <a:spcPts val="200"/>
              </a:spcAft>
              <a:buNone/>
            </a:pPr>
            <a:r>
              <a:rPr sz="1100" b="1" i="0" lang="es-CL">
                <a:solidFill>
                  <a:srgbClr val="FFFFFF"/>
                </a:solidFill>
                <a:latin typeface="Inter"/>
                <a:ea typeface="Inter"/>
                <a:cs typeface="Inter"/>
              </a:rPr>
              <a:t>Concurrencia</a:t>
            </a:r>
          </a:p>
        </p:txBody>
      </p:sp>
      <p:sp>
        <p:nvSpPr>
          <p:cNvPr id="9" name="TextBox 8"/>
          <p:cNvSpPr txBox="1"/>
          <p:nvPr/>
        </p:nvSpPr>
        <p:spPr>
          <a:xfrm>
            <a:off x="1965960" y="3328415"/>
            <a:ext cx="2697480" cy="932688"/>
          </a:xfrm>
          <a:prstGeom prst="rect">
            <a:avLst/>
          </a:prstGeom>
          <a:noFill/>
        </p:spPr>
        <p:txBody>
          <a:bodyPr wrap="square" lIns="36576" rIns="36576" tIns="36576" bIns="36576" anchor="ctr"/>
          <a:lstStyle/>
          <a:p>
            <a:pPr algn="l" marL="0" indent="0">
              <a:spcAft>
                <a:spcPts val="400"/>
              </a:spcAft>
              <a:buNone/>
            </a:pPr>
            <a:r>
              <a:rPr sz="1050" b="0" i="0" lang="es-CL">
                <a:solidFill>
                  <a:srgbClr val="1F2328"/>
                </a:solidFill>
                <a:latin typeface="Inter"/>
                <a:ea typeface="Inter"/>
                <a:cs typeface="Inter"/>
              </a:rPr>
              <a:t>Cinco solicitudes simultáneas por la última copia: exactamente una gana (LOAN-R1).</a:t>
            </a:r>
          </a:p>
        </p:txBody>
      </p:sp>
      <p:sp>
        <p:nvSpPr>
          <p:cNvPr id="10" name="TextBox 9"/>
          <p:cNvSpPr txBox="1"/>
          <p:nvPr/>
        </p:nvSpPr>
        <p:spPr>
          <a:xfrm>
            <a:off x="4846320" y="1024128"/>
            <a:ext cx="3886200" cy="274320"/>
          </a:xfrm>
          <a:prstGeom prst="rect">
            <a:avLst/>
          </a:prstGeom>
          <a:noFill/>
        </p:spPr>
        <p:txBody>
          <a:bodyPr wrap="square" lIns="36576" rIns="36576" tIns="36576" bIns="36576" anchor="t"/>
          <a:lstStyle/>
          <a:p>
            <a:pPr algn="ctr" marL="0" indent="0">
              <a:spcAft>
                <a:spcPts val="400"/>
              </a:spcAft>
              <a:buNone/>
            </a:pPr>
            <a:r>
              <a:rPr sz="1100" b="1" i="0" lang="es-CL">
                <a:solidFill>
                  <a:srgbClr val="1F2328"/>
                </a:solidFill>
                <a:latin typeface="Inter"/>
                <a:ea typeface="Inter"/>
                <a:cs typeface="Inter"/>
              </a:rPr>
              <a:t>La última copia de La casa de los espíritus</a:t>
            </a:r>
          </a:p>
        </p:txBody>
      </p:sp>
      <p:sp>
        <p:nvSpPr>
          <p:cNvPr id="11" name="Rounded Rectangle 10"/>
          <p:cNvSpPr/>
          <p:nvPr/>
        </p:nvSpPr>
        <p:spPr>
          <a:xfrm>
            <a:off x="6949440" y="1874519"/>
            <a:ext cx="1783080" cy="1188720"/>
          </a:xfrm>
          <a:prstGeom prst="roundRect">
            <a:avLst>
              <a:gd name="adj" fmla="val 6153"/>
            </a:avLst>
          </a:prstGeom>
          <a:solidFill>
            <a:srgbClr val="003D4F"/>
          </a:solidFill>
          <a:ln>
            <a:noFill/>
          </a:ln>
        </p:spPr>
        <p:txBody>
          <a:bodyPr rtlCol="0" anchor="ctr" wrap="square" lIns="54864" rIns="54864" tIns="54864" bIns="54864"/>
          <a:lstStyle/>
          <a:p>
            <a:pPr algn="ctr" marL="0" indent="0">
              <a:spcAft>
                <a:spcPts val="0"/>
              </a:spcAft>
              <a:buNone/>
            </a:pPr>
            <a:r>
              <a:rPr sz="850" b="1" i="0" lang="es-CL">
                <a:solidFill>
                  <a:srgbClr val="FFFFFF"/>
                </a:solidFill>
                <a:latin typeface="Inter"/>
                <a:ea typeface="Inter"/>
                <a:cs typeface="Inter"/>
              </a:rPr>
              <a:t>PostgreSQL</a:t>
            </a:r>
          </a:p>
          <a:p>
            <a:pPr algn="ctr" marL="0" indent="0">
              <a:spcAft>
                <a:spcPts val="0"/>
              </a:spcAft>
              <a:buNone/>
            </a:pPr>
            <a:r>
              <a:rPr sz="850" b="0" i="0" lang="es-CL">
                <a:solidFill>
                  <a:srgbClr val="FFFFFF"/>
                </a:solidFill>
                <a:latin typeface="Inter"/>
                <a:ea typeface="Inter"/>
                <a:cs typeface="Inter"/>
              </a:rPr>
              <a:t>UPDATE books</a:t>
            </a:r>
          </a:p>
          <a:p>
            <a:pPr algn="ctr" marL="0" indent="0">
              <a:spcAft>
                <a:spcPts val="0"/>
              </a:spcAft>
              <a:buNone/>
            </a:pPr>
            <a:r>
              <a:rPr sz="850" b="0" i="0" lang="es-CL">
                <a:solidFill>
                  <a:srgbClr val="FFFFFF"/>
                </a:solidFill>
                <a:latin typeface="Inter"/>
                <a:ea typeface="Inter"/>
                <a:cs typeface="Inter"/>
              </a:rPr>
              <a:t>SET available = available - 1</a:t>
            </a:r>
          </a:p>
          <a:p>
            <a:pPr algn="ctr" marL="0" indent="0">
              <a:spcAft>
                <a:spcPts val="0"/>
              </a:spcAft>
              <a:buNone/>
            </a:pPr>
            <a:r>
              <a:rPr sz="850" b="0" i="0" lang="es-CL">
                <a:solidFill>
                  <a:srgbClr val="FFFFFF"/>
                </a:solidFill>
                <a:latin typeface="Inter"/>
                <a:ea typeface="Inter"/>
                <a:cs typeface="Inter"/>
              </a:rPr>
              <a:t>WHERE available &gt; 0</a:t>
            </a:r>
          </a:p>
        </p:txBody>
      </p:sp>
      <p:sp>
        <p:nvSpPr>
          <p:cNvPr id="12" name="Rounded Rectangle 11"/>
          <p:cNvSpPr/>
          <p:nvPr/>
        </p:nvSpPr>
        <p:spPr>
          <a:xfrm>
            <a:off x="4846320" y="1417320"/>
            <a:ext cx="1097280" cy="329184"/>
          </a:xfrm>
          <a:prstGeom prst="roundRect">
            <a:avLst>
              <a:gd name="adj" fmla="val 22222"/>
            </a:avLst>
          </a:prstGeom>
          <a:solidFill>
            <a:srgbClr val="47A1AD"/>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ana@uc.cl</a:t>
            </a:r>
          </a:p>
        </p:txBody>
      </p:sp>
      <p:cxnSp>
        <p:nvCxnSpPr>
          <p:cNvPr id="13" name="Connector 12"/>
          <p:cNvCxnSpPr/>
          <p:nvPr/>
        </p:nvCxnSpPr>
        <p:spPr>
          <a:xfrm>
            <a:off x="5961888" y="1581912"/>
            <a:ext cx="969264" cy="521208"/>
          </a:xfrm>
          <a:prstGeom prst="line">
            <a:avLst/>
          </a:prstGeom>
          <a:ln w="22225">
            <a:solidFill>
              <a:srgbClr val="38761D"/>
            </a:solidFill>
            <a:tailEnd type="triangle" w="med" len="med"/>
          </a:ln>
        </p:spPr>
      </p:cxnSp>
      <p:sp>
        <p:nvSpPr>
          <p:cNvPr id="14" name="Rounded Rectangle 13"/>
          <p:cNvSpPr/>
          <p:nvPr/>
        </p:nvSpPr>
        <p:spPr>
          <a:xfrm>
            <a:off x="4846320" y="1847088"/>
            <a:ext cx="1097280" cy="329184"/>
          </a:xfrm>
          <a:prstGeom prst="roundRect">
            <a:avLst>
              <a:gd name="adj" fmla="val 22222"/>
            </a:avLst>
          </a:prstGeom>
          <a:solidFill>
            <a:srgbClr val="47A1AD"/>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beto@uc.cl</a:t>
            </a:r>
          </a:p>
        </p:txBody>
      </p:sp>
      <p:cxnSp>
        <p:nvCxnSpPr>
          <p:cNvPr id="15" name="Connector 14"/>
          <p:cNvCxnSpPr/>
          <p:nvPr/>
        </p:nvCxnSpPr>
        <p:spPr>
          <a:xfrm>
            <a:off x="5961888" y="2011680"/>
            <a:ext cx="969264" cy="274320"/>
          </a:xfrm>
          <a:prstGeom prst="line">
            <a:avLst/>
          </a:prstGeom>
          <a:ln w="22225">
            <a:solidFill>
              <a:srgbClr val="980000"/>
            </a:solidFill>
            <a:tailEnd type="triangle" w="med" len="med"/>
          </a:ln>
        </p:spPr>
      </p:cxnSp>
      <p:sp>
        <p:nvSpPr>
          <p:cNvPr id="16" name="Rounded Rectangle 15"/>
          <p:cNvSpPr/>
          <p:nvPr/>
        </p:nvSpPr>
        <p:spPr>
          <a:xfrm>
            <a:off x="4846320" y="2276856"/>
            <a:ext cx="1097280" cy="329184"/>
          </a:xfrm>
          <a:prstGeom prst="roundRect">
            <a:avLst>
              <a:gd name="adj" fmla="val 22222"/>
            </a:avLst>
          </a:prstGeom>
          <a:solidFill>
            <a:srgbClr val="47A1AD"/>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carla@uc.cl</a:t>
            </a:r>
          </a:p>
        </p:txBody>
      </p:sp>
      <p:cxnSp>
        <p:nvCxnSpPr>
          <p:cNvPr id="17" name="Connector 16"/>
          <p:cNvCxnSpPr/>
          <p:nvPr/>
        </p:nvCxnSpPr>
        <p:spPr>
          <a:xfrm>
            <a:off x="5961888" y="2441448"/>
            <a:ext cx="969264" cy="27431"/>
          </a:xfrm>
          <a:prstGeom prst="line">
            <a:avLst/>
          </a:prstGeom>
          <a:ln w="22225">
            <a:solidFill>
              <a:srgbClr val="980000"/>
            </a:solidFill>
            <a:tailEnd type="triangle" w="med" len="med"/>
          </a:ln>
        </p:spPr>
      </p:cxnSp>
      <p:sp>
        <p:nvSpPr>
          <p:cNvPr id="18" name="Rounded Rectangle 17"/>
          <p:cNvSpPr/>
          <p:nvPr/>
        </p:nvSpPr>
        <p:spPr>
          <a:xfrm>
            <a:off x="4846320" y="2706624"/>
            <a:ext cx="1097280" cy="329184"/>
          </a:xfrm>
          <a:prstGeom prst="roundRect">
            <a:avLst>
              <a:gd name="adj" fmla="val 22222"/>
            </a:avLst>
          </a:prstGeom>
          <a:solidFill>
            <a:srgbClr val="47A1AD"/>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diego@uc.cl</a:t>
            </a:r>
          </a:p>
        </p:txBody>
      </p:sp>
      <p:cxnSp>
        <p:nvCxnSpPr>
          <p:cNvPr id="19" name="Connector 18"/>
          <p:cNvCxnSpPr/>
          <p:nvPr/>
        </p:nvCxnSpPr>
        <p:spPr>
          <a:xfrm flipV="1">
            <a:off x="5961888" y="2651760"/>
            <a:ext cx="969264" cy="219456"/>
          </a:xfrm>
          <a:prstGeom prst="line">
            <a:avLst/>
          </a:prstGeom>
          <a:ln w="22225">
            <a:solidFill>
              <a:srgbClr val="980000"/>
            </a:solidFill>
            <a:tailEnd type="triangle" w="med" len="med"/>
          </a:ln>
        </p:spPr>
      </p:cxnSp>
      <p:sp>
        <p:nvSpPr>
          <p:cNvPr id="20" name="Rounded Rectangle 19"/>
          <p:cNvSpPr/>
          <p:nvPr/>
        </p:nvSpPr>
        <p:spPr>
          <a:xfrm>
            <a:off x="4846320" y="3136391"/>
            <a:ext cx="1097280" cy="329184"/>
          </a:xfrm>
          <a:prstGeom prst="roundRect">
            <a:avLst>
              <a:gd name="adj" fmla="val 22222"/>
            </a:avLst>
          </a:prstGeom>
          <a:solidFill>
            <a:srgbClr val="47A1AD"/>
          </a:solidFill>
          <a:ln>
            <a:noFill/>
          </a:ln>
        </p:spPr>
        <p:txBody>
          <a:bodyPr rtlCol="0" anchor="ctr" wrap="square" lIns="54864" rIns="54864" tIns="54864" bIns="54864"/>
          <a:lstStyle/>
          <a:p>
            <a:pPr algn="ctr" marL="0" indent="0">
              <a:spcAft>
                <a:spcPts val="200"/>
              </a:spcAft>
              <a:buNone/>
            </a:pPr>
            <a:r>
              <a:rPr sz="950" b="1" i="0" lang="es-CL">
                <a:solidFill>
                  <a:srgbClr val="FFFFFF"/>
                </a:solidFill>
                <a:latin typeface="Inter"/>
                <a:ea typeface="Inter"/>
                <a:cs typeface="Inter"/>
              </a:rPr>
              <a:t>eva@uc.cl</a:t>
            </a:r>
          </a:p>
        </p:txBody>
      </p:sp>
      <p:cxnSp>
        <p:nvCxnSpPr>
          <p:cNvPr id="21" name="Connector 20"/>
          <p:cNvCxnSpPr/>
          <p:nvPr/>
        </p:nvCxnSpPr>
        <p:spPr>
          <a:xfrm flipV="1">
            <a:off x="5961888" y="2834639"/>
            <a:ext cx="969264" cy="466345"/>
          </a:xfrm>
          <a:prstGeom prst="line">
            <a:avLst/>
          </a:prstGeom>
          <a:ln w="22225">
            <a:solidFill>
              <a:srgbClr val="980000"/>
            </a:solidFill>
            <a:tailEnd type="triangle" w="med" len="med"/>
          </a:ln>
        </p:spPr>
      </p:cxnSp>
      <p:sp>
        <p:nvSpPr>
          <p:cNvPr id="22" name="TextBox 21"/>
          <p:cNvSpPr txBox="1"/>
          <p:nvPr/>
        </p:nvSpPr>
        <p:spPr>
          <a:xfrm>
            <a:off x="4846320" y="3611880"/>
            <a:ext cx="3886200" cy="256032"/>
          </a:xfrm>
          <a:prstGeom prst="rect">
            <a:avLst/>
          </a:prstGeom>
          <a:noFill/>
        </p:spPr>
        <p:txBody>
          <a:bodyPr wrap="square" lIns="36576" rIns="36576" tIns="36576" bIns="36576" anchor="t"/>
          <a:lstStyle/>
          <a:p>
            <a:pPr algn="ctr" marL="0" indent="0">
              <a:spcAft>
                <a:spcPts val="400"/>
              </a:spcAft>
              <a:buNone/>
            </a:pPr>
            <a:r>
              <a:rPr sz="1000" b="1" i="0" lang="es-CL">
                <a:solidFill>
                  <a:srgbClr val="38761D"/>
                </a:solidFill>
                <a:latin typeface="Inter"/>
                <a:ea typeface="Inter"/>
                <a:cs typeface="Inter"/>
              </a:rPr>
              <a:t>1 × 201 Created</a:t>
            </a:r>
            <a:r>
              <a:rPr sz="1000" b="0" i="0" lang="es-CL">
                <a:solidFill>
                  <a:srgbClr val="1F2328"/>
                </a:solidFill>
                <a:latin typeface="Inter"/>
                <a:ea typeface="Inter"/>
                <a:cs typeface="Inter"/>
              </a:rPr>
              <a:t>    </a:t>
            </a:r>
            <a:r>
              <a:rPr sz="1000" b="1" i="0" lang="es-CL">
                <a:solidFill>
                  <a:srgbClr val="980000"/>
                </a:solidFill>
                <a:latin typeface="Inter"/>
                <a:ea typeface="Inter"/>
                <a:cs typeface="Inter"/>
              </a:rPr>
              <a:t>4 × 409 NO_COPIES_AVAILABLE</a:t>
            </a:r>
          </a:p>
        </p:txBody>
      </p:sp>
      <p:sp>
        <p:nvSpPr>
          <p:cNvPr id="23" name="TextBox 22"/>
          <p:cNvSpPr txBox="1"/>
          <p:nvPr/>
        </p:nvSpPr>
        <p:spPr>
          <a:xfrm>
            <a:off x="4846320" y="3931920"/>
            <a:ext cx="3886200" cy="594360"/>
          </a:xfrm>
          <a:prstGeom prst="rect">
            <a:avLst/>
          </a:prstGeom>
          <a:noFill/>
        </p:spPr>
        <p:txBody>
          <a:bodyPr wrap="square" lIns="36576" rIns="36576" tIns="36576" bIns="36576" anchor="t"/>
          <a:lstStyle/>
          <a:p>
            <a:pPr algn="l" marL="0" indent="0">
              <a:spcAft>
                <a:spcPts val="400"/>
              </a:spcAft>
              <a:buNone/>
            </a:pPr>
            <a:r>
              <a:rPr sz="950" b="0" i="0" lang="es-CL">
                <a:solidFill>
                  <a:srgbClr val="57606A"/>
                </a:solidFill>
                <a:latin typeface="Inter"/>
                <a:ea typeface="Inter"/>
                <a:cs typeface="Inter"/>
              </a:rPr>
              <a:t>Una transacción aparte bloquea la fila (FOR UPDATE) para que las cinco compitan de verdad. Un fake en memoria nunca tiene esta carrera.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Contrato bidireccional: un OpenAPI, dos lados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Document 3"/>
          <p:cNvSpPr/>
          <p:nvPr/>
        </p:nvSpPr>
        <p:spPr>
          <a:xfrm>
            <a:off x="3520440" y="1737360"/>
            <a:ext cx="2103120" cy="1097280"/>
          </a:xfrm>
          <a:prstGeom prst="flowChartDocument">
            <a:avLst/>
          </a:prstGeom>
          <a:solidFill>
            <a:srgbClr val="003D4F"/>
          </a:solidFill>
          <a:ln>
            <a:noFill/>
          </a:ln>
        </p:spPr>
        <p:txBody>
          <a:bodyPr rtlCol="0" anchor="ctr" wrap="square" lIns="54864" rIns="54864" tIns="54864" bIns="54864"/>
          <a:lstStyle/>
          <a:p>
            <a:pPr algn="ctr" marL="0" indent="0">
              <a:spcAft>
                <a:spcPts val="0"/>
              </a:spcAft>
              <a:buNone/>
            </a:pPr>
            <a:r>
              <a:rPr sz="1100" b="1" i="0" lang="es-CL">
                <a:solidFill>
                  <a:srgbClr val="FFFFFF"/>
                </a:solidFill>
                <a:latin typeface="Inter"/>
                <a:ea typeface="Inter"/>
                <a:cs typeface="Inter"/>
              </a:rPr>
              <a:t>openapi.yaml</a:t>
            </a:r>
          </a:p>
          <a:p>
            <a:pPr algn="ctr" marL="0" indent="0">
              <a:spcAft>
                <a:spcPts val="0"/>
              </a:spcAft>
              <a:buNone/>
            </a:pPr>
            <a:r>
              <a:rPr sz="1100" b="0" i="0" lang="es-CL">
                <a:solidFill>
                  <a:srgbClr val="FFFFFF"/>
                </a:solidFill>
                <a:latin typeface="Inter"/>
                <a:ea typeface="Inter"/>
                <a:cs typeface="Inter"/>
              </a:rPr>
              <a:t>fuente de verdad</a:t>
            </a:r>
          </a:p>
        </p:txBody>
      </p:sp>
      <p:sp>
        <p:nvSpPr>
          <p:cNvPr id="5" name="Rounded Rectangle 4"/>
          <p:cNvSpPr/>
          <p:nvPr/>
        </p:nvSpPr>
        <p:spPr>
          <a:xfrm>
            <a:off x="411480" y="1371600"/>
            <a:ext cx="2651760" cy="1828800"/>
          </a:xfrm>
          <a:prstGeom prst="roundRect">
            <a:avLst>
              <a:gd name="adj" fmla="val 4000"/>
            </a:avLst>
          </a:prstGeom>
          <a:solidFill>
            <a:srgbClr val="EDF1F3"/>
          </a:solidFill>
          <a:ln>
            <a:noFill/>
          </a:ln>
        </p:spPr>
        <p:txBody>
          <a:bodyPr rtlCol="0" anchor="ctr" wrap="square" lIns="54864" rIns="54864" tIns="54864" bIns="54864"/>
          <a:lstStyle/>
          <a:p>
            <a:pPr algn="ctr"/>
          </a:p>
        </p:txBody>
      </p:sp>
      <p:sp>
        <p:nvSpPr>
          <p:cNvPr id="6" name="TextBox 5"/>
          <p:cNvSpPr txBox="1"/>
          <p:nvPr/>
        </p:nvSpPr>
        <p:spPr>
          <a:xfrm>
            <a:off x="548640" y="1444752"/>
            <a:ext cx="2377440" cy="274320"/>
          </a:xfrm>
          <a:prstGeom prst="rect">
            <a:avLst/>
          </a:prstGeom>
          <a:noFill/>
        </p:spPr>
        <p:txBody>
          <a:bodyPr wrap="square" lIns="36576" rIns="36576" tIns="36576" bIns="36576" anchor="t"/>
          <a:lstStyle/>
          <a:p>
            <a:pPr algn="l" marL="0" indent="0">
              <a:spcAft>
                <a:spcPts val="400"/>
              </a:spcAft>
              <a:buNone/>
            </a:pPr>
            <a:r>
              <a:rPr sz="1150" b="1" i="0" lang="es-CL">
                <a:solidFill>
                  <a:srgbClr val="003D4F"/>
                </a:solidFill>
                <a:latin typeface="Inter"/>
                <a:ea typeface="Inter"/>
                <a:cs typeface="Inter"/>
              </a:rPr>
              <a:t>Proveedor (backend)</a:t>
            </a:r>
          </a:p>
        </p:txBody>
      </p:sp>
      <p:sp>
        <p:nvSpPr>
          <p:cNvPr id="7" name="TextBox 6"/>
          <p:cNvSpPr txBox="1"/>
          <p:nvPr/>
        </p:nvSpPr>
        <p:spPr>
          <a:xfrm>
            <a:off x="548640" y="1783080"/>
            <a:ext cx="2377440" cy="1371600"/>
          </a:xfrm>
          <a:prstGeom prst="rect">
            <a:avLst/>
          </a:prstGeom>
          <a:noFill/>
        </p:spPr>
        <p:txBody>
          <a:bodyPr wrap="square" lIns="36576" rIns="36576" tIns="36576" bIns="36576" anchor="t"/>
          <a:lstStyle/>
          <a:p>
            <a:pPr algn="l" marL="182880" indent="-164592">
              <a:spcAft>
                <a:spcPts val="300"/>
              </a:spcAft>
              <a:buClr>
                <a:srgbClr val="F2617A"/>
              </a:buClr>
              <a:buSzPct val="100000"/>
              <a:buFont typeface="Arial"/>
              <a:buChar char="●"/>
            </a:pPr>
            <a:r>
              <a:rPr sz="1000" b="0" i="0" lang="es-CL">
                <a:solidFill>
                  <a:srgbClr val="1F2328"/>
                </a:solidFill>
                <a:latin typeface="Inter"/>
                <a:ea typeface="Inter"/>
                <a:cs typeface="Inter"/>
              </a:rPr>
              <a:t>supertest llama al controller real</a:t>
            </a:r>
          </a:p>
          <a:p>
            <a:pPr algn="l" marL="182880" indent="-164592">
              <a:spcAft>
                <a:spcPts val="300"/>
              </a:spcAft>
              <a:buClr>
                <a:srgbClr val="F2617A"/>
              </a:buClr>
              <a:buSzPct val="100000"/>
              <a:buFont typeface="Arial"/>
              <a:buChar char="●"/>
            </a:pPr>
            <a:r>
              <a:rPr sz="1000" b="0" i="0" lang="es-CL">
                <a:solidFill>
                  <a:srgbClr val="1F2328"/>
                </a:solidFill>
                <a:latin typeface="Inter"/>
                <a:ea typeface="Inter"/>
                <a:cs typeface="Inter"/>
              </a:rPr>
              <a:t>Testcontainers detrás</a:t>
            </a:r>
          </a:p>
          <a:p>
            <a:pPr algn="l" marL="182880" indent="-164592">
              <a:spcAft>
                <a:spcPts val="300"/>
              </a:spcAft>
              <a:buClr>
                <a:srgbClr val="F2617A"/>
              </a:buClr>
              <a:buSzPct val="100000"/>
              <a:buFont typeface="Arial"/>
              <a:buChar char="●"/>
            </a:pPr>
            <a:r>
              <a:rPr sz="1000" b="0" i="0" lang="es-CL">
                <a:solidFill>
                  <a:srgbClr val="1F2328"/>
                </a:solidFill>
                <a:latin typeface="Inter"/>
                <a:ea typeface="Inter"/>
                <a:cs typeface="Inter"/>
              </a:rPr>
              <a:t>Cada respuesta se valida contra el schema</a:t>
            </a:r>
          </a:p>
        </p:txBody>
      </p:sp>
      <p:sp>
        <p:nvSpPr>
          <p:cNvPr id="8" name="Rounded Rectangle 7"/>
          <p:cNvSpPr/>
          <p:nvPr/>
        </p:nvSpPr>
        <p:spPr>
          <a:xfrm>
            <a:off x="6080760" y="1371600"/>
            <a:ext cx="2651760" cy="1828800"/>
          </a:xfrm>
          <a:prstGeom prst="roundRect">
            <a:avLst>
              <a:gd name="adj" fmla="val 4000"/>
            </a:avLst>
          </a:prstGeom>
          <a:solidFill>
            <a:srgbClr val="EDF1F3"/>
          </a:solidFill>
          <a:ln>
            <a:noFill/>
          </a:ln>
        </p:spPr>
        <p:txBody>
          <a:bodyPr rtlCol="0" anchor="ctr" wrap="square" lIns="54864" rIns="54864" tIns="54864" bIns="54864"/>
          <a:lstStyle/>
          <a:p>
            <a:pPr algn="ctr"/>
          </a:p>
        </p:txBody>
      </p:sp>
      <p:sp>
        <p:nvSpPr>
          <p:cNvPr id="9" name="TextBox 8"/>
          <p:cNvSpPr txBox="1"/>
          <p:nvPr/>
        </p:nvSpPr>
        <p:spPr>
          <a:xfrm>
            <a:off x="6217920" y="1444752"/>
            <a:ext cx="2377440" cy="274320"/>
          </a:xfrm>
          <a:prstGeom prst="rect">
            <a:avLst/>
          </a:prstGeom>
          <a:noFill/>
        </p:spPr>
        <p:txBody>
          <a:bodyPr wrap="square" lIns="36576" rIns="36576" tIns="36576" bIns="36576" anchor="t"/>
          <a:lstStyle/>
          <a:p>
            <a:pPr algn="l" marL="0" indent="0">
              <a:spcAft>
                <a:spcPts val="400"/>
              </a:spcAft>
              <a:buNone/>
            </a:pPr>
            <a:r>
              <a:rPr sz="1150" b="1" i="0" lang="es-CL">
                <a:solidFill>
                  <a:srgbClr val="CC850A"/>
                </a:solidFill>
                <a:latin typeface="Inter"/>
                <a:ea typeface="Inter"/>
                <a:cs typeface="Inter"/>
              </a:rPr>
              <a:t>Consumidor (frontend)</a:t>
            </a:r>
          </a:p>
        </p:txBody>
      </p:sp>
      <p:sp>
        <p:nvSpPr>
          <p:cNvPr id="10" name="TextBox 9"/>
          <p:cNvSpPr txBox="1"/>
          <p:nvPr/>
        </p:nvSpPr>
        <p:spPr>
          <a:xfrm>
            <a:off x="6217920" y="1783080"/>
            <a:ext cx="2377440" cy="1371600"/>
          </a:xfrm>
          <a:prstGeom prst="rect">
            <a:avLst/>
          </a:prstGeom>
          <a:noFill/>
        </p:spPr>
        <p:txBody>
          <a:bodyPr wrap="square" lIns="36576" rIns="36576" tIns="36576" bIns="36576" anchor="t"/>
          <a:lstStyle/>
          <a:p>
            <a:pPr algn="l" marL="182880" indent="-164592">
              <a:spcAft>
                <a:spcPts val="300"/>
              </a:spcAft>
              <a:buClr>
                <a:srgbClr val="F2617A"/>
              </a:buClr>
              <a:buSzPct val="100000"/>
              <a:buFont typeface="Arial"/>
              <a:buChar char="●"/>
            </a:pPr>
            <a:r>
              <a:rPr sz="1000" b="0" i="0" lang="es-CL">
                <a:solidFill>
                  <a:srgbClr val="1F2328"/>
                </a:solidFill>
                <a:latin typeface="Inter"/>
                <a:ea typeface="Inter"/>
                <a:cs typeface="Inter"/>
              </a:rPr>
              <a:t>Los handlers MSW devuelven datos</a:t>
            </a:r>
          </a:p>
          <a:p>
            <a:pPr algn="l" marL="182880" indent="-164592">
              <a:spcAft>
                <a:spcPts val="300"/>
              </a:spcAft>
              <a:buClr>
                <a:srgbClr val="F2617A"/>
              </a:buClr>
              <a:buSzPct val="100000"/>
              <a:buFont typeface="Arial"/>
              <a:buChar char="●"/>
            </a:pPr>
            <a:r>
              <a:rPr sz="1000" b="0" i="0" lang="es-CL">
                <a:solidFill>
                  <a:srgbClr val="1F2328"/>
                </a:solidFill>
                <a:latin typeface="Inter"/>
                <a:ea typeface="Inter"/>
                <a:cs typeface="Inter"/>
              </a:rPr>
              <a:t>Cada respuesta mock se valida contra el schema</a:t>
            </a:r>
          </a:p>
          <a:p>
            <a:pPr algn="l" marL="182880" indent="-164592">
              <a:spcAft>
                <a:spcPts val="300"/>
              </a:spcAft>
              <a:buClr>
                <a:srgbClr val="F2617A"/>
              </a:buClr>
              <a:buSzPct val="100000"/>
              <a:buFont typeface="Arial"/>
              <a:buChar char="●"/>
            </a:pPr>
            <a:r>
              <a:rPr sz="1000" b="0" i="0" lang="es-CL">
                <a:solidFill>
                  <a:srgbClr val="1F2328"/>
                </a:solidFill>
                <a:latin typeface="Inter"/>
                <a:ea typeface="Inter"/>
                <a:cs typeface="Inter"/>
              </a:rPr>
              <a:t>Si el mock miente, falla test:contract</a:t>
            </a:r>
          </a:p>
        </p:txBody>
      </p:sp>
      <p:cxnSp>
        <p:nvCxnSpPr>
          <p:cNvPr id="11" name="Connector 10"/>
          <p:cNvCxnSpPr/>
          <p:nvPr/>
        </p:nvCxnSpPr>
        <p:spPr>
          <a:xfrm>
            <a:off x="3081528" y="2286000"/>
            <a:ext cx="420624" cy="0"/>
          </a:xfrm>
          <a:prstGeom prst="line">
            <a:avLst/>
          </a:prstGeom>
          <a:ln w="25400">
            <a:solidFill>
              <a:srgbClr val="1F2328"/>
            </a:solidFill>
            <a:headEnd type="triangle" w="med" len="med"/>
            <a:tailEnd type="triangle" w="med" len="med"/>
          </a:ln>
        </p:spPr>
      </p:cxnSp>
      <p:cxnSp>
        <p:nvCxnSpPr>
          <p:cNvPr id="12" name="Connector 11"/>
          <p:cNvCxnSpPr/>
          <p:nvPr/>
        </p:nvCxnSpPr>
        <p:spPr>
          <a:xfrm>
            <a:off x="5641848" y="2286000"/>
            <a:ext cx="420624" cy="0"/>
          </a:xfrm>
          <a:prstGeom prst="line">
            <a:avLst/>
          </a:prstGeom>
          <a:ln w="25400">
            <a:solidFill>
              <a:srgbClr val="1F2328"/>
            </a:solidFill>
            <a:headEnd type="triangle" w="med" len="med"/>
            <a:tailEnd type="triangle" w="med" len="med"/>
          </a:ln>
        </p:spPr>
      </p:cxnSp>
      <p:sp>
        <p:nvSpPr>
          <p:cNvPr id="13" name="Rounded Rectangle 12"/>
          <p:cNvSpPr/>
          <p:nvPr/>
        </p:nvSpPr>
        <p:spPr>
          <a:xfrm>
            <a:off x="411480" y="3429000"/>
            <a:ext cx="8321040" cy="1051560"/>
          </a:xfrm>
          <a:prstGeom prst="roundRect">
            <a:avLst>
              <a:gd name="adj" fmla="val 8695"/>
            </a:avLst>
          </a:prstGeom>
          <a:solidFill>
            <a:srgbClr val="DCE9F7"/>
          </a:solidFill>
          <a:ln>
            <a:noFill/>
          </a:ln>
        </p:spPr>
        <p:txBody>
          <a:bodyPr rtlCol="0" anchor="ctr" wrap="square" lIns="54864" rIns="54864" tIns="54864" bIns="54864"/>
          <a:lstStyle/>
          <a:p>
            <a:pPr algn="ctr"/>
          </a:p>
        </p:txBody>
      </p:sp>
      <p:sp>
        <p:nvSpPr>
          <p:cNvPr id="14" name="TextBox 13"/>
          <p:cNvSpPr txBox="1"/>
          <p:nvPr/>
        </p:nvSpPr>
        <p:spPr>
          <a:xfrm>
            <a:off x="594360" y="3502152"/>
            <a:ext cx="7955279" cy="914400"/>
          </a:xfrm>
          <a:prstGeom prst="rect">
            <a:avLst/>
          </a:prstGeom>
          <a:noFill/>
        </p:spPr>
        <p:txBody>
          <a:bodyPr wrap="square" lIns="36576" rIns="36576" tIns="36576" bIns="36576" anchor="t"/>
          <a:lstStyle/>
          <a:p>
            <a:pPr algn="l" marL="0" indent="0">
              <a:spcAft>
                <a:spcPts val="400"/>
              </a:spcAft>
              <a:buNone/>
            </a:pPr>
            <a:r>
              <a:rPr sz="1050" b="1" i="0" lang="es-CL">
                <a:solidFill>
                  <a:srgbClr val="1F2328"/>
                </a:solidFill>
                <a:latin typeface="Inter"/>
                <a:ea typeface="Inter"/>
                <a:cs typeface="Inter"/>
              </a:rPr>
              <a:t>¿Y Pact?</a:t>
            </a:r>
            <a:r>
              <a:rPr sz="1050" b="0" i="0" lang="es-CL">
                <a:solidFill>
                  <a:srgbClr val="1F2328"/>
                </a:solidFill>
                <a:latin typeface="Inter"/>
                <a:ea typeface="Inter"/>
                <a:cs typeface="Inter"/>
              </a:rPr>
              <a:t> Pact hace contratos consumer-driven: cada consumidor publica lo que necesita y el proveedor lo verifica (p. 107). Conviene con muchos servicios y equipos. Aquí hay un solo consumidor, así que basta validar ambos lados contra el mismo OpenAPI.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Contrato del proveedor: supertest y OpenAPI</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731519"/>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Un flujo HTTP real: controller, caso de uso, repositorio y PostgreSQL. La respuesta se valida contra el OpenAPI.</a:t>
            </a:r>
          </a:p>
        </p:txBody>
      </p:sp>
      <p:sp>
        <p:nvSpPr>
          <p:cNvPr id="6" name="Rounded Rectangle 5"/>
          <p:cNvSpPr/>
          <p:nvPr/>
        </p:nvSpPr>
        <p:spPr>
          <a:xfrm>
            <a:off x="411480" y="1947672"/>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920240"/>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Campos que faltan o sobran, status equivocados y errores sin problem+json.</a:t>
            </a:r>
          </a:p>
        </p:txBody>
      </p:sp>
      <p:sp>
        <p:nvSpPr>
          <p:cNvPr id="8" name="Rounded Rectangle 7"/>
          <p:cNvSpPr/>
          <p:nvPr/>
        </p:nvSpPr>
        <p:spPr>
          <a:xfrm>
            <a:off x="411480" y="2624328"/>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596896"/>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supertest, Testcontainers y Ajv con el OpenAPI (expectToMatchContract).</a:t>
            </a:r>
          </a:p>
        </p:txBody>
      </p:sp>
      <p:sp>
        <p:nvSpPr>
          <p:cNvPr id="10" name="Rounded Rectangle 9"/>
          <p:cNvSpPr/>
          <p:nvPr/>
        </p:nvSpPr>
        <p:spPr>
          <a:xfrm>
            <a:off x="411480" y="3300984"/>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3273552"/>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6. Escribe reports/contract-coverage.json para la evidencia.</a:t>
            </a:r>
          </a:p>
        </p:txBody>
      </p:sp>
      <p:sp>
        <p:nvSpPr>
          <p:cNvPr id="12" name="Rounded Rectangle 11"/>
          <p:cNvSpPr/>
          <p:nvPr/>
        </p:nvSpPr>
        <p:spPr>
          <a:xfrm>
            <a:off x="411480" y="3977640"/>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950208"/>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Contract tests y service tests, p. 68 a 72 y 107.</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backend/test/contract/loans.contract.spec.ts (extracto)</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950" b="0" i="0" lang="es-CL">
                <a:solidFill>
                  <a:srgbClr val="008000"/>
                </a:solidFill>
                <a:latin typeface="Consolas"/>
                <a:ea typeface="Consolas"/>
                <a:cs typeface="Consolas"/>
              </a:rPr>
              <a:t>// [LOAN-R1] [LOAN-R3] [LOAN-R5] flujo completo: prestar,</a:t>
            </a:r>
          </a:p>
          <a:p>
            <a:pPr marL="0" indent="0">
              <a:lnSpc>
                <a:spcPct val="100000"/>
              </a:lnSpc>
              <a:spcAft>
                <a:spcPts val="0"/>
              </a:spcAft>
              <a:buNone/>
            </a:pPr>
            <a:r>
              <a:rPr sz="950" b="0" i="0" lang="es-CL">
                <a:solidFill>
                  <a:srgbClr val="008000"/>
                </a:solidFill>
                <a:latin typeface="Consolas"/>
                <a:ea typeface="Consolas"/>
                <a:cs typeface="Consolas"/>
              </a:rPr>
              <a:t>// agotar, listar, devolver y devolver otra vez</a:t>
            </a:r>
          </a:p>
          <a:p>
            <a:pPr marL="0" indent="0">
              <a:lnSpc>
                <a:spcPct val="100000"/>
              </a:lnSpc>
              <a:spcAft>
                <a:spcPts val="0"/>
              </a:spcAft>
              <a:buNone/>
            </a:pPr>
            <a:r>
              <a:rPr sz="950" b="0" i="0" lang="es-CL">
                <a:solidFill>
                  <a:srgbClr val="0000FF"/>
                </a:solidFill>
                <a:latin typeface="Consolas"/>
                <a:ea typeface="Consolas"/>
                <a:cs typeface="Consolas"/>
              </a:rPr>
              <a:t>const</a:t>
            </a:r>
            <a:r>
              <a:rPr sz="950" b="0" i="0" lang="es-CL">
                <a:solidFill>
                  <a:srgbClr val="1F2328"/>
                </a:solidFill>
                <a:latin typeface="Consolas"/>
                <a:ea typeface="Consolas"/>
                <a:cs typeface="Consolas"/>
              </a:rPr>
              <a:t> book = </a:t>
            </a:r>
            <a:r>
              <a:rPr sz="950" b="0" i="0" lang="es-CL">
                <a:solidFill>
                  <a:srgbClr val="AF00DB"/>
                </a:solidFill>
                <a:latin typeface="Consolas"/>
                <a:ea typeface="Consolas"/>
                <a:cs typeface="Consolas"/>
              </a:rPr>
              <a:t>await</a:t>
            </a:r>
            <a:r>
              <a:rPr sz="950" b="0" i="0" lang="es-CL">
                <a:solidFill>
                  <a:srgbClr val="1F2328"/>
                </a:solidFill>
                <a:latin typeface="Consolas"/>
                <a:ea typeface="Consolas"/>
                <a:cs typeface="Consolas"/>
              </a:rPr>
              <a:t> createBook(</a:t>
            </a:r>
          </a:p>
          <a:p>
            <a:pPr marL="0" indent="0">
              <a:lnSpc>
                <a:spcPct val="100000"/>
              </a:lnSpc>
              <a:spcAft>
                <a:spcPts val="0"/>
              </a:spcAft>
              <a:buNone/>
            </a:pPr>
            <a:r>
              <a:rPr sz="950" b="0" i="0" lang="es-CL">
                <a:solidFill>
                  <a:srgbClr val="1F2328"/>
                </a:solidFill>
                <a:latin typeface="Consolas"/>
                <a:ea typeface="Consolas"/>
                <a:cs typeface="Consolas"/>
              </a:rPr>
              <a:t>  running.http, CATALOG.casaEspiritus, </a:t>
            </a:r>
            <a:r>
              <a:rPr sz="950" b="0" i="0" lang="es-CL">
                <a:solidFill>
                  <a:srgbClr val="098658"/>
                </a:solidFill>
                <a:latin typeface="Consolas"/>
                <a:ea typeface="Consolas"/>
                <a:cs typeface="Consolas"/>
              </a:rPr>
              <a:t>1</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0000FF"/>
                </a:solidFill>
                <a:latin typeface="Consolas"/>
                <a:ea typeface="Consolas"/>
                <a:cs typeface="Consolas"/>
              </a:rPr>
              <a:t>const</a:t>
            </a:r>
            <a:r>
              <a:rPr sz="950" b="0" i="0" lang="es-CL">
                <a:solidFill>
                  <a:srgbClr val="1F2328"/>
                </a:solidFill>
                <a:latin typeface="Consolas"/>
                <a:ea typeface="Consolas"/>
                <a:cs typeface="Consolas"/>
              </a:rPr>
              <a:t> loan = </a:t>
            </a:r>
            <a:r>
              <a:rPr sz="950" b="0" i="0" lang="es-CL">
                <a:solidFill>
                  <a:srgbClr val="AF00DB"/>
                </a:solidFill>
                <a:latin typeface="Consolas"/>
                <a:ea typeface="Consolas"/>
                <a:cs typeface="Consolas"/>
              </a:rPr>
              <a:t>await</a:t>
            </a:r>
            <a:r>
              <a:rPr sz="950" b="0" i="0" lang="es-CL">
                <a:solidFill>
                  <a:srgbClr val="1F2328"/>
                </a:solidFill>
                <a:latin typeface="Consolas"/>
                <a:ea typeface="Consolas"/>
                <a:cs typeface="Consolas"/>
              </a:rPr>
              <a:t> </a:t>
            </a:r>
            <a:r>
              <a:rPr sz="950" b="0" i="0" lang="es-CL">
                <a:solidFill>
                  <a:srgbClr val="795E26"/>
                </a:solidFill>
                <a:latin typeface="Consolas"/>
                <a:ea typeface="Consolas"/>
                <a:cs typeface="Consolas"/>
              </a:rPr>
              <a:t>request</a:t>
            </a:r>
            <a:r>
              <a:rPr sz="950" b="0" i="0" lang="es-CL">
                <a:solidFill>
                  <a:srgbClr val="1F2328"/>
                </a:solidFill>
                <a:latin typeface="Consolas"/>
                <a:ea typeface="Consolas"/>
                <a:cs typeface="Consolas"/>
              </a:rPr>
              <a:t>(running.http)</a:t>
            </a:r>
          </a:p>
          <a:p>
            <a:pPr marL="0" indent="0">
              <a:lnSpc>
                <a:spcPct val="100000"/>
              </a:lnSpc>
              <a:spcAft>
                <a:spcPts val="0"/>
              </a:spcAft>
              <a:buNone/>
            </a:pPr>
            <a:r>
              <a:rPr sz="950" b="0" i="0" lang="es-CL">
                <a:solidFill>
                  <a:srgbClr val="1F2328"/>
                </a:solidFill>
                <a:latin typeface="Consolas"/>
                <a:ea typeface="Consolas"/>
                <a:cs typeface="Consolas"/>
              </a:rPr>
              <a:t>  .post(</a:t>
            </a:r>
            <a:r>
              <a:rPr sz="950" b="0" i="0" lang="es-CL">
                <a:solidFill>
                  <a:srgbClr val="A31515"/>
                </a:solidFill>
                <a:latin typeface="Consolas"/>
                <a:ea typeface="Consolas"/>
                <a:cs typeface="Consolas"/>
              </a:rPr>
              <a:t>'/api/loans'</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.send({ bookId: book.id, borrowerEmail: </a:t>
            </a:r>
            <a:r>
              <a:rPr sz="950" b="0" i="0" lang="es-CL">
                <a:solidFill>
                  <a:srgbClr val="A31515"/>
                </a:solidFill>
                <a:latin typeface="Consolas"/>
                <a:ea typeface="Consolas"/>
                <a:cs typeface="Consolas"/>
              </a:rPr>
              <a:t>'Ana@UC.cl'</a:t>
            </a: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AF00DB"/>
                </a:solidFill>
                <a:latin typeface="Consolas"/>
                <a:ea typeface="Consolas"/>
                <a:cs typeface="Consolas"/>
              </a:rPr>
              <a:t>await</a:t>
            </a:r>
            <a:r>
              <a:rPr sz="950" b="0" i="0" lang="es-CL">
                <a:solidFill>
                  <a:srgbClr val="1F2328"/>
                </a:solidFill>
                <a:latin typeface="Consolas"/>
                <a:ea typeface="Consolas"/>
                <a:cs typeface="Consolas"/>
              </a:rPr>
              <a:t> expectToMatchContract(loan, </a:t>
            </a:r>
            <a:r>
              <a:rPr sz="950" b="0" i="0" lang="es-CL">
                <a:solidFill>
                  <a:srgbClr val="A31515"/>
                </a:solidFill>
                <a:latin typeface="Consolas"/>
                <a:ea typeface="Consolas"/>
                <a:cs typeface="Consolas"/>
              </a:rPr>
              <a:t>'createLoan'</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795E26"/>
                </a:solidFill>
                <a:latin typeface="Consolas"/>
                <a:ea typeface="Consolas"/>
                <a:cs typeface="Consolas"/>
              </a:rPr>
              <a:t>expect</a:t>
            </a:r>
            <a:r>
              <a:rPr sz="950" b="0" i="0" lang="es-CL">
                <a:solidFill>
                  <a:srgbClr val="1F2328"/>
                </a:solidFill>
                <a:latin typeface="Consolas"/>
                <a:ea typeface="Consolas"/>
                <a:cs typeface="Consolas"/>
              </a:rPr>
              <a:t>(loan.status).toBe(</a:t>
            </a:r>
            <a:r>
              <a:rPr sz="950" b="0" i="0" lang="es-CL">
                <a:solidFill>
                  <a:srgbClr val="098658"/>
                </a:solidFill>
                <a:latin typeface="Consolas"/>
                <a:ea typeface="Consolas"/>
                <a:cs typeface="Consolas"/>
              </a:rPr>
              <a:t>201</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795E26"/>
                </a:solidFill>
                <a:latin typeface="Consolas"/>
                <a:ea typeface="Consolas"/>
                <a:cs typeface="Consolas"/>
              </a:rPr>
              <a:t>expect</a:t>
            </a:r>
            <a:r>
              <a:rPr sz="950" b="0" i="0" lang="es-CL">
                <a:solidFill>
                  <a:srgbClr val="1F2328"/>
                </a:solidFill>
                <a:latin typeface="Consolas"/>
                <a:ea typeface="Consolas"/>
                <a:cs typeface="Consolas"/>
              </a:rPr>
              <a:t>(loan.body).toMatchObject({</a:t>
            </a:r>
          </a:p>
          <a:p>
            <a:pPr marL="0" indent="0">
              <a:lnSpc>
                <a:spcPct val="100000"/>
              </a:lnSpc>
              <a:spcAft>
                <a:spcPts val="0"/>
              </a:spcAft>
              <a:buNone/>
            </a:pPr>
            <a:r>
              <a:rPr sz="950" b="0" i="0" lang="es-CL">
                <a:solidFill>
                  <a:srgbClr val="1F2328"/>
                </a:solidFill>
                <a:latin typeface="Consolas"/>
                <a:ea typeface="Consolas"/>
                <a:cs typeface="Consolas"/>
              </a:rPr>
              <a:t>  borrowerEmail: </a:t>
            </a:r>
            <a:r>
              <a:rPr sz="950" b="0" i="0" lang="es-CL">
                <a:solidFill>
                  <a:srgbClr val="A31515"/>
                </a:solidFill>
                <a:latin typeface="Consolas"/>
                <a:ea typeface="Consolas"/>
                <a:cs typeface="Consolas"/>
              </a:rPr>
              <a:t>'ana@uc.cl'</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dueAt: </a:t>
            </a:r>
            <a:r>
              <a:rPr sz="950" b="0" i="0" lang="es-CL">
                <a:solidFill>
                  <a:srgbClr val="A31515"/>
                </a:solidFill>
                <a:latin typeface="Consolas"/>
                <a:ea typeface="Consolas"/>
                <a:cs typeface="Consolas"/>
              </a:rPr>
              <a:t>'2026-03-16T12:00:00.000Z'</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status: </a:t>
            </a:r>
            <a:r>
              <a:rPr sz="950" b="0" i="0" lang="es-CL">
                <a:solidFill>
                  <a:srgbClr val="A31515"/>
                </a:solidFill>
                <a:latin typeface="Consolas"/>
                <a:ea typeface="Consolas"/>
                <a:cs typeface="Consolas"/>
              </a:rPr>
              <a:t>'ACTIVE'</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0000FF"/>
                </a:solidFill>
                <a:latin typeface="Consolas"/>
                <a:ea typeface="Consolas"/>
                <a:cs typeface="Consolas"/>
              </a:rPr>
              <a:t>const</a:t>
            </a:r>
            <a:r>
              <a:rPr sz="950" b="0" i="0" lang="es-CL">
                <a:solidFill>
                  <a:srgbClr val="1F2328"/>
                </a:solidFill>
                <a:latin typeface="Consolas"/>
                <a:ea typeface="Consolas"/>
                <a:cs typeface="Consolas"/>
              </a:rPr>
              <a:t> exhausted = </a:t>
            </a:r>
            <a:r>
              <a:rPr sz="950" b="0" i="0" lang="es-CL">
                <a:solidFill>
                  <a:srgbClr val="AF00DB"/>
                </a:solidFill>
                <a:latin typeface="Consolas"/>
                <a:ea typeface="Consolas"/>
                <a:cs typeface="Consolas"/>
              </a:rPr>
              <a:t>await</a:t>
            </a:r>
            <a:r>
              <a:rPr sz="950" b="0" i="0" lang="es-CL">
                <a:solidFill>
                  <a:srgbClr val="1F2328"/>
                </a:solidFill>
                <a:latin typeface="Consolas"/>
                <a:ea typeface="Consolas"/>
                <a:cs typeface="Consolas"/>
              </a:rPr>
              <a:t> </a:t>
            </a:r>
            <a:r>
              <a:rPr sz="950" b="0" i="0" lang="es-CL">
                <a:solidFill>
                  <a:srgbClr val="795E26"/>
                </a:solidFill>
                <a:latin typeface="Consolas"/>
                <a:ea typeface="Consolas"/>
                <a:cs typeface="Consolas"/>
              </a:rPr>
              <a:t>request</a:t>
            </a:r>
            <a:r>
              <a:rPr sz="950" b="0" i="0" lang="es-CL">
                <a:solidFill>
                  <a:srgbClr val="1F2328"/>
                </a:solidFill>
                <a:latin typeface="Consolas"/>
                <a:ea typeface="Consolas"/>
                <a:cs typeface="Consolas"/>
              </a:rPr>
              <a:t>(running.http)</a:t>
            </a:r>
          </a:p>
          <a:p>
            <a:pPr marL="0" indent="0">
              <a:lnSpc>
                <a:spcPct val="100000"/>
              </a:lnSpc>
              <a:spcAft>
                <a:spcPts val="0"/>
              </a:spcAft>
              <a:buNone/>
            </a:pPr>
            <a:r>
              <a:rPr sz="950" b="0" i="0" lang="es-CL">
                <a:solidFill>
                  <a:srgbClr val="1F2328"/>
                </a:solidFill>
                <a:latin typeface="Consolas"/>
                <a:ea typeface="Consolas"/>
                <a:cs typeface="Consolas"/>
              </a:rPr>
              <a:t>  .post(</a:t>
            </a:r>
            <a:r>
              <a:rPr sz="950" b="0" i="0" lang="es-CL">
                <a:solidFill>
                  <a:srgbClr val="A31515"/>
                </a:solidFill>
                <a:latin typeface="Consolas"/>
                <a:ea typeface="Consolas"/>
                <a:cs typeface="Consolas"/>
              </a:rPr>
              <a:t>'/api/loans'</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.send({ bookId: book.id, borrowerEmail: </a:t>
            </a:r>
            <a:r>
              <a:rPr sz="950" b="0" i="0" lang="es-CL">
                <a:solidFill>
                  <a:srgbClr val="A31515"/>
                </a:solidFill>
                <a:latin typeface="Consolas"/>
                <a:ea typeface="Consolas"/>
                <a:cs typeface="Consolas"/>
              </a:rPr>
              <a:t>'beto@uc.cl'</a:t>
            </a: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AF00DB"/>
                </a:solidFill>
                <a:latin typeface="Consolas"/>
                <a:ea typeface="Consolas"/>
                <a:cs typeface="Consolas"/>
              </a:rPr>
              <a:t>await</a:t>
            </a:r>
            <a:r>
              <a:rPr sz="950" b="0" i="0" lang="es-CL">
                <a:solidFill>
                  <a:srgbClr val="1F2328"/>
                </a:solidFill>
                <a:latin typeface="Consolas"/>
                <a:ea typeface="Consolas"/>
                <a:cs typeface="Consolas"/>
              </a:rPr>
              <a:t> expectToMatchContract(exhausted, </a:t>
            </a:r>
            <a:r>
              <a:rPr sz="950" b="0" i="0" lang="es-CL">
                <a:solidFill>
                  <a:srgbClr val="A31515"/>
                </a:solidFill>
                <a:latin typeface="Consolas"/>
                <a:ea typeface="Consolas"/>
                <a:cs typeface="Consolas"/>
              </a:rPr>
              <a:t>'createLoan'</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795E26"/>
                </a:solidFill>
                <a:latin typeface="Consolas"/>
                <a:ea typeface="Consolas"/>
                <a:cs typeface="Consolas"/>
              </a:rPr>
              <a:t>expect</a:t>
            </a:r>
            <a:r>
              <a:rPr sz="950" b="0" i="0" lang="es-CL">
                <a:solidFill>
                  <a:srgbClr val="1F2328"/>
                </a:solidFill>
                <a:latin typeface="Consolas"/>
                <a:ea typeface="Consolas"/>
                <a:cs typeface="Consolas"/>
              </a:rPr>
              <a:t>(exhausted.status).toBe(</a:t>
            </a:r>
            <a:r>
              <a:rPr sz="950" b="0" i="0" lang="es-CL">
                <a:solidFill>
                  <a:srgbClr val="098658"/>
                </a:solidFill>
                <a:latin typeface="Consolas"/>
                <a:ea typeface="Consolas"/>
                <a:cs typeface="Consolas"/>
              </a:rPr>
              <a:t>409</a:t>
            </a:r>
            <a:r>
              <a:rPr sz="950" b="0" i="0" lang="es-CL">
                <a:solidFill>
                  <a:srgbClr val="1F2328"/>
                </a:solidFill>
                <a:latin typeface="Consolas"/>
                <a:ea typeface="Consolas"/>
                <a:cs typeface="Consolas"/>
              </a:rP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Fuzzing de API desde el contrato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731519"/>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Genera cientos de requests a partir del OpenAPI: valores límite, tipos raros, strings enormes.</a:t>
            </a:r>
          </a:p>
        </p:txBody>
      </p:sp>
      <p:sp>
        <p:nvSpPr>
          <p:cNvPr id="6" name="Rounded Rectangle 5"/>
          <p:cNvSpPr/>
          <p:nvPr/>
        </p:nvSpPr>
        <p:spPr>
          <a:xfrm>
            <a:off x="411480" y="1947672"/>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920240"/>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Respuestas 500, respuestas que no cumplen el schema y validaciones que faltan.</a:t>
            </a:r>
          </a:p>
        </p:txBody>
      </p:sp>
      <p:sp>
        <p:nvSpPr>
          <p:cNvPr id="8" name="Rounded Rectangle 7"/>
          <p:cNvSpPr/>
          <p:nvPr/>
        </p:nvSpPr>
        <p:spPr>
          <a:xfrm>
            <a:off x="411480" y="2624328"/>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596896"/>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Schemathesis (property-based testing sobre OpenAPI).</a:t>
            </a:r>
          </a:p>
        </p:txBody>
      </p:sp>
      <p:sp>
        <p:nvSpPr>
          <p:cNvPr id="10" name="Rounded Rectangle 9"/>
          <p:cNvSpPr/>
          <p:nvPr/>
        </p:nvSpPr>
        <p:spPr>
          <a:xfrm>
            <a:off x="411480" y="3136392"/>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3108960"/>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9 · sistema, contra el stack levantado con Docker.</a:t>
            </a:r>
          </a:p>
        </p:txBody>
      </p:sp>
      <p:sp>
        <p:nvSpPr>
          <p:cNvPr id="12" name="Rounded Rectangle 11"/>
          <p:cNvSpPr/>
          <p:nvPr/>
        </p:nvSpPr>
        <p:spPr>
          <a:xfrm>
            <a:off x="411480" y="3648456"/>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621024"/>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Tests generados desde specs, cap. 3. Seguridad de APIs, cap. 7.</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etapa 9 del pipeline</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1000" b="0" i="0" lang="es-CL">
                <a:solidFill>
                  <a:srgbClr val="8C959F"/>
                </a:solidFill>
                <a:latin typeface="Consolas"/>
                <a:ea typeface="Consolas"/>
                <a:cs typeface="Consolas"/>
              </a:rPr>
              <a:t>$ </a:t>
            </a:r>
            <a:r>
              <a:rPr sz="1000" b="0" i="0" lang="es-CL">
                <a:solidFill>
                  <a:srgbClr val="1F2328"/>
                </a:solidFill>
                <a:latin typeface="Consolas"/>
                <a:ea typeface="Consolas"/>
                <a:cs typeface="Consolas"/>
              </a:rPr>
              <a:t>schemathesis run specs/api/openapi.yaml \</a:t>
            </a:r>
          </a:p>
          <a:p>
            <a:pPr marL="0" indent="0">
              <a:lnSpc>
                <a:spcPct val="100000"/>
              </a:lnSpc>
              <a:spcAft>
                <a:spcPts val="0"/>
              </a:spcAft>
              <a:buNone/>
            </a:pPr>
            <a:r>
              <a:rPr sz="1000" b="0" i="0" lang="es-CL">
                <a:solidFill>
                  <a:srgbClr val="1F2328"/>
                </a:solidFill>
                <a:latin typeface="Consolas"/>
                <a:ea typeface="Consolas"/>
                <a:cs typeface="Consolas"/>
              </a:rPr>
              <a:t>    --url http://localhost:3001 \</a:t>
            </a:r>
          </a:p>
          <a:p>
            <a:pPr marL="0" indent="0">
              <a:lnSpc>
                <a:spcPct val="100000"/>
              </a:lnSpc>
              <a:spcAft>
                <a:spcPts val="0"/>
              </a:spcAft>
              <a:buNone/>
            </a:pPr>
            <a:r>
              <a:rPr sz="1000" b="0" i="0" lang="es-CL">
                <a:solidFill>
                  <a:srgbClr val="1F2328"/>
                </a:solidFill>
                <a:latin typeface="Consolas"/>
                <a:ea typeface="Consolas"/>
                <a:cs typeface="Consolas"/>
              </a:rPr>
              <a:t>    --checks all \</a:t>
            </a:r>
          </a:p>
          <a:p>
            <a:pPr marL="0" indent="0">
              <a:lnSpc>
                <a:spcPct val="100000"/>
              </a:lnSpc>
              <a:spcAft>
                <a:spcPts val="0"/>
              </a:spcAft>
              <a:buNone/>
            </a:pPr>
            <a:r>
              <a:rPr sz="1000" b="0" i="0" lang="es-CL">
                <a:solidFill>
                  <a:srgbClr val="1F2328"/>
                </a:solidFill>
                <a:latin typeface="Consolas"/>
                <a:ea typeface="Consolas"/>
                <a:cs typeface="Consolas"/>
              </a:rPr>
              <a:t>    --max-examples 50</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POST /api/loans        </a:t>
            </a:r>
            <a:r>
              <a:rPr sz="1000" b="1" i="0" lang="es-CL">
                <a:solidFill>
                  <a:srgbClr val="38761D"/>
                </a:solidFill>
                <a:latin typeface="Consolas"/>
                <a:ea typeface="Consolas"/>
                <a:cs typeface="Consolas"/>
              </a:rPr>
              <a:t>✓ 50 casos</a:t>
            </a:r>
          </a:p>
          <a:p>
            <a:pPr marL="0" indent="0">
              <a:lnSpc>
                <a:spcPct val="100000"/>
              </a:lnSpc>
              <a:spcAft>
                <a:spcPts val="0"/>
              </a:spcAft>
              <a:buNone/>
            </a:pPr>
            <a:r>
              <a:rPr sz="1000" b="0" i="0" lang="es-CL">
                <a:solidFill>
                  <a:srgbClr val="1F2328"/>
                </a:solidFill>
                <a:latin typeface="Consolas"/>
                <a:ea typeface="Consolas"/>
                <a:cs typeface="Consolas"/>
              </a:rPr>
              <a:t>GET  /api/books        </a:t>
            </a:r>
            <a:r>
              <a:rPr sz="1000" b="1" i="0" lang="es-CL">
                <a:solidFill>
                  <a:srgbClr val="38761D"/>
                </a:solidFill>
                <a:latin typeface="Consolas"/>
                <a:ea typeface="Consolas"/>
                <a:cs typeface="Consolas"/>
              </a:rPr>
              <a:t>✓ 50 casos</a:t>
            </a:r>
          </a:p>
          <a:p>
            <a:pPr marL="0" indent="0">
              <a:lnSpc>
                <a:spcPct val="100000"/>
              </a:lnSpc>
              <a:spcAft>
                <a:spcPts val="0"/>
              </a:spcAft>
              <a:buNone/>
            </a:pPr>
            <a:r>
              <a:rPr sz="1000" b="0" i="0" lang="es-CL">
                <a:solidFill>
                  <a:srgbClr val="1F2328"/>
                </a:solidFill>
                <a:latin typeface="Consolas"/>
                <a:ea typeface="Consolas"/>
                <a:cs typeface="Consolas"/>
              </a:rPr>
              <a:t>POST /api/books        </a:t>
            </a:r>
            <a:r>
              <a:rPr sz="1000" b="1" i="0" lang="es-CL">
                <a:solidFill>
                  <a:srgbClr val="980000"/>
                </a:solidFill>
                <a:latin typeface="Consolas"/>
                <a:ea typeface="Consolas"/>
                <a:cs typeface="Consolas"/>
              </a:rPr>
              <a:t>✗ 1 falla</a:t>
            </a:r>
          </a:p>
          <a:p>
            <a:pPr marL="0" indent="0">
              <a:lnSpc>
                <a:spcPct val="100000"/>
              </a:lnSpc>
              <a:spcAft>
                <a:spcPts val="0"/>
              </a:spcAft>
              <a:buNone/>
            </a:pPr>
            <a:r>
              <a:rPr sz="1000" b="0" i="0" lang="es-CL">
                <a:solidFill>
                  <a:srgbClr val="1F2328"/>
                </a:solidFill>
                <a:latin typeface="Consolas"/>
                <a:ea typeface="Consolas"/>
                <a:cs typeface="Consolas"/>
              </a:rPr>
              <a:t>  not_a_server_error: 500 con</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"title"</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"totalCopies"</a:t>
            </a:r>
            <a:r>
              <a:rPr sz="1000" b="0" i="0" lang="es-CL">
                <a:solidFill>
                  <a:srgbClr val="1F2328"/>
                </a:solidFill>
                <a:latin typeface="Consolas"/>
                <a:ea typeface="Consolas"/>
                <a:cs typeface="Consolas"/>
              </a:rPr>
              <a:t>: 51}</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008000"/>
                </a:solidFill>
                <a:latin typeface="Consolas"/>
                <a:ea typeface="Consolas"/>
                <a:cs typeface="Consolas"/>
              </a:rPr>
              <a:t># La IA no escribe estos casos: el contrato</a:t>
            </a:r>
          </a:p>
          <a:p>
            <a:pPr marL="0" indent="0">
              <a:lnSpc>
                <a:spcPct val="100000"/>
              </a:lnSpc>
              <a:spcAft>
                <a:spcPts val="0"/>
              </a:spcAft>
              <a:buNone/>
            </a:pPr>
            <a:r>
              <a:rPr sz="1000" b="0" i="0" lang="es-CL">
                <a:solidFill>
                  <a:srgbClr val="008000"/>
                </a:solidFill>
                <a:latin typeface="Consolas"/>
                <a:ea typeface="Consolas"/>
                <a:cs typeface="Consolas"/>
              </a:rPr>
              <a:t># ya describe el espacio de entradas.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Mock server: el frontend se prueba sin backend</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97280"/>
            <a:ext cx="1600200" cy="731520"/>
          </a:xfrm>
          <a:prstGeom prst="roundRect">
            <a:avLst>
              <a:gd name="adj" fmla="val 10000"/>
            </a:avLst>
          </a:prstGeom>
          <a:solidFill>
            <a:srgbClr val="CC850A"/>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Next.js</a:t>
            </a:r>
          </a:p>
          <a:p>
            <a:pPr algn="ctr" marL="0" indent="0">
              <a:spcAft>
                <a:spcPts val="0"/>
              </a:spcAft>
              <a:buNone/>
            </a:pPr>
            <a:r>
              <a:rPr sz="1000" b="0" i="0" lang="es-CL">
                <a:solidFill>
                  <a:srgbClr val="FFFFFF"/>
                </a:solidFill>
                <a:latin typeface="Inter"/>
                <a:ea typeface="Inter"/>
                <a:cs typeface="Inter"/>
              </a:rPr>
              <a:t>componentes y hooks</a:t>
            </a:r>
          </a:p>
        </p:txBody>
      </p:sp>
      <p:sp>
        <p:nvSpPr>
          <p:cNvPr id="5" name="Rounded Rectangle 4"/>
          <p:cNvSpPr/>
          <p:nvPr/>
        </p:nvSpPr>
        <p:spPr>
          <a:xfrm>
            <a:off x="2331720" y="1097280"/>
            <a:ext cx="1600200" cy="731520"/>
          </a:xfrm>
          <a:prstGeom prst="roundRect">
            <a:avLst>
              <a:gd name="adj" fmla="val 10000"/>
            </a:avLst>
          </a:prstGeom>
          <a:solidFill>
            <a:srgbClr val="47A1AD"/>
          </a:solidFill>
          <a:ln>
            <a:noFill/>
          </a:ln>
        </p:spPr>
        <p:txBody>
          <a:bodyPr rtlCol="0" anchor="ctr" wrap="square" lIns="54864" rIns="54864" tIns="54864" bIns="54864"/>
          <a:lstStyle/>
          <a:p>
            <a:pPr algn="ctr" marL="0" indent="0">
              <a:spcAft>
                <a:spcPts val="0"/>
              </a:spcAft>
              <a:buNone/>
            </a:pPr>
            <a:r>
              <a:rPr sz="1000" b="1" i="0" lang="es-CL">
                <a:solidFill>
                  <a:srgbClr val="FFFFFF"/>
                </a:solidFill>
                <a:latin typeface="Inter"/>
                <a:ea typeface="Inter"/>
                <a:cs typeface="Inter"/>
              </a:rPr>
              <a:t>MSW</a:t>
            </a:r>
          </a:p>
          <a:p>
            <a:pPr algn="ctr" marL="0" indent="0">
              <a:spcAft>
                <a:spcPts val="0"/>
              </a:spcAft>
              <a:buNone/>
            </a:pPr>
            <a:r>
              <a:rPr sz="1000" b="0" i="0" lang="es-CL">
                <a:solidFill>
                  <a:srgbClr val="FFFFFF"/>
                </a:solidFill>
                <a:latin typeface="Inter"/>
                <a:ea typeface="Inter"/>
                <a:cs typeface="Inter"/>
              </a:rPr>
              <a:t>intercepta /api/*</a:t>
            </a:r>
          </a:p>
        </p:txBody>
      </p:sp>
      <p:sp>
        <p:nvSpPr>
          <p:cNvPr id="6" name="Rounded Rectangle 5"/>
          <p:cNvSpPr/>
          <p:nvPr/>
        </p:nvSpPr>
        <p:spPr>
          <a:xfrm>
            <a:off x="411480" y="2103120"/>
            <a:ext cx="3520440" cy="384048"/>
          </a:xfrm>
          <a:prstGeom prst="roundRect">
            <a:avLst>
              <a:gd name="adj" fmla="val 19047"/>
            </a:avLst>
          </a:prstGeom>
          <a:solidFill>
            <a:srgbClr val="E4E7EC"/>
          </a:solidFill>
          <a:ln>
            <a:noFill/>
          </a:ln>
        </p:spPr>
        <p:txBody>
          <a:bodyPr rtlCol="0" anchor="ctr" wrap="square" lIns="54864" rIns="54864" tIns="54864" bIns="54864"/>
          <a:lstStyle/>
          <a:p>
            <a:pPr algn="ctr" marL="0" indent="0">
              <a:spcAft>
                <a:spcPts val="200"/>
              </a:spcAft>
              <a:buNone/>
            </a:pPr>
            <a:r>
              <a:rPr sz="1000" b="1" i="0" lang="es-CL">
                <a:solidFill>
                  <a:srgbClr val="57606A"/>
                </a:solidFill>
                <a:latin typeface="Inter"/>
                <a:ea typeface="Inter"/>
                <a:cs typeface="Inter"/>
              </a:rPr>
              <a:t>Backend: no hace falta</a:t>
            </a:r>
          </a:p>
        </p:txBody>
      </p:sp>
      <p:cxnSp>
        <p:nvCxnSpPr>
          <p:cNvPr id="7" name="Connector 6"/>
          <p:cNvCxnSpPr/>
          <p:nvPr/>
        </p:nvCxnSpPr>
        <p:spPr>
          <a:xfrm>
            <a:off x="2029968" y="1463040"/>
            <a:ext cx="283464" cy="0"/>
          </a:xfrm>
          <a:prstGeom prst="line">
            <a:avLst/>
          </a:prstGeom>
          <a:ln w="25400">
            <a:solidFill>
              <a:srgbClr val="1F2328"/>
            </a:solidFill>
            <a:tailEnd type="triangle" w="med" len="med"/>
          </a:ln>
        </p:spPr>
      </p:cxnSp>
      <p:sp>
        <p:nvSpPr>
          <p:cNvPr id="8" name="TextBox 7"/>
          <p:cNvSpPr txBox="1"/>
          <p:nvPr/>
        </p:nvSpPr>
        <p:spPr>
          <a:xfrm>
            <a:off x="411480" y="2697480"/>
            <a:ext cx="3520440" cy="182880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000" b="0" i="0" lang="es-CL">
                <a:solidFill>
                  <a:srgbClr val="1F2328"/>
                </a:solidFill>
                <a:latin typeface="Inter"/>
                <a:ea typeface="Inter"/>
                <a:cs typeface="Inter"/>
              </a:rPr>
              <a:t>Intercepta las requests en el navegador (Service Worker) y en Node.</a:t>
            </a:r>
          </a:p>
          <a:p>
            <a:pPr algn="l" marL="182880" indent="-164592">
              <a:spcAft>
                <a:spcPts val="400"/>
              </a:spcAft>
              <a:buClr>
                <a:srgbClr val="F2617A"/>
              </a:buClr>
              <a:buSzPct val="100000"/>
              <a:buFont typeface="Arial"/>
              <a:buChar char="●"/>
            </a:pPr>
            <a:r>
              <a:rPr sz="1000" b="0" i="0" lang="es-CL">
                <a:solidFill>
                  <a:srgbClr val="1F2328"/>
                </a:solidFill>
                <a:latin typeface="Inter"/>
                <a:ea typeface="Inter"/>
                <a:cs typeface="Inter"/>
              </a:rPr>
              <a:t>Los mismos handlers sirven para componentes, E2E y desarrollo local.</a:t>
            </a:r>
          </a:p>
          <a:p>
            <a:pPr algn="l" marL="182880" indent="-164592">
              <a:spcAft>
                <a:spcPts val="400"/>
              </a:spcAft>
              <a:buClr>
                <a:srgbClr val="F2617A"/>
              </a:buClr>
              <a:buSzPct val="100000"/>
              <a:buFont typeface="Arial"/>
              <a:buChar char="●"/>
            </a:pPr>
            <a:r>
              <a:rPr sz="1000" b="0" i="0" lang="es-CL">
                <a:solidFill>
                  <a:srgbClr val="1F2328"/>
                </a:solidFill>
                <a:latin typeface="Inter"/>
                <a:ea typeface="Inter"/>
                <a:cs typeface="Inter"/>
              </a:rPr>
              <a:t>Se activa con </a:t>
            </a:r>
            <a:r>
              <a:rPr sz="1000" b="0" i="0" lang="es-CL">
                <a:solidFill>
                  <a:srgbClr val="A31515"/>
                </a:solidFill>
                <a:latin typeface="Consolas"/>
                <a:ea typeface="Consolas"/>
                <a:cs typeface="Consolas"/>
              </a:rPr>
              <a:t>NEXT_PUBLIC_API_MOCKING</a:t>
            </a:r>
            <a:r>
              <a:rPr sz="1000" b="0" i="0" lang="es-CL">
                <a:solidFill>
                  <a:srgbClr val="1F2328"/>
                </a:solidFill>
                <a:latin typeface="Inter"/>
                <a:ea typeface="Inter"/>
                <a:cs typeface="Inter"/>
              </a:rPr>
              <a:t>. La app no sabe que está mockeada (ARCH-R8).</a:t>
            </a:r>
          </a:p>
          <a:p>
            <a:pPr algn="l" marL="182880" indent="-164592">
              <a:spcAft>
                <a:spcPts val="400"/>
              </a:spcAft>
              <a:buClr>
                <a:srgbClr val="F2617A"/>
              </a:buClr>
              <a:buSzPct val="100000"/>
              <a:buFont typeface="Arial"/>
              <a:buChar char="●"/>
            </a:pPr>
            <a:r>
              <a:rPr sz="1000" b="0" i="0" lang="es-CL">
                <a:solidFill>
                  <a:srgbClr val="1F2328"/>
                </a:solidFill>
                <a:latin typeface="Inter"/>
                <a:ea typeface="Inter"/>
                <a:cs typeface="Inter"/>
              </a:rPr>
              <a:t>Sus respuestas se validan contra el OpenAPI (handlers.contract.test.ts).</a:t>
            </a:r>
          </a:p>
        </p:txBody>
      </p:sp>
      <p:sp>
        <p:nvSpPr>
          <p:cNvPr id="9" name="Rounded Rectangle 8"/>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0" name="TextBox 9"/>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frontend/src/mocks/handlers.ts (extracto)</a:t>
            </a:r>
          </a:p>
        </p:txBody>
      </p:sp>
      <p:sp>
        <p:nvSpPr>
          <p:cNvPr id="11" name="TextBox 10"/>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1000" b="0" i="0" lang="es-CL">
                <a:solidFill>
                  <a:srgbClr val="1F2328"/>
                </a:solidFill>
                <a:latin typeface="Consolas"/>
                <a:ea typeface="Consolas"/>
                <a:cs typeface="Consolas"/>
              </a:rPr>
              <a:t>http.post(</a:t>
            </a:r>
            <a:r>
              <a:rPr sz="1000" b="0" i="0" lang="es-CL">
                <a:solidFill>
                  <a:srgbClr val="A31515"/>
                </a:solidFill>
                <a:latin typeface="Consolas"/>
                <a:ea typeface="Consolas"/>
                <a:cs typeface="Consolas"/>
              </a:rPr>
              <a:t>'*/api/loans'</a:t>
            </a: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async</a:t>
            </a:r>
            <a:r>
              <a:rPr sz="1000" b="0" i="0" lang="es-CL">
                <a:solidFill>
                  <a:srgbClr val="1F2328"/>
                </a:solidFill>
                <a:latin typeface="Consolas"/>
                <a:ea typeface="Consolas"/>
                <a:cs typeface="Consolas"/>
              </a:rPr>
              <a:t> ({ </a:t>
            </a:r>
            <a:r>
              <a:rPr sz="1000" b="0" i="0" lang="es-CL">
                <a:solidFill>
                  <a:srgbClr val="795E26"/>
                </a:solidFill>
                <a:latin typeface="Consolas"/>
                <a:ea typeface="Consolas"/>
                <a:cs typeface="Consolas"/>
              </a:rPr>
              <a:t>request</a:t>
            </a:r>
            <a:r>
              <a:rPr sz="1000" b="0" i="0" lang="es-CL">
                <a:solidFill>
                  <a:srgbClr val="1F2328"/>
                </a:solidFill>
                <a:latin typeface="Consolas"/>
                <a:ea typeface="Consolas"/>
                <a:cs typeface="Consolas"/>
              </a:rPr>
              <a:t> }) =&gt;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08000"/>
                </a:solidFill>
                <a:latin typeface="Consolas"/>
                <a:ea typeface="Consolas"/>
                <a:cs typeface="Consolas"/>
              </a:rPr>
              <a:t>// ... valida el body: 400 VALIDATION_ERROR</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const</a:t>
            </a:r>
            <a:r>
              <a:rPr sz="1000" b="0" i="0" lang="es-CL">
                <a:solidFill>
                  <a:srgbClr val="1F2328"/>
                </a:solidFill>
                <a:latin typeface="Consolas"/>
                <a:ea typeface="Consolas"/>
                <a:cs typeface="Consolas"/>
              </a:rPr>
              <a:t> state = store.read()</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const</a:t>
            </a:r>
            <a:r>
              <a:rPr sz="1000" b="0" i="0" lang="es-CL">
                <a:solidFill>
                  <a:srgbClr val="1F2328"/>
                </a:solidFill>
                <a:latin typeface="Consolas"/>
                <a:ea typeface="Consolas"/>
                <a:cs typeface="Consolas"/>
              </a:rPr>
              <a:t> book = findBook(state, bookId)</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if</a:t>
            </a:r>
            <a:r>
              <a:rPr sz="1000" b="0" i="0" lang="es-CL">
                <a:solidFill>
                  <a:srgbClr val="1F2328"/>
                </a:solidFill>
                <a:latin typeface="Consolas"/>
                <a:ea typeface="Consolas"/>
                <a:cs typeface="Consolas"/>
              </a:rPr>
              <a:t> (!book)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return</a:t>
            </a:r>
            <a:r>
              <a:rPr sz="1000" b="0" i="0" lang="es-CL">
                <a:solidFill>
                  <a:srgbClr val="1F2328"/>
                </a:solidFill>
                <a:latin typeface="Consolas"/>
                <a:ea typeface="Consolas"/>
                <a:cs typeface="Consolas"/>
              </a:rPr>
              <a:t> problem(</a:t>
            </a:r>
            <a:r>
              <a:rPr sz="1000" b="0" i="0" lang="es-CL">
                <a:solidFill>
                  <a:srgbClr val="098658"/>
                </a:solidFill>
                <a:latin typeface="Consolas"/>
                <a:ea typeface="Consolas"/>
                <a:cs typeface="Consolas"/>
              </a:rPr>
              <a:t>404</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'BOOK_NOT_FOUND'</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'No existe el libro solicitado'</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const</a:t>
            </a:r>
            <a:r>
              <a:rPr sz="1000" b="0" i="0" lang="es-CL">
                <a:solidFill>
                  <a:srgbClr val="1F2328"/>
                </a:solidFill>
                <a:latin typeface="Consolas"/>
                <a:ea typeface="Consolas"/>
                <a:cs typeface="Consolas"/>
              </a:rPr>
              <a:t> notReturned = state.loans.filter((l) =&gt;</a:t>
            </a:r>
          </a:p>
          <a:p>
            <a:pPr marL="0" indent="0">
              <a:lnSpc>
                <a:spcPct val="100000"/>
              </a:lnSpc>
              <a:spcAft>
                <a:spcPts val="0"/>
              </a:spcAft>
              <a:buNone/>
            </a:pPr>
            <a:r>
              <a:rPr sz="1000" b="0" i="0" lang="es-CL">
                <a:solidFill>
                  <a:srgbClr val="1F2328"/>
                </a:solidFill>
                <a:latin typeface="Consolas"/>
                <a:ea typeface="Consolas"/>
                <a:cs typeface="Consolas"/>
              </a:rPr>
              <a:t>    l.borrowerEmail === email &amp;&amp; l.returnedAt === </a:t>
            </a:r>
            <a:r>
              <a:rPr sz="1000" b="0" i="0" lang="es-CL">
                <a:solidFill>
                  <a:srgbClr val="0000FF"/>
                </a:solidFill>
                <a:latin typeface="Consolas"/>
                <a:ea typeface="Consolas"/>
                <a:cs typeface="Consolas"/>
              </a:rPr>
              <a:t>null</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if</a:t>
            </a:r>
            <a:r>
              <a:rPr sz="1000" b="0" i="0" lang="es-CL">
                <a:solidFill>
                  <a:srgbClr val="1F2328"/>
                </a:solidFill>
                <a:latin typeface="Consolas"/>
                <a:ea typeface="Consolas"/>
                <a:cs typeface="Consolas"/>
              </a:rPr>
              <a:t> (notReturned.some((l) =&gt; l.bookId === bookId))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return</a:t>
            </a:r>
            <a:r>
              <a:rPr sz="1000" b="0" i="0" lang="es-CL">
                <a:solidFill>
                  <a:srgbClr val="1F2328"/>
                </a:solidFill>
                <a:latin typeface="Consolas"/>
                <a:ea typeface="Consolas"/>
                <a:cs typeface="Consolas"/>
              </a:rPr>
              <a:t> problem(</a:t>
            </a:r>
            <a:r>
              <a:rPr sz="1000" b="0" i="0" lang="es-CL">
                <a:solidFill>
                  <a:srgbClr val="098658"/>
                </a:solidFill>
                <a:latin typeface="Consolas"/>
                <a:ea typeface="Consolas"/>
                <a:cs typeface="Consolas"/>
              </a:rPr>
              <a:t>409</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'DUPLICATE_LOAN'</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`${email} ya tiene prestado este libro`</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if</a:t>
            </a:r>
            <a:r>
              <a:rPr sz="1000" b="0" i="0" lang="es-CL">
                <a:solidFill>
                  <a:srgbClr val="1F2328"/>
                </a:solidFill>
                <a:latin typeface="Consolas"/>
                <a:ea typeface="Consolas"/>
                <a:cs typeface="Consolas"/>
              </a:rPr>
              <a:t> (notReturned.length &gt;= MAX_ACTIVE_LOANS)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return</a:t>
            </a:r>
            <a:r>
              <a:rPr sz="1000" b="0" i="0" lang="es-CL">
                <a:solidFill>
                  <a:srgbClr val="1F2328"/>
                </a:solidFill>
                <a:latin typeface="Consolas"/>
                <a:ea typeface="Consolas"/>
                <a:cs typeface="Consolas"/>
              </a:rPr>
              <a:t> problem(</a:t>
            </a:r>
            <a:r>
              <a:rPr sz="1000" b="0" i="0" lang="es-CL">
                <a:solidFill>
                  <a:srgbClr val="098658"/>
                </a:solidFill>
                <a:latin typeface="Consolas"/>
                <a:ea typeface="Consolas"/>
                <a:cs typeface="Consolas"/>
              </a:rPr>
              <a:t>409</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'LOAN_LIMIT_REACHED'</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`${email} ya tiene 3 préstamos activos`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08000"/>
                </a:solidFill>
                <a:latin typeface="Consolas"/>
                <a:ea typeface="Consolas"/>
                <a:cs typeface="Consolas"/>
              </a:rPr>
              <a:t>// ... NO_COPIES_AVAILABLE y 201 con el reloj fijo</a:t>
            </a:r>
          </a:p>
          <a:p>
            <a:pPr marL="0" indent="0">
              <a:lnSpc>
                <a:spcPct val="100000"/>
              </a:lnSpc>
              <a:spcAft>
                <a:spcPts val="0"/>
              </a:spcAft>
              <a:buNone/>
            </a:pPr>
            <a:r>
              <a:rPr sz="1000" b="0" i="0" lang="es-CL">
                <a:solidFill>
                  <a:srgbClr val="1F2328"/>
                </a:solidFill>
                <a:latin typeface="Consolas"/>
                <a:ea typeface="Consolas"/>
                <a:cs typeface="Consolas"/>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Componentes con Vitest, Testing Library y MSW</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Renderiza un componente en jsdom y lo usa como persona: escribe, hace clic, lee lo que aparece.</a:t>
            </a:r>
          </a:p>
        </p:txBody>
      </p:sp>
      <p:sp>
        <p:nvSpPr>
          <p:cNvPr id="6" name="Rounded Rectangle 5"/>
          <p:cNvSpPr/>
          <p:nvPr/>
        </p:nvSpPr>
        <p:spPr>
          <a:xfrm>
            <a:off x="411480" y="1783080"/>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755648"/>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Estados de UI incorrectos: errores mal mostrados, botones habilitados de más.</a:t>
            </a:r>
          </a:p>
        </p:txBody>
      </p:sp>
      <p:sp>
        <p:nvSpPr>
          <p:cNvPr id="8" name="Rounded Rectangle 7"/>
          <p:cNvSpPr/>
          <p:nvPr/>
        </p:nvSpPr>
        <p:spPr>
          <a:xfrm>
            <a:off x="411480" y="2459735"/>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432303"/>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Vitest, Testing Library, user-event y MSW en Node.</a:t>
            </a:r>
          </a:p>
        </p:txBody>
      </p:sp>
      <p:sp>
        <p:nvSpPr>
          <p:cNvPr id="10" name="Rounded Rectangle 9"/>
          <p:cNvSpPr/>
          <p:nvPr/>
        </p:nvSpPr>
        <p:spPr>
          <a:xfrm>
            <a:off x="411480" y="2971799"/>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2944368"/>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5 · unit del frontend. Segundos, sin navegador.</a:t>
            </a:r>
          </a:p>
        </p:txBody>
      </p:sp>
      <p:sp>
        <p:nvSpPr>
          <p:cNvPr id="12" name="Rounded Rectangle 11"/>
          <p:cNvSpPr/>
          <p:nvPr/>
        </p:nvSpPr>
        <p:spPr>
          <a:xfrm>
            <a:off x="411480" y="3483863"/>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456432"/>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Estrategia de testing frontend, p. 187.</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frontend/src/features/loans/components/BorrowForm.test.tsx</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850" b="0" i="0" lang="es-CL">
                <a:solidFill>
                  <a:srgbClr val="1F2328"/>
                </a:solidFill>
                <a:latin typeface="Consolas"/>
                <a:ea typeface="Consolas"/>
                <a:cs typeface="Consolas"/>
              </a:rPr>
              <a:t>/** server.use() reemplaza el handler solo en este </a:t>
            </a:r>
            <a:r>
              <a:rPr sz="850" b="0" i="0" lang="es-CL">
                <a:solidFill>
                  <a:srgbClr val="795E26"/>
                </a:solidFill>
                <a:latin typeface="Consolas"/>
                <a:ea typeface="Consolas"/>
                <a:cs typeface="Consolas"/>
              </a:rPr>
              <a:t>test</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  así forzamos cada </a:t>
            </a:r>
            <a:r>
              <a:rPr sz="850" b="0" i="0" lang="es-CL">
                <a:solidFill>
                  <a:srgbClr val="098658"/>
                </a:solidFill>
                <a:latin typeface="Consolas"/>
                <a:ea typeface="Consolas"/>
                <a:cs typeface="Consolas"/>
              </a:rPr>
              <a:t>409</a:t>
            </a:r>
            <a:r>
              <a:rPr sz="850" b="0" i="0" lang="es-CL">
                <a:solidFill>
                  <a:srgbClr val="1F2328"/>
                </a:solidFill>
                <a:latin typeface="Consolas"/>
                <a:ea typeface="Consolas"/>
                <a:cs typeface="Consolas"/>
              </a:rPr>
              <a:t> del contrato. */</a:t>
            </a:r>
          </a:p>
          <a:p>
            <a:pPr marL="0" indent="0">
              <a:lnSpc>
                <a:spcPct val="100000"/>
              </a:lnSpc>
              <a:spcAft>
                <a:spcPts val="0"/>
              </a:spcAft>
              <a:buNone/>
            </a:pPr>
            <a:r>
              <a:rPr sz="850" b="0" i="0" lang="es-CL">
                <a:solidFill>
                  <a:srgbClr val="0000FF"/>
                </a:solidFill>
                <a:latin typeface="Consolas"/>
                <a:ea typeface="Consolas"/>
                <a:cs typeface="Consolas"/>
              </a:rPr>
              <a:t>function</a:t>
            </a:r>
            <a:r>
              <a:rPr sz="850" b="0" i="0" lang="es-CL">
                <a:solidFill>
                  <a:srgbClr val="1F2328"/>
                </a:solidFill>
                <a:latin typeface="Consolas"/>
                <a:ea typeface="Consolas"/>
                <a:cs typeface="Consolas"/>
              </a:rPr>
              <a:t> respondWithConflict(code: string) {</a:t>
            </a:r>
          </a:p>
          <a:p>
            <a:pPr marL="0" indent="0">
              <a:lnSpc>
                <a:spcPct val="100000"/>
              </a:lnSpc>
              <a:spcAft>
                <a:spcPts val="0"/>
              </a:spcAft>
              <a:buNone/>
            </a:pPr>
            <a:r>
              <a:rPr sz="850" b="0" i="0" lang="es-CL">
                <a:solidFill>
                  <a:srgbClr val="1F2328"/>
                </a:solidFill>
                <a:latin typeface="Consolas"/>
                <a:ea typeface="Consolas"/>
                <a:cs typeface="Consolas"/>
              </a:rPr>
              <a:t>  server.use(</a:t>
            </a:r>
          </a:p>
          <a:p>
            <a:pPr marL="0" indent="0">
              <a:lnSpc>
                <a:spcPct val="100000"/>
              </a:lnSpc>
              <a:spcAft>
                <a:spcPts val="0"/>
              </a:spcAft>
              <a:buNone/>
            </a:pPr>
            <a:r>
              <a:rPr sz="850" b="0" i="0" lang="es-CL">
                <a:solidFill>
                  <a:srgbClr val="1F2328"/>
                </a:solidFill>
                <a:latin typeface="Consolas"/>
                <a:ea typeface="Consolas"/>
                <a:cs typeface="Consolas"/>
              </a:rPr>
              <a:t>    http.post(</a:t>
            </a:r>
            <a:r>
              <a:rPr sz="850" b="0" i="0" lang="es-CL">
                <a:solidFill>
                  <a:srgbClr val="A31515"/>
                </a:solidFill>
                <a:latin typeface="Consolas"/>
                <a:ea typeface="Consolas"/>
                <a:cs typeface="Consolas"/>
              </a:rPr>
              <a:t>'*/api/loans'</a:t>
            </a:r>
            <a:r>
              <a:rPr sz="850" b="0" i="0" lang="es-CL">
                <a:solidFill>
                  <a:srgbClr val="1F2328"/>
                </a:solidFill>
                <a:latin typeface="Consolas"/>
                <a:ea typeface="Consolas"/>
                <a:cs typeface="Consolas"/>
              </a:rPr>
              <a:t>, () =&gt;</a:t>
            </a:r>
          </a:p>
          <a:p>
            <a:pPr marL="0" indent="0">
              <a:lnSpc>
                <a:spcPct val="100000"/>
              </a:lnSpc>
              <a:spcAft>
                <a:spcPts val="0"/>
              </a:spcAft>
              <a:buNone/>
            </a:pPr>
            <a:r>
              <a:rPr sz="850" b="0" i="0" lang="es-CL">
                <a:solidFill>
                  <a:srgbClr val="1F2328"/>
                </a:solidFill>
                <a:latin typeface="Consolas"/>
                <a:ea typeface="Consolas"/>
                <a:cs typeface="Consolas"/>
              </a:rPr>
              <a:t>      HttpResponse.json(</a:t>
            </a:r>
          </a:p>
          <a:p>
            <a:pPr marL="0" indent="0">
              <a:lnSpc>
                <a:spcPct val="100000"/>
              </a:lnSpc>
              <a:spcAft>
                <a:spcPts val="0"/>
              </a:spcAft>
              <a:buNone/>
            </a:pPr>
            <a:r>
              <a:rPr sz="850" b="0" i="0" lang="es-CL">
                <a:solidFill>
                  <a:srgbClr val="1F2328"/>
                </a:solidFill>
                <a:latin typeface="Consolas"/>
                <a:ea typeface="Consolas"/>
                <a:cs typeface="Consolas"/>
              </a:rPr>
              <a:t>        { </a:t>
            </a:r>
            <a:r>
              <a:rPr sz="850" b="0" i="0" lang="es-CL">
                <a:solidFill>
                  <a:srgbClr val="0000FF"/>
                </a:solidFill>
                <a:latin typeface="Consolas"/>
                <a:ea typeface="Consolas"/>
                <a:cs typeface="Consolas"/>
              </a:rPr>
              <a:t>type</a:t>
            </a:r>
            <a:r>
              <a:rPr sz="850" b="0" i="0" lang="es-CL">
                <a:solidFill>
                  <a:srgbClr val="1F2328"/>
                </a:solidFill>
                <a:latin typeface="Consolas"/>
                <a:ea typeface="Consolas"/>
                <a:cs typeface="Consolas"/>
              </a:rPr>
              <a:t>: </a:t>
            </a:r>
            <a:r>
              <a:rPr sz="850" b="0" i="0" lang="es-CL">
                <a:solidFill>
                  <a:srgbClr val="A31515"/>
                </a:solidFill>
                <a:latin typeface="Consolas"/>
                <a:ea typeface="Consolas"/>
                <a:cs typeface="Consolas"/>
              </a:rPr>
              <a:t>'about:blank'</a:t>
            </a:r>
            <a:r>
              <a:rPr sz="850" b="0" i="0" lang="es-CL">
                <a:solidFill>
                  <a:srgbClr val="1F2328"/>
                </a:solidFill>
                <a:latin typeface="Consolas"/>
                <a:ea typeface="Consolas"/>
                <a:cs typeface="Consolas"/>
              </a:rPr>
              <a:t>, title: </a:t>
            </a:r>
            <a:r>
              <a:rPr sz="850" b="0" i="0" lang="es-CL">
                <a:solidFill>
                  <a:srgbClr val="A31515"/>
                </a:solidFill>
                <a:latin typeface="Consolas"/>
                <a:ea typeface="Consolas"/>
                <a:cs typeface="Consolas"/>
              </a:rPr>
              <a:t>'Conflict'</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status: </a:t>
            </a:r>
            <a:r>
              <a:rPr sz="850" b="0" i="0" lang="es-CL">
                <a:solidFill>
                  <a:srgbClr val="098658"/>
                </a:solidFill>
                <a:latin typeface="Consolas"/>
                <a:ea typeface="Consolas"/>
                <a:cs typeface="Consolas"/>
              </a:rPr>
              <a:t>409</a:t>
            </a:r>
            <a:r>
              <a:rPr sz="850" b="0" i="0" lang="es-CL">
                <a:solidFill>
                  <a:srgbClr val="1F2328"/>
                </a:solidFill>
                <a:latin typeface="Consolas"/>
                <a:ea typeface="Consolas"/>
                <a:cs typeface="Consolas"/>
              </a:rPr>
              <a:t>, code, detail: code },</a:t>
            </a:r>
          </a:p>
          <a:p>
            <a:pPr marL="0" indent="0">
              <a:lnSpc>
                <a:spcPct val="100000"/>
              </a:lnSpc>
              <a:spcAft>
                <a:spcPts val="0"/>
              </a:spcAft>
              <a:buNone/>
            </a:pPr>
            <a:r>
              <a:rPr sz="850" b="0" i="0" lang="es-CL">
                <a:solidFill>
                  <a:srgbClr val="1F2328"/>
                </a:solidFill>
                <a:latin typeface="Consolas"/>
                <a:ea typeface="Consolas"/>
                <a:cs typeface="Consolas"/>
              </a:rPr>
              <a:t>        { status: </a:t>
            </a:r>
            <a:r>
              <a:rPr sz="850" b="0" i="0" lang="es-CL">
                <a:solidFill>
                  <a:srgbClr val="098658"/>
                </a:solidFill>
                <a:latin typeface="Consolas"/>
                <a:ea typeface="Consolas"/>
                <a:cs typeface="Consolas"/>
              </a:rPr>
              <a:t>409</a:t>
            </a:r>
            <a:r>
              <a:rPr sz="850" b="0" i="0" lang="es-CL">
                <a:solidFill>
                  <a:srgbClr val="1F2328"/>
                </a:solidFill>
                <a:latin typeface="Consolas"/>
                <a:ea typeface="Consolas"/>
                <a:cs typeface="Consolas"/>
              </a:rPr>
              <a:t>, headers:</a:t>
            </a:r>
          </a:p>
          <a:p>
            <a:pPr marL="0" indent="0">
              <a:lnSpc>
                <a:spcPct val="100000"/>
              </a:lnSpc>
              <a:spcAft>
                <a:spcPts val="0"/>
              </a:spcAft>
              <a:buNone/>
            </a:pPr>
            <a:r>
              <a:rPr sz="850" b="0" i="0" lang="es-CL">
                <a:solidFill>
                  <a:srgbClr val="1F2328"/>
                </a:solidFill>
                <a:latin typeface="Consolas"/>
                <a:ea typeface="Consolas"/>
                <a:cs typeface="Consolas"/>
              </a:rPr>
              <a:t>          { </a:t>
            </a:r>
            <a:r>
              <a:rPr sz="850" b="0" i="0" lang="es-CL">
                <a:solidFill>
                  <a:srgbClr val="A31515"/>
                </a:solidFill>
                <a:latin typeface="Consolas"/>
                <a:ea typeface="Consolas"/>
                <a:cs typeface="Consolas"/>
              </a:rPr>
              <a:t>'Content-Type'</a:t>
            </a:r>
            <a:r>
              <a:rPr sz="850" b="0" i="0" lang="es-CL">
                <a:solidFill>
                  <a:srgbClr val="1F2328"/>
                </a:solidFill>
                <a:latin typeface="Consolas"/>
                <a:ea typeface="Consolas"/>
                <a:cs typeface="Consolas"/>
              </a:rPr>
              <a:t>: </a:t>
            </a:r>
            <a:r>
              <a:rPr sz="850" b="0" i="0" lang="es-CL">
                <a:solidFill>
                  <a:srgbClr val="A31515"/>
                </a:solidFill>
                <a:latin typeface="Consolas"/>
                <a:ea typeface="Consolas"/>
                <a:cs typeface="Consolas"/>
              </a:rPr>
              <a:t>'application/problem+json'</a:t>
            </a:r>
            <a:r>
              <a:rPr sz="850" b="0" i="0" lang="es-CL">
                <a:solidFill>
                  <a:srgbClr val="1F2328"/>
                </a:solidFill>
                <a:latin typeface="Consolas"/>
                <a:ea typeface="Consolas"/>
                <a:cs typeface="Consolas"/>
              </a:rPr>
              <a:t> } },</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795E26"/>
                </a:solidFill>
                <a:latin typeface="Consolas"/>
                <a:ea typeface="Consolas"/>
                <a:cs typeface="Consolas"/>
              </a:rPr>
              <a:t>it</a:t>
            </a:r>
            <a:r>
              <a:rPr sz="850" b="0" i="0" lang="es-CL">
                <a:solidFill>
                  <a:srgbClr val="1F2328"/>
                </a:solidFill>
                <a:latin typeface="Consolas"/>
                <a:ea typeface="Consolas"/>
                <a:cs typeface="Consolas"/>
              </a:rPr>
              <a:t>(</a:t>
            </a:r>
            <a:r>
              <a:rPr sz="850" b="0" i="0" lang="es-CL">
                <a:solidFill>
                  <a:srgbClr val="A31515"/>
                </a:solidFill>
                <a:latin typeface="Consolas"/>
                <a:ea typeface="Consolas"/>
                <a:cs typeface="Consolas"/>
              </a:rPr>
              <a:t>'</a:t>
            </a:r>
            <a:r>
              <a:rPr sz="850" b="1" i="0" lang="es-CL">
                <a:solidFill>
                  <a:srgbClr val="9900FF"/>
                </a:solidFill>
                <a:latin typeface="Consolas"/>
                <a:ea typeface="Consolas"/>
                <a:cs typeface="Consolas"/>
              </a:rPr>
              <a:t>[UI-LOAN-4]</a:t>
            </a:r>
            <a:r>
              <a:rPr sz="850" b="0" i="0" lang="es-CL">
                <a:solidFill>
                  <a:srgbClr val="A31515"/>
                </a:solidFill>
                <a:latin typeface="Consolas"/>
                <a:ea typeface="Consolas"/>
                <a:cs typeface="Consolas"/>
              </a:rPr>
              <a:t> LOAN_LIMIT_REACHED muestra "Alcanzaste..."'</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0000FF"/>
                </a:solidFill>
                <a:latin typeface="Consolas"/>
                <a:ea typeface="Consolas"/>
                <a:cs typeface="Consolas"/>
              </a:rPr>
              <a:t>async</a:t>
            </a:r>
            <a:r>
              <a:rPr sz="850" b="0" i="0" lang="es-CL">
                <a:solidFill>
                  <a:srgbClr val="1F2328"/>
                </a:solidFill>
                <a:latin typeface="Consolas"/>
                <a:ea typeface="Consolas"/>
                <a:cs typeface="Consolas"/>
              </a:rPr>
              <a:t> () =&gt; {</a:t>
            </a:r>
          </a:p>
          <a:p>
            <a:pPr marL="0" indent="0">
              <a:lnSpc>
                <a:spcPct val="100000"/>
              </a:lnSpc>
              <a:spcAft>
                <a:spcPts val="0"/>
              </a:spcAft>
              <a:buNone/>
            </a:pPr>
            <a:r>
              <a:rPr sz="850" b="0" i="0" lang="es-CL">
                <a:solidFill>
                  <a:srgbClr val="1F2328"/>
                </a:solidFill>
                <a:latin typeface="Consolas"/>
                <a:ea typeface="Consolas"/>
                <a:cs typeface="Consolas"/>
              </a:rPr>
              <a:t>    respondWithConflict(</a:t>
            </a:r>
            <a:r>
              <a:rPr sz="850" b="0" i="0" lang="es-CL">
                <a:solidFill>
                  <a:srgbClr val="A31515"/>
                </a:solidFill>
                <a:latin typeface="Consolas"/>
                <a:ea typeface="Consolas"/>
                <a:cs typeface="Consolas"/>
              </a:rPr>
              <a:t>'LOAN_LIMIT_REACHED'</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AF00DB"/>
                </a:solidFill>
                <a:latin typeface="Consolas"/>
                <a:ea typeface="Consolas"/>
                <a:cs typeface="Consolas"/>
              </a:rPr>
              <a:t>await</a:t>
            </a:r>
            <a:r>
              <a:rPr sz="850" b="0" i="0" lang="es-CL">
                <a:solidFill>
                  <a:srgbClr val="1F2328"/>
                </a:solidFill>
                <a:latin typeface="Consolas"/>
                <a:ea typeface="Consolas"/>
                <a:cs typeface="Consolas"/>
              </a:rPr>
              <a:t> borrow() </a:t>
            </a:r>
            <a:r>
              <a:rPr sz="850" b="0" i="0" lang="es-CL">
                <a:solidFill>
                  <a:srgbClr val="008000"/>
                </a:solidFill>
                <a:latin typeface="Consolas"/>
                <a:ea typeface="Consolas"/>
                <a:cs typeface="Consolas"/>
              </a:rPr>
              <a:t>// escribe el correo y hace clic</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795E26"/>
                </a:solidFill>
                <a:latin typeface="Consolas"/>
                <a:ea typeface="Consolas"/>
                <a:cs typeface="Consolas"/>
              </a:rPr>
              <a:t>expect</a:t>
            </a:r>
            <a:r>
              <a:rPr sz="850" b="0" i="0" lang="es-CL">
                <a:solidFill>
                  <a:srgbClr val="1F2328"/>
                </a:solidFill>
                <a:latin typeface="Consolas"/>
                <a:ea typeface="Consolas"/>
                <a:cs typeface="Consolas"/>
              </a:rPr>
              <a:t>(</a:t>
            </a:r>
            <a:r>
              <a:rPr sz="850" b="0" i="0" lang="es-CL">
                <a:solidFill>
                  <a:srgbClr val="AF00DB"/>
                </a:solidFill>
                <a:latin typeface="Consolas"/>
                <a:ea typeface="Consolas"/>
                <a:cs typeface="Consolas"/>
              </a:rPr>
              <a:t>await</a:t>
            </a:r>
            <a:r>
              <a:rPr sz="850" b="0" i="0" lang="es-CL">
                <a:solidFill>
                  <a:srgbClr val="1F2328"/>
                </a:solidFill>
                <a:latin typeface="Consolas"/>
                <a:ea typeface="Consolas"/>
                <a:cs typeface="Consolas"/>
              </a:rPr>
              <a:t> screen.findByRole(</a:t>
            </a:r>
            <a:r>
              <a:rPr sz="850" b="0" i="0" lang="es-CL">
                <a:solidFill>
                  <a:srgbClr val="A31515"/>
                </a:solidFill>
                <a:latin typeface="Consolas"/>
                <a:ea typeface="Consolas"/>
                <a:cs typeface="Consolas"/>
              </a:rPr>
              <a:t>'alert'</a:t>
            </a:r>
            <a:r>
              <a:rPr sz="850" b="0" i="0" lang="es-CL">
                <a:solidFill>
                  <a:srgbClr val="1F2328"/>
                </a:solidFill>
                <a:latin typeface="Consolas"/>
                <a:ea typeface="Consolas"/>
                <a:cs typeface="Consolas"/>
              </a:rPr>
              <a:t>)).toHaveTextContent(</a:t>
            </a:r>
          </a:p>
          <a:p>
            <a:pPr marL="0" indent="0">
              <a:lnSpc>
                <a:spcPct val="100000"/>
              </a:lnSpc>
              <a:spcAft>
                <a:spcPts val="0"/>
              </a:spcAft>
              <a:buNone/>
            </a:pPr>
            <a:r>
              <a:rPr sz="850" b="0" i="0" lang="es-CL">
                <a:solidFill>
                  <a:srgbClr val="1F2328"/>
                </a:solidFill>
                <a:latin typeface="Consolas"/>
                <a:ea typeface="Consolas"/>
                <a:cs typeface="Consolas"/>
              </a:rPr>
              <a:t>      </a:t>
            </a:r>
            <a:r>
              <a:rPr sz="850" b="0" i="0" lang="es-CL">
                <a:solidFill>
                  <a:srgbClr val="A31515"/>
                </a:solidFill>
                <a:latin typeface="Consolas"/>
                <a:ea typeface="Consolas"/>
                <a:cs typeface="Consolas"/>
              </a:rPr>
              <a:t>'Alcanzaste el máximo de 3 préstamos activos'</a:t>
            </a:r>
            <a:r>
              <a:rPr sz="850" b="0" i="0" lang="es-CL">
                <a:solidFill>
                  <a:srgbClr val="1F2328"/>
                </a:solidFill>
                <a:latin typeface="Consolas"/>
                <a:ea typeface="Consolas"/>
                <a:cs typeface="Consolas"/>
              </a:rPr>
              <a:t>,</a:t>
            </a:r>
          </a:p>
          <a:p>
            <a:pPr marL="0" indent="0">
              <a:lnSpc>
                <a:spcPct val="100000"/>
              </a:lnSpc>
              <a:spcAft>
                <a:spcPts val="0"/>
              </a:spcAft>
              <a:buNone/>
            </a:pPr>
            <a:r>
              <a:rPr sz="850" b="0" i="0" lang="es-CL">
                <a:solidFill>
                  <a:srgbClr val="1F2328"/>
                </a:solidFill>
                <a:latin typeface="Consolas"/>
                <a:ea typeface="Consolas"/>
                <a:cs typeface="Consolas"/>
              </a:rPr>
              <a:t>    )</a:t>
            </a:r>
          </a:p>
          <a:p>
            <a:pPr marL="0" indent="0">
              <a:lnSpc>
                <a:spcPct val="100000"/>
              </a:lnSpc>
              <a:spcAft>
                <a:spcPts val="0"/>
              </a:spcAft>
              <a:buNone/>
            </a:pPr>
            <a:r>
              <a:rPr sz="850" b="0" i="0" lang="es-CL">
                <a:solidFill>
                  <a:srgbClr val="1F2328"/>
                </a:solidFill>
                <a:latin typeface="Consolas"/>
                <a:ea typeface="Consolas"/>
                <a:cs typeface="Consolas"/>
              </a:rPr>
              <a:t>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E2E de flujos con Playwright</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Un navegador real recorre el flujo completo del usuario, escrito en Gherkin.</a:t>
            </a:r>
          </a:p>
        </p:txBody>
      </p:sp>
      <p:sp>
        <p:nvSpPr>
          <p:cNvPr id="6" name="Rounded Rectangle 5"/>
          <p:cNvSpPr/>
          <p:nvPr/>
        </p:nvSpPr>
        <p:spPr>
          <a:xfrm>
            <a:off x="411480" y="1783080"/>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755648"/>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Integración entre páginas, rutas y estado: lo que unit y componentes no ven.</a:t>
            </a:r>
          </a:p>
        </p:txBody>
      </p:sp>
      <p:sp>
        <p:nvSpPr>
          <p:cNvPr id="8" name="Rounded Rectangle 7"/>
          <p:cNvSpPr/>
          <p:nvPr/>
        </p:nvSpPr>
        <p:spPr>
          <a:xfrm>
            <a:off x="411480" y="2459735"/>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432303"/>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Playwright con playwright-bdd. Contra Next y MSW, sin backend.</a:t>
            </a:r>
          </a:p>
        </p:txBody>
      </p:sp>
      <p:sp>
        <p:nvSpPr>
          <p:cNvPr id="10" name="Rounded Rectangle 9"/>
          <p:cNvSpPr/>
          <p:nvPr/>
        </p:nvSpPr>
        <p:spPr>
          <a:xfrm>
            <a:off x="411480" y="2971799"/>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2944368"/>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7 con mock server. Los @smoke también en etapa 9 contra el stack real.</a:t>
            </a:r>
          </a:p>
        </p:txBody>
      </p:sp>
      <p:sp>
        <p:nvSpPr>
          <p:cNvPr id="12" name="Rounded Rectangle 11"/>
          <p:cNvSpPr/>
          <p:nvPr/>
        </p:nvSpPr>
        <p:spPr>
          <a:xfrm>
            <a:off x="411480" y="3648455"/>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621023"/>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UI tests y Playwright, p. 71 y 83 a 95.</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frontend/playwright.config.ts (extracto)</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900" b="0" i="0" lang="es-CL">
                <a:solidFill>
                  <a:srgbClr val="008000"/>
                </a:solidFill>
                <a:latin typeface="Consolas"/>
                <a:ea typeface="Consolas"/>
                <a:cs typeface="Consolas"/>
              </a:rPr>
              <a:t>// Los flujos de specs/flows/*.feature se convierten en</a:t>
            </a:r>
          </a:p>
          <a:p>
            <a:pPr marL="0" indent="0">
              <a:lnSpc>
                <a:spcPct val="100000"/>
              </a:lnSpc>
              <a:spcAft>
                <a:spcPts val="0"/>
              </a:spcAft>
              <a:buNone/>
            </a:pPr>
            <a:r>
              <a:rPr sz="900" b="0" i="0" lang="es-CL">
                <a:solidFill>
                  <a:srgbClr val="008000"/>
                </a:solidFill>
                <a:latin typeface="Consolas"/>
                <a:ea typeface="Consolas"/>
                <a:cs typeface="Consolas"/>
              </a:rPr>
              <a:t>// tests (npx bddgen): la spec ES el test.</a:t>
            </a:r>
          </a:p>
          <a:p>
            <a:pPr marL="0" indent="0">
              <a:lnSpc>
                <a:spcPct val="100000"/>
              </a:lnSpc>
              <a:spcAft>
                <a:spcPts val="0"/>
              </a:spcAft>
              <a:buNone/>
            </a:pPr>
            <a:r>
              <a:rPr sz="900" b="0" i="0" lang="es-CL">
                <a:solidFill>
                  <a:srgbClr val="0000FF"/>
                </a:solidFill>
                <a:latin typeface="Consolas"/>
                <a:ea typeface="Consolas"/>
                <a:cs typeface="Consolas"/>
              </a:rPr>
              <a:t>const</a:t>
            </a:r>
            <a:r>
              <a:rPr sz="900" b="0" i="0" lang="es-CL">
                <a:solidFill>
                  <a:srgbClr val="1F2328"/>
                </a:solidFill>
                <a:latin typeface="Consolas"/>
                <a:ea typeface="Consolas"/>
                <a:cs typeface="Consolas"/>
              </a:rPr>
              <a:t> flowsDir = defineBddConfig({</a:t>
            </a:r>
          </a:p>
          <a:p>
            <a:pPr marL="0" indent="0">
              <a:lnSpc>
                <a:spcPct val="100000"/>
              </a:lnSpc>
              <a:spcAft>
                <a:spcPts val="0"/>
              </a:spcAft>
              <a:buNone/>
            </a:pPr>
            <a:r>
              <a:rPr sz="900" b="0" i="0" lang="es-CL">
                <a:solidFill>
                  <a:srgbClr val="1F2328"/>
                </a:solidFill>
                <a:latin typeface="Consolas"/>
                <a:ea typeface="Consolas"/>
                <a:cs typeface="Consolas"/>
              </a:rPr>
              <a:t>  features: </a:t>
            </a:r>
            <a:r>
              <a:rPr sz="900" b="0" i="0" lang="es-CL">
                <a:solidFill>
                  <a:srgbClr val="A31515"/>
                </a:solidFill>
                <a:latin typeface="Consolas"/>
                <a:ea typeface="Consolas"/>
                <a:cs typeface="Consolas"/>
              </a:rPr>
              <a:t>'../specs/flows/*.feature'</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steps: [</a:t>
            </a:r>
            <a:r>
              <a:rPr sz="900" b="0" i="0" lang="es-CL">
                <a:solidFill>
                  <a:srgbClr val="A31515"/>
                </a:solidFill>
                <a:latin typeface="Consolas"/>
                <a:ea typeface="Consolas"/>
                <a:cs typeface="Consolas"/>
              </a:rPr>
              <a:t>'tests/e2e/fixtures.ts'</a:t>
            </a:r>
            <a:r>
              <a:rPr sz="900" b="0" i="0" lang="es-CL">
                <a:solidFill>
                  <a:srgbClr val="1F2328"/>
                </a:solidFill>
                <a:latin typeface="Consolas"/>
                <a:ea typeface="Consolas"/>
                <a:cs typeface="Consolas"/>
              </a:rPr>
              <a:t>, </a:t>
            </a:r>
            <a:r>
              <a:rPr sz="900" b="0" i="0" lang="es-CL">
                <a:solidFill>
                  <a:srgbClr val="A31515"/>
                </a:solidFill>
                <a:latin typeface="Consolas"/>
                <a:ea typeface="Consolas"/>
                <a:cs typeface="Consolas"/>
              </a:rPr>
              <a:t>'tests/e2e/steps/*.ts'</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language: </a:t>
            </a:r>
            <a:r>
              <a:rPr sz="900" b="0" i="0" lang="es-CL">
                <a:solidFill>
                  <a:srgbClr val="A31515"/>
                </a:solidFill>
                <a:latin typeface="Consolas"/>
                <a:ea typeface="Consolas"/>
                <a:cs typeface="Consolas"/>
              </a:rPr>
              <a:t>'es'</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missingSteps: </a:t>
            </a:r>
            <a:r>
              <a:rPr sz="900" b="0" i="0" lang="es-CL">
                <a:solidFill>
                  <a:srgbClr val="A31515"/>
                </a:solidFill>
                <a:latin typeface="Consolas"/>
                <a:ea typeface="Consolas"/>
                <a:cs typeface="Consolas"/>
              </a:rPr>
              <a:t>'fail-on-gen'</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AF00DB"/>
                </a:solidFill>
                <a:latin typeface="Consolas"/>
                <a:ea typeface="Consolas"/>
                <a:cs typeface="Consolas"/>
              </a:rPr>
              <a:t>export</a:t>
            </a:r>
            <a:r>
              <a:rPr sz="900" b="0" i="0" lang="es-CL">
                <a:solidFill>
                  <a:srgbClr val="1F2328"/>
                </a:solidFill>
                <a:latin typeface="Consolas"/>
                <a:ea typeface="Consolas"/>
                <a:cs typeface="Consolas"/>
              </a:rPr>
              <a:t> </a:t>
            </a:r>
            <a:r>
              <a:rPr sz="900" b="0" i="0" lang="es-CL">
                <a:solidFill>
                  <a:srgbClr val="AF00DB"/>
                </a:solidFill>
                <a:latin typeface="Consolas"/>
                <a:ea typeface="Consolas"/>
                <a:cs typeface="Consolas"/>
              </a:rPr>
              <a:t>default</a:t>
            </a:r>
            <a:r>
              <a:rPr sz="900" b="0" i="0" lang="es-CL">
                <a:solidFill>
                  <a:srgbClr val="1F2328"/>
                </a:solidFill>
                <a:latin typeface="Consolas"/>
                <a:ea typeface="Consolas"/>
                <a:cs typeface="Consolas"/>
              </a:rPr>
              <a:t> defineConfig({</a:t>
            </a:r>
          </a:p>
          <a:p>
            <a:pPr marL="0" indent="0">
              <a:lnSpc>
                <a:spcPct val="100000"/>
              </a:lnSpc>
              <a:spcAft>
                <a:spcPts val="0"/>
              </a:spcAft>
              <a:buNone/>
            </a:pPr>
            <a:r>
              <a:rPr sz="900" b="0" i="0" lang="es-CL">
                <a:solidFill>
                  <a:srgbClr val="1F2328"/>
                </a:solidFill>
                <a:latin typeface="Consolas"/>
                <a:ea typeface="Consolas"/>
                <a:cs typeface="Consolas"/>
              </a:rPr>
              <a:t>  use: { baseURL, locale: </a:t>
            </a:r>
            <a:r>
              <a:rPr sz="900" b="0" i="0" lang="es-CL">
                <a:solidFill>
                  <a:srgbClr val="A31515"/>
                </a:solidFill>
                <a:latin typeface="Consolas"/>
                <a:ea typeface="Consolas"/>
                <a:cs typeface="Consolas"/>
              </a:rPr>
              <a:t>'es-CL'</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timezoneId: </a:t>
            </a:r>
            <a:r>
              <a:rPr sz="900" b="0" i="0" lang="es-CL">
                <a:solidFill>
                  <a:srgbClr val="A31515"/>
                </a:solidFill>
                <a:latin typeface="Consolas"/>
                <a:ea typeface="Consolas"/>
                <a:cs typeface="Consolas"/>
              </a:rPr>
              <a:t>'America/Santiago'</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trace: </a:t>
            </a:r>
            <a:r>
              <a:rPr sz="900" b="0" i="0" lang="es-CL">
                <a:solidFill>
                  <a:srgbClr val="A31515"/>
                </a:solidFill>
                <a:latin typeface="Consolas"/>
                <a:ea typeface="Consolas"/>
                <a:cs typeface="Consolas"/>
              </a:rPr>
              <a:t>'retain-on-failure'</a:t>
            </a: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projects: [</a:t>
            </a:r>
          </a:p>
          <a:p>
            <a:pPr marL="0" indent="0">
              <a:lnSpc>
                <a:spcPct val="100000"/>
              </a:lnSpc>
              <a:spcAft>
                <a:spcPts val="0"/>
              </a:spcAft>
              <a:buNone/>
            </a:pPr>
            <a:r>
              <a:rPr sz="900" b="0" i="0" lang="es-CL">
                <a:solidFill>
                  <a:srgbClr val="1F2328"/>
                </a:solidFill>
                <a:latin typeface="Consolas"/>
                <a:ea typeface="Consolas"/>
                <a:cs typeface="Consolas"/>
              </a:rPr>
              <a:t>    { name: </a:t>
            </a:r>
            <a:r>
              <a:rPr sz="900" b="0" i="0" lang="es-CL">
                <a:solidFill>
                  <a:srgbClr val="A31515"/>
                </a:solidFill>
                <a:latin typeface="Consolas"/>
                <a:ea typeface="Consolas"/>
                <a:cs typeface="Consolas"/>
              </a:rPr>
              <a:t>'flows'</a:t>
            </a:r>
            <a:r>
              <a:rPr sz="900" b="0" i="0" lang="es-CL">
                <a:solidFill>
                  <a:srgbClr val="1F2328"/>
                </a:solidFill>
                <a:latin typeface="Consolas"/>
                <a:ea typeface="Consolas"/>
                <a:cs typeface="Consolas"/>
              </a:rPr>
              <a:t>, testDir: flowsDir,</a:t>
            </a:r>
          </a:p>
          <a:p>
            <a:pPr marL="0" indent="0">
              <a:lnSpc>
                <a:spcPct val="100000"/>
              </a:lnSpc>
              <a:spcAft>
                <a:spcPts val="0"/>
              </a:spcAft>
              <a:buNone/>
            </a:pPr>
            <a:r>
              <a:rPr sz="900" b="0" i="0" lang="es-CL">
                <a:solidFill>
                  <a:srgbClr val="1F2328"/>
                </a:solidFill>
                <a:latin typeface="Consolas"/>
                <a:ea typeface="Consolas"/>
                <a:cs typeface="Consolas"/>
              </a:rPr>
              <a:t>      use: { video: { mode: </a:t>
            </a:r>
            <a:r>
              <a:rPr sz="900" b="0" i="0" lang="es-CL">
                <a:solidFill>
                  <a:srgbClr val="A31515"/>
                </a:solidFill>
                <a:latin typeface="Consolas"/>
                <a:ea typeface="Consolas"/>
                <a:cs typeface="Consolas"/>
              </a:rPr>
              <a:t>'on'</a:t>
            </a:r>
            <a:r>
              <a:rPr sz="900" b="0" i="0" lang="es-CL">
                <a:solidFill>
                  <a:srgbClr val="1F2328"/>
                </a:solidFill>
                <a:latin typeface="Consolas"/>
                <a:ea typeface="Consolas"/>
                <a:cs typeface="Consolas"/>
              </a:rPr>
              <a:t> } } },</a:t>
            </a:r>
          </a:p>
          <a:p>
            <a:pPr marL="0" indent="0">
              <a:lnSpc>
                <a:spcPct val="100000"/>
              </a:lnSpc>
              <a:spcAft>
                <a:spcPts val="0"/>
              </a:spcAft>
              <a:buNone/>
            </a:pPr>
            <a:r>
              <a:rPr sz="900" b="0" i="0" lang="es-CL">
                <a:solidFill>
                  <a:srgbClr val="1F2328"/>
                </a:solidFill>
                <a:latin typeface="Consolas"/>
                <a:ea typeface="Consolas"/>
                <a:cs typeface="Consolas"/>
              </a:rPr>
              <a:t>    { name: </a:t>
            </a:r>
            <a:r>
              <a:rPr sz="900" b="0" i="0" lang="es-CL">
                <a:solidFill>
                  <a:srgbClr val="A31515"/>
                </a:solidFill>
                <a:latin typeface="Consolas"/>
                <a:ea typeface="Consolas"/>
                <a:cs typeface="Consolas"/>
              </a:rPr>
              <a:t>'visual'</a:t>
            </a:r>
            <a:r>
              <a:rPr sz="900" b="0" i="0" lang="es-CL">
                <a:solidFill>
                  <a:srgbClr val="1F2328"/>
                </a:solidFill>
                <a:latin typeface="Consolas"/>
                <a:ea typeface="Consolas"/>
                <a:cs typeface="Consolas"/>
              </a:rPr>
              <a:t>, testDir: </a:t>
            </a:r>
            <a:r>
              <a:rPr sz="900" b="0" i="0" lang="es-CL">
                <a:solidFill>
                  <a:srgbClr val="A31515"/>
                </a:solidFill>
                <a:latin typeface="Consolas"/>
                <a:ea typeface="Consolas"/>
                <a:cs typeface="Consolas"/>
              </a:rPr>
              <a:t>'tests/visual'</a:t>
            </a: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 name: </a:t>
            </a:r>
            <a:r>
              <a:rPr sz="900" b="0" i="0" lang="es-CL">
                <a:solidFill>
                  <a:srgbClr val="A31515"/>
                </a:solidFill>
                <a:latin typeface="Consolas"/>
                <a:ea typeface="Consolas"/>
                <a:cs typeface="Consolas"/>
              </a:rPr>
              <a:t>'style'</a:t>
            </a:r>
            <a:r>
              <a:rPr sz="900" b="0" i="0" lang="es-CL">
                <a:solidFill>
                  <a:srgbClr val="1F2328"/>
                </a:solidFill>
                <a:latin typeface="Consolas"/>
                <a:ea typeface="Consolas"/>
                <a:cs typeface="Consolas"/>
              </a:rPr>
              <a:t>, testDir: </a:t>
            </a:r>
            <a:r>
              <a:rPr sz="900" b="0" i="0" lang="es-CL">
                <a:solidFill>
                  <a:srgbClr val="A31515"/>
                </a:solidFill>
                <a:latin typeface="Consolas"/>
                <a:ea typeface="Consolas"/>
                <a:cs typeface="Consolas"/>
              </a:rPr>
              <a:t>'tests/style'</a:t>
            </a: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 name: </a:t>
            </a:r>
            <a:r>
              <a:rPr sz="900" b="0" i="0" lang="es-CL">
                <a:solidFill>
                  <a:srgbClr val="A31515"/>
                </a:solidFill>
                <a:latin typeface="Consolas"/>
                <a:ea typeface="Consolas"/>
                <a:cs typeface="Consolas"/>
              </a:rPr>
              <a:t>'layout'</a:t>
            </a:r>
            <a:r>
              <a:rPr sz="900" b="0" i="0" lang="es-CL">
                <a:solidFill>
                  <a:srgbClr val="1F2328"/>
                </a:solidFill>
                <a:latin typeface="Consolas"/>
                <a:ea typeface="Consolas"/>
                <a:cs typeface="Consolas"/>
              </a:rPr>
              <a:t>, testDir: </a:t>
            </a:r>
            <a:r>
              <a:rPr sz="900" b="0" i="0" lang="es-CL">
                <a:solidFill>
                  <a:srgbClr val="A31515"/>
                </a:solidFill>
                <a:latin typeface="Consolas"/>
                <a:ea typeface="Consolas"/>
                <a:cs typeface="Consolas"/>
              </a:rPr>
              <a:t>'tests/layout'</a:t>
            </a: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 name: </a:t>
            </a:r>
            <a:r>
              <a:rPr sz="900" b="0" i="0" lang="es-CL">
                <a:solidFill>
                  <a:srgbClr val="A31515"/>
                </a:solidFill>
                <a:latin typeface="Consolas"/>
                <a:ea typeface="Consolas"/>
                <a:cs typeface="Consolas"/>
              </a:rPr>
              <a:t>'a11y'</a:t>
            </a:r>
            <a:r>
              <a:rPr sz="900" b="0" i="0" lang="es-CL">
                <a:solidFill>
                  <a:srgbClr val="1F2328"/>
                </a:solidFill>
                <a:latin typeface="Consolas"/>
                <a:ea typeface="Consolas"/>
                <a:cs typeface="Consolas"/>
              </a:rPr>
              <a:t>, testDir: </a:t>
            </a:r>
            <a:r>
              <a:rPr sz="900" b="0" i="0" lang="es-CL">
                <a:solidFill>
                  <a:srgbClr val="A31515"/>
                </a:solidFill>
                <a:latin typeface="Consolas"/>
                <a:ea typeface="Consolas"/>
                <a:cs typeface="Consolas"/>
              </a:rPr>
              <a:t>'tests/a11y'</a:t>
            </a: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Visual regression con capturas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Compara una captura actual con una referencia aprobada, píxel a píxel.</a:t>
            </a:r>
          </a:p>
        </p:txBody>
      </p:sp>
      <p:sp>
        <p:nvSpPr>
          <p:cNvPr id="6" name="Rounded Rectangle 5"/>
          <p:cNvSpPr/>
          <p:nvPr/>
        </p:nvSpPr>
        <p:spPr>
          <a:xfrm>
            <a:off x="411480" y="1783080"/>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755648"/>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Cambios visuales no intencionales: espaciado, fuentes, elementos que desaparecen.</a:t>
            </a:r>
          </a:p>
        </p:txBody>
      </p:sp>
      <p:sp>
        <p:nvSpPr>
          <p:cNvPr id="8" name="Rounded Rectangle 7"/>
          <p:cNvSpPr/>
          <p:nvPr/>
        </p:nvSpPr>
        <p:spPr>
          <a:xfrm>
            <a:off x="411480" y="2459735"/>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432303"/>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Playwright toHaveScreenshot (usa pixelmatch). Referencias generadas en Linux.</a:t>
            </a:r>
          </a:p>
        </p:txBody>
      </p:sp>
      <p:sp>
        <p:nvSpPr>
          <p:cNvPr id="10" name="Rounded Rectangle 9"/>
          <p:cNvSpPr/>
          <p:nvPr/>
        </p:nvSpPr>
        <p:spPr>
          <a:xfrm>
            <a:off x="411480" y="3136391"/>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3108960"/>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7 · E2E con mock server. Datos y reloj fijos.</a:t>
            </a:r>
          </a:p>
        </p:txBody>
      </p:sp>
      <p:sp>
        <p:nvSpPr>
          <p:cNvPr id="12" name="Rounded Rectangle 11"/>
          <p:cNvSpPr/>
          <p:nvPr/>
        </p:nvSpPr>
        <p:spPr>
          <a:xfrm>
            <a:off x="411480" y="3648456"/>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621024"/>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Visual testing, cap. 6, p. 183 y 195.</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frontend/tests/visual/catalog.visual.spec.ts</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900" b="0" i="0" lang="es-CL">
                <a:solidFill>
                  <a:srgbClr val="008000"/>
                </a:solidFill>
                <a:latin typeface="Consolas"/>
                <a:ea typeface="Consolas"/>
                <a:cs typeface="Consolas"/>
              </a:rPr>
              <a:t>// Referencias generadas en Linux, en la imagen Docker de</a:t>
            </a:r>
          </a:p>
          <a:p>
            <a:pPr marL="0" indent="0">
              <a:lnSpc>
                <a:spcPct val="100000"/>
              </a:lnSpc>
              <a:spcAft>
                <a:spcPts val="0"/>
              </a:spcAft>
              <a:buNone/>
            </a:pPr>
            <a:r>
              <a:rPr sz="900" b="0" i="0" lang="es-CL">
                <a:solidFill>
                  <a:srgbClr val="008000"/>
                </a:solidFill>
                <a:latin typeface="Consolas"/>
                <a:ea typeface="Consolas"/>
                <a:cs typeface="Consolas"/>
              </a:rPr>
              <a:t>// Playwright (fuentes y render idénticos a CI)</a:t>
            </a:r>
          </a:p>
          <a:p>
            <a:pPr marL="0" indent="0">
              <a:lnSpc>
                <a:spcPct val="100000"/>
              </a:lnSpc>
              <a:spcAft>
                <a:spcPts val="0"/>
              </a:spcAft>
              <a:buNone/>
            </a:pPr>
            <a:r>
              <a:rPr sz="900" b="0" i="0" lang="es-CL">
                <a:solidFill>
                  <a:srgbClr val="795E26"/>
                </a:solidFill>
                <a:latin typeface="Consolas"/>
                <a:ea typeface="Consolas"/>
                <a:cs typeface="Consolas"/>
              </a:rPr>
              <a:t>test</a:t>
            </a:r>
            <a:r>
              <a:rPr sz="900" b="0" i="0" lang="es-CL">
                <a:solidFill>
                  <a:srgbClr val="1F2328"/>
                </a:solidFill>
                <a:latin typeface="Consolas"/>
                <a:ea typeface="Consolas"/>
                <a:cs typeface="Consolas"/>
              </a:rPr>
              <a:t>(</a:t>
            </a:r>
            <a:r>
              <a:rPr sz="900" b="0" i="0" lang="es-CL">
                <a:solidFill>
                  <a:srgbClr val="A31515"/>
                </a:solidFill>
                <a:latin typeface="Consolas"/>
                <a:ea typeface="Consolas"/>
                <a:cs typeface="Consolas"/>
              </a:rPr>
              <a:t>'</a:t>
            </a:r>
            <a:r>
              <a:rPr sz="900" b="1" i="0" lang="es-CL">
                <a:solidFill>
                  <a:srgbClr val="9900FF"/>
                </a:solidFill>
                <a:latin typeface="Consolas"/>
                <a:ea typeface="Consolas"/>
                <a:cs typeface="Consolas"/>
              </a:rPr>
              <a:t>[UI-CAT-4]</a:t>
            </a:r>
            <a:r>
              <a:rPr sz="900" b="0" i="0" lang="es-CL">
                <a:solidFill>
                  <a:srgbClr val="A31515"/>
                </a:solidFill>
                <a:latin typeface="Consolas"/>
                <a:ea typeface="Consolas"/>
                <a:cs typeface="Consolas"/>
              </a:rPr>
              <a:t> catálogo completo en escritorio'</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async</a:t>
            </a:r>
            <a:r>
              <a:rPr sz="900" b="0" i="0" lang="es-CL">
                <a:solidFill>
                  <a:srgbClr val="1F2328"/>
                </a:solidFill>
                <a:latin typeface="Consolas"/>
                <a:ea typeface="Consolas"/>
                <a:cs typeface="Consolas"/>
              </a:rPr>
              <a:t> ({ page }) =&gt; {</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F00DB"/>
                </a:solidFill>
                <a:latin typeface="Consolas"/>
                <a:ea typeface="Consolas"/>
                <a:cs typeface="Consolas"/>
              </a:rPr>
              <a:t>await</a:t>
            </a:r>
            <a:r>
              <a:rPr sz="900" b="0" i="0" lang="es-CL">
                <a:solidFill>
                  <a:srgbClr val="1F2328"/>
                </a:solidFill>
                <a:latin typeface="Consolas"/>
                <a:ea typeface="Consolas"/>
                <a:cs typeface="Consolas"/>
              </a:rPr>
              <a:t> openCatalog(page)</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F00DB"/>
                </a:solidFill>
                <a:latin typeface="Consolas"/>
                <a:ea typeface="Consolas"/>
                <a:cs typeface="Consolas"/>
              </a:rPr>
              <a:t>await</a:t>
            </a:r>
            <a:r>
              <a:rPr sz="900" b="0" i="0" lang="es-CL">
                <a:solidFill>
                  <a:srgbClr val="1F2328"/>
                </a:solidFill>
                <a:latin typeface="Consolas"/>
                <a:ea typeface="Consolas"/>
                <a:cs typeface="Consolas"/>
              </a:rPr>
              <a:t> </a:t>
            </a:r>
            <a:r>
              <a:rPr sz="900" b="0" i="0" lang="es-CL">
                <a:solidFill>
                  <a:srgbClr val="795E26"/>
                </a:solidFill>
                <a:latin typeface="Consolas"/>
                <a:ea typeface="Consolas"/>
                <a:cs typeface="Consolas"/>
              </a:rPr>
              <a:t>expect</a:t>
            </a:r>
            <a:r>
              <a:rPr sz="900" b="0" i="0" lang="es-CL">
                <a:solidFill>
                  <a:srgbClr val="1F2328"/>
                </a:solidFill>
                <a:latin typeface="Consolas"/>
                <a:ea typeface="Consolas"/>
                <a:cs typeface="Consolas"/>
              </a:rPr>
              <a:t>(page).toHaveScreenshot(</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31515"/>
                </a:solidFill>
                <a:latin typeface="Consolas"/>
                <a:ea typeface="Consolas"/>
                <a:cs typeface="Consolas"/>
              </a:rPr>
              <a:t>'catalogo-escritorio.png'</a:t>
            </a:r>
            <a:r>
              <a:rPr sz="900" b="0" i="0" lang="es-CL">
                <a:solidFill>
                  <a:srgbClr val="1F2328"/>
                </a:solidFill>
                <a:latin typeface="Consolas"/>
                <a:ea typeface="Consolas"/>
                <a:cs typeface="Consolas"/>
              </a:rPr>
              <a:t>, { fullPage: </a:t>
            </a:r>
            <a:r>
              <a:rPr sz="900" b="0" i="0" lang="es-CL">
                <a:solidFill>
                  <a:srgbClr val="0000FF"/>
                </a:solidFill>
                <a:latin typeface="Consolas"/>
                <a:ea typeface="Consolas"/>
                <a:cs typeface="Consolas"/>
              </a:rPr>
              <a:t>true</a:t>
            </a: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795E26"/>
                </a:solidFill>
                <a:latin typeface="Consolas"/>
                <a:ea typeface="Consolas"/>
                <a:cs typeface="Consolas"/>
              </a:rPr>
              <a:t>test</a:t>
            </a:r>
            <a:r>
              <a:rPr sz="900" b="0" i="0" lang="es-CL">
                <a:solidFill>
                  <a:srgbClr val="1F2328"/>
                </a:solidFill>
                <a:latin typeface="Consolas"/>
                <a:ea typeface="Consolas"/>
                <a:cs typeface="Consolas"/>
              </a:rPr>
              <a:t>(</a:t>
            </a:r>
            <a:r>
              <a:rPr sz="900" b="0" i="0" lang="es-CL">
                <a:solidFill>
                  <a:srgbClr val="A31515"/>
                </a:solidFill>
                <a:latin typeface="Consolas"/>
                <a:ea typeface="Consolas"/>
                <a:cs typeface="Consolas"/>
              </a:rPr>
              <a:t>'</a:t>
            </a:r>
            <a:r>
              <a:rPr sz="900" b="1" i="0" lang="es-CL">
                <a:solidFill>
                  <a:srgbClr val="9900FF"/>
                </a:solidFill>
                <a:latin typeface="Consolas"/>
                <a:ea typeface="Consolas"/>
                <a:cs typeface="Consolas"/>
              </a:rPr>
              <a:t>[UI-CAT-2]</a:t>
            </a:r>
            <a:r>
              <a:rPr sz="900" b="0" i="0" lang="es-CL">
                <a:solidFill>
                  <a:srgbClr val="A31515"/>
                </a:solidFill>
                <a:latin typeface="Consolas"/>
                <a:ea typeface="Consolas"/>
                <a:cs typeface="Consolas"/>
              </a:rPr>
              <a:t> tarjeta de un libro agotado'</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async</a:t>
            </a:r>
            <a:r>
              <a:rPr sz="900" b="0" i="0" lang="es-CL">
                <a:solidFill>
                  <a:srgbClr val="1F2328"/>
                </a:solidFill>
                <a:latin typeface="Consolas"/>
                <a:ea typeface="Consolas"/>
                <a:cs typeface="Consolas"/>
              </a:rPr>
              <a:t> ({ page }) =&gt; {</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F00DB"/>
                </a:solidFill>
                <a:latin typeface="Consolas"/>
                <a:ea typeface="Consolas"/>
                <a:cs typeface="Consolas"/>
              </a:rPr>
              <a:t>await</a:t>
            </a:r>
            <a:r>
              <a:rPr sz="900" b="0" i="0" lang="es-CL">
                <a:solidFill>
                  <a:srgbClr val="1F2328"/>
                </a:solidFill>
                <a:latin typeface="Consolas"/>
                <a:ea typeface="Consolas"/>
                <a:cs typeface="Consolas"/>
              </a:rPr>
              <a:t> openCatalog(page)</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F00DB"/>
                </a:solidFill>
                <a:latin typeface="Consolas"/>
                <a:ea typeface="Consolas"/>
                <a:cs typeface="Consolas"/>
              </a:rPr>
              <a:t>await</a:t>
            </a:r>
            <a:r>
              <a:rPr sz="900" b="0" i="0" lang="es-CL">
                <a:solidFill>
                  <a:srgbClr val="1F2328"/>
                </a:solidFill>
                <a:latin typeface="Consolas"/>
                <a:ea typeface="Consolas"/>
                <a:cs typeface="Consolas"/>
              </a:rPr>
              <a:t> </a:t>
            </a:r>
            <a:r>
              <a:rPr sz="900" b="0" i="0" lang="es-CL">
                <a:solidFill>
                  <a:srgbClr val="795E26"/>
                </a:solidFill>
                <a:latin typeface="Consolas"/>
                <a:ea typeface="Consolas"/>
                <a:cs typeface="Consolas"/>
              </a:rPr>
              <a:t>expect</a:t>
            </a:r>
            <a:r>
              <a:rPr sz="900" b="0" i="0" lang="es-CL">
                <a:solidFill>
                  <a:srgbClr val="1F2328"/>
                </a:solidFill>
                <a:latin typeface="Consolas"/>
                <a:ea typeface="Consolas"/>
                <a:cs typeface="Consolas"/>
              </a:rPr>
              <a:t>(bookCard(page, </a:t>
            </a:r>
            <a:r>
              <a:rPr sz="900" b="0" i="0" lang="es-CL">
                <a:solidFill>
                  <a:srgbClr val="A31515"/>
                </a:solidFill>
                <a:latin typeface="Consolas"/>
                <a:ea typeface="Consolas"/>
                <a:cs typeface="Consolas"/>
              </a:rPr>
              <a:t>'La casa de los espíritus'</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.toHaveScreenshot(</a:t>
            </a:r>
            <a:r>
              <a:rPr sz="900" b="0" i="0" lang="es-CL">
                <a:solidFill>
                  <a:srgbClr val="A31515"/>
                </a:solidFill>
                <a:latin typeface="Consolas"/>
                <a:ea typeface="Consolas"/>
                <a:cs typeface="Consolas"/>
              </a:rPr>
              <a:t>'tarjeta-agotada.png'</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008000"/>
                </a:solidFill>
                <a:latin typeface="Consolas"/>
                <a:ea typeface="Consolas"/>
                <a:cs typeface="Consolas"/>
              </a:rPr>
              <a:t>// playwright.config.ts</a:t>
            </a:r>
          </a:p>
          <a:p>
            <a:pPr marL="0" indent="0">
              <a:lnSpc>
                <a:spcPct val="100000"/>
              </a:lnSpc>
              <a:spcAft>
                <a:spcPts val="0"/>
              </a:spcAft>
              <a:buNone/>
            </a:pPr>
            <a:r>
              <a:rPr sz="900" b="0" i="0" lang="es-CL">
                <a:solidFill>
                  <a:srgbClr val="1F2328"/>
                </a:solidFill>
                <a:latin typeface="Consolas"/>
                <a:ea typeface="Consolas"/>
                <a:cs typeface="Consolas"/>
              </a:rPr>
              <a:t>ignoreSnapshots: process.platform !== </a:t>
            </a:r>
            <a:r>
              <a:rPr sz="900" b="0" i="0" lang="es-CL">
                <a:solidFill>
                  <a:srgbClr val="A31515"/>
                </a:solidFill>
                <a:latin typeface="Consolas"/>
                <a:ea typeface="Consolas"/>
                <a:cs typeface="Consolas"/>
              </a:rPr>
              <a:t>'linux'</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795E26"/>
                </a:solidFill>
                <a:latin typeface="Consolas"/>
                <a:ea typeface="Consolas"/>
                <a:cs typeface="Consolas"/>
              </a:rPr>
              <a:t>expect</a:t>
            </a: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toHaveScreenshot: { animations: </a:t>
            </a:r>
            <a:r>
              <a:rPr sz="900" b="0" i="0" lang="es-CL">
                <a:solidFill>
                  <a:srgbClr val="A31515"/>
                </a:solidFill>
                <a:latin typeface="Consolas"/>
                <a:ea typeface="Consolas"/>
                <a:cs typeface="Consolas"/>
              </a:rPr>
              <a:t>'disabled'</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caret: </a:t>
            </a:r>
            <a:r>
              <a:rPr sz="900" b="0" i="0" lang="es-CL">
                <a:solidFill>
                  <a:srgbClr val="A31515"/>
                </a:solidFill>
                <a:latin typeface="Consolas"/>
                <a:ea typeface="Consolas"/>
                <a:cs typeface="Consolas"/>
              </a:rPr>
              <a:t>'hide'</a:t>
            </a:r>
            <a:r>
              <a:rPr sz="900" b="0" i="0" lang="es-CL">
                <a:solidFill>
                  <a:srgbClr val="1F2328"/>
                </a:solidFill>
                <a:latin typeface="Consolas"/>
                <a:ea typeface="Consolas"/>
                <a:cs typeface="Consolas"/>
              </a:rPr>
              <a:t>, maxDiffPixelRatio: </a:t>
            </a:r>
            <a:r>
              <a:rPr sz="900" b="0" i="0" lang="es-CL">
                <a:solidFill>
                  <a:srgbClr val="098658"/>
                </a:solidFill>
                <a:latin typeface="Consolas"/>
                <a:ea typeface="Consolas"/>
                <a:cs typeface="Consolas"/>
              </a:rPr>
              <a:t>0.01</a:t>
            </a: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Estilos y posición: cambió el color, se movió la insignia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498348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106424"/>
            <a:ext cx="4764024"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frontend/tests/style y tests/layout (extracto)</a:t>
            </a:r>
          </a:p>
        </p:txBody>
      </p:sp>
      <p:sp>
        <p:nvSpPr>
          <p:cNvPr id="6" name="TextBox 5"/>
          <p:cNvSpPr txBox="1"/>
          <p:nvPr/>
        </p:nvSpPr>
        <p:spPr>
          <a:xfrm>
            <a:off x="521208" y="1362456"/>
            <a:ext cx="4764024" cy="3108959"/>
          </a:xfrm>
          <a:prstGeom prst="rect">
            <a:avLst/>
          </a:prstGeom>
          <a:noFill/>
        </p:spPr>
        <p:txBody>
          <a:bodyPr wrap="none" lIns="0" rIns="0" tIns="0" bIns="0"/>
          <a:lstStyle/>
          <a:p>
            <a:pPr marL="0" indent="0">
              <a:lnSpc>
                <a:spcPct val="100000"/>
              </a:lnSpc>
              <a:spcAft>
                <a:spcPts val="0"/>
              </a:spcAft>
              <a:buNone/>
            </a:pPr>
            <a:r>
              <a:rPr sz="950" b="0" i="0" lang="es-CL">
                <a:solidFill>
                  <a:srgbClr val="008000"/>
                </a:solidFill>
                <a:latin typeface="Consolas"/>
                <a:ea typeface="Consolas"/>
                <a:cs typeface="Consolas"/>
              </a:rPr>
              <a:t>// Color: estilo computado contra el token de la spec</a:t>
            </a:r>
          </a:p>
          <a:p>
            <a:pPr marL="0" indent="0">
              <a:lnSpc>
                <a:spcPct val="100000"/>
              </a:lnSpc>
              <a:spcAft>
                <a:spcPts val="0"/>
              </a:spcAft>
              <a:buNone/>
            </a:pPr>
            <a:r>
              <a:rPr sz="950" b="0" i="0" lang="es-CL">
                <a:solidFill>
                  <a:srgbClr val="795E26"/>
                </a:solidFill>
                <a:latin typeface="Consolas"/>
                <a:ea typeface="Consolas"/>
                <a:cs typeface="Consolas"/>
              </a:rPr>
              <a:t>test</a:t>
            </a:r>
            <a:r>
              <a:rPr sz="950" b="0" i="0" lang="es-CL">
                <a:solidFill>
                  <a:srgbClr val="1F2328"/>
                </a:solidFill>
                <a:latin typeface="Consolas"/>
                <a:ea typeface="Consolas"/>
                <a:cs typeface="Consolas"/>
              </a:rPr>
              <a:t>(</a:t>
            </a:r>
            <a:r>
              <a:rPr sz="950" b="0" i="0" lang="es-CL">
                <a:solidFill>
                  <a:srgbClr val="A31515"/>
                </a:solidFill>
                <a:latin typeface="Consolas"/>
                <a:ea typeface="Consolas"/>
                <a:cs typeface="Consolas"/>
              </a:rPr>
              <a:t>'</a:t>
            </a:r>
            <a:r>
              <a:rPr sz="950" b="1" i="0" lang="es-CL">
                <a:solidFill>
                  <a:srgbClr val="9900FF"/>
                </a:solidFill>
                <a:latin typeface="Consolas"/>
                <a:ea typeface="Consolas"/>
                <a:cs typeface="Consolas"/>
              </a:rPr>
              <a:t>[UI-CAT-2]</a:t>
            </a:r>
            <a:r>
              <a:rPr sz="950" b="0" i="0" lang="es-CL">
                <a:solidFill>
                  <a:srgbClr val="A31515"/>
                </a:solidFill>
                <a:latin typeface="Consolas"/>
                <a:ea typeface="Consolas"/>
                <a:cs typeface="Consolas"/>
              </a:rPr>
              <a:t> la insignia "Agotado" es roja ...'</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0000FF"/>
                </a:solidFill>
                <a:latin typeface="Consolas"/>
                <a:ea typeface="Consolas"/>
                <a:cs typeface="Consolas"/>
              </a:rPr>
              <a:t>async</a:t>
            </a:r>
            <a:r>
              <a:rPr sz="950" b="0" i="0" lang="es-CL">
                <a:solidFill>
                  <a:srgbClr val="1F2328"/>
                </a:solidFill>
                <a:latin typeface="Consolas"/>
                <a:ea typeface="Consolas"/>
                <a:cs typeface="Consolas"/>
              </a:rPr>
              <a:t> ({ page }) =&gt; {</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0000FF"/>
                </a:solidFill>
                <a:latin typeface="Consolas"/>
                <a:ea typeface="Consolas"/>
                <a:cs typeface="Consolas"/>
              </a:rPr>
              <a:t>const</a:t>
            </a:r>
            <a:r>
              <a:rPr sz="950" b="0" i="0" lang="es-CL">
                <a:solidFill>
                  <a:srgbClr val="1F2328"/>
                </a:solidFill>
                <a:latin typeface="Consolas"/>
                <a:ea typeface="Consolas"/>
                <a:cs typeface="Consolas"/>
              </a:rPr>
              <a:t> badge = availabilityBadge(page,</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'La casa de los espíritus'</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AF00DB"/>
                </a:solidFill>
                <a:latin typeface="Consolas"/>
                <a:ea typeface="Consolas"/>
                <a:cs typeface="Consolas"/>
              </a:rPr>
              <a:t>await</a:t>
            </a:r>
            <a:r>
              <a:rPr sz="950" b="0" i="0" lang="es-CL">
                <a:solidFill>
                  <a:srgbClr val="1F2328"/>
                </a:solidFill>
                <a:latin typeface="Consolas"/>
                <a:ea typeface="Consolas"/>
                <a:cs typeface="Consolas"/>
              </a:rPr>
              <a:t> </a:t>
            </a:r>
            <a:r>
              <a:rPr sz="950" b="0" i="0" lang="es-CL">
                <a:solidFill>
                  <a:srgbClr val="795E26"/>
                </a:solidFill>
                <a:latin typeface="Consolas"/>
                <a:ea typeface="Consolas"/>
                <a:cs typeface="Consolas"/>
              </a:rPr>
              <a:t>expect</a:t>
            </a:r>
            <a:r>
              <a:rPr sz="950" b="0" i="0" lang="es-CL">
                <a:solidFill>
                  <a:srgbClr val="1F2328"/>
                </a:solidFill>
                <a:latin typeface="Consolas"/>
                <a:ea typeface="Consolas"/>
                <a:cs typeface="Consolas"/>
              </a:rPr>
              <a:t>(badge).toHaveText(</a:t>
            </a:r>
            <a:r>
              <a:rPr sz="950" b="0" i="0" lang="es-CL">
                <a:solidFill>
                  <a:srgbClr val="A31515"/>
                </a:solidFill>
                <a:latin typeface="Consolas"/>
                <a:ea typeface="Consolas"/>
                <a:cs typeface="Consolas"/>
              </a:rPr>
              <a:t>'Agotado'</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AF00DB"/>
                </a:solidFill>
                <a:latin typeface="Consolas"/>
                <a:ea typeface="Consolas"/>
                <a:cs typeface="Consolas"/>
              </a:rPr>
              <a:t>await</a:t>
            </a:r>
            <a:r>
              <a:rPr sz="950" b="0" i="0" lang="es-CL">
                <a:solidFill>
                  <a:srgbClr val="1F2328"/>
                </a:solidFill>
                <a:latin typeface="Consolas"/>
                <a:ea typeface="Consolas"/>
                <a:cs typeface="Consolas"/>
              </a:rPr>
              <a:t> </a:t>
            </a:r>
            <a:r>
              <a:rPr sz="950" b="0" i="0" lang="es-CL">
                <a:solidFill>
                  <a:srgbClr val="795E26"/>
                </a:solidFill>
                <a:latin typeface="Consolas"/>
                <a:ea typeface="Consolas"/>
                <a:cs typeface="Consolas"/>
              </a:rPr>
              <a:t>expect</a:t>
            </a:r>
            <a:r>
              <a:rPr sz="950" b="0" i="0" lang="es-CL">
                <a:solidFill>
                  <a:srgbClr val="1F2328"/>
                </a:solidFill>
                <a:latin typeface="Consolas"/>
                <a:ea typeface="Consolas"/>
                <a:cs typeface="Consolas"/>
              </a:rPr>
              <a:t>(badge).toHaveCSS(</a:t>
            </a:r>
            <a:r>
              <a:rPr sz="950" b="0" i="0" lang="es-CL">
                <a:solidFill>
                  <a:srgbClr val="A31515"/>
                </a:solidFill>
                <a:latin typeface="Consolas"/>
                <a:ea typeface="Consolas"/>
                <a:cs typeface="Consolas"/>
              </a:rPr>
              <a:t>'background-color'</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'rgb(180, 35, 24)'</a:t>
            </a:r>
            <a:r>
              <a:rPr sz="950" b="0" i="0" lang="es-CL">
                <a:solidFill>
                  <a:srgbClr val="1F2328"/>
                </a:solidFill>
                <a:latin typeface="Consolas"/>
                <a:ea typeface="Consolas"/>
                <a:cs typeface="Consolas"/>
              </a:rPr>
              <a:t>) </a:t>
            </a:r>
            <a:r>
              <a:rPr sz="950" b="0" i="0" lang="es-CL">
                <a:solidFill>
                  <a:srgbClr val="008000"/>
                </a:solidFill>
                <a:latin typeface="Consolas"/>
                <a:ea typeface="Consolas"/>
                <a:cs typeface="Consolas"/>
              </a:rPr>
              <a:t>// #B42318</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008000"/>
                </a:solidFill>
                <a:latin typeface="Consolas"/>
                <a:ea typeface="Consolas"/>
                <a:cs typeface="Consolas"/>
              </a:rPr>
              <a:t>// Posición: cajas comparadas entre sí, no píxeles</a:t>
            </a:r>
          </a:p>
          <a:p>
            <a:pPr marL="0" indent="0">
              <a:lnSpc>
                <a:spcPct val="100000"/>
              </a:lnSpc>
              <a:spcAft>
                <a:spcPts val="0"/>
              </a:spcAft>
              <a:buNone/>
            </a:pPr>
            <a:r>
              <a:rPr sz="950" b="0" i="0" lang="es-CL">
                <a:solidFill>
                  <a:srgbClr val="795E26"/>
                </a:solidFill>
                <a:latin typeface="Consolas"/>
                <a:ea typeface="Consolas"/>
                <a:cs typeface="Consolas"/>
              </a:rPr>
              <a:t>test</a:t>
            </a:r>
            <a:r>
              <a:rPr sz="950" b="0" i="0" lang="es-CL">
                <a:solidFill>
                  <a:srgbClr val="1F2328"/>
                </a:solidFill>
                <a:latin typeface="Consolas"/>
                <a:ea typeface="Consolas"/>
                <a:cs typeface="Consolas"/>
              </a:rPr>
              <a:t>(</a:t>
            </a:r>
            <a:r>
              <a:rPr sz="950" b="0" i="0" lang="es-CL">
                <a:solidFill>
                  <a:srgbClr val="A31515"/>
                </a:solidFill>
                <a:latin typeface="Consolas"/>
                <a:ea typeface="Consolas"/>
                <a:cs typeface="Consolas"/>
              </a:rPr>
              <a:t>'</a:t>
            </a:r>
            <a:r>
              <a:rPr sz="950" b="1" i="0" lang="es-CL">
                <a:solidFill>
                  <a:srgbClr val="9900FF"/>
                </a:solidFill>
                <a:latin typeface="Consolas"/>
                <a:ea typeface="Consolas"/>
                <a:cs typeface="Consolas"/>
              </a:rPr>
              <a:t>[UI-CAT-4]</a:t>
            </a:r>
            <a:r>
              <a:rPr sz="950" b="0" i="0" lang="es-CL">
                <a:solidFill>
                  <a:srgbClr val="A31515"/>
                </a:solidFill>
                <a:latin typeface="Consolas"/>
                <a:ea typeface="Consolas"/>
                <a:cs typeface="Consolas"/>
              </a:rPr>
              <a:t> la insignia queda en la esquina ...'</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0000FF"/>
                </a:solidFill>
                <a:latin typeface="Consolas"/>
                <a:ea typeface="Consolas"/>
                <a:cs typeface="Consolas"/>
              </a:rPr>
              <a:t>async</a:t>
            </a:r>
            <a:r>
              <a:rPr sz="950" b="0" i="0" lang="es-CL">
                <a:solidFill>
                  <a:srgbClr val="1F2328"/>
                </a:solidFill>
                <a:latin typeface="Consolas"/>
                <a:ea typeface="Consolas"/>
                <a:cs typeface="Consolas"/>
              </a:rPr>
              <a:t> ({ page }) =&gt; {</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0000FF"/>
                </a:solidFill>
                <a:latin typeface="Consolas"/>
                <a:ea typeface="Consolas"/>
                <a:cs typeface="Consolas"/>
              </a:rPr>
              <a:t>const</a:t>
            </a:r>
            <a:r>
              <a:rPr sz="950" b="0" i="0" lang="es-CL">
                <a:solidFill>
                  <a:srgbClr val="1F2328"/>
                </a:solidFill>
                <a:latin typeface="Consolas"/>
                <a:ea typeface="Consolas"/>
                <a:cs typeface="Consolas"/>
              </a:rPr>
              <a:t> [card] = </a:t>
            </a:r>
            <a:r>
              <a:rPr sz="950" b="0" i="0" lang="es-CL">
                <a:solidFill>
                  <a:srgbClr val="AF00DB"/>
                </a:solidFill>
                <a:latin typeface="Consolas"/>
                <a:ea typeface="Consolas"/>
                <a:cs typeface="Consolas"/>
              </a:rPr>
              <a:t>await</a:t>
            </a:r>
            <a:r>
              <a:rPr sz="950" b="0" i="0" lang="es-CL">
                <a:solidFill>
                  <a:srgbClr val="1F2328"/>
                </a:solidFill>
                <a:latin typeface="Consolas"/>
                <a:ea typeface="Consolas"/>
                <a:cs typeface="Consolas"/>
              </a:rPr>
              <a:t> boxes(page.getByRole(</a:t>
            </a:r>
            <a:r>
              <a:rPr sz="950" b="0" i="0" lang="es-CL">
                <a:solidFill>
                  <a:srgbClr val="A31515"/>
                </a:solidFill>
                <a:latin typeface="Consolas"/>
                <a:ea typeface="Consolas"/>
                <a:cs typeface="Consolas"/>
              </a:rPr>
              <a:t>'article'</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 name: title, exact: </a:t>
            </a:r>
            <a:r>
              <a:rPr sz="950" b="0" i="0" lang="es-CL">
                <a:solidFill>
                  <a:srgbClr val="0000FF"/>
                </a:solidFill>
                <a:latin typeface="Consolas"/>
                <a:ea typeface="Consolas"/>
                <a:cs typeface="Consolas"/>
              </a:rPr>
              <a:t>true</a:t>
            </a: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0000FF"/>
                </a:solidFill>
                <a:latin typeface="Consolas"/>
                <a:ea typeface="Consolas"/>
                <a:cs typeface="Consolas"/>
              </a:rPr>
              <a:t>const</a:t>
            </a:r>
            <a:r>
              <a:rPr sz="950" b="0" i="0" lang="es-CL">
                <a:solidFill>
                  <a:srgbClr val="1F2328"/>
                </a:solidFill>
                <a:latin typeface="Consolas"/>
                <a:ea typeface="Consolas"/>
                <a:cs typeface="Consolas"/>
              </a:rPr>
              <a:t> [badge] = </a:t>
            </a:r>
            <a:r>
              <a:rPr sz="950" b="0" i="0" lang="es-CL">
                <a:solidFill>
                  <a:srgbClr val="AF00DB"/>
                </a:solidFill>
                <a:latin typeface="Consolas"/>
                <a:ea typeface="Consolas"/>
                <a:cs typeface="Consolas"/>
              </a:rPr>
              <a:t>await</a:t>
            </a:r>
            <a:r>
              <a:rPr sz="950" b="0" i="0" lang="es-CL">
                <a:solidFill>
                  <a:srgbClr val="1F2328"/>
                </a:solidFill>
                <a:latin typeface="Consolas"/>
                <a:ea typeface="Consolas"/>
                <a:cs typeface="Consolas"/>
              </a:rPr>
              <a:t> boxes(availabilityBadge(page, title))</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0000FF"/>
                </a:solidFill>
                <a:latin typeface="Consolas"/>
                <a:ea typeface="Consolas"/>
                <a:cs typeface="Consolas"/>
              </a:rPr>
              <a:t>const</a:t>
            </a:r>
            <a:r>
              <a:rPr sz="950" b="0" i="0" lang="es-CL">
                <a:solidFill>
                  <a:srgbClr val="1F2328"/>
                </a:solidFill>
                <a:latin typeface="Consolas"/>
                <a:ea typeface="Consolas"/>
                <a:cs typeface="Consolas"/>
              </a:rPr>
              <a:t> gapRight = card.x + card.width</a:t>
            </a:r>
          </a:p>
          <a:p>
            <a:pPr marL="0" indent="0">
              <a:lnSpc>
                <a:spcPct val="100000"/>
              </a:lnSpc>
              <a:spcAft>
                <a:spcPts val="0"/>
              </a:spcAft>
              <a:buNone/>
            </a:pPr>
            <a:r>
              <a:rPr sz="950" b="0" i="0" lang="es-CL">
                <a:solidFill>
                  <a:srgbClr val="1F2328"/>
                </a:solidFill>
                <a:latin typeface="Consolas"/>
                <a:ea typeface="Consolas"/>
                <a:cs typeface="Consolas"/>
              </a:rPr>
              <a:t>      - (badge.x + badge.width)</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795E26"/>
                </a:solidFill>
                <a:latin typeface="Consolas"/>
                <a:ea typeface="Consolas"/>
                <a:cs typeface="Consolas"/>
              </a:rPr>
              <a:t>expect</a:t>
            </a:r>
            <a:r>
              <a:rPr sz="950" b="0" i="0" lang="es-CL">
                <a:solidFill>
                  <a:srgbClr val="1F2328"/>
                </a:solidFill>
                <a:latin typeface="Consolas"/>
                <a:ea typeface="Consolas"/>
                <a:cs typeface="Consolas"/>
              </a:rPr>
              <a:t>(gapRight).toBeLessThanOrEqual(</a:t>
            </a:r>
            <a:r>
              <a:rPr sz="950" b="0" i="0" lang="es-CL">
                <a:solidFill>
                  <a:srgbClr val="098658"/>
                </a:solidFill>
                <a:latin typeface="Consolas"/>
                <a:ea typeface="Consolas"/>
                <a:cs typeface="Consolas"/>
              </a:rPr>
              <a:t>32</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795E26"/>
                </a:solidFill>
                <a:latin typeface="Consolas"/>
                <a:ea typeface="Consolas"/>
                <a:cs typeface="Consolas"/>
              </a:rPr>
              <a:t>expect</a:t>
            </a:r>
            <a:r>
              <a:rPr sz="950" b="0" i="0" lang="es-CL">
                <a:solidFill>
                  <a:srgbClr val="1F2328"/>
                </a:solidFill>
                <a:latin typeface="Consolas"/>
                <a:ea typeface="Consolas"/>
                <a:cs typeface="Consolas"/>
              </a:rPr>
              <a:t>(badge.y - card.y).toBeLessThanOrEqual(</a:t>
            </a:r>
            <a:r>
              <a:rPr sz="950" b="0" i="0" lang="es-CL">
                <a:solidFill>
                  <a:srgbClr val="098658"/>
                </a:solidFill>
                <a:latin typeface="Consolas"/>
                <a:ea typeface="Consolas"/>
                <a:cs typeface="Consolas"/>
              </a:rPr>
              <a:t>32</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p>
        </p:txBody>
      </p:sp>
      <p:sp>
        <p:nvSpPr>
          <p:cNvPr id="7" name="Rounded Rectangle 6"/>
          <p:cNvSpPr/>
          <p:nvPr/>
        </p:nvSpPr>
        <p:spPr>
          <a:xfrm>
            <a:off x="5623560" y="1188720"/>
            <a:ext cx="3108960" cy="1691640"/>
          </a:xfrm>
          <a:prstGeom prst="roundRect">
            <a:avLst>
              <a:gd name="adj" fmla="val 4324"/>
            </a:avLst>
          </a:prstGeom>
          <a:solidFill>
            <a:srgbClr val="FFFFFF"/>
          </a:solidFill>
          <a:ln w="15875">
            <a:solidFill>
              <a:srgbClr val="D0D7DE"/>
            </a:solidFill>
          </a:ln>
        </p:spPr>
        <p:txBody>
          <a:bodyPr rtlCol="0" anchor="ctr" wrap="square" lIns="54864" rIns="54864" tIns="54864" bIns="54864"/>
          <a:lstStyle/>
          <a:p>
            <a:pPr algn="ctr"/>
          </a:p>
        </p:txBody>
      </p:sp>
      <p:sp>
        <p:nvSpPr>
          <p:cNvPr id="8" name="TextBox 7"/>
          <p:cNvSpPr txBox="1"/>
          <p:nvPr/>
        </p:nvSpPr>
        <p:spPr>
          <a:xfrm>
            <a:off x="5760720" y="1298448"/>
            <a:ext cx="1920240" cy="457200"/>
          </a:xfrm>
          <a:prstGeom prst="rect">
            <a:avLst/>
          </a:prstGeom>
          <a:noFill/>
        </p:spPr>
        <p:txBody>
          <a:bodyPr wrap="square" lIns="36576" rIns="36576" tIns="36576" bIns="36576" anchor="t"/>
          <a:lstStyle/>
          <a:p>
            <a:pPr algn="l" marL="0" indent="0">
              <a:spcAft>
                <a:spcPts val="400"/>
              </a:spcAft>
              <a:buNone/>
            </a:pPr>
            <a:r>
              <a:rPr sz="1000" b="1" i="0" lang="es-CL">
                <a:solidFill>
                  <a:srgbClr val="1F2328"/>
                </a:solidFill>
                <a:latin typeface="Inter"/>
                <a:ea typeface="Inter"/>
                <a:cs typeface="Inter"/>
              </a:rPr>
              <a:t>La casa de los espíritus</a:t>
            </a:r>
          </a:p>
        </p:txBody>
      </p:sp>
      <p:sp>
        <p:nvSpPr>
          <p:cNvPr id="9" name="TextBox 8"/>
          <p:cNvSpPr txBox="1"/>
          <p:nvPr/>
        </p:nvSpPr>
        <p:spPr>
          <a:xfrm>
            <a:off x="5760720" y="1783080"/>
            <a:ext cx="1737360" cy="274320"/>
          </a:xfrm>
          <a:prstGeom prst="rect">
            <a:avLst/>
          </a:prstGeom>
          <a:noFill/>
        </p:spPr>
        <p:txBody>
          <a:bodyPr wrap="square" lIns="36576" rIns="36576" tIns="36576" bIns="36576" anchor="t"/>
          <a:lstStyle/>
          <a:p>
            <a:pPr algn="l" marL="0" indent="0">
              <a:spcAft>
                <a:spcPts val="400"/>
              </a:spcAft>
              <a:buNone/>
            </a:pPr>
            <a:r>
              <a:rPr sz="900" b="0" i="0" lang="es-CL">
                <a:solidFill>
                  <a:srgbClr val="57606A"/>
                </a:solidFill>
                <a:latin typeface="Inter"/>
                <a:ea typeface="Inter"/>
                <a:cs typeface="Inter"/>
              </a:rPr>
              <a:t>Isabel Allende</a:t>
            </a:r>
          </a:p>
        </p:txBody>
      </p:sp>
      <p:sp>
        <p:nvSpPr>
          <p:cNvPr id="10" name="TextBox 9"/>
          <p:cNvSpPr txBox="1"/>
          <p:nvPr/>
        </p:nvSpPr>
        <p:spPr>
          <a:xfrm>
            <a:off x="5760720" y="2029968"/>
            <a:ext cx="2011680" cy="274320"/>
          </a:xfrm>
          <a:prstGeom prst="rect">
            <a:avLst/>
          </a:prstGeom>
          <a:noFill/>
        </p:spPr>
        <p:txBody>
          <a:bodyPr wrap="square" lIns="36576" rIns="36576" tIns="36576" bIns="36576" anchor="t"/>
          <a:lstStyle/>
          <a:p>
            <a:pPr algn="l" marL="0" indent="0">
              <a:spcAft>
                <a:spcPts val="400"/>
              </a:spcAft>
              <a:buNone/>
            </a:pPr>
            <a:r>
              <a:rPr sz="800" b="0" i="0" lang="es-CL">
                <a:solidFill>
                  <a:srgbClr val="8C959F"/>
                </a:solidFill>
                <a:latin typeface="Inter"/>
                <a:ea typeface="Inter"/>
                <a:cs typeface="Inter"/>
              </a:rPr>
              <a:t>ISBN 978-00-633-7677-9</a:t>
            </a:r>
          </a:p>
        </p:txBody>
      </p:sp>
      <p:sp>
        <p:nvSpPr>
          <p:cNvPr id="11" name="Rounded Rectangle 10"/>
          <p:cNvSpPr/>
          <p:nvPr/>
        </p:nvSpPr>
        <p:spPr>
          <a:xfrm>
            <a:off x="7772400" y="1298448"/>
            <a:ext cx="841248" cy="274320"/>
          </a:xfrm>
          <a:prstGeom prst="roundRect">
            <a:avLst>
              <a:gd name="adj" fmla="val 26666"/>
            </a:avLst>
          </a:prstGeom>
          <a:solidFill>
            <a:srgbClr val="B42318"/>
          </a:solidFill>
          <a:ln>
            <a:noFill/>
          </a:ln>
        </p:spPr>
        <p:txBody>
          <a:bodyPr rtlCol="0" anchor="ctr" wrap="square" lIns="54864" rIns="54864" tIns="54864" bIns="54864"/>
          <a:lstStyle/>
          <a:p>
            <a:pPr algn="ctr" marL="0" indent="0">
              <a:spcAft>
                <a:spcPts val="200"/>
              </a:spcAft>
              <a:buNone/>
            </a:pPr>
            <a:r>
              <a:rPr sz="900" b="1" i="0" lang="es-CL">
                <a:solidFill>
                  <a:srgbClr val="FFFFFF"/>
                </a:solidFill>
                <a:latin typeface="Inter"/>
                <a:ea typeface="Inter"/>
                <a:cs typeface="Inter"/>
              </a:rPr>
              <a:t>Agotado</a:t>
            </a:r>
          </a:p>
        </p:txBody>
      </p:sp>
      <p:sp>
        <p:nvSpPr>
          <p:cNvPr id="12" name="Rounded Rectangle 11"/>
          <p:cNvSpPr/>
          <p:nvPr/>
        </p:nvSpPr>
        <p:spPr>
          <a:xfrm>
            <a:off x="5760720" y="2395728"/>
            <a:ext cx="1188720" cy="329184"/>
          </a:xfrm>
          <a:prstGeom prst="roundRect">
            <a:avLst>
              <a:gd name="adj" fmla="val 22222"/>
            </a:avLst>
          </a:prstGeom>
          <a:solidFill>
            <a:srgbClr val="E4E7EC"/>
          </a:solidFill>
          <a:ln>
            <a:noFill/>
          </a:ln>
        </p:spPr>
        <p:txBody>
          <a:bodyPr rtlCol="0" anchor="ctr" wrap="square" lIns="54864" rIns="54864" tIns="54864" bIns="54864"/>
          <a:lstStyle/>
          <a:p>
            <a:pPr algn="ctr" marL="0" indent="0">
              <a:spcAft>
                <a:spcPts val="200"/>
              </a:spcAft>
              <a:buNone/>
            </a:pPr>
            <a:r>
              <a:rPr sz="850" b="1" i="0" lang="es-CL">
                <a:solidFill>
                  <a:srgbClr val="57606A"/>
                </a:solidFill>
                <a:latin typeface="Inter"/>
                <a:ea typeface="Inter"/>
                <a:cs typeface="Inter"/>
              </a:rPr>
              <a:t>Pedir prestado</a:t>
            </a:r>
          </a:p>
        </p:txBody>
      </p:sp>
      <p:cxnSp>
        <p:nvCxnSpPr>
          <p:cNvPr id="13" name="Connector 12"/>
          <p:cNvCxnSpPr/>
          <p:nvPr/>
        </p:nvCxnSpPr>
        <p:spPr>
          <a:xfrm>
            <a:off x="8613648" y="1078992"/>
            <a:ext cx="0" cy="201168"/>
          </a:xfrm>
          <a:prstGeom prst="line">
            <a:avLst/>
          </a:prstGeom>
          <a:ln w="15875">
            <a:solidFill>
              <a:srgbClr val="9900FF"/>
            </a:solidFill>
            <a:headEnd type="triangle" w="med" len="med"/>
            <a:tailEnd type="triangle" w="med" len="med"/>
          </a:ln>
        </p:spPr>
      </p:cxnSp>
      <p:sp>
        <p:nvSpPr>
          <p:cNvPr id="14" name="TextBox 13"/>
          <p:cNvSpPr txBox="1"/>
          <p:nvPr/>
        </p:nvSpPr>
        <p:spPr>
          <a:xfrm>
            <a:off x="6949440" y="896112"/>
            <a:ext cx="1600200" cy="201168"/>
          </a:xfrm>
          <a:prstGeom prst="rect">
            <a:avLst/>
          </a:prstGeom>
          <a:noFill/>
        </p:spPr>
        <p:txBody>
          <a:bodyPr wrap="square" lIns="36576" rIns="36576" tIns="36576" bIns="36576" anchor="t"/>
          <a:lstStyle/>
          <a:p>
            <a:pPr algn="r" marL="0" indent="0">
              <a:spcAft>
                <a:spcPts val="400"/>
              </a:spcAft>
              <a:buNone/>
            </a:pPr>
            <a:r>
              <a:rPr sz="850" b="1" i="0" lang="es-CL">
                <a:solidFill>
                  <a:srgbClr val="9900FF"/>
                </a:solidFill>
                <a:latin typeface="Inter"/>
                <a:ea typeface="Inter"/>
                <a:cs typeface="Inter"/>
              </a:rPr>
              <a:t>≤ 32 px</a:t>
            </a:r>
          </a:p>
        </p:txBody>
      </p:sp>
      <p:sp>
        <p:nvSpPr>
          <p:cNvPr id="15" name="TextBox 14"/>
          <p:cNvSpPr txBox="1"/>
          <p:nvPr/>
        </p:nvSpPr>
        <p:spPr>
          <a:xfrm>
            <a:off x="5623560" y="3017520"/>
            <a:ext cx="3108960" cy="150876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950" b="1" i="0" lang="es-CL">
                <a:solidFill>
                  <a:srgbClr val="1F2328"/>
                </a:solidFill>
                <a:latin typeface="Inter"/>
                <a:ea typeface="Inter"/>
                <a:cs typeface="Inter"/>
              </a:rPr>
              <a:t>toHaveCSS</a:t>
            </a:r>
            <a:r>
              <a:rPr sz="950" b="0" i="0" lang="es-CL">
                <a:solidFill>
                  <a:srgbClr val="1F2328"/>
                </a:solidFill>
                <a:latin typeface="Inter"/>
                <a:ea typeface="Inter"/>
                <a:cs typeface="Inter"/>
              </a:rPr>
              <a:t> fija el color del token de diseño (UI-CAT-2) y el gris del botón deshabilitado (UI-CAT-3).</a:t>
            </a:r>
          </a:p>
          <a:p>
            <a:pPr algn="l" marL="182880" indent="-164592">
              <a:spcAft>
                <a:spcPts val="400"/>
              </a:spcAft>
              <a:buClr>
                <a:srgbClr val="F2617A"/>
              </a:buClr>
              <a:buSzPct val="100000"/>
              <a:buFont typeface="Arial"/>
              <a:buChar char="●"/>
            </a:pPr>
            <a:r>
              <a:rPr sz="950" b="1" i="0" lang="es-CL">
                <a:solidFill>
                  <a:srgbClr val="1F2328"/>
                </a:solidFill>
                <a:latin typeface="Inter"/>
                <a:ea typeface="Inter"/>
                <a:cs typeface="Inter"/>
              </a:rPr>
              <a:t>boundingBox</a:t>
            </a:r>
            <a:r>
              <a:rPr sz="950" b="0" i="0" lang="es-CL">
                <a:solidFill>
                  <a:srgbClr val="1F2328"/>
                </a:solidFill>
                <a:latin typeface="Inter"/>
                <a:ea typeface="Inter"/>
                <a:cs typeface="Inter"/>
              </a:rPr>
              <a:t> fija la posición: insignia arriba a la derecha y grilla de 3 columnas en 1280 px, 1 en 390 px (UI-CAT-4).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Accesibilidad</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Audita la página contra reglas WCAG: contraste, etiquetas, roles, foco.</a:t>
            </a:r>
          </a:p>
        </p:txBody>
      </p:sp>
      <p:sp>
        <p:nvSpPr>
          <p:cNvPr id="6" name="Rounded Rectangle 5"/>
          <p:cNvSpPr/>
          <p:nvPr/>
        </p:nvSpPr>
        <p:spPr>
          <a:xfrm>
            <a:off x="411480" y="1783080"/>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755648"/>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Inputs sin label, contraste insuficiente, imágenes sin texto alternativo.</a:t>
            </a:r>
          </a:p>
        </p:txBody>
      </p:sp>
      <p:sp>
        <p:nvSpPr>
          <p:cNvPr id="8" name="Rounded Rectangle 7"/>
          <p:cNvSpPr/>
          <p:nvPr/>
        </p:nvSpPr>
        <p:spPr>
          <a:xfrm>
            <a:off x="411480" y="2459735"/>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432303"/>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axe-core con @axe-core/playwright. Lighthouse para el puntaje general.</a:t>
            </a:r>
          </a:p>
        </p:txBody>
      </p:sp>
      <p:sp>
        <p:nvSpPr>
          <p:cNvPr id="10" name="Rounded Rectangle 9"/>
          <p:cNvSpPr/>
          <p:nvPr/>
        </p:nvSpPr>
        <p:spPr>
          <a:xfrm>
            <a:off x="411480" y="3136391"/>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3108960"/>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7, junto a los E2E con mock server.</a:t>
            </a:r>
          </a:p>
        </p:txBody>
      </p:sp>
      <p:sp>
        <p:nvSpPr>
          <p:cNvPr id="12" name="Rounded Rectangle 11"/>
          <p:cNvSpPr/>
          <p:nvPr/>
        </p:nvSpPr>
        <p:spPr>
          <a:xfrm>
            <a:off x="411480" y="3648456"/>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621024"/>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Cap. 9: Lighthouse p. 295, axe-core p. 297, Pa11y p. 302.</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frontend/tests/a11y/pages.a11y.spec.ts (extracto)</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900" b="0" i="0" lang="es-CL">
                <a:solidFill>
                  <a:srgbClr val="008000"/>
                </a:solidFill>
                <a:latin typeface="Consolas"/>
                <a:ea typeface="Consolas"/>
                <a:cs typeface="Consolas"/>
              </a:rPr>
              <a:t>// Cero violaciones WCAG 2.0 y 2.1, nivel A y AA. No reemplaza</a:t>
            </a:r>
          </a:p>
          <a:p>
            <a:pPr marL="0" indent="0">
              <a:lnSpc>
                <a:spcPct val="100000"/>
              </a:lnSpc>
              <a:spcAft>
                <a:spcPts val="0"/>
              </a:spcAft>
              <a:buNone/>
            </a:pPr>
            <a:r>
              <a:rPr sz="900" b="0" i="0" lang="es-CL">
                <a:solidFill>
                  <a:srgbClr val="008000"/>
                </a:solidFill>
                <a:latin typeface="Consolas"/>
                <a:ea typeface="Consolas"/>
                <a:cs typeface="Consolas"/>
              </a:rPr>
              <a:t>// la revisión manual con teclado y lector de pantalla.</a:t>
            </a:r>
          </a:p>
          <a:p>
            <a:pPr marL="0" indent="0">
              <a:lnSpc>
                <a:spcPct val="100000"/>
              </a:lnSpc>
              <a:spcAft>
                <a:spcPts val="0"/>
              </a:spcAft>
              <a:buNone/>
            </a:pPr>
            <a:r>
              <a:rPr sz="900" b="0" i="0" lang="es-CL">
                <a:solidFill>
                  <a:srgbClr val="0000FF"/>
                </a:solidFill>
                <a:latin typeface="Consolas"/>
                <a:ea typeface="Consolas"/>
                <a:cs typeface="Consolas"/>
              </a:rPr>
              <a:t>async</a:t>
            </a: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function</a:t>
            </a:r>
            <a:r>
              <a:rPr sz="900" b="0" i="0" lang="es-CL">
                <a:solidFill>
                  <a:srgbClr val="1F2328"/>
                </a:solidFill>
                <a:latin typeface="Consolas"/>
                <a:ea typeface="Consolas"/>
                <a:cs typeface="Consolas"/>
              </a:rPr>
              <a:t> expectNoViolations(page: Page) {</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const</a:t>
            </a:r>
            <a:r>
              <a:rPr sz="900" b="0" i="0" lang="es-CL">
                <a:solidFill>
                  <a:srgbClr val="1F2328"/>
                </a:solidFill>
                <a:latin typeface="Consolas"/>
                <a:ea typeface="Consolas"/>
                <a:cs typeface="Consolas"/>
              </a:rPr>
              <a:t> results = </a:t>
            </a:r>
            <a:r>
              <a:rPr sz="900" b="0" i="0" lang="es-CL">
                <a:solidFill>
                  <a:srgbClr val="AF00DB"/>
                </a:solidFill>
                <a:latin typeface="Consolas"/>
                <a:ea typeface="Consolas"/>
                <a:cs typeface="Consolas"/>
              </a:rPr>
              <a:t>await</a:t>
            </a: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new</a:t>
            </a:r>
            <a:r>
              <a:rPr sz="900" b="0" i="0" lang="es-CL">
                <a:solidFill>
                  <a:srgbClr val="1F2328"/>
                </a:solidFill>
                <a:latin typeface="Consolas"/>
                <a:ea typeface="Consolas"/>
                <a:cs typeface="Consolas"/>
              </a:rPr>
              <a:t> AxeBuilder({ page })</a:t>
            </a:r>
          </a:p>
          <a:p>
            <a:pPr marL="0" indent="0">
              <a:lnSpc>
                <a:spcPct val="100000"/>
              </a:lnSpc>
              <a:spcAft>
                <a:spcPts val="0"/>
              </a:spcAft>
              <a:buNone/>
            </a:pPr>
            <a:r>
              <a:rPr sz="900" b="0" i="0" lang="es-CL">
                <a:solidFill>
                  <a:srgbClr val="1F2328"/>
                </a:solidFill>
                <a:latin typeface="Consolas"/>
                <a:ea typeface="Consolas"/>
                <a:cs typeface="Consolas"/>
              </a:rPr>
              <a:t>    .withTags([</a:t>
            </a:r>
            <a:r>
              <a:rPr sz="900" b="0" i="0" lang="es-CL">
                <a:solidFill>
                  <a:srgbClr val="A31515"/>
                </a:solidFill>
                <a:latin typeface="Consolas"/>
                <a:ea typeface="Consolas"/>
                <a:cs typeface="Consolas"/>
              </a:rPr>
              <a:t>'wcag2a'</a:t>
            </a:r>
            <a:r>
              <a:rPr sz="900" b="0" i="0" lang="es-CL">
                <a:solidFill>
                  <a:srgbClr val="1F2328"/>
                </a:solidFill>
                <a:latin typeface="Consolas"/>
                <a:ea typeface="Consolas"/>
                <a:cs typeface="Consolas"/>
              </a:rPr>
              <a:t>, </a:t>
            </a:r>
            <a:r>
              <a:rPr sz="900" b="0" i="0" lang="es-CL">
                <a:solidFill>
                  <a:srgbClr val="A31515"/>
                </a:solidFill>
                <a:latin typeface="Consolas"/>
                <a:ea typeface="Consolas"/>
                <a:cs typeface="Consolas"/>
              </a:rPr>
              <a:t>'wcag2aa'</a:t>
            </a:r>
            <a:r>
              <a:rPr sz="900" b="0" i="0" lang="es-CL">
                <a:solidFill>
                  <a:srgbClr val="1F2328"/>
                </a:solidFill>
                <a:latin typeface="Consolas"/>
                <a:ea typeface="Consolas"/>
                <a:cs typeface="Consolas"/>
              </a:rPr>
              <a:t>, </a:t>
            </a:r>
            <a:r>
              <a:rPr sz="900" b="0" i="0" lang="es-CL">
                <a:solidFill>
                  <a:srgbClr val="A31515"/>
                </a:solidFill>
                <a:latin typeface="Consolas"/>
                <a:ea typeface="Consolas"/>
                <a:cs typeface="Consolas"/>
              </a:rPr>
              <a:t>'wcag21a'</a:t>
            </a:r>
            <a:r>
              <a:rPr sz="900" b="0" i="0" lang="es-CL">
                <a:solidFill>
                  <a:srgbClr val="1F2328"/>
                </a:solidFill>
                <a:latin typeface="Consolas"/>
                <a:ea typeface="Consolas"/>
                <a:cs typeface="Consolas"/>
              </a:rPr>
              <a:t>, </a:t>
            </a:r>
            <a:r>
              <a:rPr sz="900" b="0" i="0" lang="es-CL">
                <a:solidFill>
                  <a:srgbClr val="A31515"/>
                </a:solidFill>
                <a:latin typeface="Consolas"/>
                <a:ea typeface="Consolas"/>
                <a:cs typeface="Consolas"/>
              </a:rPr>
              <a:t>'wcag21aa'</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.analyze()</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const</a:t>
            </a:r>
            <a:r>
              <a:rPr sz="900" b="0" i="0" lang="es-CL">
                <a:solidFill>
                  <a:srgbClr val="1F2328"/>
                </a:solidFill>
                <a:latin typeface="Consolas"/>
                <a:ea typeface="Consolas"/>
                <a:cs typeface="Consolas"/>
              </a:rPr>
              <a:t> summary = results.violations.map(</a:t>
            </a:r>
          </a:p>
          <a:p>
            <a:pPr marL="0" indent="0">
              <a:lnSpc>
                <a:spcPct val="100000"/>
              </a:lnSpc>
              <a:spcAft>
                <a:spcPts val="0"/>
              </a:spcAft>
              <a:buNone/>
            </a:pPr>
            <a:r>
              <a:rPr sz="900" b="0" i="0" lang="es-CL">
                <a:solidFill>
                  <a:srgbClr val="1F2328"/>
                </a:solidFill>
                <a:latin typeface="Consolas"/>
                <a:ea typeface="Consolas"/>
                <a:cs typeface="Consolas"/>
              </a:rPr>
              <a:t>    (v) =&gt; </a:t>
            </a:r>
            <a:r>
              <a:rPr sz="900" b="0" i="0" lang="es-CL">
                <a:solidFill>
                  <a:srgbClr val="A31515"/>
                </a:solidFill>
                <a:latin typeface="Consolas"/>
                <a:ea typeface="Consolas"/>
                <a:cs typeface="Consolas"/>
              </a:rPr>
              <a:t>`${v.id}: ${v.help} (${v.nodes.length})`</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795E26"/>
                </a:solidFill>
                <a:latin typeface="Consolas"/>
                <a:ea typeface="Consolas"/>
                <a:cs typeface="Consolas"/>
              </a:rPr>
              <a:t>expect</a:t>
            </a:r>
            <a:r>
              <a:rPr sz="900" b="0" i="0" lang="es-CL">
                <a:solidFill>
                  <a:srgbClr val="1F2328"/>
                </a:solidFill>
                <a:latin typeface="Consolas"/>
                <a:ea typeface="Consolas"/>
                <a:cs typeface="Consolas"/>
              </a:rPr>
              <a:t>(summary).toEqual([])</a:t>
            </a:r>
          </a:p>
          <a:p>
            <a:pPr marL="0" indent="0">
              <a:lnSpc>
                <a:spcPct val="100000"/>
              </a:lnSpc>
              <a:spcAft>
                <a:spcPts val="0"/>
              </a:spcAft>
              <a:buNone/>
            </a:pP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795E26"/>
                </a:solidFill>
                <a:latin typeface="Consolas"/>
                <a:ea typeface="Consolas"/>
                <a:cs typeface="Consolas"/>
              </a:rPr>
              <a:t>test</a:t>
            </a:r>
            <a:r>
              <a:rPr sz="900" b="0" i="0" lang="es-CL">
                <a:solidFill>
                  <a:srgbClr val="1F2328"/>
                </a:solidFill>
                <a:latin typeface="Consolas"/>
                <a:ea typeface="Consolas"/>
                <a:cs typeface="Consolas"/>
              </a:rPr>
              <a:t>(</a:t>
            </a:r>
            <a:r>
              <a:rPr sz="900" b="0" i="0" lang="es-CL">
                <a:solidFill>
                  <a:srgbClr val="A31515"/>
                </a:solidFill>
                <a:latin typeface="Consolas"/>
                <a:ea typeface="Consolas"/>
                <a:cs typeface="Consolas"/>
              </a:rPr>
              <a:t>'</a:t>
            </a:r>
            <a:r>
              <a:rPr sz="900" b="1" i="0" lang="es-CL">
                <a:solidFill>
                  <a:srgbClr val="9900FF"/>
                </a:solidFill>
                <a:latin typeface="Consolas"/>
                <a:ea typeface="Consolas"/>
                <a:cs typeface="Consolas"/>
              </a:rPr>
              <a:t>[UI-CAT-1]</a:t>
            </a:r>
            <a:r>
              <a:rPr sz="900" b="0" i="0" lang="es-CL">
                <a:solidFill>
                  <a:srgbClr val="A31515"/>
                </a:solidFill>
                <a:latin typeface="Consolas"/>
                <a:ea typeface="Consolas"/>
                <a:cs typeface="Consolas"/>
              </a:rPr>
              <a:t> el catálogo no tiene violaciones WCAG A/AA'</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async</a:t>
            </a:r>
            <a:r>
              <a:rPr sz="900" b="0" i="0" lang="es-CL">
                <a:solidFill>
                  <a:srgbClr val="1F2328"/>
                </a:solidFill>
                <a:latin typeface="Consolas"/>
                <a:ea typeface="Consolas"/>
                <a:cs typeface="Consolas"/>
              </a:rPr>
              <a:t> ({ page }) =&gt; {</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F00DB"/>
                </a:solidFill>
                <a:latin typeface="Consolas"/>
                <a:ea typeface="Consolas"/>
                <a:cs typeface="Consolas"/>
              </a:rPr>
              <a:t>await</a:t>
            </a:r>
            <a:r>
              <a:rPr sz="900" b="0" i="0" lang="es-CL">
                <a:solidFill>
                  <a:srgbClr val="1F2328"/>
                </a:solidFill>
                <a:latin typeface="Consolas"/>
                <a:ea typeface="Consolas"/>
                <a:cs typeface="Consolas"/>
              </a:rPr>
              <a:t> openCatalog(page)</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F00DB"/>
                </a:solidFill>
                <a:latin typeface="Consolas"/>
                <a:ea typeface="Consolas"/>
                <a:cs typeface="Consolas"/>
              </a:rPr>
              <a:t>await</a:t>
            </a:r>
            <a:r>
              <a:rPr sz="900" b="0" i="0" lang="es-CL">
                <a:solidFill>
                  <a:srgbClr val="1F2328"/>
                </a:solidFill>
                <a:latin typeface="Consolas"/>
                <a:ea typeface="Consolas"/>
                <a:cs typeface="Consolas"/>
              </a:rPr>
              <a:t> expectNoViolations(page)</a:t>
            </a:r>
          </a:p>
          <a:p>
            <a:pPr marL="0" indent="0">
              <a:lnSpc>
                <a:spcPct val="100000"/>
              </a:lnSpc>
              <a:spcAft>
                <a:spcPts val="0"/>
              </a:spcAft>
              <a:buNone/>
            </a:pPr>
            <a:r>
              <a:rPr sz="900" b="0" i="0" lang="es-CL">
                <a:solidFill>
                  <a:srgbClr val="1F2328"/>
                </a:solidFill>
                <a:latin typeface="Consolas"/>
                <a:ea typeface="Consolas"/>
                <a:cs typeface="Consolas"/>
              </a:rPr>
              <a:t>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Performance</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Mide tiempos de carga del frontend y latencia de la API bajo carga.</a:t>
            </a:r>
          </a:p>
        </p:txBody>
      </p:sp>
      <p:sp>
        <p:nvSpPr>
          <p:cNvPr id="6" name="Rounded Rectangle 5"/>
          <p:cNvSpPr/>
          <p:nvPr/>
        </p:nvSpPr>
        <p:spPr>
          <a:xfrm>
            <a:off x="411480" y="1618488"/>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591056"/>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Regresiones de rendimiento: bundles que crecen, endpoints que se vuelven lentos.</a:t>
            </a:r>
          </a:p>
        </p:txBody>
      </p:sp>
      <p:sp>
        <p:nvSpPr>
          <p:cNvPr id="8" name="Rounded Rectangle 7"/>
          <p:cNvSpPr/>
          <p:nvPr/>
        </p:nvSpPr>
        <p:spPr>
          <a:xfrm>
            <a:off x="411480" y="2295144"/>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267712"/>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k6 contra la API y Lighthouse para el frontend. El libro usa JMeter y Gatling.</a:t>
            </a:r>
          </a:p>
        </p:txBody>
      </p:sp>
      <p:sp>
        <p:nvSpPr>
          <p:cNvPr id="10" name="Rounded Rectangle 9"/>
          <p:cNvSpPr/>
          <p:nvPr/>
        </p:nvSpPr>
        <p:spPr>
          <a:xfrm>
            <a:off x="411480" y="2971800"/>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2944368"/>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9, contra el stack real. La carga de verdad va en un ambiente dedicado.</a:t>
            </a:r>
          </a:p>
        </p:txBody>
      </p:sp>
      <p:sp>
        <p:nvSpPr>
          <p:cNvPr id="12" name="Rounded Rectangle 11"/>
          <p:cNvSpPr/>
          <p:nvPr/>
        </p:nvSpPr>
        <p:spPr>
          <a:xfrm>
            <a:off x="411480" y="3648456"/>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621024"/>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Cap. 8: JMeter p. 254, Gatling p. 261, Lighthouse p. 270.</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tools/perf/k6-smoke.js (extracto)</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950" b="0" i="0" lang="es-CL">
                <a:solidFill>
                  <a:srgbClr val="008000"/>
                </a:solidFill>
                <a:latin typeface="Consolas"/>
                <a:ea typeface="Consolas"/>
                <a:cs typeface="Consolas"/>
              </a:rPr>
              <a:t>// No es una prueba de carga: 5 usuarios virtuales durante</a:t>
            </a:r>
          </a:p>
          <a:p>
            <a:pPr marL="0" indent="0">
              <a:lnSpc>
                <a:spcPct val="100000"/>
              </a:lnSpc>
              <a:spcAft>
                <a:spcPts val="0"/>
              </a:spcAft>
              <a:buNone/>
            </a:pPr>
            <a:r>
              <a:rPr sz="950" b="0" i="0" lang="es-CL">
                <a:solidFill>
                  <a:srgbClr val="008000"/>
                </a:solidFill>
                <a:latin typeface="Consolas"/>
                <a:ea typeface="Consolas"/>
                <a:cs typeface="Consolas"/>
              </a:rPr>
              <a:t>// 20 segundos contra el stack real (etapa 9).</a:t>
            </a:r>
          </a:p>
          <a:p>
            <a:pPr marL="0" indent="0">
              <a:lnSpc>
                <a:spcPct val="100000"/>
              </a:lnSpc>
              <a:spcAft>
                <a:spcPts val="0"/>
              </a:spcAft>
              <a:buNone/>
            </a:pPr>
            <a:r>
              <a:rPr sz="950" b="0" i="0" lang="es-CL">
                <a:solidFill>
                  <a:srgbClr val="AF00DB"/>
                </a:solidFill>
                <a:latin typeface="Consolas"/>
                <a:ea typeface="Consolas"/>
                <a:cs typeface="Consolas"/>
              </a:rPr>
              <a:t>export</a:t>
            </a:r>
            <a:r>
              <a:rPr sz="950" b="0" i="0" lang="es-CL">
                <a:solidFill>
                  <a:srgbClr val="1F2328"/>
                </a:solidFill>
                <a:latin typeface="Consolas"/>
                <a:ea typeface="Consolas"/>
                <a:cs typeface="Consolas"/>
              </a:rPr>
              <a:t> </a:t>
            </a:r>
            <a:r>
              <a:rPr sz="950" b="0" i="0" lang="es-CL">
                <a:solidFill>
                  <a:srgbClr val="0000FF"/>
                </a:solidFill>
                <a:latin typeface="Consolas"/>
                <a:ea typeface="Consolas"/>
                <a:cs typeface="Consolas"/>
              </a:rPr>
              <a:t>const</a:t>
            </a:r>
            <a:r>
              <a:rPr sz="950" b="0" i="0" lang="es-CL">
                <a:solidFill>
                  <a:srgbClr val="1F2328"/>
                </a:solidFill>
                <a:latin typeface="Consolas"/>
                <a:ea typeface="Consolas"/>
                <a:cs typeface="Consolas"/>
              </a:rPr>
              <a:t> options = {</a:t>
            </a:r>
          </a:p>
          <a:p>
            <a:pPr marL="0" indent="0">
              <a:lnSpc>
                <a:spcPct val="100000"/>
              </a:lnSpc>
              <a:spcAft>
                <a:spcPts val="0"/>
              </a:spcAft>
              <a:buNone/>
            </a:pPr>
            <a:r>
              <a:rPr sz="950" b="0" i="0" lang="es-CL">
                <a:solidFill>
                  <a:srgbClr val="1F2328"/>
                </a:solidFill>
                <a:latin typeface="Consolas"/>
                <a:ea typeface="Consolas"/>
                <a:cs typeface="Consolas"/>
              </a:rPr>
              <a:t>  vus: </a:t>
            </a:r>
            <a:r>
              <a:rPr sz="950" b="0" i="0" lang="es-CL">
                <a:solidFill>
                  <a:srgbClr val="098658"/>
                </a:solidFill>
                <a:latin typeface="Consolas"/>
                <a:ea typeface="Consolas"/>
                <a:cs typeface="Consolas"/>
              </a:rPr>
              <a:t>5</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duration: </a:t>
            </a:r>
            <a:r>
              <a:rPr sz="950" b="0" i="0" lang="es-CL">
                <a:solidFill>
                  <a:srgbClr val="A31515"/>
                </a:solidFill>
                <a:latin typeface="Consolas"/>
                <a:ea typeface="Consolas"/>
                <a:cs typeface="Consolas"/>
              </a:rPr>
              <a:t>'20s'</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thresholds: {</a:t>
            </a:r>
          </a:p>
          <a:p>
            <a:pPr marL="0" indent="0">
              <a:lnSpc>
                <a:spcPct val="100000"/>
              </a:lnSpc>
              <a:spcAft>
                <a:spcPts val="0"/>
              </a:spcAft>
              <a:buNone/>
            </a:pPr>
            <a:r>
              <a:rPr sz="950" b="0" i="0" lang="es-CL">
                <a:solidFill>
                  <a:srgbClr val="1F2328"/>
                </a:solidFill>
                <a:latin typeface="Consolas"/>
                <a:ea typeface="Consolas"/>
                <a:cs typeface="Consolas"/>
              </a:rPr>
              <a:t>    http_req_duration: [</a:t>
            </a:r>
            <a:r>
              <a:rPr sz="950" b="0" i="0" lang="es-CL">
                <a:solidFill>
                  <a:srgbClr val="A31515"/>
                </a:solidFill>
                <a:latin typeface="Consolas"/>
                <a:ea typeface="Consolas"/>
                <a:cs typeface="Consolas"/>
              </a:rPr>
              <a:t>'p(95)&lt;500'</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http_req_failed: [</a:t>
            </a:r>
            <a:r>
              <a:rPr sz="950" b="0" i="0" lang="es-CL">
                <a:solidFill>
                  <a:srgbClr val="A31515"/>
                </a:solidFill>
                <a:latin typeface="Consolas"/>
                <a:ea typeface="Consolas"/>
                <a:cs typeface="Consolas"/>
              </a:rPr>
              <a:t>'rate&lt;0.01'</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008000"/>
                </a:solidFill>
                <a:latin typeface="Consolas"/>
                <a:ea typeface="Consolas"/>
                <a:cs typeface="Consolas"/>
              </a:rPr>
              <a:t>// Cada iteración: listar el catálogo, prestar, ver mis</a:t>
            </a:r>
          </a:p>
          <a:p>
            <a:pPr marL="0" indent="0">
              <a:lnSpc>
                <a:spcPct val="100000"/>
              </a:lnSpc>
              <a:spcAft>
                <a:spcPts val="0"/>
              </a:spcAft>
              <a:buNone/>
            </a:pPr>
            <a:r>
              <a:rPr sz="950" b="0" i="0" lang="es-CL">
                <a:solidFill>
                  <a:srgbClr val="008000"/>
                </a:solidFill>
                <a:latin typeface="Consolas"/>
                <a:ea typeface="Consolas"/>
                <a:cs typeface="Consolas"/>
              </a:rPr>
              <a:t>// préstamos y devolver.</a:t>
            </a:r>
          </a:p>
          <a:p>
            <a:pPr marL="0" indent="0">
              <a:lnSpc>
                <a:spcPct val="100000"/>
              </a:lnSpc>
              <a:spcAft>
                <a:spcPts val="0"/>
              </a:spcAft>
              <a:buNone/>
            </a:pPr>
            <a:r>
              <a:rPr sz="950" b="0" i="0" lang="es-CL">
                <a:solidFill>
                  <a:srgbClr val="AF00DB"/>
                </a:solidFill>
                <a:latin typeface="Consolas"/>
                <a:ea typeface="Consolas"/>
                <a:cs typeface="Consolas"/>
              </a:rPr>
              <a:t>export</a:t>
            </a:r>
            <a:r>
              <a:rPr sz="950" b="0" i="0" lang="es-CL">
                <a:solidFill>
                  <a:srgbClr val="1F2328"/>
                </a:solidFill>
                <a:latin typeface="Consolas"/>
                <a:ea typeface="Consolas"/>
                <a:cs typeface="Consolas"/>
              </a:rPr>
              <a:t> </a:t>
            </a:r>
            <a:r>
              <a:rPr sz="950" b="0" i="0" lang="es-CL">
                <a:solidFill>
                  <a:srgbClr val="AF00DB"/>
                </a:solidFill>
                <a:latin typeface="Consolas"/>
                <a:ea typeface="Consolas"/>
                <a:cs typeface="Consolas"/>
              </a:rPr>
              <a:t>default</a:t>
            </a:r>
            <a:r>
              <a:rPr sz="950" b="0" i="0" lang="es-CL">
                <a:solidFill>
                  <a:srgbClr val="1F2328"/>
                </a:solidFill>
                <a:latin typeface="Consolas"/>
                <a:ea typeface="Consolas"/>
                <a:cs typeface="Consolas"/>
              </a:rPr>
              <a:t> </a:t>
            </a:r>
            <a:r>
              <a:rPr sz="950" b="0" i="0" lang="es-CL">
                <a:solidFill>
                  <a:srgbClr val="0000FF"/>
                </a:solidFill>
                <a:latin typeface="Consolas"/>
                <a:ea typeface="Consolas"/>
                <a:cs typeface="Consolas"/>
              </a:rPr>
              <a:t>function</a:t>
            </a:r>
            <a:r>
              <a:rPr sz="950" b="0" i="0" lang="es-CL">
                <a:solidFill>
                  <a:srgbClr val="1F2328"/>
                </a:solidFill>
                <a:latin typeface="Consolas"/>
                <a:ea typeface="Consolas"/>
                <a:cs typeface="Consolas"/>
              </a:rPr>
              <a:t> ({ bookId }) {</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0000FF"/>
                </a:solidFill>
                <a:latin typeface="Consolas"/>
                <a:ea typeface="Consolas"/>
                <a:cs typeface="Consolas"/>
              </a:rPr>
              <a:t>const</a:t>
            </a:r>
            <a:r>
              <a:rPr sz="950" b="0" i="0" lang="es-CL">
                <a:solidFill>
                  <a:srgbClr val="1F2328"/>
                </a:solidFill>
                <a:latin typeface="Consolas"/>
                <a:ea typeface="Consolas"/>
                <a:cs typeface="Consolas"/>
              </a:rPr>
              <a:t> email = </a:t>
            </a:r>
            <a:r>
              <a:rPr sz="950" b="0" i="0" lang="es-CL">
                <a:solidFill>
                  <a:srgbClr val="A31515"/>
                </a:solidFill>
                <a:latin typeface="Consolas"/>
                <a:ea typeface="Consolas"/>
                <a:cs typeface="Consolas"/>
              </a:rPr>
              <a:t>`k6-${__VU}-${__ITER}@uc.cl`</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0000FF"/>
                </a:solidFill>
                <a:latin typeface="Consolas"/>
                <a:ea typeface="Consolas"/>
                <a:cs typeface="Consolas"/>
              </a:rPr>
              <a:t>const</a:t>
            </a:r>
            <a:r>
              <a:rPr sz="950" b="0" i="0" lang="es-CL">
                <a:solidFill>
                  <a:srgbClr val="1F2328"/>
                </a:solidFill>
                <a:latin typeface="Consolas"/>
                <a:ea typeface="Consolas"/>
                <a:cs typeface="Consolas"/>
              </a:rPr>
              <a:t> list = http.get(</a:t>
            </a:r>
            <a:r>
              <a:rPr sz="950" b="0" i="0" lang="es-CL">
                <a:solidFill>
                  <a:srgbClr val="A31515"/>
                </a:solidFill>
                <a:latin typeface="Consolas"/>
                <a:ea typeface="Consolas"/>
                <a:cs typeface="Consolas"/>
              </a:rPr>
              <a:t>`${BASE_URL}/api/books`</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 tags: { name: </a:t>
            </a:r>
            <a:r>
              <a:rPr sz="950" b="0" i="0" lang="es-CL">
                <a:solidFill>
                  <a:srgbClr val="A31515"/>
                </a:solidFill>
                <a:latin typeface="Consolas"/>
                <a:ea typeface="Consolas"/>
                <a:cs typeface="Consolas"/>
              </a:rPr>
              <a:t>'listBooks'</a:t>
            </a:r>
            <a:r>
              <a:rPr sz="950" b="0" i="0" lang="es-CL">
                <a:solidFill>
                  <a:srgbClr val="1F2328"/>
                </a:solidFill>
                <a:latin typeface="Consolas"/>
                <a:ea typeface="Consolas"/>
                <a:cs typeface="Consolas"/>
              </a:rPr>
              <a:t> } })</a:t>
            </a:r>
          </a:p>
          <a:p>
            <a:pPr marL="0" indent="0">
              <a:lnSpc>
                <a:spcPct val="100000"/>
              </a:lnSpc>
              <a:spcAft>
                <a:spcPts val="0"/>
              </a:spcAft>
              <a:buNone/>
            </a:pPr>
            <a:r>
              <a:rPr sz="950" b="0" i="0" lang="es-CL">
                <a:solidFill>
                  <a:srgbClr val="1F2328"/>
                </a:solidFill>
                <a:latin typeface="Consolas"/>
                <a:ea typeface="Consolas"/>
                <a:cs typeface="Consolas"/>
              </a:rPr>
              <a:t>  check(list, { </a:t>
            </a:r>
            <a:r>
              <a:rPr sz="950" b="0" i="0" lang="es-CL">
                <a:solidFill>
                  <a:srgbClr val="A31515"/>
                </a:solidFill>
                <a:latin typeface="Consolas"/>
                <a:ea typeface="Consolas"/>
                <a:cs typeface="Consolas"/>
              </a:rPr>
              <a:t>'listBooks 200'</a:t>
            </a:r>
            <a:r>
              <a:rPr sz="950" b="0" i="0" lang="es-CL">
                <a:solidFill>
                  <a:srgbClr val="1F2328"/>
                </a:solidFill>
                <a:latin typeface="Consolas"/>
                <a:ea typeface="Consolas"/>
                <a:cs typeface="Consolas"/>
              </a:rPr>
              <a:t>: (r) =&gt; r.status === </a:t>
            </a:r>
            <a:r>
              <a:rPr sz="950" b="0" i="0" lang="es-CL">
                <a:solidFill>
                  <a:srgbClr val="098658"/>
                </a:solidFill>
                <a:latin typeface="Consolas"/>
                <a:ea typeface="Consolas"/>
                <a:cs typeface="Consolas"/>
              </a:rPr>
              <a:t>200</a:t>
            </a: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008000"/>
                </a:solidFill>
                <a:latin typeface="Consolas"/>
                <a:ea typeface="Consolas"/>
                <a:cs typeface="Consolas"/>
              </a:rPr>
              <a:t>// ...</a:t>
            </a:r>
          </a:p>
          <a:p>
            <a:pPr marL="0" indent="0">
              <a:lnSpc>
                <a:spcPct val="100000"/>
              </a:lnSpc>
              <a:spcAft>
                <a:spcPts val="0"/>
              </a:spcAft>
              <a:buNone/>
            </a:pPr>
            <a:r>
              <a:rPr sz="950" b="0" i="0" lang="es-CL">
                <a:solidFill>
                  <a:srgbClr val="1F2328"/>
                </a:solidFill>
                <a:latin typeface="Consolas"/>
                <a:ea typeface="Consolas"/>
                <a:cs typeface="Consolas"/>
              </a:rPr>
              <a: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Mutation testing: de noche, no en cada PR</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Introduce bugs pequeños (mutantes) y revisa si algún test falla.</a:t>
            </a:r>
          </a:p>
        </p:txBody>
      </p:sp>
      <p:sp>
        <p:nvSpPr>
          <p:cNvPr id="6" name="Rounded Rectangle 5"/>
          <p:cNvSpPr/>
          <p:nvPr/>
        </p:nvSpPr>
        <p:spPr>
          <a:xfrm>
            <a:off x="411480" y="1618488"/>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591056"/>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Tests que no verifican nada, valores límite sin cubrir, oráculos débiles.</a:t>
            </a:r>
          </a:p>
        </p:txBody>
      </p:sp>
      <p:sp>
        <p:nvSpPr>
          <p:cNvPr id="8" name="Rounded Rectangle 7"/>
          <p:cNvSpPr/>
          <p:nvPr/>
        </p:nvSpPr>
        <p:spPr>
          <a:xfrm>
            <a:off x="411480" y="2295144"/>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267712"/>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Stryker (StrykerJS) con Jest y Vitest.</a:t>
            </a:r>
          </a:p>
        </p:txBody>
      </p:sp>
      <p:sp>
        <p:nvSpPr>
          <p:cNvPr id="10" name="Rounded Rectangle 9"/>
          <p:cNvSpPr/>
          <p:nvPr/>
        </p:nvSpPr>
        <p:spPr>
          <a:xfrm>
            <a:off x="411480" y="2807208"/>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2779776"/>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Nightly, backend y frontend. Su reporte mejora los tests, no bloquea PR.</a:t>
            </a:r>
          </a:p>
        </p:txBody>
      </p:sp>
      <p:sp>
        <p:nvSpPr>
          <p:cNvPr id="12" name="Rounded Rectangle 11"/>
          <p:cNvSpPr/>
          <p:nvPr/>
        </p:nvSpPr>
        <p:spPr>
          <a:xfrm>
            <a:off x="411480" y="3483863"/>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456432"/>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Code coverage y mutation testing, p. 116 a 117.</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backend/stryker.config.mjs (extracto)</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1000" b="0" i="0" lang="es-CL">
                <a:solidFill>
                  <a:srgbClr val="008000"/>
                </a:solidFill>
                <a:latin typeface="Consolas"/>
                <a:ea typeface="Consolas"/>
                <a:cs typeface="Consolas"/>
              </a:rPr>
              <a:t>// Es lento (corre los tests muchas veces), por eso va en</a:t>
            </a:r>
          </a:p>
          <a:p>
            <a:pPr marL="0" indent="0">
              <a:lnSpc>
                <a:spcPct val="100000"/>
              </a:lnSpc>
              <a:spcAft>
                <a:spcPts val="0"/>
              </a:spcAft>
              <a:buNone/>
            </a:pPr>
            <a:r>
              <a:rPr sz="1000" b="0" i="0" lang="es-CL">
                <a:solidFill>
                  <a:srgbClr val="008000"/>
                </a:solidFill>
                <a:latin typeface="Consolas"/>
                <a:ea typeface="Consolas"/>
                <a:cs typeface="Consolas"/>
              </a:rPr>
              <a:t>// el pipeline nightly y no en cada PR.</a:t>
            </a:r>
          </a:p>
          <a:p>
            <a:pPr marL="0" indent="0">
              <a:lnSpc>
                <a:spcPct val="100000"/>
              </a:lnSpc>
              <a:spcAft>
                <a:spcPts val="0"/>
              </a:spcAft>
              <a:buNone/>
            </a:pPr>
            <a:r>
              <a:rPr sz="1000" b="0" i="0" lang="es-CL">
                <a:solidFill>
                  <a:srgbClr val="0000FF"/>
                </a:solidFill>
                <a:latin typeface="Consolas"/>
                <a:ea typeface="Consolas"/>
                <a:cs typeface="Consolas"/>
              </a:rPr>
              <a:t>const</a:t>
            </a:r>
            <a:r>
              <a:rPr sz="1000" b="0" i="0" lang="es-CL">
                <a:solidFill>
                  <a:srgbClr val="1F2328"/>
                </a:solidFill>
                <a:latin typeface="Consolas"/>
                <a:ea typeface="Consolas"/>
                <a:cs typeface="Consolas"/>
              </a:rPr>
              <a:t> config = {</a:t>
            </a:r>
          </a:p>
          <a:p>
            <a:pPr marL="0" indent="0">
              <a:lnSpc>
                <a:spcPct val="100000"/>
              </a:lnSpc>
              <a:spcAft>
                <a:spcPts val="0"/>
              </a:spcAft>
              <a:buNone/>
            </a:pPr>
            <a:r>
              <a:rPr sz="1000" b="0" i="0" lang="es-CL">
                <a:solidFill>
                  <a:srgbClr val="1F2328"/>
                </a:solidFill>
                <a:latin typeface="Consolas"/>
                <a:ea typeface="Consolas"/>
                <a:cs typeface="Consolas"/>
              </a:rPr>
              <a:t>  testRunner: </a:t>
            </a:r>
            <a:r>
              <a:rPr sz="1000" b="0" i="0" lang="es-CL">
                <a:solidFill>
                  <a:srgbClr val="A31515"/>
                </a:solidFill>
                <a:latin typeface="Consolas"/>
                <a:ea typeface="Consolas"/>
                <a:cs typeface="Consolas"/>
              </a:rPr>
              <a:t>'jest'</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jest: {</a:t>
            </a:r>
          </a:p>
          <a:p>
            <a:pPr marL="0" indent="0">
              <a:lnSpc>
                <a:spcPct val="100000"/>
              </a:lnSpc>
              <a:spcAft>
                <a:spcPts val="0"/>
              </a:spcAft>
              <a:buNone/>
            </a:pPr>
            <a:r>
              <a:rPr sz="1000" b="0" i="0" lang="es-CL">
                <a:solidFill>
                  <a:srgbClr val="1F2328"/>
                </a:solidFill>
                <a:latin typeface="Consolas"/>
                <a:ea typeface="Consolas"/>
                <a:cs typeface="Consolas"/>
              </a:rPr>
              <a:t>    configFile: </a:t>
            </a:r>
            <a:r>
              <a:rPr sz="1000" b="0" i="0" lang="es-CL">
                <a:solidFill>
                  <a:srgbClr val="A31515"/>
                </a:solidFill>
                <a:latin typeface="Consolas"/>
                <a:ea typeface="Consolas"/>
                <a:cs typeface="Consolas"/>
              </a:rPr>
              <a:t>'jest.unit.config.js'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enableFindRelatedTests: </a:t>
            </a:r>
            <a:r>
              <a:rPr sz="1000" b="0" i="0" lang="es-CL">
                <a:solidFill>
                  <a:srgbClr val="0000FF"/>
                </a:solidFill>
                <a:latin typeface="Consolas"/>
                <a:ea typeface="Consolas"/>
                <a:cs typeface="Consolas"/>
              </a:rPr>
              <a:t>true</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mutate: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'src/**/domain/**/*.ts'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'src/**/application/**/*.ts'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'!src/**/*.spec.ts'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coverageAnalysis: </a:t>
            </a:r>
            <a:r>
              <a:rPr sz="1000" b="0" i="0" lang="es-CL">
                <a:solidFill>
                  <a:srgbClr val="A31515"/>
                </a:solidFill>
                <a:latin typeface="Consolas"/>
                <a:ea typeface="Consolas"/>
                <a:cs typeface="Consolas"/>
              </a:rPr>
              <a:t>'perTest'</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thresholds: { high: </a:t>
            </a:r>
            <a:r>
              <a:rPr sz="1000" b="0" i="0" lang="es-CL">
                <a:solidFill>
                  <a:srgbClr val="098658"/>
                </a:solidFill>
                <a:latin typeface="Consolas"/>
                <a:ea typeface="Consolas"/>
                <a:cs typeface="Consolas"/>
              </a:rPr>
              <a:t>85</a:t>
            </a:r>
            <a:r>
              <a:rPr sz="1000" b="0" i="0" lang="es-CL">
                <a:solidFill>
                  <a:srgbClr val="1F2328"/>
                </a:solidFill>
                <a:latin typeface="Consolas"/>
                <a:ea typeface="Consolas"/>
                <a:cs typeface="Consolas"/>
              </a:rPr>
              <a:t>, low: </a:t>
            </a:r>
            <a:r>
              <a:rPr sz="1000" b="0" i="0" lang="es-CL">
                <a:solidFill>
                  <a:srgbClr val="098658"/>
                </a:solidFill>
                <a:latin typeface="Consolas"/>
                <a:ea typeface="Consolas"/>
                <a:cs typeface="Consolas"/>
              </a:rPr>
              <a:t>70</a:t>
            </a:r>
            <a:r>
              <a:rPr sz="1000" b="0" i="0" lang="es-CL">
                <a:solidFill>
                  <a:srgbClr val="1F2328"/>
                </a:solidFill>
                <a:latin typeface="Consolas"/>
                <a:ea typeface="Consolas"/>
                <a:cs typeface="Consolas"/>
              </a:rPr>
              <a:t>, break: </a:t>
            </a:r>
            <a:r>
              <a:rPr sz="1000" b="0" i="0" lang="es-CL">
                <a:solidFill>
                  <a:srgbClr val="098658"/>
                </a:solidFill>
                <a:latin typeface="Consolas"/>
                <a:ea typeface="Consolas"/>
                <a:cs typeface="Consolas"/>
              </a:rPr>
              <a:t>60</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008000"/>
                </a:solidFill>
                <a:latin typeface="Consolas"/>
                <a:ea typeface="Consolas"/>
                <a:cs typeface="Consolas"/>
              </a:rPr>
              <a:t>// En un PR puntual: npx stryker run --incremental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Revisión de código con IA basada en las specs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731519"/>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Un agente revisa el diff del PR contra la constitución, la arquitectura y el SPEC.md de cada capa.</a:t>
            </a:r>
          </a:p>
        </p:txBody>
      </p:sp>
      <p:sp>
        <p:nvSpPr>
          <p:cNvPr id="6" name="Rounded Rectangle 5"/>
          <p:cNvSpPr/>
          <p:nvPr/>
        </p:nvSpPr>
        <p:spPr>
          <a:xfrm>
            <a:off x="411480" y="1947672"/>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920240"/>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Tests sin ID o en la capa equivocada, mocks sin justificar, capas cruzadas, secretos.</a:t>
            </a:r>
          </a:p>
        </p:txBody>
      </p:sp>
      <p:sp>
        <p:nvSpPr>
          <p:cNvPr id="8" name="Rounded Rectangle 7"/>
          <p:cNvSpPr/>
          <p:nvPr/>
        </p:nvSpPr>
        <p:spPr>
          <a:xfrm>
            <a:off x="411480" y="2624328"/>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596896"/>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Claude Code Action en GitHub Actions. Otro modelo como juez.</a:t>
            </a:r>
          </a:p>
        </p:txBody>
      </p:sp>
      <p:sp>
        <p:nvSpPr>
          <p:cNvPr id="10" name="Rounded Rectangle 9"/>
          <p:cNvSpPr/>
          <p:nvPr/>
        </p:nvSpPr>
        <p:spPr>
          <a:xfrm>
            <a:off x="411480" y="3136392"/>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3108960"/>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En cada PR. Solo comenta. Sin el secreto (PR desde forks) termina en verde.</a:t>
            </a:r>
          </a:p>
        </p:txBody>
      </p:sp>
      <p:sp>
        <p:nvSpPr>
          <p:cNvPr id="12" name="Rounded Rectangle 11"/>
          <p:cNvSpPr/>
          <p:nvPr/>
        </p:nvSpPr>
        <p:spPr>
          <a:xfrm>
            <a:off x="411480" y="3813048"/>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785616"/>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Reviewer agent y LLM-as-judge p. 103. Claude en Actions p. 139.</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.github/workflows/ai-review.yml (extracto)</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1000" b="0" i="0" lang="es-CL">
                <a:solidFill>
                  <a:srgbClr val="0451A5"/>
                </a:solidFill>
                <a:latin typeface="Consolas"/>
                <a:ea typeface="Consolas"/>
                <a:cs typeface="Consolas"/>
              </a:rPr>
              <a:t>- name</a:t>
            </a:r>
            <a:r>
              <a:rPr sz="1000" b="0" i="0" lang="es-CL">
                <a:solidFill>
                  <a:srgbClr val="1F2328"/>
                </a:solidFill>
                <a:latin typeface="Consolas"/>
                <a:ea typeface="Consolas"/>
                <a:cs typeface="Consolas"/>
              </a:rPr>
              <a:t>: Revisar el PR con Claude</a:t>
            </a:r>
          </a:p>
          <a:p>
            <a:pPr marL="0" indent="0">
              <a:lnSpc>
                <a:spcPct val="100000"/>
              </a:lnSpc>
              <a:spcAft>
                <a:spcPts val="0"/>
              </a:spcAft>
              <a:buNone/>
            </a:pPr>
            <a:r>
              <a:rPr sz="1000" b="0" i="0" lang="es-CL">
                <a:solidFill>
                  <a:srgbClr val="0451A5"/>
                </a:solidFill>
                <a:latin typeface="Consolas"/>
                <a:ea typeface="Consolas"/>
                <a:cs typeface="Consolas"/>
              </a:rPr>
              <a:t>  uses</a:t>
            </a:r>
            <a:r>
              <a:rPr sz="1000" b="0" i="0" lang="es-CL">
                <a:solidFill>
                  <a:srgbClr val="1F2328"/>
                </a:solidFill>
                <a:latin typeface="Consolas"/>
                <a:ea typeface="Consolas"/>
                <a:cs typeface="Consolas"/>
              </a:rPr>
              <a:t>: anthropics/claude-code-action@925afb5 </a:t>
            </a:r>
            <a:r>
              <a:rPr sz="1000" b="0" i="0" lang="es-CL">
                <a:solidFill>
                  <a:srgbClr val="008000"/>
                </a:solidFill>
                <a:latin typeface="Consolas"/>
                <a:ea typeface="Consolas"/>
                <a:cs typeface="Consolas"/>
              </a:rPr>
              <a:t># v1.0.262</a:t>
            </a:r>
          </a:p>
          <a:p>
            <a:pPr marL="0" indent="0">
              <a:lnSpc>
                <a:spcPct val="100000"/>
              </a:lnSpc>
              <a:spcAft>
                <a:spcPts val="0"/>
              </a:spcAft>
              <a:buNone/>
            </a:pPr>
            <a:r>
              <a:rPr sz="1000" b="0" i="0" lang="es-CL">
                <a:solidFill>
                  <a:srgbClr val="0451A5"/>
                </a:solidFill>
                <a:latin typeface="Consolas"/>
                <a:ea typeface="Consolas"/>
                <a:cs typeface="Consolas"/>
              </a:rPr>
              <a:t>  with</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0451A5"/>
                </a:solidFill>
                <a:latin typeface="Consolas"/>
                <a:ea typeface="Consolas"/>
                <a:cs typeface="Consolas"/>
              </a:rPr>
              <a:t>    anthropic_api_key</a:t>
            </a:r>
            <a:r>
              <a:rPr sz="1000" b="0" i="0" lang="es-CL">
                <a:solidFill>
                  <a:srgbClr val="1F2328"/>
                </a:solidFill>
                <a:latin typeface="Consolas"/>
                <a:ea typeface="Consolas"/>
                <a:cs typeface="Consolas"/>
              </a:rPr>
              <a:t>: ${{ secrets.ANTHROPIC_API_KEY }}</a:t>
            </a:r>
          </a:p>
          <a:p>
            <a:pPr marL="0" indent="0">
              <a:lnSpc>
                <a:spcPct val="100000"/>
              </a:lnSpc>
              <a:spcAft>
                <a:spcPts val="0"/>
              </a:spcAft>
              <a:buNone/>
            </a:pPr>
            <a:r>
              <a:rPr sz="1000" b="0" i="0" lang="es-CL">
                <a:solidFill>
                  <a:srgbClr val="0451A5"/>
                </a:solidFill>
                <a:latin typeface="Consolas"/>
                <a:ea typeface="Consolas"/>
                <a:cs typeface="Consolas"/>
              </a:rPr>
              <a:t>    prompt</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98658"/>
                </a:solidFill>
                <a:latin typeface="Consolas"/>
                <a:ea typeface="Consolas"/>
                <a:cs typeface="Consolas"/>
              </a:rPr>
              <a:t>1</a:t>
            </a:r>
            <a:r>
              <a:rPr sz="1000" b="0" i="0" lang="es-CL">
                <a:solidFill>
                  <a:srgbClr val="1F2328"/>
                </a:solidFill>
                <a:latin typeface="Consolas"/>
                <a:ea typeface="Consolas"/>
                <a:cs typeface="Consolas"/>
              </a:rPr>
              <a:t>. Lee primero specs/constitution.md (P4 y P5),</a:t>
            </a:r>
          </a:p>
          <a:p>
            <a:pPr marL="0" indent="0">
              <a:lnSpc>
                <a:spcPct val="100000"/>
              </a:lnSpc>
              <a:spcAft>
                <a:spcPts val="0"/>
              </a:spcAft>
              <a:buNone/>
            </a:pPr>
            <a:r>
              <a:rPr sz="1000" b="0" i="0" lang="es-CL">
                <a:solidFill>
                  <a:srgbClr val="1F2328"/>
                </a:solidFill>
                <a:latin typeface="Consolas"/>
                <a:ea typeface="Consolas"/>
                <a:cs typeface="Consolas"/>
              </a:rPr>
              <a:t>         specs/architecture.md (ARCH-R1 a ARCH-R8), las</a:t>
            </a:r>
          </a:p>
          <a:p>
            <a:pPr marL="0" indent="0">
              <a:lnSpc>
                <a:spcPct val="100000"/>
              </a:lnSpc>
              <a:spcAft>
                <a:spcPts val="0"/>
              </a:spcAft>
              <a:buNone/>
            </a:pPr>
            <a:r>
              <a:rPr sz="1000" b="0" i="0" lang="es-CL">
                <a:solidFill>
                  <a:srgbClr val="1F2328"/>
                </a:solidFill>
                <a:latin typeface="Consolas"/>
                <a:ea typeface="Consolas"/>
                <a:cs typeface="Consolas"/>
              </a:rPr>
              <a:t>         specs de features y el SPEC.md de cada capa.</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98658"/>
                </a:solidFill>
                <a:latin typeface="Consolas"/>
                <a:ea typeface="Consolas"/>
                <a:cs typeface="Consolas"/>
              </a:rPr>
              <a:t>2</a:t>
            </a:r>
            <a:r>
              <a:rPr sz="1000" b="0" i="0" lang="es-CL">
                <a:solidFill>
                  <a:srgbClr val="1F2328"/>
                </a:solidFill>
                <a:latin typeface="Consolas"/>
                <a:ea typeface="Consolas"/>
                <a:cs typeface="Consolas"/>
              </a:rPr>
              <a:t>. Obtén el diff con `gh pr diff` y revisa SOLO</a:t>
            </a:r>
          </a:p>
          <a:p>
            <a:pPr marL="0" indent="0">
              <a:lnSpc>
                <a:spcPct val="100000"/>
              </a:lnSpc>
              <a:spcAft>
                <a:spcPts val="0"/>
              </a:spcAft>
              <a:buNone/>
            </a:pPr>
            <a:r>
              <a:rPr sz="1000" b="0" i="0" lang="es-CL">
                <a:solidFill>
                  <a:srgbClr val="1F2328"/>
                </a:solidFill>
                <a:latin typeface="Consolas"/>
                <a:ea typeface="Consolas"/>
                <a:cs typeface="Consolas"/>
              </a:rPr>
              <a:t>         lo que cambió.</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98658"/>
                </a:solidFill>
                <a:latin typeface="Consolas"/>
                <a:ea typeface="Consolas"/>
                <a:cs typeface="Consolas"/>
              </a:rPr>
              <a:t>3</a:t>
            </a:r>
            <a:r>
              <a:rPr sz="1000" b="0" i="0" lang="es-CL">
                <a:solidFill>
                  <a:srgbClr val="1F2328"/>
                </a:solidFill>
                <a:latin typeface="Consolas"/>
                <a:ea typeface="Consolas"/>
                <a:cs typeface="Consolas"/>
              </a:rPr>
              <a:t>. Política de tests (P4): tests sin ID, más de </a:t>
            </a:r>
            <a:r>
              <a:rPr sz="1000" b="0" i="0" lang="es-CL">
                <a:solidFill>
                  <a:srgbClr val="098658"/>
                </a:solidFill>
                <a:latin typeface="Consolas"/>
                <a:ea typeface="Consolas"/>
                <a:cs typeface="Consolas"/>
              </a:rPr>
              <a:t>6</a:t>
            </a:r>
          </a:p>
          <a:p>
            <a:pPr marL="0" indent="0">
              <a:lnSpc>
                <a:spcPct val="100000"/>
              </a:lnSpc>
              <a:spcAft>
                <a:spcPts val="0"/>
              </a:spcAft>
              <a:buNone/>
            </a:pPr>
            <a:r>
              <a:rPr sz="1000" b="0" i="0" lang="es-CL">
                <a:solidFill>
                  <a:srgbClr val="1F2328"/>
                </a:solidFill>
                <a:latin typeface="Consolas"/>
                <a:ea typeface="Consolas"/>
                <a:cs typeface="Consolas"/>
              </a:rPr>
              <a:t>         por regla y capa, mocks sin justificación,</a:t>
            </a:r>
          </a:p>
          <a:p>
            <a:pPr marL="0" indent="0">
              <a:lnSpc>
                <a:spcPct val="100000"/>
              </a:lnSpc>
              <a:spcAft>
                <a:spcPts val="0"/>
              </a:spcAft>
              <a:buNone/>
            </a:pPr>
            <a:r>
              <a:rPr sz="1000" b="0" i="0" lang="es-CL">
                <a:solidFill>
                  <a:srgbClr val="1F2328"/>
                </a:solidFill>
                <a:latin typeface="Consolas"/>
                <a:ea typeface="Consolas"/>
                <a:cs typeface="Consolas"/>
              </a:rPr>
              <a:t>         tests duplicados entre capas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98658"/>
                </a:solidFill>
                <a:latin typeface="Consolas"/>
                <a:ea typeface="Consolas"/>
                <a:cs typeface="Consolas"/>
              </a:rPr>
              <a:t>4</a:t>
            </a:r>
            <a:r>
              <a:rPr sz="1000" b="0" i="0" lang="es-CL">
                <a:solidFill>
                  <a:srgbClr val="1F2328"/>
                </a:solidFill>
                <a:latin typeface="Consolas"/>
                <a:ea typeface="Consolas"/>
                <a:cs typeface="Consolas"/>
              </a:rPr>
              <a:t>. Comenta en línea citando el ID de la regla.</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98658"/>
                </a:solidFill>
                <a:latin typeface="Consolas"/>
                <a:ea typeface="Consolas"/>
                <a:cs typeface="Consolas"/>
              </a:rPr>
              <a:t>5</a:t>
            </a:r>
            <a:r>
              <a:rPr sz="1000" b="0" i="0" lang="es-CL">
                <a:solidFill>
                  <a:srgbClr val="1F2328"/>
                </a:solidFill>
                <a:latin typeface="Consolas"/>
                <a:ea typeface="Consolas"/>
                <a:cs typeface="Consolas"/>
              </a:rPr>
              <a:t>. Deja UN resumen con veredicto.</a:t>
            </a:r>
          </a:p>
          <a:p>
            <a:pPr marL="0" indent="0">
              <a:lnSpc>
                <a:spcPct val="100000"/>
              </a:lnSpc>
              <a:spcAft>
                <a:spcPts val="0"/>
              </a:spcAft>
              <a:buNone/>
            </a:pPr>
            <a:r>
              <a:rPr sz="1000" b="0" i="0" lang="es-CL">
                <a:solidFill>
                  <a:srgbClr val="0451A5"/>
                </a:solidFill>
                <a:latin typeface="Consolas"/>
                <a:ea typeface="Consolas"/>
                <a:cs typeface="Consolas"/>
              </a:rPr>
              <a:t>    claude_args</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--max-turns </a:t>
            </a:r>
            <a:r>
              <a:rPr sz="1000" b="0" i="0" lang="es-CL">
                <a:solidFill>
                  <a:srgbClr val="098658"/>
                </a:solidFill>
                <a:latin typeface="Consolas"/>
                <a:ea typeface="Consolas"/>
                <a:cs typeface="Consolas"/>
              </a:rPr>
              <a:t>30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5</a:t>
            </a:r>
          </a:p>
          <a:p>
            <a:pPr algn="ctr">
              <a:spcAft>
                <a:spcPts val="1600"/>
              </a:spcAft>
            </a:pPr>
            <a:r>
              <a:rPr sz="3600" b="1" i="0" lang="es-CL">
                <a:solidFill>
                  <a:srgbClr val="4A86E8"/>
                </a:solidFill>
                <a:latin typeface="Bitter"/>
                <a:ea typeface="Bitter"/>
                <a:cs typeface="Bitter"/>
              </a:rPr>
              <a:t>DevSecOps y CI</a:t>
            </a:r>
          </a:p>
          <a:p>
            <a:pPr algn="ctr">
              <a:spcAft>
                <a:spcPts val="1400"/>
              </a:spcAft>
            </a:pPr>
            <a:r>
              <a:rPr sz="1500" b="0" i="0" lang="es-CL">
                <a:solidFill>
                  <a:srgbClr val="57606A"/>
                </a:solidFill>
                <a:latin typeface="Inter"/>
                <a:ea typeface="Inter"/>
                <a:cs typeface="Inter"/>
              </a:rPr>
              <a:t>Seguridad en cada etapa, ramas cortas y un pipeline que explica sus decisiones.</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DevSecOps: seguridad en todo el ciclo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Oval 3"/>
          <p:cNvSpPr/>
          <p:nvPr/>
        </p:nvSpPr>
        <p:spPr>
          <a:xfrm>
            <a:off x="1188719" y="1554480"/>
            <a:ext cx="3200400" cy="2103120"/>
          </a:xfrm>
          <a:prstGeom prst="ellipse">
            <a:avLst/>
          </a:prstGeom>
          <a:noFill/>
          <a:ln w="88900">
            <a:solidFill>
              <a:srgbClr val="003D4F"/>
            </a:solidFill>
          </a:ln>
        </p:spPr>
        <p:txBody>
          <a:bodyPr rtlCol="0" anchor="ctr" wrap="square" lIns="54864" rIns="54864" tIns="54864" bIns="54864"/>
          <a:lstStyle/>
          <a:p>
            <a:pPr algn="ctr"/>
          </a:p>
        </p:txBody>
      </p:sp>
      <p:sp>
        <p:nvSpPr>
          <p:cNvPr id="5" name="Oval 4"/>
          <p:cNvSpPr/>
          <p:nvPr/>
        </p:nvSpPr>
        <p:spPr>
          <a:xfrm>
            <a:off x="4754880" y="1554480"/>
            <a:ext cx="3200400" cy="2103120"/>
          </a:xfrm>
          <a:prstGeom prst="ellipse">
            <a:avLst/>
          </a:prstGeom>
          <a:noFill/>
          <a:ln w="88900">
            <a:solidFill>
              <a:srgbClr val="CC850A"/>
            </a:solidFill>
          </a:ln>
        </p:spPr>
        <p:txBody>
          <a:bodyPr rtlCol="0" anchor="ctr" wrap="square" lIns="54864" rIns="54864" tIns="54864" bIns="54864"/>
          <a:lstStyle/>
          <a:p>
            <a:pPr algn="ctr"/>
          </a:p>
        </p:txBody>
      </p:sp>
      <p:sp>
        <p:nvSpPr>
          <p:cNvPr id="6" name="Oval 5"/>
          <p:cNvSpPr/>
          <p:nvPr/>
        </p:nvSpPr>
        <p:spPr>
          <a:xfrm>
            <a:off x="4114800" y="2221992"/>
            <a:ext cx="914400" cy="768096"/>
          </a:xfrm>
          <a:prstGeom prst="ellipse">
            <a:avLst/>
          </a:prstGeom>
          <a:solidFill>
            <a:srgbClr val="980000"/>
          </a:solidFill>
          <a:ln>
            <a:noFill/>
          </a:ln>
        </p:spPr>
        <p:txBody>
          <a:bodyPr rtlCol="0" anchor="ctr" wrap="square" lIns="54864" rIns="54864" tIns="54864" bIns="54864"/>
          <a:lstStyle/>
          <a:p>
            <a:pPr algn="ctr" marL="0" indent="0">
              <a:spcAft>
                <a:spcPts val="200"/>
              </a:spcAft>
              <a:buNone/>
            </a:pPr>
            <a:r>
              <a:rPr sz="1500" b="1" i="0" lang="es-CL">
                <a:solidFill>
                  <a:srgbClr val="FFFFFF"/>
                </a:solidFill>
                <a:latin typeface="Inter"/>
                <a:ea typeface="Inter"/>
                <a:cs typeface="Inter"/>
              </a:rPr>
              <a:t>Sec</a:t>
            </a:r>
          </a:p>
        </p:txBody>
      </p:sp>
      <p:sp>
        <p:nvSpPr>
          <p:cNvPr id="7" name="Rounded Rectangle 6"/>
          <p:cNvSpPr/>
          <p:nvPr/>
        </p:nvSpPr>
        <p:spPr>
          <a:xfrm>
            <a:off x="2286000" y="1371600"/>
            <a:ext cx="1005840" cy="365760"/>
          </a:xfrm>
          <a:prstGeom prst="roundRect">
            <a:avLst>
              <a:gd name="adj" fmla="val 20000"/>
            </a:avLst>
          </a:prstGeom>
          <a:solidFill>
            <a:srgbClr val="FFFFFF"/>
          </a:solidFill>
          <a:ln w="25400">
            <a:solidFill>
              <a:srgbClr val="003D4F"/>
            </a:solidFill>
          </a:ln>
        </p:spPr>
        <p:txBody>
          <a:bodyPr rtlCol="0" anchor="ctr" wrap="square" lIns="54864" rIns="54864" tIns="54864" bIns="54864"/>
          <a:lstStyle/>
          <a:p>
            <a:pPr algn="ctr" marL="0" indent="0">
              <a:spcAft>
                <a:spcPts val="200"/>
              </a:spcAft>
              <a:buNone/>
            </a:pPr>
            <a:r>
              <a:rPr sz="1100" b="1" i="0" lang="es-CL">
                <a:solidFill>
                  <a:srgbClr val="003D4F"/>
                </a:solidFill>
                <a:latin typeface="Inter"/>
                <a:ea typeface="Inter"/>
                <a:cs typeface="Inter"/>
              </a:rPr>
              <a:t>Plan</a:t>
            </a:r>
          </a:p>
        </p:txBody>
      </p:sp>
      <p:sp>
        <p:nvSpPr>
          <p:cNvPr id="8" name="Rounded Rectangle 7"/>
          <p:cNvSpPr/>
          <p:nvPr/>
        </p:nvSpPr>
        <p:spPr>
          <a:xfrm>
            <a:off x="685800" y="2011679"/>
            <a:ext cx="1005840" cy="365760"/>
          </a:xfrm>
          <a:prstGeom prst="roundRect">
            <a:avLst>
              <a:gd name="adj" fmla="val 20000"/>
            </a:avLst>
          </a:prstGeom>
          <a:solidFill>
            <a:srgbClr val="FFFFFF"/>
          </a:solidFill>
          <a:ln w="25400">
            <a:solidFill>
              <a:srgbClr val="003D4F"/>
            </a:solidFill>
          </a:ln>
        </p:spPr>
        <p:txBody>
          <a:bodyPr rtlCol="0" anchor="ctr" wrap="square" lIns="54864" rIns="54864" tIns="54864" bIns="54864"/>
          <a:lstStyle/>
          <a:p>
            <a:pPr algn="ctr" marL="0" indent="0">
              <a:spcAft>
                <a:spcPts val="200"/>
              </a:spcAft>
              <a:buNone/>
            </a:pPr>
            <a:r>
              <a:rPr sz="1100" b="1" i="0" lang="es-CL">
                <a:solidFill>
                  <a:srgbClr val="003D4F"/>
                </a:solidFill>
                <a:latin typeface="Inter"/>
                <a:ea typeface="Inter"/>
                <a:cs typeface="Inter"/>
              </a:rPr>
              <a:t>Code</a:t>
            </a:r>
          </a:p>
        </p:txBody>
      </p:sp>
      <p:sp>
        <p:nvSpPr>
          <p:cNvPr id="9" name="Rounded Rectangle 8"/>
          <p:cNvSpPr/>
          <p:nvPr/>
        </p:nvSpPr>
        <p:spPr>
          <a:xfrm>
            <a:off x="685800" y="2834640"/>
            <a:ext cx="1005840" cy="365760"/>
          </a:xfrm>
          <a:prstGeom prst="roundRect">
            <a:avLst>
              <a:gd name="adj" fmla="val 20000"/>
            </a:avLst>
          </a:prstGeom>
          <a:solidFill>
            <a:srgbClr val="FFFFFF"/>
          </a:solidFill>
          <a:ln w="25400">
            <a:solidFill>
              <a:srgbClr val="003D4F"/>
            </a:solidFill>
          </a:ln>
        </p:spPr>
        <p:txBody>
          <a:bodyPr rtlCol="0" anchor="ctr" wrap="square" lIns="54864" rIns="54864" tIns="54864" bIns="54864"/>
          <a:lstStyle/>
          <a:p>
            <a:pPr algn="ctr" marL="0" indent="0">
              <a:spcAft>
                <a:spcPts val="200"/>
              </a:spcAft>
              <a:buNone/>
            </a:pPr>
            <a:r>
              <a:rPr sz="1100" b="1" i="0" lang="es-CL">
                <a:solidFill>
                  <a:srgbClr val="003D4F"/>
                </a:solidFill>
                <a:latin typeface="Inter"/>
                <a:ea typeface="Inter"/>
                <a:cs typeface="Inter"/>
              </a:rPr>
              <a:t>Build</a:t>
            </a:r>
          </a:p>
        </p:txBody>
      </p:sp>
      <p:sp>
        <p:nvSpPr>
          <p:cNvPr id="10" name="Rounded Rectangle 9"/>
          <p:cNvSpPr/>
          <p:nvPr/>
        </p:nvSpPr>
        <p:spPr>
          <a:xfrm>
            <a:off x="2286000" y="3474720"/>
            <a:ext cx="1005840" cy="365760"/>
          </a:xfrm>
          <a:prstGeom prst="roundRect">
            <a:avLst>
              <a:gd name="adj" fmla="val 20000"/>
            </a:avLst>
          </a:prstGeom>
          <a:solidFill>
            <a:srgbClr val="FFFFFF"/>
          </a:solidFill>
          <a:ln w="25400">
            <a:solidFill>
              <a:srgbClr val="003D4F"/>
            </a:solidFill>
          </a:ln>
        </p:spPr>
        <p:txBody>
          <a:bodyPr rtlCol="0" anchor="ctr" wrap="square" lIns="54864" rIns="54864" tIns="54864" bIns="54864"/>
          <a:lstStyle/>
          <a:p>
            <a:pPr algn="ctr" marL="0" indent="0">
              <a:spcAft>
                <a:spcPts val="200"/>
              </a:spcAft>
              <a:buNone/>
            </a:pPr>
            <a:r>
              <a:rPr sz="1100" b="1" i="0" lang="es-CL">
                <a:solidFill>
                  <a:srgbClr val="003D4F"/>
                </a:solidFill>
                <a:latin typeface="Inter"/>
                <a:ea typeface="Inter"/>
                <a:cs typeface="Inter"/>
              </a:rPr>
              <a:t>Test</a:t>
            </a:r>
          </a:p>
        </p:txBody>
      </p:sp>
      <p:sp>
        <p:nvSpPr>
          <p:cNvPr id="11" name="Rounded Rectangle 10"/>
          <p:cNvSpPr/>
          <p:nvPr/>
        </p:nvSpPr>
        <p:spPr>
          <a:xfrm>
            <a:off x="5852160" y="1371600"/>
            <a:ext cx="1005840" cy="365760"/>
          </a:xfrm>
          <a:prstGeom prst="roundRect">
            <a:avLst>
              <a:gd name="adj" fmla="val 20000"/>
            </a:avLst>
          </a:prstGeom>
          <a:solidFill>
            <a:srgbClr val="FFFFFF"/>
          </a:solidFill>
          <a:ln w="25400">
            <a:solidFill>
              <a:srgbClr val="CC850A"/>
            </a:solidFill>
          </a:ln>
        </p:spPr>
        <p:txBody>
          <a:bodyPr rtlCol="0" anchor="ctr" wrap="square" lIns="54864" rIns="54864" tIns="54864" bIns="54864"/>
          <a:lstStyle/>
          <a:p>
            <a:pPr algn="ctr" marL="0" indent="0">
              <a:spcAft>
                <a:spcPts val="200"/>
              </a:spcAft>
              <a:buNone/>
            </a:pPr>
            <a:r>
              <a:rPr sz="1100" b="1" i="0" lang="es-CL">
                <a:solidFill>
                  <a:srgbClr val="CC850A"/>
                </a:solidFill>
                <a:latin typeface="Inter"/>
                <a:ea typeface="Inter"/>
                <a:cs typeface="Inter"/>
              </a:rPr>
              <a:t>Release</a:t>
            </a:r>
          </a:p>
        </p:txBody>
      </p:sp>
      <p:sp>
        <p:nvSpPr>
          <p:cNvPr id="12" name="Rounded Rectangle 11"/>
          <p:cNvSpPr/>
          <p:nvPr/>
        </p:nvSpPr>
        <p:spPr>
          <a:xfrm>
            <a:off x="7452359" y="2011679"/>
            <a:ext cx="1005840" cy="365760"/>
          </a:xfrm>
          <a:prstGeom prst="roundRect">
            <a:avLst>
              <a:gd name="adj" fmla="val 20000"/>
            </a:avLst>
          </a:prstGeom>
          <a:solidFill>
            <a:srgbClr val="FFFFFF"/>
          </a:solidFill>
          <a:ln w="25400">
            <a:solidFill>
              <a:srgbClr val="CC850A"/>
            </a:solidFill>
          </a:ln>
        </p:spPr>
        <p:txBody>
          <a:bodyPr rtlCol="0" anchor="ctr" wrap="square" lIns="54864" rIns="54864" tIns="54864" bIns="54864"/>
          <a:lstStyle/>
          <a:p>
            <a:pPr algn="ctr" marL="0" indent="0">
              <a:spcAft>
                <a:spcPts val="200"/>
              </a:spcAft>
              <a:buNone/>
            </a:pPr>
            <a:r>
              <a:rPr sz="1100" b="1" i="0" lang="es-CL">
                <a:solidFill>
                  <a:srgbClr val="CC850A"/>
                </a:solidFill>
                <a:latin typeface="Inter"/>
                <a:ea typeface="Inter"/>
                <a:cs typeface="Inter"/>
              </a:rPr>
              <a:t>Deploy</a:t>
            </a:r>
          </a:p>
        </p:txBody>
      </p:sp>
      <p:sp>
        <p:nvSpPr>
          <p:cNvPr id="13" name="Rounded Rectangle 12"/>
          <p:cNvSpPr/>
          <p:nvPr/>
        </p:nvSpPr>
        <p:spPr>
          <a:xfrm>
            <a:off x="7452359" y="2834640"/>
            <a:ext cx="1005840" cy="365760"/>
          </a:xfrm>
          <a:prstGeom prst="roundRect">
            <a:avLst>
              <a:gd name="adj" fmla="val 20000"/>
            </a:avLst>
          </a:prstGeom>
          <a:solidFill>
            <a:srgbClr val="FFFFFF"/>
          </a:solidFill>
          <a:ln w="25400">
            <a:solidFill>
              <a:srgbClr val="CC850A"/>
            </a:solidFill>
          </a:ln>
        </p:spPr>
        <p:txBody>
          <a:bodyPr rtlCol="0" anchor="ctr" wrap="square" lIns="54864" rIns="54864" tIns="54864" bIns="54864"/>
          <a:lstStyle/>
          <a:p>
            <a:pPr algn="ctr" marL="0" indent="0">
              <a:spcAft>
                <a:spcPts val="200"/>
              </a:spcAft>
              <a:buNone/>
            </a:pPr>
            <a:r>
              <a:rPr sz="1100" b="1" i="0" lang="es-CL">
                <a:solidFill>
                  <a:srgbClr val="CC850A"/>
                </a:solidFill>
                <a:latin typeface="Inter"/>
                <a:ea typeface="Inter"/>
                <a:cs typeface="Inter"/>
              </a:rPr>
              <a:t>Operate</a:t>
            </a:r>
          </a:p>
        </p:txBody>
      </p:sp>
      <p:sp>
        <p:nvSpPr>
          <p:cNvPr id="14" name="Rounded Rectangle 13"/>
          <p:cNvSpPr/>
          <p:nvPr/>
        </p:nvSpPr>
        <p:spPr>
          <a:xfrm>
            <a:off x="5852160" y="3474720"/>
            <a:ext cx="1005840" cy="365760"/>
          </a:xfrm>
          <a:prstGeom prst="roundRect">
            <a:avLst>
              <a:gd name="adj" fmla="val 20000"/>
            </a:avLst>
          </a:prstGeom>
          <a:solidFill>
            <a:srgbClr val="FFFFFF"/>
          </a:solidFill>
          <a:ln w="25400">
            <a:solidFill>
              <a:srgbClr val="CC850A"/>
            </a:solidFill>
          </a:ln>
        </p:spPr>
        <p:txBody>
          <a:bodyPr rtlCol="0" anchor="ctr" wrap="square" lIns="54864" rIns="54864" tIns="54864" bIns="54864"/>
          <a:lstStyle/>
          <a:p>
            <a:pPr algn="ctr" marL="0" indent="0">
              <a:spcAft>
                <a:spcPts val="200"/>
              </a:spcAft>
              <a:buNone/>
            </a:pPr>
            <a:r>
              <a:rPr sz="1100" b="1" i="0" lang="es-CL">
                <a:solidFill>
                  <a:srgbClr val="CC850A"/>
                </a:solidFill>
                <a:latin typeface="Inter"/>
                <a:ea typeface="Inter"/>
                <a:cs typeface="Inter"/>
              </a:rPr>
              <a:t>Monitor</a:t>
            </a:r>
          </a:p>
        </p:txBody>
      </p:sp>
      <p:sp>
        <p:nvSpPr>
          <p:cNvPr id="15" name="TextBox 14"/>
          <p:cNvSpPr txBox="1"/>
          <p:nvPr/>
        </p:nvSpPr>
        <p:spPr>
          <a:xfrm>
            <a:off x="2057400" y="2423160"/>
            <a:ext cx="1463040" cy="365760"/>
          </a:xfrm>
          <a:prstGeom prst="rect">
            <a:avLst/>
          </a:prstGeom>
          <a:noFill/>
        </p:spPr>
        <p:txBody>
          <a:bodyPr wrap="square" lIns="36576" rIns="36576" tIns="36576" bIns="36576" anchor="ctr"/>
          <a:lstStyle/>
          <a:p>
            <a:pPr algn="ctr" marL="0" indent="0">
              <a:spcAft>
                <a:spcPts val="400"/>
              </a:spcAft>
              <a:buNone/>
            </a:pPr>
            <a:r>
              <a:rPr sz="1600" b="1" i="0" lang="es-CL">
                <a:solidFill>
                  <a:srgbClr val="003D4F"/>
                </a:solidFill>
                <a:latin typeface="Inter"/>
                <a:ea typeface="Inter"/>
                <a:cs typeface="Inter"/>
              </a:rPr>
              <a:t>Dev</a:t>
            </a:r>
          </a:p>
        </p:txBody>
      </p:sp>
      <p:sp>
        <p:nvSpPr>
          <p:cNvPr id="16" name="TextBox 15"/>
          <p:cNvSpPr txBox="1"/>
          <p:nvPr/>
        </p:nvSpPr>
        <p:spPr>
          <a:xfrm>
            <a:off x="5623560" y="2423160"/>
            <a:ext cx="1463040" cy="365760"/>
          </a:xfrm>
          <a:prstGeom prst="rect">
            <a:avLst/>
          </a:prstGeom>
          <a:noFill/>
        </p:spPr>
        <p:txBody>
          <a:bodyPr wrap="square" lIns="36576" rIns="36576" tIns="36576" bIns="36576" anchor="ctr"/>
          <a:lstStyle/>
          <a:p>
            <a:pPr algn="ctr" marL="0" indent="0">
              <a:spcAft>
                <a:spcPts val="400"/>
              </a:spcAft>
              <a:buNone/>
            </a:pPr>
            <a:r>
              <a:rPr sz="1600" b="1" i="0" lang="es-CL">
                <a:solidFill>
                  <a:srgbClr val="CC850A"/>
                </a:solidFill>
                <a:latin typeface="Inter"/>
                <a:ea typeface="Inter"/>
                <a:cs typeface="Inter"/>
              </a:rPr>
              <a:t>Ops</a:t>
            </a:r>
          </a:p>
        </p:txBody>
      </p:sp>
      <p:sp>
        <p:nvSpPr>
          <p:cNvPr id="17" name="TextBox 16"/>
          <p:cNvSpPr txBox="1"/>
          <p:nvPr/>
        </p:nvSpPr>
        <p:spPr>
          <a:xfrm>
            <a:off x="411480" y="4041648"/>
            <a:ext cx="8321040" cy="457200"/>
          </a:xfrm>
          <a:prstGeom prst="rect">
            <a:avLst/>
          </a:prstGeom>
          <a:noFill/>
        </p:spPr>
        <p:txBody>
          <a:bodyPr wrap="square" lIns="36576" rIns="36576" tIns="36576" bIns="36576" anchor="t"/>
          <a:lstStyle/>
          <a:p>
            <a:pPr algn="ctr" marL="0" indent="0">
              <a:spcAft>
                <a:spcPts val="400"/>
              </a:spcAft>
              <a:buNone/>
            </a:pPr>
            <a:r>
              <a:rPr sz="1100" b="0" i="0" lang="es-CL">
                <a:solidFill>
                  <a:srgbClr val="57606A"/>
                </a:solidFill>
                <a:latin typeface="Inter"/>
                <a:ea typeface="Inter"/>
                <a:cs typeface="Inter"/>
              </a:rPr>
              <a:t>Cada etapa tiene un control de seguridad automático. La seguridad deja de ser una revisión al final y pasa a ser parte del flujo.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Qué control de seguridad va en cada etapa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1051560"/>
          <a:ext cx="8321037" cy="3332988"/>
        </p:xfrm>
        <a:graphic>
          <a:graphicData uri="http://schemas.openxmlformats.org/drawingml/2006/table">
            <a:tbl>
              <a:tblPr firstRow="0" bandRow="0">
                <a:tableStyleId>{5C22544A-7EE6-4342-B048-85BDC9FD1C3A}</a:tableStyleId>
              </a:tblPr>
              <a:tblGrid>
                <a:gridCol w="914399"/>
                <a:gridCol w="4480559"/>
                <a:gridCol w="2926079"/>
              </a:tblGrid>
              <a:tr h="370332">
                <a:tc>
                  <a:txBody>
                    <a:bodyPr wrap="square"/>
                    <a:lstStyle/>
                    <a:p>
                      <a:pPr algn="l" marL="0" indent="0">
                        <a:spcAft>
                          <a:spcPts val="0"/>
                        </a:spcAft>
                        <a:buNone/>
                      </a:pPr>
                      <a:r>
                        <a:rPr sz="1000" b="1" i="0" lang="es-CL">
                          <a:solidFill>
                            <a:srgbClr val="FFFFFF"/>
                          </a:solidFill>
                          <a:latin typeface="Inter"/>
                          <a:ea typeface="Inter"/>
                          <a:cs typeface="Inter"/>
                        </a:rPr>
                        <a:t>Etapa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00" b="1" i="0" lang="es-CL">
                          <a:solidFill>
                            <a:srgbClr val="FFFFFF"/>
                          </a:solidFill>
                          <a:latin typeface="Inter"/>
                          <a:ea typeface="Inter"/>
                          <a:cs typeface="Inter"/>
                        </a:rPr>
                        <a:t>Control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00" b="1" i="0" lang="es-CL">
                          <a:solidFill>
                            <a:srgbClr val="FFFFFF"/>
                          </a:solidFill>
                          <a:latin typeface="Inter"/>
                          <a:ea typeface="Inter"/>
                          <a:cs typeface="Inter"/>
                        </a:rPr>
                        <a:t>En este repo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370332">
                <a:tc>
                  <a:txBody>
                    <a:bodyPr wrap="square"/>
                    <a:lstStyle/>
                    <a:p>
                      <a:pPr algn="l" marL="0" indent="0">
                        <a:spcAft>
                          <a:spcPts val="0"/>
                        </a:spcAft>
                        <a:buNone/>
                      </a:pPr>
                      <a:r>
                        <a:rPr sz="1000" b="1" i="0" lang="es-CL">
                          <a:solidFill>
                            <a:srgbClr val="1F2328"/>
                          </a:solidFill>
                          <a:latin typeface="Inter"/>
                          <a:ea typeface="Inter"/>
                          <a:cs typeface="Inter"/>
                        </a:rPr>
                        <a:t>Plan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Modelado de amenazas (STRIDE, p. 213), reglas de validación en la spec</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specs con códigos de error</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70332">
                <a:tc>
                  <a:txBody>
                    <a:bodyPr wrap="square"/>
                    <a:lstStyle/>
                    <a:p>
                      <a:pPr algn="l" marL="0" indent="0">
                        <a:spcAft>
                          <a:spcPts val="0"/>
                        </a:spcAft>
                        <a:buNone/>
                      </a:pPr>
                      <a:r>
                        <a:rPr sz="1000" b="1" i="0" lang="es-CL">
                          <a:solidFill>
                            <a:srgbClr val="1F2328"/>
                          </a:solidFill>
                          <a:latin typeface="Inter"/>
                          <a:ea typeface="Inter"/>
                          <a:cs typeface="Inter"/>
                        </a:rPr>
                        <a:t>Code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Secretos antes del commit (Talisman, p. 238), revisión con IA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gitleaks, revisor IA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70332">
                <a:tc>
                  <a:txBody>
                    <a:bodyPr wrap="square"/>
                    <a:lstStyle/>
                    <a:p>
                      <a:pPr algn="l" marL="0" indent="0">
                        <a:spcAft>
                          <a:spcPts val="0"/>
                        </a:spcAft>
                        <a:buNone/>
                      </a:pPr>
                      <a:r>
                        <a:rPr sz="1000" b="1" i="0" lang="es-CL">
                          <a:solidFill>
                            <a:srgbClr val="1F2328"/>
                          </a:solidFill>
                          <a:latin typeface="Inter"/>
                          <a:ea typeface="Inter"/>
                          <a:cs typeface="Inter"/>
                        </a:rPr>
                        <a:t>Build</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SAST y análisis de dependencias (SCA)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Semgrep, CodeQL, Trivy fs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70332">
                <a:tc>
                  <a:txBody>
                    <a:bodyPr wrap="square"/>
                    <a:lstStyle/>
                    <a:p>
                      <a:pPr algn="l" marL="0" indent="0">
                        <a:spcAft>
                          <a:spcPts val="0"/>
                        </a:spcAft>
                        <a:buNone/>
                      </a:pPr>
                      <a:r>
                        <a:rPr sz="1000" b="1" i="0" lang="es-CL">
                          <a:solidFill>
                            <a:srgbClr val="1F2328"/>
                          </a:solidFill>
                          <a:latin typeface="Inter"/>
                          <a:ea typeface="Inter"/>
                          <a:cs typeface="Inter"/>
                        </a:rPr>
                        <a:t>Test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DAST y fuzzing contra la app corriendo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OWASP ZAP, Schemathesis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70332">
                <a:tc>
                  <a:txBody>
                    <a:bodyPr wrap="square"/>
                    <a:lstStyle/>
                    <a:p>
                      <a:pPr algn="l" marL="0" indent="0">
                        <a:spcAft>
                          <a:spcPts val="0"/>
                        </a:spcAft>
                        <a:buNone/>
                      </a:pPr>
                      <a:r>
                        <a:rPr sz="1000" b="1" i="0" lang="es-CL">
                          <a:solidFill>
                            <a:srgbClr val="1F2328"/>
                          </a:solidFill>
                          <a:latin typeface="Inter"/>
                          <a:ea typeface="Inter"/>
                          <a:cs typeface="Inter"/>
                        </a:rPr>
                        <a:t>Release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Escaneo de imagen y SBOM</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Trivy image, SBOM CycloneDX</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70332">
                <a:tc>
                  <a:txBody>
                    <a:bodyPr wrap="square"/>
                    <a:lstStyle/>
                    <a:p>
                      <a:pPr algn="l" marL="0" indent="0">
                        <a:spcAft>
                          <a:spcPts val="0"/>
                        </a:spcAft>
                        <a:buNone/>
                      </a:pPr>
                      <a:r>
                        <a:rPr sz="1000" b="1" i="0" lang="es-CL">
                          <a:solidFill>
                            <a:srgbClr val="1F2328"/>
                          </a:solidFill>
                          <a:latin typeface="Inter"/>
                          <a:ea typeface="Inter"/>
                          <a:cs typeface="Inter"/>
                        </a:rPr>
                        <a:t>Deploy</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Dockerfile, compose y workflows como código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hadolint, actionlint, zizmor</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70332">
                <a:tc>
                  <a:txBody>
                    <a:bodyPr wrap="square"/>
                    <a:lstStyle/>
                    <a:p>
                      <a:pPr algn="l" marL="0" indent="0">
                        <a:spcAft>
                          <a:spcPts val="0"/>
                        </a:spcAft>
                        <a:buNone/>
                      </a:pPr>
                      <a:r>
                        <a:rPr sz="1000" b="1" i="0" lang="es-CL">
                          <a:solidFill>
                            <a:srgbClr val="1F2328"/>
                          </a:solidFill>
                          <a:latin typeface="Inter"/>
                          <a:ea typeface="Inter"/>
                          <a:cs typeface="Inter"/>
                        </a:rPr>
                        <a:t>Operate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Contenedores sin root, mínimo privilegio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USER node en los Dockerfile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70332">
                <a:tc>
                  <a:txBody>
                    <a:bodyPr wrap="square"/>
                    <a:lstStyle/>
                    <a:p>
                      <a:pPr algn="l" marL="0" indent="0">
                        <a:spcAft>
                          <a:spcPts val="0"/>
                        </a:spcAft>
                        <a:buNone/>
                      </a:pPr>
                      <a:r>
                        <a:rPr sz="1000" b="1" i="0" lang="es-CL">
                          <a:solidFill>
                            <a:srgbClr val="1F2328"/>
                          </a:solidFill>
                          <a:latin typeface="Inter"/>
                          <a:ea typeface="Inter"/>
                          <a:cs typeface="Inter"/>
                        </a:rPr>
                        <a:t>Monitor</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CVE nuevas sobre lo ya liberado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Fuera de alcance (no hay CD)</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Shift left: mover las pruebas al inicio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cxnSp>
        <p:nvCxnSpPr>
          <p:cNvPr id="4" name="Connector 3"/>
          <p:cNvCxnSpPr/>
          <p:nvPr/>
        </p:nvCxnSpPr>
        <p:spPr>
          <a:xfrm>
            <a:off x="731520" y="4023360"/>
            <a:ext cx="4389120" cy="0"/>
          </a:xfrm>
          <a:prstGeom prst="line">
            <a:avLst/>
          </a:prstGeom>
          <a:ln w="19050">
            <a:solidFill>
              <a:srgbClr val="1F2328"/>
            </a:solidFill>
            <a:tailEnd type="triangle" w="med" len="med"/>
          </a:ln>
        </p:spPr>
      </p:cxnSp>
      <p:cxnSp>
        <p:nvCxnSpPr>
          <p:cNvPr id="5" name="Connector 4"/>
          <p:cNvCxnSpPr/>
          <p:nvPr/>
        </p:nvCxnSpPr>
        <p:spPr>
          <a:xfrm flipV="1">
            <a:off x="731520" y="1188720"/>
            <a:ext cx="0" cy="2834640"/>
          </a:xfrm>
          <a:prstGeom prst="line">
            <a:avLst/>
          </a:prstGeom>
          <a:ln w="19050">
            <a:solidFill>
              <a:srgbClr val="1F2328"/>
            </a:solidFill>
            <a:tailEnd type="triangle" w="med" len="med"/>
          </a:ln>
        </p:spPr>
      </p:cxnSp>
      <p:sp>
        <p:nvSpPr>
          <p:cNvPr id="6" name="TextBox 5"/>
          <p:cNvSpPr txBox="1"/>
          <p:nvPr/>
        </p:nvSpPr>
        <p:spPr>
          <a:xfrm>
            <a:off x="731520" y="4087368"/>
            <a:ext cx="1005840" cy="256032"/>
          </a:xfrm>
          <a:prstGeom prst="rect">
            <a:avLst/>
          </a:prstGeom>
          <a:noFill/>
        </p:spPr>
        <p:txBody>
          <a:bodyPr wrap="square" lIns="36576" rIns="36576" tIns="36576" bIns="36576" anchor="t"/>
          <a:lstStyle/>
          <a:p>
            <a:pPr algn="ctr" marL="0" indent="0">
              <a:spcAft>
                <a:spcPts val="400"/>
              </a:spcAft>
              <a:buNone/>
            </a:pPr>
            <a:r>
              <a:rPr sz="900" b="0" i="0" lang="es-CL">
                <a:solidFill>
                  <a:srgbClr val="57606A"/>
                </a:solidFill>
                <a:latin typeface="Inter"/>
                <a:ea typeface="Inter"/>
                <a:cs typeface="Inter"/>
              </a:rPr>
              <a:t>Requisitos</a:t>
            </a:r>
          </a:p>
        </p:txBody>
      </p:sp>
      <p:sp>
        <p:nvSpPr>
          <p:cNvPr id="7" name="TextBox 6"/>
          <p:cNvSpPr txBox="1"/>
          <p:nvPr/>
        </p:nvSpPr>
        <p:spPr>
          <a:xfrm>
            <a:off x="1600200" y="4087368"/>
            <a:ext cx="1005840" cy="256032"/>
          </a:xfrm>
          <a:prstGeom prst="rect">
            <a:avLst/>
          </a:prstGeom>
          <a:noFill/>
        </p:spPr>
        <p:txBody>
          <a:bodyPr wrap="square" lIns="36576" rIns="36576" tIns="36576" bIns="36576" anchor="t"/>
          <a:lstStyle/>
          <a:p>
            <a:pPr algn="ctr" marL="0" indent="0">
              <a:spcAft>
                <a:spcPts val="400"/>
              </a:spcAft>
              <a:buNone/>
            </a:pPr>
            <a:r>
              <a:rPr sz="900" b="0" i="0" lang="es-CL">
                <a:solidFill>
                  <a:srgbClr val="57606A"/>
                </a:solidFill>
                <a:latin typeface="Inter"/>
                <a:ea typeface="Inter"/>
                <a:cs typeface="Inter"/>
              </a:rPr>
              <a:t>Diseño</a:t>
            </a:r>
          </a:p>
        </p:txBody>
      </p:sp>
      <p:sp>
        <p:nvSpPr>
          <p:cNvPr id="8" name="TextBox 7"/>
          <p:cNvSpPr txBox="1"/>
          <p:nvPr/>
        </p:nvSpPr>
        <p:spPr>
          <a:xfrm>
            <a:off x="2468880" y="4087368"/>
            <a:ext cx="1005840" cy="256032"/>
          </a:xfrm>
          <a:prstGeom prst="rect">
            <a:avLst/>
          </a:prstGeom>
          <a:noFill/>
        </p:spPr>
        <p:txBody>
          <a:bodyPr wrap="square" lIns="36576" rIns="36576" tIns="36576" bIns="36576" anchor="t"/>
          <a:lstStyle/>
          <a:p>
            <a:pPr algn="ctr" marL="0" indent="0">
              <a:spcAft>
                <a:spcPts val="400"/>
              </a:spcAft>
              <a:buNone/>
            </a:pPr>
            <a:r>
              <a:rPr sz="900" b="0" i="0" lang="es-CL">
                <a:solidFill>
                  <a:srgbClr val="57606A"/>
                </a:solidFill>
                <a:latin typeface="Inter"/>
                <a:ea typeface="Inter"/>
                <a:cs typeface="Inter"/>
              </a:rPr>
              <a:t>Código</a:t>
            </a:r>
          </a:p>
        </p:txBody>
      </p:sp>
      <p:sp>
        <p:nvSpPr>
          <p:cNvPr id="9" name="TextBox 8"/>
          <p:cNvSpPr txBox="1"/>
          <p:nvPr/>
        </p:nvSpPr>
        <p:spPr>
          <a:xfrm>
            <a:off x="3337559" y="4087368"/>
            <a:ext cx="1005840" cy="256032"/>
          </a:xfrm>
          <a:prstGeom prst="rect">
            <a:avLst/>
          </a:prstGeom>
          <a:noFill/>
        </p:spPr>
        <p:txBody>
          <a:bodyPr wrap="square" lIns="36576" rIns="36576" tIns="36576" bIns="36576" anchor="t"/>
          <a:lstStyle/>
          <a:p>
            <a:pPr algn="ctr" marL="0" indent="0">
              <a:spcAft>
                <a:spcPts val="400"/>
              </a:spcAft>
              <a:buNone/>
            </a:pPr>
            <a:r>
              <a:rPr sz="900" b="0" i="0" lang="es-CL">
                <a:solidFill>
                  <a:srgbClr val="57606A"/>
                </a:solidFill>
                <a:latin typeface="Inter"/>
                <a:ea typeface="Inter"/>
                <a:cs typeface="Inter"/>
              </a:rPr>
              <a:t>Test</a:t>
            </a:r>
          </a:p>
        </p:txBody>
      </p:sp>
      <p:sp>
        <p:nvSpPr>
          <p:cNvPr id="10" name="TextBox 9"/>
          <p:cNvSpPr txBox="1"/>
          <p:nvPr/>
        </p:nvSpPr>
        <p:spPr>
          <a:xfrm>
            <a:off x="4206240" y="4087368"/>
            <a:ext cx="1005840" cy="256032"/>
          </a:xfrm>
          <a:prstGeom prst="rect">
            <a:avLst/>
          </a:prstGeom>
          <a:noFill/>
        </p:spPr>
        <p:txBody>
          <a:bodyPr wrap="square" lIns="36576" rIns="36576" tIns="36576" bIns="36576" anchor="t"/>
          <a:lstStyle/>
          <a:p>
            <a:pPr algn="ctr" marL="0" indent="0">
              <a:spcAft>
                <a:spcPts val="400"/>
              </a:spcAft>
              <a:buNone/>
            </a:pPr>
            <a:r>
              <a:rPr sz="900" b="0" i="0" lang="es-CL">
                <a:solidFill>
                  <a:srgbClr val="57606A"/>
                </a:solidFill>
                <a:latin typeface="Inter"/>
                <a:ea typeface="Inter"/>
                <a:cs typeface="Inter"/>
              </a:rPr>
              <a:t>Producción</a:t>
            </a:r>
          </a:p>
        </p:txBody>
      </p:sp>
      <p:sp>
        <p:nvSpPr>
          <p:cNvPr id="11" name="TextBox 10"/>
          <p:cNvSpPr txBox="1"/>
          <p:nvPr/>
        </p:nvSpPr>
        <p:spPr>
          <a:xfrm>
            <a:off x="182880" y="1143000"/>
            <a:ext cx="502920" cy="822960"/>
          </a:xfrm>
          <a:prstGeom prst="rect">
            <a:avLst/>
          </a:prstGeom>
          <a:noFill/>
        </p:spPr>
        <p:txBody>
          <a:bodyPr wrap="square" lIns="36576" rIns="36576" tIns="36576" bIns="36576" anchor="t"/>
          <a:lstStyle/>
          <a:p>
            <a:pPr algn="l" marL="0" indent="0">
              <a:spcAft>
                <a:spcPts val="400"/>
              </a:spcAft>
              <a:buNone/>
            </a:pPr>
            <a:r>
              <a:rPr sz="950" b="0" i="0" lang="es-CL">
                <a:solidFill>
                  <a:srgbClr val="57606A"/>
                </a:solidFill>
                <a:latin typeface="Inter"/>
                <a:ea typeface="Inter"/>
                <a:cs typeface="Inter"/>
              </a:rPr>
              <a:t>Costo</a:t>
            </a:r>
          </a:p>
        </p:txBody>
      </p:sp>
      <p:sp>
        <p:nvSpPr>
          <p:cNvPr id="12" name="Rectangle 11"/>
          <p:cNvSpPr/>
          <p:nvPr/>
        </p:nvSpPr>
        <p:spPr>
          <a:xfrm>
            <a:off x="960120" y="3776472"/>
            <a:ext cx="548640" cy="228600"/>
          </a:xfrm>
          <a:prstGeom prst="rect">
            <a:avLst/>
          </a:prstGeom>
          <a:solidFill>
            <a:srgbClr val="38761D"/>
          </a:solidFill>
          <a:ln>
            <a:noFill/>
          </a:ln>
        </p:spPr>
        <p:txBody>
          <a:bodyPr rtlCol="0" anchor="ctr" wrap="square" lIns="54864" rIns="54864" tIns="54864" bIns="54864"/>
          <a:lstStyle/>
          <a:p>
            <a:pPr algn="ctr"/>
          </a:p>
        </p:txBody>
      </p:sp>
      <p:sp>
        <p:nvSpPr>
          <p:cNvPr id="13" name="Rectangle 12"/>
          <p:cNvSpPr/>
          <p:nvPr/>
        </p:nvSpPr>
        <p:spPr>
          <a:xfrm>
            <a:off x="1828800" y="3593591"/>
            <a:ext cx="548640" cy="411480"/>
          </a:xfrm>
          <a:prstGeom prst="rect">
            <a:avLst/>
          </a:prstGeom>
          <a:solidFill>
            <a:srgbClr val="38761D"/>
          </a:solidFill>
          <a:ln>
            <a:noFill/>
          </a:ln>
        </p:spPr>
        <p:txBody>
          <a:bodyPr rtlCol="0" anchor="ctr" wrap="square" lIns="54864" rIns="54864" tIns="54864" bIns="54864"/>
          <a:lstStyle/>
          <a:p>
            <a:pPr algn="ctr"/>
          </a:p>
        </p:txBody>
      </p:sp>
      <p:sp>
        <p:nvSpPr>
          <p:cNvPr id="14" name="Rectangle 13"/>
          <p:cNvSpPr/>
          <p:nvPr/>
        </p:nvSpPr>
        <p:spPr>
          <a:xfrm>
            <a:off x="2697480" y="3273552"/>
            <a:ext cx="548640" cy="731520"/>
          </a:xfrm>
          <a:prstGeom prst="rect">
            <a:avLst/>
          </a:prstGeom>
          <a:solidFill>
            <a:srgbClr val="38761D"/>
          </a:solidFill>
          <a:ln>
            <a:noFill/>
          </a:ln>
        </p:spPr>
        <p:txBody>
          <a:bodyPr rtlCol="0" anchor="ctr" wrap="square" lIns="54864" rIns="54864" tIns="54864" bIns="54864"/>
          <a:lstStyle/>
          <a:p>
            <a:pPr algn="ctr"/>
          </a:p>
        </p:txBody>
      </p:sp>
      <p:sp>
        <p:nvSpPr>
          <p:cNvPr id="15" name="Rectangle 14"/>
          <p:cNvSpPr/>
          <p:nvPr/>
        </p:nvSpPr>
        <p:spPr>
          <a:xfrm>
            <a:off x="3566159" y="2633472"/>
            <a:ext cx="548640" cy="1371600"/>
          </a:xfrm>
          <a:prstGeom prst="rect">
            <a:avLst/>
          </a:prstGeom>
          <a:solidFill>
            <a:srgbClr val="CC850A"/>
          </a:solidFill>
          <a:ln>
            <a:noFill/>
          </a:ln>
        </p:spPr>
        <p:txBody>
          <a:bodyPr rtlCol="0" anchor="ctr" wrap="square" lIns="54864" rIns="54864" tIns="54864" bIns="54864"/>
          <a:lstStyle/>
          <a:p>
            <a:pPr algn="ctr"/>
          </a:p>
        </p:txBody>
      </p:sp>
      <p:sp>
        <p:nvSpPr>
          <p:cNvPr id="16" name="Rectangle 15"/>
          <p:cNvSpPr/>
          <p:nvPr/>
        </p:nvSpPr>
        <p:spPr>
          <a:xfrm>
            <a:off x="4434840" y="1444752"/>
            <a:ext cx="548640" cy="2560320"/>
          </a:xfrm>
          <a:prstGeom prst="rect">
            <a:avLst/>
          </a:prstGeom>
          <a:solidFill>
            <a:srgbClr val="980000"/>
          </a:solidFill>
          <a:ln>
            <a:noFill/>
          </a:ln>
        </p:spPr>
        <p:txBody>
          <a:bodyPr rtlCol="0" anchor="ctr" wrap="square" lIns="54864" rIns="54864" tIns="54864" bIns="54864"/>
          <a:lstStyle/>
          <a:p>
            <a:pPr algn="ctr"/>
          </a:p>
        </p:txBody>
      </p:sp>
      <p:cxnSp>
        <p:nvCxnSpPr>
          <p:cNvPr id="17" name="Connector 16"/>
          <p:cNvCxnSpPr/>
          <p:nvPr/>
        </p:nvCxnSpPr>
        <p:spPr>
          <a:xfrm flipH="1">
            <a:off x="1828800" y="1463040"/>
            <a:ext cx="2651760" cy="0"/>
          </a:xfrm>
          <a:prstGeom prst="line">
            <a:avLst/>
          </a:prstGeom>
          <a:ln w="38100">
            <a:solidFill>
              <a:srgbClr val="9900FF"/>
            </a:solidFill>
            <a:tailEnd type="triangle" w="med" len="med"/>
          </a:ln>
        </p:spPr>
      </p:cxnSp>
      <p:sp>
        <p:nvSpPr>
          <p:cNvPr id="18" name="TextBox 17"/>
          <p:cNvSpPr txBox="1"/>
          <p:nvPr/>
        </p:nvSpPr>
        <p:spPr>
          <a:xfrm>
            <a:off x="1828800" y="1143000"/>
            <a:ext cx="2651760" cy="274320"/>
          </a:xfrm>
          <a:prstGeom prst="rect">
            <a:avLst/>
          </a:prstGeom>
          <a:noFill/>
        </p:spPr>
        <p:txBody>
          <a:bodyPr wrap="square" lIns="36576" rIns="36576" tIns="36576" bIns="36576" anchor="t"/>
          <a:lstStyle/>
          <a:p>
            <a:pPr algn="ctr" marL="0" indent="0">
              <a:spcAft>
                <a:spcPts val="400"/>
              </a:spcAft>
              <a:buNone/>
            </a:pPr>
            <a:r>
              <a:rPr sz="1200" b="1" i="0" lang="es-CL">
                <a:solidFill>
                  <a:srgbClr val="9900FF"/>
                </a:solidFill>
                <a:latin typeface="Inter"/>
                <a:ea typeface="Inter"/>
                <a:cs typeface="Inter"/>
              </a:rPr>
              <a:t>shift left</a:t>
            </a:r>
          </a:p>
        </p:txBody>
      </p:sp>
      <p:sp>
        <p:nvSpPr>
          <p:cNvPr id="19" name="Rounded Rectangle 18"/>
          <p:cNvSpPr/>
          <p:nvPr/>
        </p:nvSpPr>
        <p:spPr>
          <a:xfrm>
            <a:off x="5486400" y="1097280"/>
            <a:ext cx="3246120" cy="3337560"/>
          </a:xfrm>
          <a:prstGeom prst="roundRect">
            <a:avLst>
              <a:gd name="adj" fmla="val 2816"/>
            </a:avLst>
          </a:prstGeom>
          <a:solidFill>
            <a:srgbClr val="EDF1F3"/>
          </a:solidFill>
          <a:ln>
            <a:noFill/>
          </a:ln>
        </p:spPr>
        <p:txBody>
          <a:bodyPr rtlCol="0" anchor="ctr" wrap="square" lIns="54864" rIns="54864" tIns="54864" bIns="54864"/>
          <a:lstStyle/>
          <a:p>
            <a:pPr algn="ctr"/>
          </a:p>
        </p:txBody>
      </p:sp>
      <p:sp>
        <p:nvSpPr>
          <p:cNvPr id="20" name="TextBox 19"/>
          <p:cNvSpPr txBox="1"/>
          <p:nvPr/>
        </p:nvSpPr>
        <p:spPr>
          <a:xfrm>
            <a:off x="5669280" y="1188720"/>
            <a:ext cx="2926080" cy="274320"/>
          </a:xfrm>
          <a:prstGeom prst="rect">
            <a:avLst/>
          </a:prstGeom>
          <a:noFill/>
        </p:spPr>
        <p:txBody>
          <a:bodyPr wrap="square" lIns="36576" rIns="36576" tIns="36576" bIns="36576" anchor="t"/>
          <a:lstStyle/>
          <a:p>
            <a:pPr algn="l" marL="0" indent="0">
              <a:spcAft>
                <a:spcPts val="400"/>
              </a:spcAft>
              <a:buNone/>
            </a:pPr>
            <a:r>
              <a:rPr sz="1200" b="1" i="0" lang="es-CL">
                <a:solidFill>
                  <a:srgbClr val="003D4F"/>
                </a:solidFill>
                <a:latin typeface="Inter"/>
                <a:ea typeface="Inter"/>
                <a:cs typeface="Inter"/>
              </a:rPr>
              <a:t>En el día a día</a:t>
            </a:r>
          </a:p>
        </p:txBody>
      </p:sp>
      <p:sp>
        <p:nvSpPr>
          <p:cNvPr id="21" name="TextBox 20"/>
          <p:cNvSpPr txBox="1"/>
          <p:nvPr/>
        </p:nvSpPr>
        <p:spPr>
          <a:xfrm>
            <a:off x="5669280" y="1554480"/>
            <a:ext cx="2926080" cy="2834640"/>
          </a:xfrm>
          <a:prstGeom prst="rect">
            <a:avLst/>
          </a:prstGeom>
          <a:noFill/>
        </p:spPr>
        <p:txBody>
          <a:bodyPr wrap="square" lIns="36576" rIns="36576" tIns="36576" bIns="36576" anchor="t"/>
          <a:lstStyle/>
          <a:p>
            <a:pPr algn="l" marL="182880" indent="-164592">
              <a:spcAft>
                <a:spcPts val="600"/>
              </a:spcAft>
              <a:buClr>
                <a:srgbClr val="F2617A"/>
              </a:buClr>
              <a:buSzPct val="100000"/>
              <a:buFont typeface="Arial"/>
              <a:buChar char="●"/>
            </a:pPr>
            <a:r>
              <a:rPr sz="1050" b="0" i="0" lang="es-CL">
                <a:solidFill>
                  <a:srgbClr val="1F2328"/>
                </a:solidFill>
                <a:latin typeface="Inter"/>
                <a:ea typeface="Inter"/>
                <a:cs typeface="Inter"/>
              </a:rPr>
              <a:t>Kickoff de la historia con los tres amigos: negocio, desarrollo y testing.</a:t>
            </a:r>
          </a:p>
          <a:p>
            <a:pPr algn="l" marL="182880" indent="-164592">
              <a:spcAft>
                <a:spcPts val="600"/>
              </a:spcAft>
              <a:buClr>
                <a:srgbClr val="F2617A"/>
              </a:buClr>
              <a:buSzPct val="100000"/>
              <a:buFont typeface="Arial"/>
              <a:buChar char="●"/>
            </a:pPr>
            <a:r>
              <a:rPr sz="1050" b="0" i="0" lang="es-CL">
                <a:solidFill>
                  <a:srgbClr val="1F2328"/>
                </a:solidFill>
                <a:latin typeface="Inter"/>
                <a:ea typeface="Inter"/>
                <a:cs typeface="Inter"/>
              </a:rPr>
              <a:t>La IA como </a:t>
            </a:r>
            <a:r>
              <a:rPr sz="1050" b="1" i="0" lang="es-CL">
                <a:solidFill>
                  <a:srgbClr val="1F2328"/>
                </a:solidFill>
                <a:latin typeface="Inter"/>
                <a:ea typeface="Inter"/>
                <a:cs typeface="Inter"/>
              </a:rPr>
              <a:t>cuarto amigo</a:t>
            </a:r>
            <a:r>
              <a:rPr sz="1050" b="0" i="0" lang="es-CL">
                <a:solidFill>
                  <a:srgbClr val="1F2328"/>
                </a:solidFill>
                <a:latin typeface="Inter"/>
                <a:ea typeface="Inter"/>
                <a:cs typeface="Inter"/>
              </a:rPr>
              <a:t>: propone casos y amenazas para discutir.</a:t>
            </a:r>
          </a:p>
          <a:p>
            <a:pPr algn="l" marL="182880" indent="-164592">
              <a:spcAft>
                <a:spcPts val="600"/>
              </a:spcAft>
              <a:buClr>
                <a:srgbClr val="F2617A"/>
              </a:buClr>
              <a:buSzPct val="100000"/>
              <a:buFont typeface="Arial"/>
              <a:buChar char="●"/>
            </a:pPr>
            <a:r>
              <a:rPr sz="1050" b="0" i="0" lang="es-CL">
                <a:solidFill>
                  <a:srgbClr val="1F2328"/>
                </a:solidFill>
                <a:latin typeface="Inter"/>
                <a:ea typeface="Inter"/>
                <a:cs typeface="Inter"/>
              </a:rPr>
              <a:t>Tests automáticos en el PR, no en una fase de QA al final.</a:t>
            </a:r>
          </a:p>
          <a:p>
            <a:pPr algn="l" marL="182880" indent="-164592">
              <a:spcAft>
                <a:spcPts val="600"/>
              </a:spcAft>
              <a:buClr>
                <a:srgbClr val="F2617A"/>
              </a:buClr>
              <a:buSzPct val="100000"/>
              <a:buFont typeface="Arial"/>
              <a:buChar char="●"/>
            </a:pPr>
            <a:r>
              <a:rPr sz="1050" b="0" i="0" lang="es-CL">
                <a:solidFill>
                  <a:srgbClr val="1F2328"/>
                </a:solidFill>
                <a:latin typeface="Inter"/>
                <a:ea typeface="Inter"/>
                <a:cs typeface="Inter"/>
              </a:rPr>
              <a:t>La seguridad también se mueve a la izquierda.</a:t>
            </a:r>
          </a:p>
        </p:txBody>
      </p:sp>
      <p:sp>
        <p:nvSpPr>
          <p:cNvPr id="22" name="TextBox 21"/>
          <p:cNvSpPr txBox="1"/>
          <p:nvPr/>
        </p:nvSpPr>
        <p:spPr>
          <a:xfrm>
            <a:off x="411480" y="4389120"/>
            <a:ext cx="4937760" cy="256032"/>
          </a:xfrm>
          <a:prstGeom prst="rect">
            <a:avLst/>
          </a:prstGeom>
          <a:noFill/>
        </p:spPr>
        <p:txBody>
          <a:bodyPr wrap="square" lIns="36576" rIns="36576" tIns="36576" bIns="36576" anchor="t"/>
          <a:lstStyle/>
          <a:p>
            <a:pPr algn="l" marL="0" indent="0">
              <a:spcAft>
                <a:spcPts val="400"/>
              </a:spcAft>
              <a:buNone/>
            </a:pPr>
            <a:r>
              <a:rPr sz="900" b="0" i="0" lang="es-CL">
                <a:solidFill>
                  <a:srgbClr val="8C959F"/>
                </a:solidFill>
                <a:latin typeface="Inter"/>
                <a:ea typeface="Inter"/>
                <a:cs typeface="Inter"/>
              </a:rPr>
              <a:t>Libro, p. 4 a 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Git Flow</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97280"/>
            <a:ext cx="1051560"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main</a:t>
            </a:r>
          </a:p>
        </p:txBody>
      </p:sp>
      <p:cxnSp>
        <p:nvCxnSpPr>
          <p:cNvPr id="5" name="Connector 4"/>
          <p:cNvCxnSpPr/>
          <p:nvPr/>
        </p:nvCxnSpPr>
        <p:spPr>
          <a:xfrm>
            <a:off x="1600200" y="1234440"/>
            <a:ext cx="7086600" cy="0"/>
          </a:xfrm>
          <a:prstGeom prst="line">
            <a:avLst/>
          </a:prstGeom>
          <a:ln w="15875">
            <a:solidFill>
              <a:srgbClr val="C9D1D9"/>
            </a:solidFill>
          </a:ln>
        </p:spPr>
      </p:cxnSp>
      <p:sp>
        <p:nvSpPr>
          <p:cNvPr id="6" name="Rounded Rectangle 5"/>
          <p:cNvSpPr/>
          <p:nvPr/>
        </p:nvSpPr>
        <p:spPr>
          <a:xfrm>
            <a:off x="411480" y="1600200"/>
            <a:ext cx="1051560" cy="274320"/>
          </a:xfrm>
          <a:prstGeom prst="roundRect">
            <a:avLst>
              <a:gd name="adj" fmla="val 20000"/>
            </a:avLst>
          </a:prstGeom>
          <a:solidFill>
            <a:srgbClr val="980000"/>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hotfix</a:t>
            </a:r>
          </a:p>
        </p:txBody>
      </p:sp>
      <p:cxnSp>
        <p:nvCxnSpPr>
          <p:cNvPr id="7" name="Connector 6"/>
          <p:cNvCxnSpPr/>
          <p:nvPr/>
        </p:nvCxnSpPr>
        <p:spPr>
          <a:xfrm>
            <a:off x="1600200" y="1737360"/>
            <a:ext cx="7086600" cy="0"/>
          </a:xfrm>
          <a:prstGeom prst="line">
            <a:avLst/>
          </a:prstGeom>
          <a:ln w="15875">
            <a:solidFill>
              <a:srgbClr val="C9D1D9"/>
            </a:solidFill>
          </a:ln>
        </p:spPr>
      </p:cxnSp>
      <p:sp>
        <p:nvSpPr>
          <p:cNvPr id="8" name="Rounded Rectangle 7"/>
          <p:cNvSpPr/>
          <p:nvPr/>
        </p:nvSpPr>
        <p:spPr>
          <a:xfrm>
            <a:off x="411480" y="2103120"/>
            <a:ext cx="1051560"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release</a:t>
            </a:r>
          </a:p>
        </p:txBody>
      </p:sp>
      <p:cxnSp>
        <p:nvCxnSpPr>
          <p:cNvPr id="9" name="Connector 8"/>
          <p:cNvCxnSpPr/>
          <p:nvPr/>
        </p:nvCxnSpPr>
        <p:spPr>
          <a:xfrm>
            <a:off x="1600200" y="2240280"/>
            <a:ext cx="7086600" cy="0"/>
          </a:xfrm>
          <a:prstGeom prst="line">
            <a:avLst/>
          </a:prstGeom>
          <a:ln w="15875">
            <a:solidFill>
              <a:srgbClr val="C9D1D9"/>
            </a:solidFill>
          </a:ln>
        </p:spPr>
      </p:cxnSp>
      <p:sp>
        <p:nvSpPr>
          <p:cNvPr id="10" name="Rounded Rectangle 9"/>
          <p:cNvSpPr/>
          <p:nvPr/>
        </p:nvSpPr>
        <p:spPr>
          <a:xfrm>
            <a:off x="411480" y="2606040"/>
            <a:ext cx="1051560"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develop</a:t>
            </a:r>
          </a:p>
        </p:txBody>
      </p:sp>
      <p:cxnSp>
        <p:nvCxnSpPr>
          <p:cNvPr id="11" name="Connector 10"/>
          <p:cNvCxnSpPr/>
          <p:nvPr/>
        </p:nvCxnSpPr>
        <p:spPr>
          <a:xfrm>
            <a:off x="1600200" y="2743200"/>
            <a:ext cx="7086600" cy="0"/>
          </a:xfrm>
          <a:prstGeom prst="line">
            <a:avLst/>
          </a:prstGeom>
          <a:ln w="15875">
            <a:solidFill>
              <a:srgbClr val="C9D1D9"/>
            </a:solidFill>
          </a:ln>
        </p:spPr>
      </p:cxnSp>
      <p:sp>
        <p:nvSpPr>
          <p:cNvPr id="12" name="Rounded Rectangle 11"/>
          <p:cNvSpPr/>
          <p:nvPr/>
        </p:nvSpPr>
        <p:spPr>
          <a:xfrm>
            <a:off x="411480" y="3108960"/>
            <a:ext cx="1051560"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feature/a</a:t>
            </a:r>
          </a:p>
        </p:txBody>
      </p:sp>
      <p:cxnSp>
        <p:nvCxnSpPr>
          <p:cNvPr id="13" name="Connector 12"/>
          <p:cNvCxnSpPr/>
          <p:nvPr/>
        </p:nvCxnSpPr>
        <p:spPr>
          <a:xfrm>
            <a:off x="1600200" y="3246120"/>
            <a:ext cx="7086600" cy="0"/>
          </a:xfrm>
          <a:prstGeom prst="line">
            <a:avLst/>
          </a:prstGeom>
          <a:ln w="15875">
            <a:solidFill>
              <a:srgbClr val="C9D1D9"/>
            </a:solidFill>
          </a:ln>
        </p:spPr>
      </p:cxnSp>
      <p:sp>
        <p:nvSpPr>
          <p:cNvPr id="14" name="Rounded Rectangle 13"/>
          <p:cNvSpPr/>
          <p:nvPr/>
        </p:nvSpPr>
        <p:spPr>
          <a:xfrm>
            <a:off x="411480" y="3611879"/>
            <a:ext cx="1051560"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feature/b</a:t>
            </a:r>
          </a:p>
        </p:txBody>
      </p:sp>
      <p:cxnSp>
        <p:nvCxnSpPr>
          <p:cNvPr id="15" name="Connector 14"/>
          <p:cNvCxnSpPr/>
          <p:nvPr/>
        </p:nvCxnSpPr>
        <p:spPr>
          <a:xfrm>
            <a:off x="1600200" y="3749039"/>
            <a:ext cx="7086600" cy="0"/>
          </a:xfrm>
          <a:prstGeom prst="line">
            <a:avLst/>
          </a:prstGeom>
          <a:ln w="15875">
            <a:solidFill>
              <a:srgbClr val="C9D1D9"/>
            </a:solidFill>
          </a:ln>
        </p:spPr>
      </p:cxnSp>
      <p:sp>
        <p:nvSpPr>
          <p:cNvPr id="16" name="Oval 15"/>
          <p:cNvSpPr/>
          <p:nvPr/>
        </p:nvSpPr>
        <p:spPr>
          <a:xfrm>
            <a:off x="1728216" y="1133856"/>
            <a:ext cx="201168" cy="201168"/>
          </a:xfrm>
          <a:prstGeom prst="ellipse">
            <a:avLst/>
          </a:prstGeom>
          <a:solidFill>
            <a:srgbClr val="003D4F"/>
          </a:solidFill>
          <a:ln>
            <a:noFill/>
          </a:ln>
        </p:spPr>
        <p:txBody>
          <a:bodyPr rtlCol="0" anchor="ctr" wrap="square" lIns="54864" rIns="54864" tIns="54864" bIns="54864"/>
          <a:lstStyle/>
          <a:p>
            <a:pPr algn="ctr"/>
          </a:p>
        </p:txBody>
      </p:sp>
      <p:sp>
        <p:nvSpPr>
          <p:cNvPr id="17" name="Oval 16"/>
          <p:cNvSpPr/>
          <p:nvPr/>
        </p:nvSpPr>
        <p:spPr>
          <a:xfrm>
            <a:off x="4654296" y="1133856"/>
            <a:ext cx="201168" cy="201168"/>
          </a:xfrm>
          <a:prstGeom prst="ellipse">
            <a:avLst/>
          </a:prstGeom>
          <a:solidFill>
            <a:srgbClr val="003D4F"/>
          </a:solidFill>
          <a:ln>
            <a:noFill/>
          </a:ln>
        </p:spPr>
        <p:txBody>
          <a:bodyPr rtlCol="0" anchor="ctr" wrap="square" lIns="54864" rIns="54864" tIns="54864" bIns="54864"/>
          <a:lstStyle/>
          <a:p>
            <a:pPr algn="ctr"/>
          </a:p>
        </p:txBody>
      </p:sp>
      <p:sp>
        <p:nvSpPr>
          <p:cNvPr id="18" name="Oval 17"/>
          <p:cNvSpPr/>
          <p:nvPr/>
        </p:nvSpPr>
        <p:spPr>
          <a:xfrm>
            <a:off x="8037576" y="1133856"/>
            <a:ext cx="201168" cy="201168"/>
          </a:xfrm>
          <a:prstGeom prst="ellipse">
            <a:avLst/>
          </a:prstGeom>
          <a:solidFill>
            <a:srgbClr val="003D4F"/>
          </a:solidFill>
          <a:ln>
            <a:noFill/>
          </a:ln>
        </p:spPr>
        <p:txBody>
          <a:bodyPr rtlCol="0" anchor="ctr" wrap="square" lIns="54864" rIns="54864" tIns="54864" bIns="54864"/>
          <a:lstStyle/>
          <a:p>
            <a:pPr algn="ctr"/>
          </a:p>
        </p:txBody>
      </p:sp>
      <p:sp>
        <p:nvSpPr>
          <p:cNvPr id="19" name="Oval 18"/>
          <p:cNvSpPr/>
          <p:nvPr/>
        </p:nvSpPr>
        <p:spPr>
          <a:xfrm>
            <a:off x="2093976" y="2642616"/>
            <a:ext cx="201168" cy="201168"/>
          </a:xfrm>
          <a:prstGeom prst="ellipse">
            <a:avLst/>
          </a:prstGeom>
          <a:solidFill>
            <a:srgbClr val="634F7D"/>
          </a:solidFill>
          <a:ln>
            <a:noFill/>
          </a:ln>
        </p:spPr>
        <p:txBody>
          <a:bodyPr rtlCol="0" anchor="ctr" wrap="square" lIns="54864" rIns="54864" tIns="54864" bIns="54864"/>
          <a:lstStyle/>
          <a:p>
            <a:pPr algn="ctr"/>
          </a:p>
        </p:txBody>
      </p:sp>
      <p:sp>
        <p:nvSpPr>
          <p:cNvPr id="20" name="Oval 19"/>
          <p:cNvSpPr/>
          <p:nvPr/>
        </p:nvSpPr>
        <p:spPr>
          <a:xfrm>
            <a:off x="3191256" y="2642616"/>
            <a:ext cx="201168" cy="201168"/>
          </a:xfrm>
          <a:prstGeom prst="ellipse">
            <a:avLst/>
          </a:prstGeom>
          <a:solidFill>
            <a:srgbClr val="634F7D"/>
          </a:solidFill>
          <a:ln>
            <a:noFill/>
          </a:ln>
        </p:spPr>
        <p:txBody>
          <a:bodyPr rtlCol="0" anchor="ctr" wrap="square" lIns="54864" rIns="54864" tIns="54864" bIns="54864"/>
          <a:lstStyle/>
          <a:p>
            <a:pPr algn="ctr"/>
          </a:p>
        </p:txBody>
      </p:sp>
      <p:sp>
        <p:nvSpPr>
          <p:cNvPr id="21" name="Oval 20"/>
          <p:cNvSpPr/>
          <p:nvPr/>
        </p:nvSpPr>
        <p:spPr>
          <a:xfrm>
            <a:off x="5020055" y="2642616"/>
            <a:ext cx="201168" cy="201168"/>
          </a:xfrm>
          <a:prstGeom prst="ellipse">
            <a:avLst/>
          </a:prstGeom>
          <a:solidFill>
            <a:srgbClr val="634F7D"/>
          </a:solidFill>
          <a:ln>
            <a:noFill/>
          </a:ln>
        </p:spPr>
        <p:txBody>
          <a:bodyPr rtlCol="0" anchor="ctr" wrap="square" lIns="54864" rIns="54864" tIns="54864" bIns="54864"/>
          <a:lstStyle/>
          <a:p>
            <a:pPr algn="ctr"/>
          </a:p>
        </p:txBody>
      </p:sp>
      <p:sp>
        <p:nvSpPr>
          <p:cNvPr id="22" name="Oval 21"/>
          <p:cNvSpPr/>
          <p:nvPr/>
        </p:nvSpPr>
        <p:spPr>
          <a:xfrm>
            <a:off x="5934455" y="2642616"/>
            <a:ext cx="201168" cy="201168"/>
          </a:xfrm>
          <a:prstGeom prst="ellipse">
            <a:avLst/>
          </a:prstGeom>
          <a:solidFill>
            <a:srgbClr val="634F7D"/>
          </a:solidFill>
          <a:ln>
            <a:noFill/>
          </a:ln>
        </p:spPr>
        <p:txBody>
          <a:bodyPr rtlCol="0" anchor="ctr" wrap="square" lIns="54864" rIns="54864" tIns="54864" bIns="54864"/>
          <a:lstStyle/>
          <a:p>
            <a:pPr algn="ctr"/>
          </a:p>
        </p:txBody>
      </p:sp>
      <p:sp>
        <p:nvSpPr>
          <p:cNvPr id="23" name="Oval 22"/>
          <p:cNvSpPr/>
          <p:nvPr/>
        </p:nvSpPr>
        <p:spPr>
          <a:xfrm>
            <a:off x="7671816" y="2642616"/>
            <a:ext cx="201168" cy="201168"/>
          </a:xfrm>
          <a:prstGeom prst="ellipse">
            <a:avLst/>
          </a:prstGeom>
          <a:solidFill>
            <a:srgbClr val="634F7D"/>
          </a:solidFill>
          <a:ln>
            <a:noFill/>
          </a:ln>
        </p:spPr>
        <p:txBody>
          <a:bodyPr rtlCol="0" anchor="ctr" wrap="square" lIns="54864" rIns="54864" tIns="54864" bIns="54864"/>
          <a:lstStyle/>
          <a:p>
            <a:pPr algn="ctr"/>
          </a:p>
        </p:txBody>
      </p:sp>
      <p:sp>
        <p:nvSpPr>
          <p:cNvPr id="24" name="Oval 23"/>
          <p:cNvSpPr/>
          <p:nvPr/>
        </p:nvSpPr>
        <p:spPr>
          <a:xfrm>
            <a:off x="8403336" y="2642616"/>
            <a:ext cx="201168" cy="201168"/>
          </a:xfrm>
          <a:prstGeom prst="ellipse">
            <a:avLst/>
          </a:prstGeom>
          <a:solidFill>
            <a:srgbClr val="634F7D"/>
          </a:solidFill>
          <a:ln>
            <a:noFill/>
          </a:ln>
        </p:spPr>
        <p:txBody>
          <a:bodyPr rtlCol="0" anchor="ctr" wrap="square" lIns="54864" rIns="54864" tIns="54864" bIns="54864"/>
          <a:lstStyle/>
          <a:p>
            <a:pPr algn="ctr"/>
          </a:p>
        </p:txBody>
      </p:sp>
      <p:sp>
        <p:nvSpPr>
          <p:cNvPr id="25" name="Oval 24"/>
          <p:cNvSpPr/>
          <p:nvPr/>
        </p:nvSpPr>
        <p:spPr>
          <a:xfrm>
            <a:off x="2551176" y="3145536"/>
            <a:ext cx="201168" cy="201168"/>
          </a:xfrm>
          <a:prstGeom prst="ellipse">
            <a:avLst/>
          </a:prstGeom>
          <a:solidFill>
            <a:srgbClr val="38761D"/>
          </a:solidFill>
          <a:ln>
            <a:noFill/>
          </a:ln>
        </p:spPr>
        <p:txBody>
          <a:bodyPr rtlCol="0" anchor="ctr" wrap="square" lIns="54864" rIns="54864" tIns="54864" bIns="54864"/>
          <a:lstStyle/>
          <a:p>
            <a:pPr algn="ctr"/>
          </a:p>
        </p:txBody>
      </p:sp>
      <p:sp>
        <p:nvSpPr>
          <p:cNvPr id="26" name="Oval 25"/>
          <p:cNvSpPr/>
          <p:nvPr/>
        </p:nvSpPr>
        <p:spPr>
          <a:xfrm>
            <a:off x="2871216" y="3145536"/>
            <a:ext cx="201168" cy="201168"/>
          </a:xfrm>
          <a:prstGeom prst="ellipse">
            <a:avLst/>
          </a:prstGeom>
          <a:solidFill>
            <a:srgbClr val="38761D"/>
          </a:solidFill>
          <a:ln>
            <a:noFill/>
          </a:ln>
        </p:spPr>
        <p:txBody>
          <a:bodyPr rtlCol="0" anchor="ctr" wrap="square" lIns="54864" rIns="54864" tIns="54864" bIns="54864"/>
          <a:lstStyle/>
          <a:p>
            <a:pPr algn="ctr"/>
          </a:p>
        </p:txBody>
      </p:sp>
      <p:sp>
        <p:nvSpPr>
          <p:cNvPr id="27" name="Oval 26"/>
          <p:cNvSpPr/>
          <p:nvPr/>
        </p:nvSpPr>
        <p:spPr>
          <a:xfrm>
            <a:off x="3648456" y="3648456"/>
            <a:ext cx="201168" cy="201168"/>
          </a:xfrm>
          <a:prstGeom prst="ellipse">
            <a:avLst/>
          </a:prstGeom>
          <a:solidFill>
            <a:srgbClr val="38761D"/>
          </a:solidFill>
          <a:ln>
            <a:noFill/>
          </a:ln>
        </p:spPr>
        <p:txBody>
          <a:bodyPr rtlCol="0" anchor="ctr" wrap="square" lIns="54864" rIns="54864" tIns="54864" bIns="54864"/>
          <a:lstStyle/>
          <a:p>
            <a:pPr algn="ctr"/>
          </a:p>
        </p:txBody>
      </p:sp>
      <p:sp>
        <p:nvSpPr>
          <p:cNvPr id="28" name="Oval 27"/>
          <p:cNvSpPr/>
          <p:nvPr/>
        </p:nvSpPr>
        <p:spPr>
          <a:xfrm>
            <a:off x="4197096" y="3648456"/>
            <a:ext cx="201168" cy="201168"/>
          </a:xfrm>
          <a:prstGeom prst="ellipse">
            <a:avLst/>
          </a:prstGeom>
          <a:solidFill>
            <a:srgbClr val="38761D"/>
          </a:solidFill>
          <a:ln>
            <a:noFill/>
          </a:ln>
        </p:spPr>
        <p:txBody>
          <a:bodyPr rtlCol="0" anchor="ctr" wrap="square" lIns="54864" rIns="54864" tIns="54864" bIns="54864"/>
          <a:lstStyle/>
          <a:p>
            <a:pPr algn="ctr"/>
          </a:p>
        </p:txBody>
      </p:sp>
      <p:sp>
        <p:nvSpPr>
          <p:cNvPr id="29" name="Oval 28"/>
          <p:cNvSpPr/>
          <p:nvPr/>
        </p:nvSpPr>
        <p:spPr>
          <a:xfrm>
            <a:off x="5477255" y="3648456"/>
            <a:ext cx="201168" cy="201168"/>
          </a:xfrm>
          <a:prstGeom prst="ellipse">
            <a:avLst/>
          </a:prstGeom>
          <a:solidFill>
            <a:srgbClr val="38761D"/>
          </a:solidFill>
          <a:ln>
            <a:noFill/>
          </a:ln>
        </p:spPr>
        <p:txBody>
          <a:bodyPr rtlCol="0" anchor="ctr" wrap="square" lIns="54864" rIns="54864" tIns="54864" bIns="54864"/>
          <a:lstStyle/>
          <a:p>
            <a:pPr algn="ctr"/>
          </a:p>
        </p:txBody>
      </p:sp>
      <p:sp>
        <p:nvSpPr>
          <p:cNvPr id="30" name="Oval 29"/>
          <p:cNvSpPr/>
          <p:nvPr/>
        </p:nvSpPr>
        <p:spPr>
          <a:xfrm>
            <a:off x="4014215" y="1636775"/>
            <a:ext cx="201168" cy="201168"/>
          </a:xfrm>
          <a:prstGeom prst="ellipse">
            <a:avLst/>
          </a:prstGeom>
          <a:solidFill>
            <a:srgbClr val="980000"/>
          </a:solidFill>
          <a:ln>
            <a:noFill/>
          </a:ln>
        </p:spPr>
        <p:txBody>
          <a:bodyPr rtlCol="0" anchor="ctr" wrap="square" lIns="54864" rIns="54864" tIns="54864" bIns="54864"/>
          <a:lstStyle/>
          <a:p>
            <a:pPr algn="ctr"/>
          </a:p>
        </p:txBody>
      </p:sp>
      <p:sp>
        <p:nvSpPr>
          <p:cNvPr id="31" name="Oval 30"/>
          <p:cNvSpPr/>
          <p:nvPr/>
        </p:nvSpPr>
        <p:spPr>
          <a:xfrm>
            <a:off x="6574536" y="2139696"/>
            <a:ext cx="201168" cy="201168"/>
          </a:xfrm>
          <a:prstGeom prst="ellipse">
            <a:avLst/>
          </a:prstGeom>
          <a:solidFill>
            <a:srgbClr val="CC850A"/>
          </a:solidFill>
          <a:ln>
            <a:noFill/>
          </a:ln>
        </p:spPr>
        <p:txBody>
          <a:bodyPr rtlCol="0" anchor="ctr" wrap="square" lIns="54864" rIns="54864" tIns="54864" bIns="54864"/>
          <a:lstStyle/>
          <a:p>
            <a:pPr algn="ctr"/>
          </a:p>
        </p:txBody>
      </p:sp>
      <p:sp>
        <p:nvSpPr>
          <p:cNvPr id="32" name="Oval 31"/>
          <p:cNvSpPr/>
          <p:nvPr/>
        </p:nvSpPr>
        <p:spPr>
          <a:xfrm>
            <a:off x="7123176" y="2139696"/>
            <a:ext cx="201168" cy="201168"/>
          </a:xfrm>
          <a:prstGeom prst="ellipse">
            <a:avLst/>
          </a:prstGeom>
          <a:solidFill>
            <a:srgbClr val="CC850A"/>
          </a:solidFill>
          <a:ln>
            <a:noFill/>
          </a:ln>
        </p:spPr>
        <p:txBody>
          <a:bodyPr rtlCol="0" anchor="ctr" wrap="square" lIns="54864" rIns="54864" tIns="54864" bIns="54864"/>
          <a:lstStyle/>
          <a:p>
            <a:pPr algn="ctr"/>
          </a:p>
        </p:txBody>
      </p:sp>
      <p:cxnSp>
        <p:nvCxnSpPr>
          <p:cNvPr id="33" name="Connector 32"/>
          <p:cNvCxnSpPr/>
          <p:nvPr/>
        </p:nvCxnSpPr>
        <p:spPr>
          <a:xfrm>
            <a:off x="1901952" y="1307592"/>
            <a:ext cx="219456" cy="1362456"/>
          </a:xfrm>
          <a:prstGeom prst="line">
            <a:avLst/>
          </a:prstGeom>
          <a:ln w="19050">
            <a:solidFill>
              <a:srgbClr val="634F7D"/>
            </a:solidFill>
            <a:tailEnd type="triangle" w="med" len="med"/>
          </a:ln>
        </p:spPr>
      </p:cxnSp>
      <p:cxnSp>
        <p:nvCxnSpPr>
          <p:cNvPr id="34" name="Connector 33"/>
          <p:cNvCxnSpPr/>
          <p:nvPr/>
        </p:nvCxnSpPr>
        <p:spPr>
          <a:xfrm>
            <a:off x="2267712" y="2816352"/>
            <a:ext cx="310896" cy="356616"/>
          </a:xfrm>
          <a:prstGeom prst="line">
            <a:avLst/>
          </a:prstGeom>
          <a:ln w="19050">
            <a:solidFill>
              <a:srgbClr val="38761D"/>
            </a:solidFill>
            <a:tailEnd type="triangle" w="med" len="med"/>
          </a:ln>
        </p:spPr>
      </p:cxnSp>
      <p:cxnSp>
        <p:nvCxnSpPr>
          <p:cNvPr id="35" name="Connector 34"/>
          <p:cNvCxnSpPr/>
          <p:nvPr/>
        </p:nvCxnSpPr>
        <p:spPr>
          <a:xfrm flipV="1">
            <a:off x="3044952" y="2816352"/>
            <a:ext cx="173736" cy="356616"/>
          </a:xfrm>
          <a:prstGeom prst="line">
            <a:avLst/>
          </a:prstGeom>
          <a:ln w="19050">
            <a:solidFill>
              <a:srgbClr val="38761D"/>
            </a:solidFill>
            <a:tailEnd type="triangle" w="med" len="med"/>
          </a:ln>
        </p:spPr>
      </p:cxnSp>
      <p:cxnSp>
        <p:nvCxnSpPr>
          <p:cNvPr id="36" name="Connector 35"/>
          <p:cNvCxnSpPr/>
          <p:nvPr/>
        </p:nvCxnSpPr>
        <p:spPr>
          <a:xfrm>
            <a:off x="3364992" y="2816352"/>
            <a:ext cx="310895" cy="859535"/>
          </a:xfrm>
          <a:prstGeom prst="line">
            <a:avLst/>
          </a:prstGeom>
          <a:ln w="19050">
            <a:solidFill>
              <a:srgbClr val="38761D"/>
            </a:solidFill>
            <a:tailEnd type="triangle" w="med" len="med"/>
          </a:ln>
        </p:spPr>
      </p:cxnSp>
      <p:cxnSp>
        <p:nvCxnSpPr>
          <p:cNvPr id="37" name="Connector 36"/>
          <p:cNvCxnSpPr/>
          <p:nvPr/>
        </p:nvCxnSpPr>
        <p:spPr>
          <a:xfrm>
            <a:off x="3639312" y="1307592"/>
            <a:ext cx="402336" cy="356615"/>
          </a:xfrm>
          <a:prstGeom prst="line">
            <a:avLst/>
          </a:prstGeom>
          <a:ln w="19050">
            <a:solidFill>
              <a:srgbClr val="980000"/>
            </a:solidFill>
            <a:tailEnd type="triangle" w="med" len="med"/>
          </a:ln>
        </p:spPr>
      </p:cxnSp>
      <p:cxnSp>
        <p:nvCxnSpPr>
          <p:cNvPr id="38" name="Connector 37"/>
          <p:cNvCxnSpPr/>
          <p:nvPr/>
        </p:nvCxnSpPr>
        <p:spPr>
          <a:xfrm flipV="1">
            <a:off x="4187952" y="1307592"/>
            <a:ext cx="493776" cy="356615"/>
          </a:xfrm>
          <a:prstGeom prst="line">
            <a:avLst/>
          </a:prstGeom>
          <a:ln w="19050">
            <a:solidFill>
              <a:srgbClr val="980000"/>
            </a:solidFill>
            <a:tailEnd type="triangle" w="med" len="med"/>
          </a:ln>
        </p:spPr>
      </p:cxnSp>
      <p:cxnSp>
        <p:nvCxnSpPr>
          <p:cNvPr id="39" name="Connector 38"/>
          <p:cNvCxnSpPr/>
          <p:nvPr/>
        </p:nvCxnSpPr>
        <p:spPr>
          <a:xfrm>
            <a:off x="4187952" y="1810512"/>
            <a:ext cx="859536" cy="859536"/>
          </a:xfrm>
          <a:prstGeom prst="line">
            <a:avLst/>
          </a:prstGeom>
          <a:ln w="19050">
            <a:solidFill>
              <a:srgbClr val="634F7D"/>
            </a:solidFill>
            <a:tailEnd type="triangle" w="med" len="med"/>
          </a:ln>
        </p:spPr>
      </p:cxnSp>
      <p:cxnSp>
        <p:nvCxnSpPr>
          <p:cNvPr id="40" name="Connector 39"/>
          <p:cNvCxnSpPr/>
          <p:nvPr/>
        </p:nvCxnSpPr>
        <p:spPr>
          <a:xfrm flipV="1">
            <a:off x="5650992" y="2816352"/>
            <a:ext cx="310896" cy="859535"/>
          </a:xfrm>
          <a:prstGeom prst="line">
            <a:avLst/>
          </a:prstGeom>
          <a:ln w="19050">
            <a:solidFill>
              <a:srgbClr val="38761D"/>
            </a:solidFill>
            <a:tailEnd type="triangle" w="med" len="med"/>
          </a:ln>
        </p:spPr>
      </p:cxnSp>
      <p:cxnSp>
        <p:nvCxnSpPr>
          <p:cNvPr id="41" name="Connector 40"/>
          <p:cNvCxnSpPr/>
          <p:nvPr/>
        </p:nvCxnSpPr>
        <p:spPr>
          <a:xfrm flipV="1">
            <a:off x="6108192" y="2313432"/>
            <a:ext cx="493776" cy="356616"/>
          </a:xfrm>
          <a:prstGeom prst="line">
            <a:avLst/>
          </a:prstGeom>
          <a:ln w="19050">
            <a:solidFill>
              <a:srgbClr val="634F7D"/>
            </a:solidFill>
            <a:tailEnd type="triangle" w="med" len="med"/>
          </a:ln>
        </p:spPr>
      </p:cxnSp>
      <p:cxnSp>
        <p:nvCxnSpPr>
          <p:cNvPr id="42" name="Connector 41"/>
          <p:cNvCxnSpPr/>
          <p:nvPr/>
        </p:nvCxnSpPr>
        <p:spPr>
          <a:xfrm flipV="1">
            <a:off x="7296912" y="1307592"/>
            <a:ext cx="768096" cy="859536"/>
          </a:xfrm>
          <a:prstGeom prst="line">
            <a:avLst/>
          </a:prstGeom>
          <a:ln w="19050">
            <a:solidFill>
              <a:srgbClr val="CC850A"/>
            </a:solidFill>
            <a:tailEnd type="triangle" w="med" len="med"/>
          </a:ln>
        </p:spPr>
      </p:cxnSp>
      <p:cxnSp>
        <p:nvCxnSpPr>
          <p:cNvPr id="43" name="Connector 42"/>
          <p:cNvCxnSpPr/>
          <p:nvPr/>
        </p:nvCxnSpPr>
        <p:spPr>
          <a:xfrm>
            <a:off x="7296912" y="2313432"/>
            <a:ext cx="402336" cy="356616"/>
          </a:xfrm>
          <a:prstGeom prst="line">
            <a:avLst/>
          </a:prstGeom>
          <a:ln w="19050">
            <a:solidFill>
              <a:srgbClr val="634F7D"/>
            </a:solidFill>
            <a:tailEnd type="triangle" w="med" len="med"/>
          </a:ln>
        </p:spPr>
      </p:cxnSp>
      <p:sp>
        <p:nvSpPr>
          <p:cNvPr id="44" name="TextBox 43"/>
          <p:cNvSpPr txBox="1"/>
          <p:nvPr/>
        </p:nvSpPr>
        <p:spPr>
          <a:xfrm>
            <a:off x="1463040" y="914400"/>
            <a:ext cx="731520" cy="228600"/>
          </a:xfrm>
          <a:prstGeom prst="rect">
            <a:avLst/>
          </a:prstGeom>
          <a:noFill/>
        </p:spPr>
        <p:txBody>
          <a:bodyPr wrap="square" lIns="36576" rIns="36576" tIns="36576" bIns="36576" anchor="t"/>
          <a:lstStyle/>
          <a:p>
            <a:pPr algn="ctr" marL="0" indent="0">
              <a:spcAft>
                <a:spcPts val="400"/>
              </a:spcAft>
              <a:buNone/>
            </a:pPr>
            <a:r>
              <a:rPr sz="850" b="1" i="0" lang="es-CL">
                <a:solidFill>
                  <a:srgbClr val="003D4F"/>
                </a:solidFill>
                <a:latin typeface="Inter"/>
                <a:ea typeface="Inter"/>
                <a:cs typeface="Inter"/>
              </a:rPr>
              <a:t>v1.0</a:t>
            </a:r>
          </a:p>
        </p:txBody>
      </p:sp>
      <p:sp>
        <p:nvSpPr>
          <p:cNvPr id="45" name="TextBox 44"/>
          <p:cNvSpPr txBox="1"/>
          <p:nvPr/>
        </p:nvSpPr>
        <p:spPr>
          <a:xfrm>
            <a:off x="4389120" y="914400"/>
            <a:ext cx="731520" cy="228600"/>
          </a:xfrm>
          <a:prstGeom prst="rect">
            <a:avLst/>
          </a:prstGeom>
          <a:noFill/>
        </p:spPr>
        <p:txBody>
          <a:bodyPr wrap="square" lIns="36576" rIns="36576" tIns="36576" bIns="36576" anchor="t"/>
          <a:lstStyle/>
          <a:p>
            <a:pPr algn="ctr" marL="0" indent="0">
              <a:spcAft>
                <a:spcPts val="400"/>
              </a:spcAft>
              <a:buNone/>
            </a:pPr>
            <a:r>
              <a:rPr sz="850" b="1" i="0" lang="es-CL">
                <a:solidFill>
                  <a:srgbClr val="003D4F"/>
                </a:solidFill>
                <a:latin typeface="Inter"/>
                <a:ea typeface="Inter"/>
                <a:cs typeface="Inter"/>
              </a:rPr>
              <a:t>v1.0.1</a:t>
            </a:r>
          </a:p>
        </p:txBody>
      </p:sp>
      <p:sp>
        <p:nvSpPr>
          <p:cNvPr id="46" name="TextBox 45"/>
          <p:cNvSpPr txBox="1"/>
          <p:nvPr/>
        </p:nvSpPr>
        <p:spPr>
          <a:xfrm>
            <a:off x="7772400" y="914400"/>
            <a:ext cx="731520" cy="228600"/>
          </a:xfrm>
          <a:prstGeom prst="rect">
            <a:avLst/>
          </a:prstGeom>
          <a:noFill/>
        </p:spPr>
        <p:txBody>
          <a:bodyPr wrap="square" lIns="36576" rIns="36576" tIns="36576" bIns="36576" anchor="t"/>
          <a:lstStyle/>
          <a:p>
            <a:pPr algn="ctr" marL="0" indent="0">
              <a:spcAft>
                <a:spcPts val="400"/>
              </a:spcAft>
              <a:buNone/>
            </a:pPr>
            <a:r>
              <a:rPr sz="850" b="1" i="0" lang="es-CL">
                <a:solidFill>
                  <a:srgbClr val="003D4F"/>
                </a:solidFill>
                <a:latin typeface="Inter"/>
                <a:ea typeface="Inter"/>
                <a:cs typeface="Inter"/>
              </a:rPr>
              <a:t>v1.1</a:t>
            </a:r>
          </a:p>
        </p:txBody>
      </p:sp>
      <p:sp>
        <p:nvSpPr>
          <p:cNvPr id="47" name="TextBox 46"/>
          <p:cNvSpPr txBox="1"/>
          <p:nvPr/>
        </p:nvSpPr>
        <p:spPr>
          <a:xfrm>
            <a:off x="411480" y="4069080"/>
            <a:ext cx="8321040" cy="502920"/>
          </a:xfrm>
          <a:prstGeom prst="rect">
            <a:avLst/>
          </a:prstGeom>
          <a:noFill/>
        </p:spPr>
        <p:txBody>
          <a:bodyPr wrap="square" lIns="36576" rIns="36576" tIns="36576" bIns="36576" anchor="t"/>
          <a:lstStyle/>
          <a:p>
            <a:pPr algn="ctr" marL="0" indent="0">
              <a:spcAft>
                <a:spcPts val="400"/>
              </a:spcAft>
              <a:buNone/>
            </a:pPr>
            <a:r>
              <a:rPr sz="1050" b="0" i="0" lang="es-CL">
                <a:solidFill>
                  <a:srgbClr val="57606A"/>
                </a:solidFill>
                <a:latin typeface="Inter"/>
                <a:ea typeface="Inter"/>
                <a:cs typeface="Inter"/>
              </a:rPr>
              <a:t>Ramas de larga vida (main y develop), features que duran semanas y releases programados. Útil cuando mantienes varias versiones en producción a la vez.</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Trunk Based Development</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2148840"/>
            <a:ext cx="1051560"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main</a:t>
            </a:r>
          </a:p>
        </p:txBody>
      </p:sp>
      <p:cxnSp>
        <p:nvCxnSpPr>
          <p:cNvPr id="5" name="Connector 4"/>
          <p:cNvCxnSpPr/>
          <p:nvPr/>
        </p:nvCxnSpPr>
        <p:spPr>
          <a:xfrm>
            <a:off x="1600200" y="2286000"/>
            <a:ext cx="7086600" cy="0"/>
          </a:xfrm>
          <a:prstGeom prst="line">
            <a:avLst/>
          </a:prstGeom>
          <a:ln w="38100">
            <a:solidFill>
              <a:srgbClr val="003D4F"/>
            </a:solidFill>
            <a:tailEnd type="triangle" w="med" len="med"/>
          </a:ln>
        </p:spPr>
      </p:cxnSp>
      <p:sp>
        <p:nvSpPr>
          <p:cNvPr id="6" name="Oval 5"/>
          <p:cNvSpPr/>
          <p:nvPr/>
        </p:nvSpPr>
        <p:spPr>
          <a:xfrm>
            <a:off x="1810512" y="2176272"/>
            <a:ext cx="219456" cy="219456"/>
          </a:xfrm>
          <a:prstGeom prst="ellipse">
            <a:avLst/>
          </a:prstGeom>
          <a:solidFill>
            <a:srgbClr val="003D4F"/>
          </a:solidFill>
          <a:ln>
            <a:noFill/>
          </a:ln>
        </p:spPr>
        <p:txBody>
          <a:bodyPr rtlCol="0" anchor="ctr" wrap="square" lIns="54864" rIns="54864" tIns="54864" bIns="54864"/>
          <a:lstStyle/>
          <a:p>
            <a:pPr algn="ctr"/>
          </a:p>
        </p:txBody>
      </p:sp>
      <p:sp>
        <p:nvSpPr>
          <p:cNvPr id="7" name="Oval 6"/>
          <p:cNvSpPr/>
          <p:nvPr/>
        </p:nvSpPr>
        <p:spPr>
          <a:xfrm>
            <a:off x="1801368" y="1719072"/>
            <a:ext cx="237744" cy="237744"/>
          </a:xfrm>
          <a:prstGeom prst="ellipse">
            <a:avLst/>
          </a:prstGeom>
          <a:solidFill>
            <a:srgbClr val="38761D"/>
          </a:solidFill>
          <a:ln>
            <a:noFill/>
          </a:ln>
        </p:spPr>
        <p:txBody>
          <a:bodyPr rtlCol="0" anchor="ctr" wrap="square" lIns="0" rIns="0" tIns="0" bIns="0"/>
          <a:lstStyle/>
          <a:p>
            <a:pPr algn="ctr" marL="0" indent="0">
              <a:spcAft>
                <a:spcPts val="200"/>
              </a:spcAft>
              <a:buNone/>
            </a:pPr>
            <a:r>
              <a:rPr sz="800" b="1" i="0" lang="es-CL">
                <a:solidFill>
                  <a:srgbClr val="FFFFFF"/>
                </a:solidFill>
                <a:latin typeface="Inter"/>
                <a:ea typeface="Inter"/>
                <a:cs typeface="Inter"/>
              </a:rPr>
              <a:t>✓</a:t>
            </a:r>
          </a:p>
        </p:txBody>
      </p:sp>
      <p:sp>
        <p:nvSpPr>
          <p:cNvPr id="8" name="Oval 7"/>
          <p:cNvSpPr/>
          <p:nvPr/>
        </p:nvSpPr>
        <p:spPr>
          <a:xfrm>
            <a:off x="2542032" y="2176272"/>
            <a:ext cx="219456" cy="219456"/>
          </a:xfrm>
          <a:prstGeom prst="ellipse">
            <a:avLst/>
          </a:prstGeom>
          <a:solidFill>
            <a:srgbClr val="003D4F"/>
          </a:solidFill>
          <a:ln>
            <a:noFill/>
          </a:ln>
        </p:spPr>
        <p:txBody>
          <a:bodyPr rtlCol="0" anchor="ctr" wrap="square" lIns="54864" rIns="54864" tIns="54864" bIns="54864"/>
          <a:lstStyle/>
          <a:p>
            <a:pPr algn="ctr"/>
          </a:p>
        </p:txBody>
      </p:sp>
      <p:sp>
        <p:nvSpPr>
          <p:cNvPr id="9" name="Oval 8"/>
          <p:cNvSpPr/>
          <p:nvPr/>
        </p:nvSpPr>
        <p:spPr>
          <a:xfrm>
            <a:off x="2532888" y="1719072"/>
            <a:ext cx="237744" cy="237744"/>
          </a:xfrm>
          <a:prstGeom prst="ellipse">
            <a:avLst/>
          </a:prstGeom>
          <a:solidFill>
            <a:srgbClr val="38761D"/>
          </a:solidFill>
          <a:ln>
            <a:noFill/>
          </a:ln>
        </p:spPr>
        <p:txBody>
          <a:bodyPr rtlCol="0" anchor="ctr" wrap="square" lIns="0" rIns="0" tIns="0" bIns="0"/>
          <a:lstStyle/>
          <a:p>
            <a:pPr algn="ctr" marL="0" indent="0">
              <a:spcAft>
                <a:spcPts val="200"/>
              </a:spcAft>
              <a:buNone/>
            </a:pPr>
            <a:r>
              <a:rPr sz="800" b="1" i="0" lang="es-CL">
                <a:solidFill>
                  <a:srgbClr val="FFFFFF"/>
                </a:solidFill>
                <a:latin typeface="Inter"/>
                <a:ea typeface="Inter"/>
                <a:cs typeface="Inter"/>
              </a:rPr>
              <a:t>✓</a:t>
            </a:r>
          </a:p>
        </p:txBody>
      </p:sp>
      <p:sp>
        <p:nvSpPr>
          <p:cNvPr id="10" name="Oval 9"/>
          <p:cNvSpPr/>
          <p:nvPr/>
        </p:nvSpPr>
        <p:spPr>
          <a:xfrm>
            <a:off x="3273552" y="2176272"/>
            <a:ext cx="219456" cy="219456"/>
          </a:xfrm>
          <a:prstGeom prst="ellipse">
            <a:avLst/>
          </a:prstGeom>
          <a:solidFill>
            <a:srgbClr val="003D4F"/>
          </a:solidFill>
          <a:ln>
            <a:noFill/>
          </a:ln>
        </p:spPr>
        <p:txBody>
          <a:bodyPr rtlCol="0" anchor="ctr" wrap="square" lIns="54864" rIns="54864" tIns="54864" bIns="54864"/>
          <a:lstStyle/>
          <a:p>
            <a:pPr algn="ctr"/>
          </a:p>
        </p:txBody>
      </p:sp>
      <p:sp>
        <p:nvSpPr>
          <p:cNvPr id="11" name="Oval 10"/>
          <p:cNvSpPr/>
          <p:nvPr/>
        </p:nvSpPr>
        <p:spPr>
          <a:xfrm>
            <a:off x="3264408" y="1719072"/>
            <a:ext cx="237744" cy="237744"/>
          </a:xfrm>
          <a:prstGeom prst="ellipse">
            <a:avLst/>
          </a:prstGeom>
          <a:solidFill>
            <a:srgbClr val="38761D"/>
          </a:solidFill>
          <a:ln>
            <a:noFill/>
          </a:ln>
        </p:spPr>
        <p:txBody>
          <a:bodyPr rtlCol="0" anchor="ctr" wrap="square" lIns="0" rIns="0" tIns="0" bIns="0"/>
          <a:lstStyle/>
          <a:p>
            <a:pPr algn="ctr" marL="0" indent="0">
              <a:spcAft>
                <a:spcPts val="200"/>
              </a:spcAft>
              <a:buNone/>
            </a:pPr>
            <a:r>
              <a:rPr sz="800" b="1" i="0" lang="es-CL">
                <a:solidFill>
                  <a:srgbClr val="FFFFFF"/>
                </a:solidFill>
                <a:latin typeface="Inter"/>
                <a:ea typeface="Inter"/>
                <a:cs typeface="Inter"/>
              </a:rPr>
              <a:t>✓</a:t>
            </a:r>
          </a:p>
        </p:txBody>
      </p:sp>
      <p:sp>
        <p:nvSpPr>
          <p:cNvPr id="12" name="Oval 11"/>
          <p:cNvSpPr/>
          <p:nvPr/>
        </p:nvSpPr>
        <p:spPr>
          <a:xfrm>
            <a:off x="4005072" y="2176272"/>
            <a:ext cx="219456" cy="219456"/>
          </a:xfrm>
          <a:prstGeom prst="ellipse">
            <a:avLst/>
          </a:prstGeom>
          <a:solidFill>
            <a:srgbClr val="003D4F"/>
          </a:solidFill>
          <a:ln>
            <a:noFill/>
          </a:ln>
        </p:spPr>
        <p:txBody>
          <a:bodyPr rtlCol="0" anchor="ctr" wrap="square" lIns="54864" rIns="54864" tIns="54864" bIns="54864"/>
          <a:lstStyle/>
          <a:p>
            <a:pPr algn="ctr"/>
          </a:p>
        </p:txBody>
      </p:sp>
      <p:sp>
        <p:nvSpPr>
          <p:cNvPr id="13" name="Oval 12"/>
          <p:cNvSpPr/>
          <p:nvPr/>
        </p:nvSpPr>
        <p:spPr>
          <a:xfrm>
            <a:off x="3995928" y="1719072"/>
            <a:ext cx="237744" cy="237744"/>
          </a:xfrm>
          <a:prstGeom prst="ellipse">
            <a:avLst/>
          </a:prstGeom>
          <a:solidFill>
            <a:srgbClr val="38761D"/>
          </a:solidFill>
          <a:ln>
            <a:noFill/>
          </a:ln>
        </p:spPr>
        <p:txBody>
          <a:bodyPr rtlCol="0" anchor="ctr" wrap="square" lIns="0" rIns="0" tIns="0" bIns="0"/>
          <a:lstStyle/>
          <a:p>
            <a:pPr algn="ctr" marL="0" indent="0">
              <a:spcAft>
                <a:spcPts val="200"/>
              </a:spcAft>
              <a:buNone/>
            </a:pPr>
            <a:r>
              <a:rPr sz="800" b="1" i="0" lang="es-CL">
                <a:solidFill>
                  <a:srgbClr val="FFFFFF"/>
                </a:solidFill>
                <a:latin typeface="Inter"/>
                <a:ea typeface="Inter"/>
                <a:cs typeface="Inter"/>
              </a:rPr>
              <a:t>✓</a:t>
            </a:r>
          </a:p>
        </p:txBody>
      </p:sp>
      <p:sp>
        <p:nvSpPr>
          <p:cNvPr id="14" name="Oval 13"/>
          <p:cNvSpPr/>
          <p:nvPr/>
        </p:nvSpPr>
        <p:spPr>
          <a:xfrm>
            <a:off x="4736592" y="2176272"/>
            <a:ext cx="219456" cy="219456"/>
          </a:xfrm>
          <a:prstGeom prst="ellipse">
            <a:avLst/>
          </a:prstGeom>
          <a:solidFill>
            <a:srgbClr val="003D4F"/>
          </a:solidFill>
          <a:ln>
            <a:noFill/>
          </a:ln>
        </p:spPr>
        <p:txBody>
          <a:bodyPr rtlCol="0" anchor="ctr" wrap="square" lIns="54864" rIns="54864" tIns="54864" bIns="54864"/>
          <a:lstStyle/>
          <a:p>
            <a:pPr algn="ctr"/>
          </a:p>
        </p:txBody>
      </p:sp>
      <p:sp>
        <p:nvSpPr>
          <p:cNvPr id="15" name="Oval 14"/>
          <p:cNvSpPr/>
          <p:nvPr/>
        </p:nvSpPr>
        <p:spPr>
          <a:xfrm>
            <a:off x="4727448" y="1719072"/>
            <a:ext cx="237744" cy="237744"/>
          </a:xfrm>
          <a:prstGeom prst="ellipse">
            <a:avLst/>
          </a:prstGeom>
          <a:solidFill>
            <a:srgbClr val="38761D"/>
          </a:solidFill>
          <a:ln>
            <a:noFill/>
          </a:ln>
        </p:spPr>
        <p:txBody>
          <a:bodyPr rtlCol="0" anchor="ctr" wrap="square" lIns="0" rIns="0" tIns="0" bIns="0"/>
          <a:lstStyle/>
          <a:p>
            <a:pPr algn="ctr" marL="0" indent="0">
              <a:spcAft>
                <a:spcPts val="200"/>
              </a:spcAft>
              <a:buNone/>
            </a:pPr>
            <a:r>
              <a:rPr sz="800" b="1" i="0" lang="es-CL">
                <a:solidFill>
                  <a:srgbClr val="FFFFFF"/>
                </a:solidFill>
                <a:latin typeface="Inter"/>
                <a:ea typeface="Inter"/>
                <a:cs typeface="Inter"/>
              </a:rPr>
              <a:t>✓</a:t>
            </a:r>
          </a:p>
        </p:txBody>
      </p:sp>
      <p:sp>
        <p:nvSpPr>
          <p:cNvPr id="16" name="Oval 15"/>
          <p:cNvSpPr/>
          <p:nvPr/>
        </p:nvSpPr>
        <p:spPr>
          <a:xfrm>
            <a:off x="5468112" y="2176272"/>
            <a:ext cx="219456" cy="219456"/>
          </a:xfrm>
          <a:prstGeom prst="ellipse">
            <a:avLst/>
          </a:prstGeom>
          <a:solidFill>
            <a:srgbClr val="003D4F"/>
          </a:solidFill>
          <a:ln>
            <a:noFill/>
          </a:ln>
        </p:spPr>
        <p:txBody>
          <a:bodyPr rtlCol="0" anchor="ctr" wrap="square" lIns="54864" rIns="54864" tIns="54864" bIns="54864"/>
          <a:lstStyle/>
          <a:p>
            <a:pPr algn="ctr"/>
          </a:p>
        </p:txBody>
      </p:sp>
      <p:sp>
        <p:nvSpPr>
          <p:cNvPr id="17" name="Oval 16"/>
          <p:cNvSpPr/>
          <p:nvPr/>
        </p:nvSpPr>
        <p:spPr>
          <a:xfrm>
            <a:off x="5458968" y="1719072"/>
            <a:ext cx="237744" cy="237744"/>
          </a:xfrm>
          <a:prstGeom prst="ellipse">
            <a:avLst/>
          </a:prstGeom>
          <a:solidFill>
            <a:srgbClr val="38761D"/>
          </a:solidFill>
          <a:ln>
            <a:noFill/>
          </a:ln>
        </p:spPr>
        <p:txBody>
          <a:bodyPr rtlCol="0" anchor="ctr" wrap="square" lIns="0" rIns="0" tIns="0" bIns="0"/>
          <a:lstStyle/>
          <a:p>
            <a:pPr algn="ctr" marL="0" indent="0">
              <a:spcAft>
                <a:spcPts val="200"/>
              </a:spcAft>
              <a:buNone/>
            </a:pPr>
            <a:r>
              <a:rPr sz="800" b="1" i="0" lang="es-CL">
                <a:solidFill>
                  <a:srgbClr val="FFFFFF"/>
                </a:solidFill>
                <a:latin typeface="Inter"/>
                <a:ea typeface="Inter"/>
                <a:cs typeface="Inter"/>
              </a:rPr>
              <a:t>✓</a:t>
            </a:r>
          </a:p>
        </p:txBody>
      </p:sp>
      <p:sp>
        <p:nvSpPr>
          <p:cNvPr id="18" name="Oval 17"/>
          <p:cNvSpPr/>
          <p:nvPr/>
        </p:nvSpPr>
        <p:spPr>
          <a:xfrm>
            <a:off x="6199632" y="2176272"/>
            <a:ext cx="219456" cy="219456"/>
          </a:xfrm>
          <a:prstGeom prst="ellipse">
            <a:avLst/>
          </a:prstGeom>
          <a:solidFill>
            <a:srgbClr val="003D4F"/>
          </a:solidFill>
          <a:ln>
            <a:noFill/>
          </a:ln>
        </p:spPr>
        <p:txBody>
          <a:bodyPr rtlCol="0" anchor="ctr" wrap="square" lIns="54864" rIns="54864" tIns="54864" bIns="54864"/>
          <a:lstStyle/>
          <a:p>
            <a:pPr algn="ctr"/>
          </a:p>
        </p:txBody>
      </p:sp>
      <p:sp>
        <p:nvSpPr>
          <p:cNvPr id="19" name="Oval 18"/>
          <p:cNvSpPr/>
          <p:nvPr/>
        </p:nvSpPr>
        <p:spPr>
          <a:xfrm>
            <a:off x="6190488" y="1719072"/>
            <a:ext cx="237744" cy="237744"/>
          </a:xfrm>
          <a:prstGeom prst="ellipse">
            <a:avLst/>
          </a:prstGeom>
          <a:solidFill>
            <a:srgbClr val="38761D"/>
          </a:solidFill>
          <a:ln>
            <a:noFill/>
          </a:ln>
        </p:spPr>
        <p:txBody>
          <a:bodyPr rtlCol="0" anchor="ctr" wrap="square" lIns="0" rIns="0" tIns="0" bIns="0"/>
          <a:lstStyle/>
          <a:p>
            <a:pPr algn="ctr" marL="0" indent="0">
              <a:spcAft>
                <a:spcPts val="200"/>
              </a:spcAft>
              <a:buNone/>
            </a:pPr>
            <a:r>
              <a:rPr sz="800" b="1" i="0" lang="es-CL">
                <a:solidFill>
                  <a:srgbClr val="FFFFFF"/>
                </a:solidFill>
                <a:latin typeface="Inter"/>
                <a:ea typeface="Inter"/>
                <a:cs typeface="Inter"/>
              </a:rPr>
              <a:t>✓</a:t>
            </a:r>
          </a:p>
        </p:txBody>
      </p:sp>
      <p:sp>
        <p:nvSpPr>
          <p:cNvPr id="20" name="Oval 19"/>
          <p:cNvSpPr/>
          <p:nvPr/>
        </p:nvSpPr>
        <p:spPr>
          <a:xfrm>
            <a:off x="6931152" y="2176272"/>
            <a:ext cx="219456" cy="219456"/>
          </a:xfrm>
          <a:prstGeom prst="ellipse">
            <a:avLst/>
          </a:prstGeom>
          <a:solidFill>
            <a:srgbClr val="003D4F"/>
          </a:solidFill>
          <a:ln>
            <a:noFill/>
          </a:ln>
        </p:spPr>
        <p:txBody>
          <a:bodyPr rtlCol="0" anchor="ctr" wrap="square" lIns="54864" rIns="54864" tIns="54864" bIns="54864"/>
          <a:lstStyle/>
          <a:p>
            <a:pPr algn="ctr"/>
          </a:p>
        </p:txBody>
      </p:sp>
      <p:sp>
        <p:nvSpPr>
          <p:cNvPr id="21" name="Oval 20"/>
          <p:cNvSpPr/>
          <p:nvPr/>
        </p:nvSpPr>
        <p:spPr>
          <a:xfrm>
            <a:off x="6922008" y="1719072"/>
            <a:ext cx="237744" cy="237744"/>
          </a:xfrm>
          <a:prstGeom prst="ellipse">
            <a:avLst/>
          </a:prstGeom>
          <a:solidFill>
            <a:srgbClr val="38761D"/>
          </a:solidFill>
          <a:ln>
            <a:noFill/>
          </a:ln>
        </p:spPr>
        <p:txBody>
          <a:bodyPr rtlCol="0" anchor="ctr" wrap="square" lIns="0" rIns="0" tIns="0" bIns="0"/>
          <a:lstStyle/>
          <a:p>
            <a:pPr algn="ctr" marL="0" indent="0">
              <a:spcAft>
                <a:spcPts val="200"/>
              </a:spcAft>
              <a:buNone/>
            </a:pPr>
            <a:r>
              <a:rPr sz="800" b="1" i="0" lang="es-CL">
                <a:solidFill>
                  <a:srgbClr val="FFFFFF"/>
                </a:solidFill>
                <a:latin typeface="Inter"/>
                <a:ea typeface="Inter"/>
                <a:cs typeface="Inter"/>
              </a:rPr>
              <a:t>✓</a:t>
            </a:r>
          </a:p>
        </p:txBody>
      </p:sp>
      <p:sp>
        <p:nvSpPr>
          <p:cNvPr id="22" name="Oval 21"/>
          <p:cNvSpPr/>
          <p:nvPr/>
        </p:nvSpPr>
        <p:spPr>
          <a:xfrm>
            <a:off x="7662672" y="2176272"/>
            <a:ext cx="219456" cy="219456"/>
          </a:xfrm>
          <a:prstGeom prst="ellipse">
            <a:avLst/>
          </a:prstGeom>
          <a:solidFill>
            <a:srgbClr val="003D4F"/>
          </a:solidFill>
          <a:ln>
            <a:noFill/>
          </a:ln>
        </p:spPr>
        <p:txBody>
          <a:bodyPr rtlCol="0" anchor="ctr" wrap="square" lIns="54864" rIns="54864" tIns="54864" bIns="54864"/>
          <a:lstStyle/>
          <a:p>
            <a:pPr algn="ctr"/>
          </a:p>
        </p:txBody>
      </p:sp>
      <p:sp>
        <p:nvSpPr>
          <p:cNvPr id="23" name="Oval 22"/>
          <p:cNvSpPr/>
          <p:nvPr/>
        </p:nvSpPr>
        <p:spPr>
          <a:xfrm>
            <a:off x="7653527" y="1719072"/>
            <a:ext cx="237744" cy="237744"/>
          </a:xfrm>
          <a:prstGeom prst="ellipse">
            <a:avLst/>
          </a:prstGeom>
          <a:solidFill>
            <a:srgbClr val="38761D"/>
          </a:solidFill>
          <a:ln>
            <a:noFill/>
          </a:ln>
        </p:spPr>
        <p:txBody>
          <a:bodyPr rtlCol="0" anchor="ctr" wrap="square" lIns="0" rIns="0" tIns="0" bIns="0"/>
          <a:lstStyle/>
          <a:p>
            <a:pPr algn="ctr" marL="0" indent="0">
              <a:spcAft>
                <a:spcPts val="200"/>
              </a:spcAft>
              <a:buNone/>
            </a:pPr>
            <a:r>
              <a:rPr sz="800" b="1" i="0" lang="es-CL">
                <a:solidFill>
                  <a:srgbClr val="FFFFFF"/>
                </a:solidFill>
                <a:latin typeface="Inter"/>
                <a:ea typeface="Inter"/>
                <a:cs typeface="Inter"/>
              </a:rPr>
              <a:t>✓</a:t>
            </a:r>
          </a:p>
        </p:txBody>
      </p:sp>
      <p:cxnSp>
        <p:nvCxnSpPr>
          <p:cNvPr id="24" name="Connector 23"/>
          <p:cNvCxnSpPr/>
          <p:nvPr/>
        </p:nvCxnSpPr>
        <p:spPr>
          <a:xfrm>
            <a:off x="1965960" y="2377440"/>
            <a:ext cx="228600" cy="502920"/>
          </a:xfrm>
          <a:prstGeom prst="line">
            <a:avLst/>
          </a:prstGeom>
          <a:ln w="19050">
            <a:solidFill>
              <a:srgbClr val="38761D"/>
            </a:solidFill>
          </a:ln>
        </p:spPr>
      </p:cxnSp>
      <p:sp>
        <p:nvSpPr>
          <p:cNvPr id="25" name="Oval 24"/>
          <p:cNvSpPr/>
          <p:nvPr/>
        </p:nvSpPr>
        <p:spPr>
          <a:xfrm>
            <a:off x="2148840" y="2816352"/>
            <a:ext cx="164592" cy="164592"/>
          </a:xfrm>
          <a:prstGeom prst="ellipse">
            <a:avLst/>
          </a:prstGeom>
          <a:solidFill>
            <a:srgbClr val="38761D"/>
          </a:solidFill>
          <a:ln>
            <a:noFill/>
          </a:ln>
        </p:spPr>
        <p:txBody>
          <a:bodyPr rtlCol="0" anchor="ctr" wrap="square" lIns="54864" rIns="54864" tIns="54864" bIns="54864"/>
          <a:lstStyle/>
          <a:p>
            <a:pPr algn="ctr"/>
          </a:p>
        </p:txBody>
      </p:sp>
      <p:cxnSp>
        <p:nvCxnSpPr>
          <p:cNvPr id="26" name="Connector 25"/>
          <p:cNvCxnSpPr/>
          <p:nvPr/>
        </p:nvCxnSpPr>
        <p:spPr>
          <a:xfrm flipV="1">
            <a:off x="2331720" y="2395728"/>
            <a:ext cx="265176" cy="457200"/>
          </a:xfrm>
          <a:prstGeom prst="line">
            <a:avLst/>
          </a:prstGeom>
          <a:ln w="19050">
            <a:solidFill>
              <a:srgbClr val="38761D"/>
            </a:solidFill>
            <a:tailEnd type="triangle" w="med" len="med"/>
          </a:ln>
        </p:spPr>
      </p:cxnSp>
      <p:cxnSp>
        <p:nvCxnSpPr>
          <p:cNvPr id="27" name="Connector 26"/>
          <p:cNvCxnSpPr/>
          <p:nvPr/>
        </p:nvCxnSpPr>
        <p:spPr>
          <a:xfrm>
            <a:off x="3429000" y="2377440"/>
            <a:ext cx="228600" cy="502920"/>
          </a:xfrm>
          <a:prstGeom prst="line">
            <a:avLst/>
          </a:prstGeom>
          <a:ln w="19050">
            <a:solidFill>
              <a:srgbClr val="38761D"/>
            </a:solidFill>
          </a:ln>
        </p:spPr>
      </p:cxnSp>
      <p:sp>
        <p:nvSpPr>
          <p:cNvPr id="28" name="Oval 27"/>
          <p:cNvSpPr/>
          <p:nvPr/>
        </p:nvSpPr>
        <p:spPr>
          <a:xfrm>
            <a:off x="3611880" y="2816352"/>
            <a:ext cx="164592" cy="164592"/>
          </a:xfrm>
          <a:prstGeom prst="ellipse">
            <a:avLst/>
          </a:prstGeom>
          <a:solidFill>
            <a:srgbClr val="38761D"/>
          </a:solidFill>
          <a:ln>
            <a:noFill/>
          </a:ln>
        </p:spPr>
        <p:txBody>
          <a:bodyPr rtlCol="0" anchor="ctr" wrap="square" lIns="54864" rIns="54864" tIns="54864" bIns="54864"/>
          <a:lstStyle/>
          <a:p>
            <a:pPr algn="ctr"/>
          </a:p>
        </p:txBody>
      </p:sp>
      <p:cxnSp>
        <p:nvCxnSpPr>
          <p:cNvPr id="29" name="Connector 28"/>
          <p:cNvCxnSpPr/>
          <p:nvPr/>
        </p:nvCxnSpPr>
        <p:spPr>
          <a:xfrm flipV="1">
            <a:off x="3794760" y="2395728"/>
            <a:ext cx="265176" cy="457200"/>
          </a:xfrm>
          <a:prstGeom prst="line">
            <a:avLst/>
          </a:prstGeom>
          <a:ln w="19050">
            <a:solidFill>
              <a:srgbClr val="38761D"/>
            </a:solidFill>
            <a:tailEnd type="triangle" w="med" len="med"/>
          </a:ln>
        </p:spPr>
      </p:cxnSp>
      <p:cxnSp>
        <p:nvCxnSpPr>
          <p:cNvPr id="30" name="Connector 29"/>
          <p:cNvCxnSpPr/>
          <p:nvPr/>
        </p:nvCxnSpPr>
        <p:spPr>
          <a:xfrm>
            <a:off x="4892040" y="2377440"/>
            <a:ext cx="228600" cy="502920"/>
          </a:xfrm>
          <a:prstGeom prst="line">
            <a:avLst/>
          </a:prstGeom>
          <a:ln w="19050">
            <a:solidFill>
              <a:srgbClr val="38761D"/>
            </a:solidFill>
          </a:ln>
        </p:spPr>
      </p:cxnSp>
      <p:sp>
        <p:nvSpPr>
          <p:cNvPr id="31" name="Oval 30"/>
          <p:cNvSpPr/>
          <p:nvPr/>
        </p:nvSpPr>
        <p:spPr>
          <a:xfrm>
            <a:off x="5074920" y="2816352"/>
            <a:ext cx="164592" cy="164592"/>
          </a:xfrm>
          <a:prstGeom prst="ellipse">
            <a:avLst/>
          </a:prstGeom>
          <a:solidFill>
            <a:srgbClr val="38761D"/>
          </a:solidFill>
          <a:ln>
            <a:noFill/>
          </a:ln>
        </p:spPr>
        <p:txBody>
          <a:bodyPr rtlCol="0" anchor="ctr" wrap="square" lIns="54864" rIns="54864" tIns="54864" bIns="54864"/>
          <a:lstStyle/>
          <a:p>
            <a:pPr algn="ctr"/>
          </a:p>
        </p:txBody>
      </p:sp>
      <p:cxnSp>
        <p:nvCxnSpPr>
          <p:cNvPr id="32" name="Connector 31"/>
          <p:cNvCxnSpPr/>
          <p:nvPr/>
        </p:nvCxnSpPr>
        <p:spPr>
          <a:xfrm flipV="1">
            <a:off x="5257800" y="2395728"/>
            <a:ext cx="265176" cy="457200"/>
          </a:xfrm>
          <a:prstGeom prst="line">
            <a:avLst/>
          </a:prstGeom>
          <a:ln w="19050">
            <a:solidFill>
              <a:srgbClr val="38761D"/>
            </a:solidFill>
            <a:tailEnd type="triangle" w="med" len="med"/>
          </a:ln>
        </p:spPr>
      </p:cxnSp>
      <p:cxnSp>
        <p:nvCxnSpPr>
          <p:cNvPr id="33" name="Connector 32"/>
          <p:cNvCxnSpPr/>
          <p:nvPr/>
        </p:nvCxnSpPr>
        <p:spPr>
          <a:xfrm>
            <a:off x="6355080" y="2377440"/>
            <a:ext cx="228600" cy="502920"/>
          </a:xfrm>
          <a:prstGeom prst="line">
            <a:avLst/>
          </a:prstGeom>
          <a:ln w="19050">
            <a:solidFill>
              <a:srgbClr val="38761D"/>
            </a:solidFill>
          </a:ln>
        </p:spPr>
      </p:cxnSp>
      <p:sp>
        <p:nvSpPr>
          <p:cNvPr id="34" name="Oval 33"/>
          <p:cNvSpPr/>
          <p:nvPr/>
        </p:nvSpPr>
        <p:spPr>
          <a:xfrm>
            <a:off x="6537960" y="2816352"/>
            <a:ext cx="164592" cy="164592"/>
          </a:xfrm>
          <a:prstGeom prst="ellipse">
            <a:avLst/>
          </a:prstGeom>
          <a:solidFill>
            <a:srgbClr val="38761D"/>
          </a:solidFill>
          <a:ln>
            <a:noFill/>
          </a:ln>
        </p:spPr>
        <p:txBody>
          <a:bodyPr rtlCol="0" anchor="ctr" wrap="square" lIns="54864" rIns="54864" tIns="54864" bIns="54864"/>
          <a:lstStyle/>
          <a:p>
            <a:pPr algn="ctr"/>
          </a:p>
        </p:txBody>
      </p:sp>
      <p:cxnSp>
        <p:nvCxnSpPr>
          <p:cNvPr id="35" name="Connector 34"/>
          <p:cNvCxnSpPr/>
          <p:nvPr/>
        </p:nvCxnSpPr>
        <p:spPr>
          <a:xfrm flipV="1">
            <a:off x="6720840" y="2395728"/>
            <a:ext cx="265176" cy="457200"/>
          </a:xfrm>
          <a:prstGeom prst="line">
            <a:avLst/>
          </a:prstGeom>
          <a:ln w="19050">
            <a:solidFill>
              <a:srgbClr val="38761D"/>
            </a:solidFill>
            <a:tailEnd type="triangle" w="med" len="med"/>
          </a:ln>
        </p:spPr>
      </p:cxnSp>
      <p:sp>
        <p:nvSpPr>
          <p:cNvPr id="36" name="TextBox 35"/>
          <p:cNvSpPr txBox="1"/>
          <p:nvPr/>
        </p:nvSpPr>
        <p:spPr>
          <a:xfrm>
            <a:off x="1828800" y="3017520"/>
            <a:ext cx="5029200" cy="274320"/>
          </a:xfrm>
          <a:prstGeom prst="rect">
            <a:avLst/>
          </a:prstGeom>
          <a:noFill/>
        </p:spPr>
        <p:txBody>
          <a:bodyPr wrap="square" lIns="36576" rIns="36576" tIns="36576" bIns="36576" anchor="t"/>
          <a:lstStyle/>
          <a:p>
            <a:pPr algn="l" marL="0" indent="0">
              <a:spcAft>
                <a:spcPts val="400"/>
              </a:spcAft>
              <a:buNone/>
            </a:pPr>
            <a:r>
              <a:rPr sz="1000" b="1" i="0" lang="es-CL">
                <a:solidFill>
                  <a:srgbClr val="38761D"/>
                </a:solidFill>
                <a:latin typeface="Inter"/>
                <a:ea typeface="Inter"/>
                <a:cs typeface="Inter"/>
              </a:rPr>
              <a:t>ramas cortas: horas, máximo 2 días (constitución P6)</a:t>
            </a:r>
          </a:p>
        </p:txBody>
      </p:sp>
      <p:sp>
        <p:nvSpPr>
          <p:cNvPr id="37" name="TextBox 36"/>
          <p:cNvSpPr txBox="1"/>
          <p:nvPr/>
        </p:nvSpPr>
        <p:spPr>
          <a:xfrm>
            <a:off x="1828800" y="1371600"/>
            <a:ext cx="5486400" cy="274320"/>
          </a:xfrm>
          <a:prstGeom prst="rect">
            <a:avLst/>
          </a:prstGeom>
          <a:noFill/>
        </p:spPr>
        <p:txBody>
          <a:bodyPr wrap="square" lIns="36576" rIns="36576" tIns="36576" bIns="36576" anchor="t"/>
          <a:lstStyle/>
          <a:p>
            <a:pPr algn="l" marL="0" indent="0">
              <a:spcAft>
                <a:spcPts val="400"/>
              </a:spcAft>
              <a:buNone/>
            </a:pPr>
            <a:r>
              <a:rPr sz="1000" b="1" i="0" lang="es-CL">
                <a:solidFill>
                  <a:srgbClr val="38761D"/>
                </a:solidFill>
                <a:latin typeface="Inter"/>
                <a:ea typeface="Inter"/>
                <a:cs typeface="Inter"/>
              </a:rPr>
              <a:t>CI completo en cada PR y en cada merge a main</a:t>
            </a:r>
          </a:p>
        </p:txBody>
      </p:sp>
      <p:sp>
        <p:nvSpPr>
          <p:cNvPr id="38" name="Rounded Rectangle 37"/>
          <p:cNvSpPr/>
          <p:nvPr/>
        </p:nvSpPr>
        <p:spPr>
          <a:xfrm>
            <a:off x="411480" y="3429000"/>
            <a:ext cx="4069080" cy="1051560"/>
          </a:xfrm>
          <a:prstGeom prst="roundRect">
            <a:avLst>
              <a:gd name="adj" fmla="val 8695"/>
            </a:avLst>
          </a:prstGeom>
          <a:solidFill>
            <a:srgbClr val="EDF1F3"/>
          </a:solidFill>
          <a:ln>
            <a:noFill/>
          </a:ln>
        </p:spPr>
        <p:txBody>
          <a:bodyPr rtlCol="0" anchor="ctr" wrap="square" lIns="54864" rIns="54864" tIns="54864" bIns="54864"/>
          <a:lstStyle/>
          <a:p>
            <a:pPr algn="ctr"/>
          </a:p>
        </p:txBody>
      </p:sp>
      <p:sp>
        <p:nvSpPr>
          <p:cNvPr id="39" name="TextBox 38"/>
          <p:cNvSpPr txBox="1"/>
          <p:nvPr/>
        </p:nvSpPr>
        <p:spPr>
          <a:xfrm>
            <a:off x="548640" y="3493008"/>
            <a:ext cx="3794760" cy="960120"/>
          </a:xfrm>
          <a:prstGeom prst="rect">
            <a:avLst/>
          </a:prstGeom>
          <a:noFill/>
        </p:spPr>
        <p:txBody>
          <a:bodyPr wrap="square" lIns="36576" rIns="36576" tIns="36576" bIns="36576" anchor="t"/>
          <a:lstStyle/>
          <a:p>
            <a:pPr algn="l" marL="0" indent="0">
              <a:spcAft>
                <a:spcPts val="400"/>
              </a:spcAft>
              <a:buNone/>
            </a:pPr>
            <a:r>
              <a:rPr sz="1050" b="1" i="0" lang="es-CL">
                <a:solidFill>
                  <a:srgbClr val="1F2328"/>
                </a:solidFill>
                <a:latin typeface="Inter"/>
                <a:ea typeface="Inter"/>
                <a:cs typeface="Inter"/>
              </a:rPr>
              <a:t>Feature flags</a:t>
            </a:r>
            <a:r>
              <a:rPr sz="1050" b="0" i="0" lang="es-CL">
                <a:solidFill>
                  <a:srgbClr val="1F2328"/>
                </a:solidFill>
                <a:latin typeface="Inter"/>
                <a:ea typeface="Inter"/>
                <a:cs typeface="Inter"/>
              </a:rPr>
              <a:t>: lo incompleto se integra apagado. </a:t>
            </a:r>
            <a:r>
              <a:rPr sz="1050" b="0" i="0" lang="es-CL">
                <a:solidFill>
                  <a:srgbClr val="A31515"/>
                </a:solidFill>
                <a:latin typeface="Consolas"/>
                <a:ea typeface="Consolas"/>
                <a:cs typeface="Consolas"/>
              </a:rPr>
              <a:t>renewals: off</a:t>
            </a:r>
            <a:r>
              <a:rPr sz="1050" b="0" i="0" lang="es-CL">
                <a:solidFill>
                  <a:srgbClr val="1F2328"/>
                </a:solidFill>
                <a:latin typeface="Inter"/>
                <a:ea typeface="Inter"/>
                <a:cs typeface="Inter"/>
              </a:rPr>
              <a:t> hasta que la feature esté lista.</a:t>
            </a:r>
          </a:p>
        </p:txBody>
      </p:sp>
      <p:sp>
        <p:nvSpPr>
          <p:cNvPr id="40" name="Rounded Rectangle 39"/>
          <p:cNvSpPr/>
          <p:nvPr/>
        </p:nvSpPr>
        <p:spPr>
          <a:xfrm>
            <a:off x="4663440" y="3429000"/>
            <a:ext cx="4069080" cy="1051560"/>
          </a:xfrm>
          <a:prstGeom prst="roundRect">
            <a:avLst>
              <a:gd name="adj" fmla="val 8695"/>
            </a:avLst>
          </a:prstGeom>
          <a:solidFill>
            <a:srgbClr val="EDF1F3"/>
          </a:solidFill>
          <a:ln>
            <a:noFill/>
          </a:ln>
        </p:spPr>
        <p:txBody>
          <a:bodyPr rtlCol="0" anchor="ctr" wrap="square" lIns="54864" rIns="54864" tIns="54864" bIns="54864"/>
          <a:lstStyle/>
          <a:p>
            <a:pPr algn="ctr"/>
          </a:p>
        </p:txBody>
      </p:sp>
      <p:sp>
        <p:nvSpPr>
          <p:cNvPr id="41" name="TextBox 40"/>
          <p:cNvSpPr txBox="1"/>
          <p:nvPr/>
        </p:nvSpPr>
        <p:spPr>
          <a:xfrm>
            <a:off x="4800600" y="3493008"/>
            <a:ext cx="3794760" cy="960120"/>
          </a:xfrm>
          <a:prstGeom prst="rect">
            <a:avLst/>
          </a:prstGeom>
          <a:noFill/>
        </p:spPr>
        <p:txBody>
          <a:bodyPr wrap="square" lIns="36576" rIns="36576" tIns="36576" bIns="36576" anchor="t"/>
          <a:lstStyle/>
          <a:p>
            <a:pPr algn="l" marL="0" indent="0">
              <a:spcAft>
                <a:spcPts val="400"/>
              </a:spcAft>
              <a:buNone/>
            </a:pPr>
            <a:r>
              <a:rPr sz="1050" b="1" i="0" lang="es-CL">
                <a:solidFill>
                  <a:srgbClr val="1F2328"/>
                </a:solidFill>
                <a:latin typeface="Inter"/>
                <a:ea typeface="Inter"/>
                <a:cs typeface="Inter"/>
              </a:rPr>
              <a:t>main siempre verde</a:t>
            </a:r>
            <a:r>
              <a:rPr sz="1050" b="0" i="0" lang="es-CL">
                <a:solidFill>
                  <a:srgbClr val="1F2328"/>
                </a:solidFill>
                <a:latin typeface="Inter"/>
                <a:ea typeface="Inter"/>
                <a:cs typeface="Inter"/>
              </a:rPr>
              <a:t>: si el pipeline falla, arreglarlo es la prioridad del equipo.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¿Git Flow o trunk based?</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1051560"/>
          <a:ext cx="5212078" cy="2523744"/>
        </p:xfrm>
        <a:graphic>
          <a:graphicData uri="http://schemas.openxmlformats.org/drawingml/2006/table">
            <a:tbl>
              <a:tblPr firstRow="0" bandRow="0">
                <a:tableStyleId>{5C22544A-7EE6-4342-B048-85BDC9FD1C3A}</a:tableStyleId>
              </a:tblPr>
              <a:tblGrid>
                <a:gridCol w="1463040"/>
                <a:gridCol w="1874519"/>
                <a:gridCol w="1874519"/>
              </a:tblGrid>
              <a:tr h="420624">
                <a:tc>
                  <a:txBody>
                    <a:bodyPr wrap="square"/>
                    <a:lstStyle/>
                    <a:p>
                      <a:pPr algn="l" marL="0" indent="0">
                        <a:spcAft>
                          <a:spcPts val="0"/>
                        </a:spcAft>
                        <a:buNone/>
                      </a:pP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50" b="1" i="0" lang="es-CL">
                          <a:solidFill>
                            <a:srgbClr val="FFFFFF"/>
                          </a:solidFill>
                          <a:latin typeface="Inter"/>
                          <a:ea typeface="Inter"/>
                          <a:cs typeface="Inter"/>
                        </a:rPr>
                        <a:t>Git Flow</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50" b="1" i="0" lang="es-CL">
                          <a:solidFill>
                            <a:srgbClr val="FFFFFF"/>
                          </a:solidFill>
                          <a:latin typeface="Inter"/>
                          <a:ea typeface="Inter"/>
                          <a:cs typeface="Inter"/>
                        </a:rPr>
                        <a:t>Trunk Based</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420624">
                <a:tc>
                  <a:txBody>
                    <a:bodyPr wrap="square"/>
                    <a:lstStyle/>
                    <a:p>
                      <a:pPr algn="l" marL="0" indent="0">
                        <a:spcAft>
                          <a:spcPts val="0"/>
                        </a:spcAft>
                        <a:buNone/>
                      </a:pPr>
                      <a:r>
                        <a:rPr sz="1050" b="1" i="0" lang="es-CL">
                          <a:solidFill>
                            <a:srgbClr val="1F2328"/>
                          </a:solidFill>
                          <a:latin typeface="Inter"/>
                          <a:ea typeface="Inter"/>
                          <a:cs typeface="Inter"/>
                        </a:rPr>
                        <a:t>Vida de las ramas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Semanas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Horas o pocos días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20624">
                <a:tc>
                  <a:txBody>
                    <a:bodyPr wrap="square"/>
                    <a:lstStyle/>
                    <a:p>
                      <a:pPr algn="l" marL="0" indent="0">
                        <a:spcAft>
                          <a:spcPts val="0"/>
                        </a:spcAft>
                        <a:buNone/>
                      </a:pPr>
                      <a:r>
                        <a:rPr sz="1050" b="1" i="0" lang="es-CL">
                          <a:solidFill>
                            <a:srgbClr val="1F2328"/>
                          </a:solidFill>
                          <a:latin typeface="Inter"/>
                          <a:ea typeface="Inter"/>
                          <a:cs typeface="Inter"/>
                        </a:rPr>
                        <a:t>Integración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Al final, merges grandes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Continua, lotes pequeños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20624">
                <a:tc>
                  <a:txBody>
                    <a:bodyPr wrap="square"/>
                    <a:lstStyle/>
                    <a:p>
                      <a:pPr algn="l" marL="0" indent="0">
                        <a:spcAft>
                          <a:spcPts val="0"/>
                        </a:spcAft>
                        <a:buNone/>
                      </a:pPr>
                      <a:r>
                        <a:rPr sz="1050" b="1" i="0" lang="es-CL">
                          <a:solidFill>
                            <a:srgbClr val="1F2328"/>
                          </a:solidFill>
                          <a:latin typeface="Inter"/>
                          <a:ea typeface="Inter"/>
                          <a:cs typeface="Inter"/>
                        </a:rPr>
                        <a:t>Releases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Programados, rama release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Cuando quieras, desde main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20624">
                <a:tc>
                  <a:txBody>
                    <a:bodyPr wrap="square"/>
                    <a:lstStyle/>
                    <a:p>
                      <a:pPr algn="l" marL="0" indent="0">
                        <a:spcAft>
                          <a:spcPts val="0"/>
                        </a:spcAft>
                        <a:buNone/>
                      </a:pPr>
                      <a:r>
                        <a:rPr sz="1050" b="1" i="0" lang="es-CL">
                          <a:solidFill>
                            <a:srgbClr val="1F2328"/>
                          </a:solidFill>
                          <a:latin typeface="Inter"/>
                          <a:ea typeface="Inter"/>
                          <a:cs typeface="Inter"/>
                        </a:rPr>
                        <a:t>Lo incompleto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Vive en la rama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50" b="0" i="0" lang="es-CL">
                          <a:solidFill>
                            <a:srgbClr val="1F2328"/>
                          </a:solidFill>
                          <a:latin typeface="Inter"/>
                          <a:ea typeface="Inter"/>
                          <a:cs typeface="Inter"/>
                        </a:rPr>
                        <a:t>Detrás de feature flags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20624">
                <a:tc>
                  <a:txBody>
                    <a:bodyPr wrap="square"/>
                    <a:lstStyle/>
                    <a:p>
                      <a:pPr algn="l" marL="0" indent="0">
                        <a:spcAft>
                          <a:spcPts val="0"/>
                        </a:spcAft>
                        <a:buNone/>
                      </a:pPr>
                      <a:r>
                        <a:rPr sz="1050" b="1" i="0" lang="es-CL">
                          <a:solidFill>
                            <a:srgbClr val="1F2328"/>
                          </a:solidFill>
                          <a:latin typeface="Inter"/>
                          <a:ea typeface="Inter"/>
                          <a:cs typeface="Inter"/>
                        </a:rPr>
                        <a:t>Conviene si</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Varias versiones vivas a la vez</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50" b="0" i="0" lang="es-CL">
                          <a:solidFill>
                            <a:srgbClr val="1F2328"/>
                          </a:solidFill>
                          <a:latin typeface="Inter"/>
                          <a:ea typeface="Inter"/>
                          <a:cs typeface="Inter"/>
                        </a:rPr>
                        <a:t>Servicio web con CI confiable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bl>
          </a:graphicData>
        </a:graphic>
      </p:graphicFrame>
      <p:sp>
        <p:nvSpPr>
          <p:cNvPr id="5" name="Rounded Rectangle 4"/>
          <p:cNvSpPr/>
          <p:nvPr/>
        </p:nvSpPr>
        <p:spPr>
          <a:xfrm>
            <a:off x="5852160" y="1051560"/>
            <a:ext cx="2880360" cy="3429000"/>
          </a:xfrm>
          <a:prstGeom prst="roundRect">
            <a:avLst>
              <a:gd name="adj" fmla="val 3174"/>
            </a:avLst>
          </a:prstGeom>
          <a:solidFill>
            <a:srgbClr val="DCE9F7"/>
          </a:solidFill>
          <a:ln>
            <a:noFill/>
          </a:ln>
        </p:spPr>
        <p:txBody>
          <a:bodyPr rtlCol="0" anchor="ctr" wrap="square" lIns="54864" rIns="54864" tIns="54864" bIns="54864"/>
          <a:lstStyle/>
          <a:p>
            <a:pPr algn="ctr"/>
          </a:p>
        </p:txBody>
      </p:sp>
      <p:sp>
        <p:nvSpPr>
          <p:cNvPr id="6" name="TextBox 5"/>
          <p:cNvSpPr txBox="1"/>
          <p:nvPr/>
        </p:nvSpPr>
        <p:spPr>
          <a:xfrm>
            <a:off x="5989320" y="1143000"/>
            <a:ext cx="2606040" cy="274320"/>
          </a:xfrm>
          <a:prstGeom prst="rect">
            <a:avLst/>
          </a:prstGeom>
          <a:noFill/>
        </p:spPr>
        <p:txBody>
          <a:bodyPr wrap="square" lIns="36576" rIns="36576" tIns="36576" bIns="36576" anchor="t"/>
          <a:lstStyle/>
          <a:p>
            <a:pPr algn="l" marL="0" indent="0">
              <a:spcAft>
                <a:spcPts val="400"/>
              </a:spcAft>
              <a:buNone/>
            </a:pPr>
            <a:r>
              <a:rPr sz="1150" b="1" i="0" lang="es-CL">
                <a:solidFill>
                  <a:srgbClr val="003D4F"/>
                </a:solidFill>
                <a:latin typeface="Inter"/>
                <a:ea typeface="Inter"/>
                <a:cs typeface="Inter"/>
              </a:rPr>
              <a:t>Por qué el CI moderno empuja TBD</a:t>
            </a:r>
          </a:p>
        </p:txBody>
      </p:sp>
      <p:sp>
        <p:nvSpPr>
          <p:cNvPr id="7" name="TextBox 6"/>
          <p:cNvSpPr txBox="1"/>
          <p:nvPr/>
        </p:nvSpPr>
        <p:spPr>
          <a:xfrm>
            <a:off x="5989320" y="1508760"/>
            <a:ext cx="2606040" cy="2926080"/>
          </a:xfrm>
          <a:prstGeom prst="rect">
            <a:avLst/>
          </a:prstGeom>
          <a:noFill/>
        </p:spPr>
        <p:txBody>
          <a:bodyPr wrap="square" lIns="36576" rIns="36576" tIns="36576" bIns="36576" anchor="t"/>
          <a:lstStyle/>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DORA: lead time, frecuencia de despliegue, tiempo de recuperación, tasa de fallas y retrabajo (p. 144).</a:t>
            </a:r>
          </a:p>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Los equipos de alto desempeño despliegan varias veces al día y se recuperan en menos de una hora.</a:t>
            </a:r>
          </a:p>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Con IA se escribe más código por día: con ramas largas, los merges explotan.</a:t>
            </a:r>
          </a:p>
        </p:txBody>
      </p:sp>
      <p:sp>
        <p:nvSpPr>
          <p:cNvPr id="8" name="TextBox 7"/>
          <p:cNvSpPr txBox="1"/>
          <p:nvPr/>
        </p:nvSpPr>
        <p:spPr>
          <a:xfrm>
            <a:off x="411480" y="3703320"/>
            <a:ext cx="5212080" cy="731520"/>
          </a:xfrm>
          <a:prstGeom prst="rect">
            <a:avLst/>
          </a:prstGeom>
          <a:noFill/>
        </p:spPr>
        <p:txBody>
          <a:bodyPr wrap="square" lIns="36576" rIns="36576" tIns="36576" bIns="36576" anchor="t"/>
          <a:lstStyle/>
          <a:p>
            <a:pPr algn="l" marL="0" indent="0">
              <a:spcAft>
                <a:spcPts val="400"/>
              </a:spcAft>
              <a:buNone/>
            </a:pPr>
            <a:r>
              <a:rPr sz="1100" b="1" i="0" lang="es-CL">
                <a:solidFill>
                  <a:srgbClr val="1F2328"/>
                </a:solidFill>
                <a:latin typeface="Inter"/>
                <a:ea typeface="Inter"/>
                <a:cs typeface="Inter"/>
              </a:rPr>
              <a:t>Lotes pequeños = PR pequeños = evidencia que alguien sí alcanza a revisar.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¿Qué es esto? Las siglas de la seguridad</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24128"/>
            <a:ext cx="2697480" cy="1627632"/>
          </a:xfrm>
          <a:prstGeom prst="roundRect">
            <a:avLst>
              <a:gd name="adj" fmla="val 5617"/>
            </a:avLst>
          </a:prstGeom>
          <a:solidFill>
            <a:srgbClr val="EDF1F3"/>
          </a:solidFill>
          <a:ln>
            <a:noFill/>
          </a:ln>
        </p:spPr>
        <p:txBody>
          <a:bodyPr rtlCol="0" anchor="ctr" wrap="square" lIns="54864" rIns="54864" tIns="54864" bIns="54864"/>
          <a:lstStyle/>
          <a:p>
            <a:pPr algn="ctr"/>
          </a:p>
        </p:txBody>
      </p:sp>
      <p:sp>
        <p:nvSpPr>
          <p:cNvPr id="5" name="TextBox 4"/>
          <p:cNvSpPr txBox="1"/>
          <p:nvPr/>
        </p:nvSpPr>
        <p:spPr>
          <a:xfrm>
            <a:off x="521208" y="1078992"/>
            <a:ext cx="1280160" cy="365760"/>
          </a:xfrm>
          <a:prstGeom prst="rect">
            <a:avLst/>
          </a:prstGeom>
          <a:noFill/>
        </p:spPr>
        <p:txBody>
          <a:bodyPr wrap="square" lIns="36576" rIns="36576" tIns="36576" bIns="36576" anchor="t"/>
          <a:lstStyle/>
          <a:p>
            <a:pPr algn="l" marL="0" indent="0">
              <a:spcAft>
                <a:spcPts val="400"/>
              </a:spcAft>
              <a:buNone/>
            </a:pPr>
            <a:r>
              <a:rPr sz="1700" b="1" i="0" lang="es-CL">
                <a:solidFill>
                  <a:srgbClr val="980000"/>
                </a:solidFill>
                <a:latin typeface="Bitter"/>
                <a:ea typeface="Bitter"/>
                <a:cs typeface="Bitter"/>
              </a:rPr>
              <a:t>SAST</a:t>
            </a:r>
          </a:p>
        </p:txBody>
      </p:sp>
      <p:sp>
        <p:nvSpPr>
          <p:cNvPr id="6" name="TextBox 5"/>
          <p:cNvSpPr txBox="1"/>
          <p:nvPr/>
        </p:nvSpPr>
        <p:spPr>
          <a:xfrm>
            <a:off x="1554480" y="1097280"/>
            <a:ext cx="1463040" cy="365760"/>
          </a:xfrm>
          <a:prstGeom prst="rect">
            <a:avLst/>
          </a:prstGeom>
          <a:noFill/>
        </p:spPr>
        <p:txBody>
          <a:bodyPr wrap="square" lIns="36576" rIns="36576" tIns="36576" bIns="36576" anchor="ctr"/>
          <a:lstStyle/>
          <a:p>
            <a:pPr algn="r" marL="0" indent="0">
              <a:spcAft>
                <a:spcPts val="400"/>
              </a:spcAft>
              <a:buNone/>
            </a:pPr>
            <a:r>
              <a:rPr sz="800" b="0" i="0" lang="es-CL">
                <a:solidFill>
                  <a:srgbClr val="57606A"/>
                </a:solidFill>
                <a:latin typeface="Inter"/>
                <a:ea typeface="Inter"/>
                <a:cs typeface="Inter"/>
              </a:rPr>
              <a:t>Static Application Security Testing</a:t>
            </a:r>
          </a:p>
        </p:txBody>
      </p:sp>
      <p:sp>
        <p:nvSpPr>
          <p:cNvPr id="7" name="TextBox 6"/>
          <p:cNvSpPr txBox="1"/>
          <p:nvPr/>
        </p:nvSpPr>
        <p:spPr>
          <a:xfrm>
            <a:off x="521208" y="1481328"/>
            <a:ext cx="2468880" cy="384048"/>
          </a:xfrm>
          <a:prstGeom prst="rect">
            <a:avLst/>
          </a:prstGeom>
          <a:noFill/>
        </p:spPr>
        <p:txBody>
          <a:bodyPr wrap="square" lIns="36576" rIns="36576" tIns="36576" bIns="36576" anchor="t"/>
          <a:lstStyle/>
          <a:p>
            <a:pPr algn="l" marL="0" indent="0">
              <a:spcAft>
                <a:spcPts val="400"/>
              </a:spcAft>
              <a:buNone/>
            </a:pPr>
            <a:r>
              <a:rPr sz="950" b="0" i="0" lang="es-CL">
                <a:solidFill>
                  <a:srgbClr val="1F2328"/>
                </a:solidFill>
                <a:latin typeface="Inter"/>
                <a:ea typeface="Inter"/>
                <a:cs typeface="Inter"/>
              </a:rPr>
              <a:t>Analiza el código fuente sin ejecutarlo.</a:t>
            </a:r>
          </a:p>
        </p:txBody>
      </p:sp>
      <p:sp>
        <p:nvSpPr>
          <p:cNvPr id="8" name="TextBox 7"/>
          <p:cNvSpPr txBox="1"/>
          <p:nvPr/>
        </p:nvSpPr>
        <p:spPr>
          <a:xfrm>
            <a:off x="521208" y="1892808"/>
            <a:ext cx="2468880" cy="384048"/>
          </a:xfrm>
          <a:prstGeom prst="rect">
            <a:avLst/>
          </a:prstGeom>
          <a:noFill/>
        </p:spPr>
        <p:txBody>
          <a:bodyPr wrap="square" lIns="36576" rIns="36576" tIns="36576" bIns="36576" anchor="t"/>
          <a:lstStyle/>
          <a:p>
            <a:pPr algn="l" marL="0" indent="0">
              <a:spcAft>
                <a:spcPts val="400"/>
              </a:spcAft>
              <a:buNone/>
            </a:pPr>
            <a:r>
              <a:rPr sz="900" b="1" i="0" lang="es-CL">
                <a:solidFill>
                  <a:srgbClr val="1F2328"/>
                </a:solidFill>
                <a:latin typeface="Inter"/>
                <a:ea typeface="Inter"/>
                <a:cs typeface="Inter"/>
              </a:rPr>
              <a:t>Detecta:</a:t>
            </a:r>
            <a:r>
              <a:rPr sz="900" b="0" i="0" lang="es-CL">
                <a:solidFill>
                  <a:srgbClr val="1F2328"/>
                </a:solidFill>
                <a:latin typeface="Inter"/>
                <a:ea typeface="Inter"/>
                <a:cs typeface="Inter"/>
              </a:rPr>
              <a:t> Inyección SQL, XSS, APIs inseguras</a:t>
            </a:r>
          </a:p>
        </p:txBody>
      </p:sp>
      <p:sp>
        <p:nvSpPr>
          <p:cNvPr id="9" name="TextBox 8"/>
          <p:cNvSpPr txBox="1"/>
          <p:nvPr/>
        </p:nvSpPr>
        <p:spPr>
          <a:xfrm>
            <a:off x="521208" y="2304288"/>
            <a:ext cx="2468880" cy="274320"/>
          </a:xfrm>
          <a:prstGeom prst="rect">
            <a:avLst/>
          </a:prstGeom>
          <a:noFill/>
        </p:spPr>
        <p:txBody>
          <a:bodyPr wrap="square" lIns="36576" rIns="36576" tIns="36576" bIns="36576" anchor="t"/>
          <a:lstStyle/>
          <a:p>
            <a:pPr algn="l" marL="0" indent="0">
              <a:spcAft>
                <a:spcPts val="400"/>
              </a:spcAft>
              <a:buNone/>
            </a:pPr>
            <a:r>
              <a:rPr sz="900" b="0" i="1" lang="es-CL">
                <a:solidFill>
                  <a:srgbClr val="980000"/>
                </a:solidFill>
                <a:latin typeface="Inter"/>
                <a:ea typeface="Inter"/>
                <a:cs typeface="Inter"/>
              </a:rPr>
              <a:t>Analogía: Revisar los planos</a:t>
            </a:r>
          </a:p>
        </p:txBody>
      </p:sp>
      <p:sp>
        <p:nvSpPr>
          <p:cNvPr id="10" name="Rounded Rectangle 9"/>
          <p:cNvSpPr/>
          <p:nvPr/>
        </p:nvSpPr>
        <p:spPr>
          <a:xfrm>
            <a:off x="3218688" y="1024128"/>
            <a:ext cx="2697480" cy="1627632"/>
          </a:xfrm>
          <a:prstGeom prst="roundRect">
            <a:avLst>
              <a:gd name="adj" fmla="val 5617"/>
            </a:avLst>
          </a:prstGeom>
          <a:solidFill>
            <a:srgbClr val="EDF1F3"/>
          </a:solidFill>
          <a:ln>
            <a:noFill/>
          </a:ln>
        </p:spPr>
        <p:txBody>
          <a:bodyPr rtlCol="0" anchor="ctr" wrap="square" lIns="54864" rIns="54864" tIns="54864" bIns="54864"/>
          <a:lstStyle/>
          <a:p>
            <a:pPr algn="ctr"/>
          </a:p>
        </p:txBody>
      </p:sp>
      <p:sp>
        <p:nvSpPr>
          <p:cNvPr id="11" name="TextBox 10"/>
          <p:cNvSpPr txBox="1"/>
          <p:nvPr/>
        </p:nvSpPr>
        <p:spPr>
          <a:xfrm>
            <a:off x="3328416" y="1078992"/>
            <a:ext cx="1280160" cy="365760"/>
          </a:xfrm>
          <a:prstGeom prst="rect">
            <a:avLst/>
          </a:prstGeom>
          <a:noFill/>
        </p:spPr>
        <p:txBody>
          <a:bodyPr wrap="square" lIns="36576" rIns="36576" tIns="36576" bIns="36576" anchor="t"/>
          <a:lstStyle/>
          <a:p>
            <a:pPr algn="l" marL="0" indent="0">
              <a:spcAft>
                <a:spcPts val="400"/>
              </a:spcAft>
              <a:buNone/>
            </a:pPr>
            <a:r>
              <a:rPr sz="1700" b="1" i="0" lang="es-CL">
                <a:solidFill>
                  <a:srgbClr val="980000"/>
                </a:solidFill>
                <a:latin typeface="Bitter"/>
                <a:ea typeface="Bitter"/>
                <a:cs typeface="Bitter"/>
              </a:rPr>
              <a:t>DAST</a:t>
            </a:r>
          </a:p>
        </p:txBody>
      </p:sp>
      <p:sp>
        <p:nvSpPr>
          <p:cNvPr id="12" name="TextBox 11"/>
          <p:cNvSpPr txBox="1"/>
          <p:nvPr/>
        </p:nvSpPr>
        <p:spPr>
          <a:xfrm>
            <a:off x="4361688" y="1097280"/>
            <a:ext cx="1463040" cy="365760"/>
          </a:xfrm>
          <a:prstGeom prst="rect">
            <a:avLst/>
          </a:prstGeom>
          <a:noFill/>
        </p:spPr>
        <p:txBody>
          <a:bodyPr wrap="square" lIns="36576" rIns="36576" tIns="36576" bIns="36576" anchor="ctr"/>
          <a:lstStyle/>
          <a:p>
            <a:pPr algn="r" marL="0" indent="0">
              <a:spcAft>
                <a:spcPts val="400"/>
              </a:spcAft>
              <a:buNone/>
            </a:pPr>
            <a:r>
              <a:rPr sz="800" b="0" i="0" lang="es-CL">
                <a:solidFill>
                  <a:srgbClr val="57606A"/>
                </a:solidFill>
                <a:latin typeface="Inter"/>
                <a:ea typeface="Inter"/>
                <a:cs typeface="Inter"/>
              </a:rPr>
              <a:t>Dynamic Application Security Testing</a:t>
            </a:r>
          </a:p>
        </p:txBody>
      </p:sp>
      <p:sp>
        <p:nvSpPr>
          <p:cNvPr id="13" name="TextBox 12"/>
          <p:cNvSpPr txBox="1"/>
          <p:nvPr/>
        </p:nvSpPr>
        <p:spPr>
          <a:xfrm>
            <a:off x="3328416" y="1481328"/>
            <a:ext cx="2468880" cy="384048"/>
          </a:xfrm>
          <a:prstGeom prst="rect">
            <a:avLst/>
          </a:prstGeom>
          <a:noFill/>
        </p:spPr>
        <p:txBody>
          <a:bodyPr wrap="square" lIns="36576" rIns="36576" tIns="36576" bIns="36576" anchor="t"/>
          <a:lstStyle/>
          <a:p>
            <a:pPr algn="l" marL="0" indent="0">
              <a:spcAft>
                <a:spcPts val="400"/>
              </a:spcAft>
              <a:buNone/>
            </a:pPr>
            <a:r>
              <a:rPr sz="950" b="0" i="0" lang="es-CL">
                <a:solidFill>
                  <a:srgbClr val="1F2328"/>
                </a:solidFill>
                <a:latin typeface="Inter"/>
                <a:ea typeface="Inter"/>
                <a:cs typeface="Inter"/>
              </a:rPr>
              <a:t>Ataca la app corriendo, desde afuera, por HTTP.</a:t>
            </a:r>
          </a:p>
        </p:txBody>
      </p:sp>
      <p:sp>
        <p:nvSpPr>
          <p:cNvPr id="14" name="TextBox 13"/>
          <p:cNvSpPr txBox="1"/>
          <p:nvPr/>
        </p:nvSpPr>
        <p:spPr>
          <a:xfrm>
            <a:off x="3328416" y="1892808"/>
            <a:ext cx="2468880" cy="384048"/>
          </a:xfrm>
          <a:prstGeom prst="rect">
            <a:avLst/>
          </a:prstGeom>
          <a:noFill/>
        </p:spPr>
        <p:txBody>
          <a:bodyPr wrap="square" lIns="36576" rIns="36576" tIns="36576" bIns="36576" anchor="t"/>
          <a:lstStyle/>
          <a:p>
            <a:pPr algn="l" marL="0" indent="0">
              <a:spcAft>
                <a:spcPts val="400"/>
              </a:spcAft>
              <a:buNone/>
            </a:pPr>
            <a:r>
              <a:rPr sz="900" b="1" i="0" lang="es-CL">
                <a:solidFill>
                  <a:srgbClr val="1F2328"/>
                </a:solidFill>
                <a:latin typeface="Inter"/>
                <a:ea typeface="Inter"/>
                <a:cs typeface="Inter"/>
              </a:rPr>
              <a:t>Detecta:</a:t>
            </a:r>
            <a:r>
              <a:rPr sz="900" b="0" i="0" lang="es-CL">
                <a:solidFill>
                  <a:srgbClr val="1F2328"/>
                </a:solidFill>
                <a:latin typeface="Inter"/>
                <a:ea typeface="Inter"/>
                <a:cs typeface="Inter"/>
              </a:rPr>
              <a:t> Headers faltantes, cookies inseguras, errores que filtran datos</a:t>
            </a:r>
          </a:p>
        </p:txBody>
      </p:sp>
      <p:sp>
        <p:nvSpPr>
          <p:cNvPr id="15" name="TextBox 14"/>
          <p:cNvSpPr txBox="1"/>
          <p:nvPr/>
        </p:nvSpPr>
        <p:spPr>
          <a:xfrm>
            <a:off x="3328416" y="2304288"/>
            <a:ext cx="2468880" cy="274320"/>
          </a:xfrm>
          <a:prstGeom prst="rect">
            <a:avLst/>
          </a:prstGeom>
          <a:noFill/>
        </p:spPr>
        <p:txBody>
          <a:bodyPr wrap="square" lIns="36576" rIns="36576" tIns="36576" bIns="36576" anchor="t"/>
          <a:lstStyle/>
          <a:p>
            <a:pPr algn="l" marL="0" indent="0">
              <a:spcAft>
                <a:spcPts val="400"/>
              </a:spcAft>
              <a:buNone/>
            </a:pPr>
            <a:r>
              <a:rPr sz="900" b="0" i="1" lang="es-CL">
                <a:solidFill>
                  <a:srgbClr val="980000"/>
                </a:solidFill>
                <a:latin typeface="Inter"/>
                <a:ea typeface="Inter"/>
                <a:cs typeface="Inter"/>
              </a:rPr>
              <a:t>Analogía: Probar las puertas del edificio</a:t>
            </a:r>
          </a:p>
        </p:txBody>
      </p:sp>
      <p:sp>
        <p:nvSpPr>
          <p:cNvPr id="16" name="Rounded Rectangle 15"/>
          <p:cNvSpPr/>
          <p:nvPr/>
        </p:nvSpPr>
        <p:spPr>
          <a:xfrm>
            <a:off x="6025896" y="1024128"/>
            <a:ext cx="2697480" cy="1627632"/>
          </a:xfrm>
          <a:prstGeom prst="roundRect">
            <a:avLst>
              <a:gd name="adj" fmla="val 5617"/>
            </a:avLst>
          </a:prstGeom>
          <a:solidFill>
            <a:srgbClr val="EDF1F3"/>
          </a:solidFill>
          <a:ln>
            <a:noFill/>
          </a:ln>
        </p:spPr>
        <p:txBody>
          <a:bodyPr rtlCol="0" anchor="ctr" wrap="square" lIns="54864" rIns="54864" tIns="54864" bIns="54864"/>
          <a:lstStyle/>
          <a:p>
            <a:pPr algn="ctr"/>
          </a:p>
        </p:txBody>
      </p:sp>
      <p:sp>
        <p:nvSpPr>
          <p:cNvPr id="17" name="TextBox 16"/>
          <p:cNvSpPr txBox="1"/>
          <p:nvPr/>
        </p:nvSpPr>
        <p:spPr>
          <a:xfrm>
            <a:off x="6135624" y="1078992"/>
            <a:ext cx="1280160" cy="365760"/>
          </a:xfrm>
          <a:prstGeom prst="rect">
            <a:avLst/>
          </a:prstGeom>
          <a:noFill/>
        </p:spPr>
        <p:txBody>
          <a:bodyPr wrap="square" lIns="36576" rIns="36576" tIns="36576" bIns="36576" anchor="t"/>
          <a:lstStyle/>
          <a:p>
            <a:pPr algn="l" marL="0" indent="0">
              <a:spcAft>
                <a:spcPts val="400"/>
              </a:spcAft>
              <a:buNone/>
            </a:pPr>
            <a:r>
              <a:rPr sz="1700" b="1" i="0" lang="es-CL">
                <a:solidFill>
                  <a:srgbClr val="CC850A"/>
                </a:solidFill>
                <a:latin typeface="Bitter"/>
                <a:ea typeface="Bitter"/>
                <a:cs typeface="Bitter"/>
              </a:rPr>
              <a:t>SCA</a:t>
            </a:r>
          </a:p>
        </p:txBody>
      </p:sp>
      <p:sp>
        <p:nvSpPr>
          <p:cNvPr id="18" name="TextBox 17"/>
          <p:cNvSpPr txBox="1"/>
          <p:nvPr/>
        </p:nvSpPr>
        <p:spPr>
          <a:xfrm>
            <a:off x="7168896" y="1097280"/>
            <a:ext cx="1463040" cy="365760"/>
          </a:xfrm>
          <a:prstGeom prst="rect">
            <a:avLst/>
          </a:prstGeom>
          <a:noFill/>
        </p:spPr>
        <p:txBody>
          <a:bodyPr wrap="square" lIns="36576" rIns="36576" tIns="36576" bIns="36576" anchor="ctr"/>
          <a:lstStyle/>
          <a:p>
            <a:pPr algn="r" marL="0" indent="0">
              <a:spcAft>
                <a:spcPts val="400"/>
              </a:spcAft>
              <a:buNone/>
            </a:pPr>
            <a:r>
              <a:rPr sz="800" b="0" i="0" lang="es-CL">
                <a:solidFill>
                  <a:srgbClr val="57606A"/>
                </a:solidFill>
                <a:latin typeface="Inter"/>
                <a:ea typeface="Inter"/>
                <a:cs typeface="Inter"/>
              </a:rPr>
              <a:t>Software Composition Analysis</a:t>
            </a:r>
          </a:p>
        </p:txBody>
      </p:sp>
      <p:sp>
        <p:nvSpPr>
          <p:cNvPr id="19" name="TextBox 18"/>
          <p:cNvSpPr txBox="1"/>
          <p:nvPr/>
        </p:nvSpPr>
        <p:spPr>
          <a:xfrm>
            <a:off x="6135624" y="1481328"/>
            <a:ext cx="2468880" cy="384048"/>
          </a:xfrm>
          <a:prstGeom prst="rect">
            <a:avLst/>
          </a:prstGeom>
          <a:noFill/>
        </p:spPr>
        <p:txBody>
          <a:bodyPr wrap="square" lIns="36576" rIns="36576" tIns="36576" bIns="36576" anchor="t"/>
          <a:lstStyle/>
          <a:p>
            <a:pPr algn="l" marL="0" indent="0">
              <a:spcAft>
                <a:spcPts val="400"/>
              </a:spcAft>
              <a:buNone/>
            </a:pPr>
            <a:r>
              <a:rPr sz="950" b="0" i="0" lang="es-CL">
                <a:solidFill>
                  <a:srgbClr val="1F2328"/>
                </a:solidFill>
                <a:latin typeface="Inter"/>
                <a:ea typeface="Inter"/>
                <a:cs typeface="Inter"/>
              </a:rPr>
              <a:t>Revisa tus dependencias contra bases de CVE.</a:t>
            </a:r>
          </a:p>
        </p:txBody>
      </p:sp>
      <p:sp>
        <p:nvSpPr>
          <p:cNvPr id="20" name="TextBox 19"/>
          <p:cNvSpPr txBox="1"/>
          <p:nvPr/>
        </p:nvSpPr>
        <p:spPr>
          <a:xfrm>
            <a:off x="6135624" y="1892808"/>
            <a:ext cx="2468880" cy="384048"/>
          </a:xfrm>
          <a:prstGeom prst="rect">
            <a:avLst/>
          </a:prstGeom>
          <a:noFill/>
        </p:spPr>
        <p:txBody>
          <a:bodyPr wrap="square" lIns="36576" rIns="36576" tIns="36576" bIns="36576" anchor="t"/>
          <a:lstStyle/>
          <a:p>
            <a:pPr algn="l" marL="0" indent="0">
              <a:spcAft>
                <a:spcPts val="400"/>
              </a:spcAft>
              <a:buNone/>
            </a:pPr>
            <a:r>
              <a:rPr sz="900" b="1" i="0" lang="es-CL">
                <a:solidFill>
                  <a:srgbClr val="1F2328"/>
                </a:solidFill>
                <a:latin typeface="Inter"/>
                <a:ea typeface="Inter"/>
                <a:cs typeface="Inter"/>
              </a:rPr>
              <a:t>Detecta:</a:t>
            </a:r>
            <a:r>
              <a:rPr sz="900" b="0" i="0" lang="es-CL">
                <a:solidFill>
                  <a:srgbClr val="1F2328"/>
                </a:solidFill>
                <a:latin typeface="Inter"/>
                <a:ea typeface="Inter"/>
                <a:cs typeface="Inter"/>
              </a:rPr>
              <a:t> Librerías vulnerables, licencias</a:t>
            </a:r>
          </a:p>
        </p:txBody>
      </p:sp>
      <p:sp>
        <p:nvSpPr>
          <p:cNvPr id="21" name="TextBox 20"/>
          <p:cNvSpPr txBox="1"/>
          <p:nvPr/>
        </p:nvSpPr>
        <p:spPr>
          <a:xfrm>
            <a:off x="6135624" y="2304288"/>
            <a:ext cx="2468880" cy="274320"/>
          </a:xfrm>
          <a:prstGeom prst="rect">
            <a:avLst/>
          </a:prstGeom>
          <a:noFill/>
        </p:spPr>
        <p:txBody>
          <a:bodyPr wrap="square" lIns="36576" rIns="36576" tIns="36576" bIns="36576" anchor="t"/>
          <a:lstStyle/>
          <a:p>
            <a:pPr algn="l" marL="0" indent="0">
              <a:spcAft>
                <a:spcPts val="400"/>
              </a:spcAft>
              <a:buNone/>
            </a:pPr>
            <a:r>
              <a:rPr sz="900" b="0" i="1" lang="es-CL">
                <a:solidFill>
                  <a:srgbClr val="CC850A"/>
                </a:solidFill>
                <a:latin typeface="Inter"/>
                <a:ea typeface="Inter"/>
                <a:cs typeface="Inter"/>
              </a:rPr>
              <a:t>Analogía: Revisar los materiales comprados</a:t>
            </a:r>
          </a:p>
        </p:txBody>
      </p:sp>
      <p:sp>
        <p:nvSpPr>
          <p:cNvPr id="22" name="Rounded Rectangle 21"/>
          <p:cNvSpPr/>
          <p:nvPr/>
        </p:nvSpPr>
        <p:spPr>
          <a:xfrm>
            <a:off x="411480" y="2761488"/>
            <a:ext cx="2697480" cy="1627632"/>
          </a:xfrm>
          <a:prstGeom prst="roundRect">
            <a:avLst>
              <a:gd name="adj" fmla="val 5617"/>
            </a:avLst>
          </a:prstGeom>
          <a:solidFill>
            <a:srgbClr val="EDF1F3"/>
          </a:solidFill>
          <a:ln>
            <a:noFill/>
          </a:ln>
        </p:spPr>
        <p:txBody>
          <a:bodyPr rtlCol="0" anchor="ctr" wrap="square" lIns="54864" rIns="54864" tIns="54864" bIns="54864"/>
          <a:lstStyle/>
          <a:p>
            <a:pPr algn="ctr"/>
          </a:p>
        </p:txBody>
      </p:sp>
      <p:sp>
        <p:nvSpPr>
          <p:cNvPr id="23" name="TextBox 22"/>
          <p:cNvSpPr txBox="1"/>
          <p:nvPr/>
        </p:nvSpPr>
        <p:spPr>
          <a:xfrm>
            <a:off x="521208" y="2816352"/>
            <a:ext cx="1280160" cy="365760"/>
          </a:xfrm>
          <a:prstGeom prst="rect">
            <a:avLst/>
          </a:prstGeom>
          <a:noFill/>
        </p:spPr>
        <p:txBody>
          <a:bodyPr wrap="square" lIns="36576" rIns="36576" tIns="36576" bIns="36576" anchor="t"/>
          <a:lstStyle/>
          <a:p>
            <a:pPr algn="l" marL="0" indent="0">
              <a:spcAft>
                <a:spcPts val="400"/>
              </a:spcAft>
              <a:buNone/>
            </a:pPr>
            <a:r>
              <a:rPr sz="1700" b="1" i="0" lang="es-CL">
                <a:solidFill>
                  <a:srgbClr val="980000"/>
                </a:solidFill>
                <a:latin typeface="Bitter"/>
                <a:ea typeface="Bitter"/>
                <a:cs typeface="Bitter"/>
              </a:rPr>
              <a:t>Secretos</a:t>
            </a:r>
          </a:p>
        </p:txBody>
      </p:sp>
      <p:sp>
        <p:nvSpPr>
          <p:cNvPr id="24" name="TextBox 23"/>
          <p:cNvSpPr txBox="1"/>
          <p:nvPr/>
        </p:nvSpPr>
        <p:spPr>
          <a:xfrm>
            <a:off x="1554480" y="2834640"/>
            <a:ext cx="1463040" cy="365760"/>
          </a:xfrm>
          <a:prstGeom prst="rect">
            <a:avLst/>
          </a:prstGeom>
          <a:noFill/>
        </p:spPr>
        <p:txBody>
          <a:bodyPr wrap="square" lIns="36576" rIns="36576" tIns="36576" bIns="36576" anchor="ctr"/>
          <a:lstStyle/>
          <a:p>
            <a:pPr algn="r" marL="0" indent="0">
              <a:spcAft>
                <a:spcPts val="400"/>
              </a:spcAft>
              <a:buNone/>
            </a:pPr>
            <a:r>
              <a:rPr sz="800" b="0" i="0" lang="es-CL">
                <a:solidFill>
                  <a:srgbClr val="57606A"/>
                </a:solidFill>
                <a:latin typeface="Inter"/>
                <a:ea typeface="Inter"/>
                <a:cs typeface="Inter"/>
              </a:rPr>
              <a:t>Secret scanning</a:t>
            </a:r>
          </a:p>
        </p:txBody>
      </p:sp>
      <p:sp>
        <p:nvSpPr>
          <p:cNvPr id="25" name="TextBox 24"/>
          <p:cNvSpPr txBox="1"/>
          <p:nvPr/>
        </p:nvSpPr>
        <p:spPr>
          <a:xfrm>
            <a:off x="521208" y="3218688"/>
            <a:ext cx="2468880" cy="384048"/>
          </a:xfrm>
          <a:prstGeom prst="rect">
            <a:avLst/>
          </a:prstGeom>
          <a:noFill/>
        </p:spPr>
        <p:txBody>
          <a:bodyPr wrap="square" lIns="36576" rIns="36576" tIns="36576" bIns="36576" anchor="t"/>
          <a:lstStyle/>
          <a:p>
            <a:pPr algn="l" marL="0" indent="0">
              <a:spcAft>
                <a:spcPts val="400"/>
              </a:spcAft>
              <a:buNone/>
            </a:pPr>
            <a:r>
              <a:rPr sz="950" b="0" i="0" lang="es-CL">
                <a:solidFill>
                  <a:srgbClr val="1F2328"/>
                </a:solidFill>
                <a:latin typeface="Inter"/>
                <a:ea typeface="Inter"/>
                <a:cs typeface="Inter"/>
              </a:rPr>
              <a:t>Busca llaves y tokens en el código y en el historial de git.</a:t>
            </a:r>
          </a:p>
        </p:txBody>
      </p:sp>
      <p:sp>
        <p:nvSpPr>
          <p:cNvPr id="26" name="TextBox 25"/>
          <p:cNvSpPr txBox="1"/>
          <p:nvPr/>
        </p:nvSpPr>
        <p:spPr>
          <a:xfrm>
            <a:off x="521208" y="3630168"/>
            <a:ext cx="2468880" cy="384048"/>
          </a:xfrm>
          <a:prstGeom prst="rect">
            <a:avLst/>
          </a:prstGeom>
          <a:noFill/>
        </p:spPr>
        <p:txBody>
          <a:bodyPr wrap="square" lIns="36576" rIns="36576" tIns="36576" bIns="36576" anchor="t"/>
          <a:lstStyle/>
          <a:p>
            <a:pPr algn="l" marL="0" indent="0">
              <a:spcAft>
                <a:spcPts val="400"/>
              </a:spcAft>
              <a:buNone/>
            </a:pPr>
            <a:r>
              <a:rPr sz="900" b="1" i="0" lang="es-CL">
                <a:solidFill>
                  <a:srgbClr val="1F2328"/>
                </a:solidFill>
                <a:latin typeface="Inter"/>
                <a:ea typeface="Inter"/>
                <a:cs typeface="Inter"/>
              </a:rPr>
              <a:t>Detecta:</a:t>
            </a:r>
            <a:r>
              <a:rPr sz="900" b="0" i="0" lang="es-CL">
                <a:solidFill>
                  <a:srgbClr val="1F2328"/>
                </a:solidFill>
                <a:latin typeface="Inter"/>
                <a:ea typeface="Inter"/>
                <a:cs typeface="Inter"/>
              </a:rPr>
              <a:t> Tokens de GitHub, llaves de AWS, .env</a:t>
            </a:r>
          </a:p>
        </p:txBody>
      </p:sp>
      <p:sp>
        <p:nvSpPr>
          <p:cNvPr id="27" name="TextBox 26"/>
          <p:cNvSpPr txBox="1"/>
          <p:nvPr/>
        </p:nvSpPr>
        <p:spPr>
          <a:xfrm>
            <a:off x="521208" y="4041648"/>
            <a:ext cx="2468880" cy="274320"/>
          </a:xfrm>
          <a:prstGeom prst="rect">
            <a:avLst/>
          </a:prstGeom>
          <a:noFill/>
        </p:spPr>
        <p:txBody>
          <a:bodyPr wrap="square" lIns="36576" rIns="36576" tIns="36576" bIns="36576" anchor="t"/>
          <a:lstStyle/>
          <a:p>
            <a:pPr algn="l" marL="0" indent="0">
              <a:spcAft>
                <a:spcPts val="400"/>
              </a:spcAft>
              <a:buNone/>
            </a:pPr>
            <a:r>
              <a:rPr sz="900" b="0" i="1" lang="es-CL">
                <a:solidFill>
                  <a:srgbClr val="980000"/>
                </a:solidFill>
                <a:latin typeface="Inter"/>
                <a:ea typeface="Inter"/>
                <a:cs typeface="Inter"/>
              </a:rPr>
              <a:t>Analogía: Llaves olvidadas en la puerta</a:t>
            </a:r>
          </a:p>
        </p:txBody>
      </p:sp>
      <p:sp>
        <p:nvSpPr>
          <p:cNvPr id="28" name="Rounded Rectangle 27"/>
          <p:cNvSpPr/>
          <p:nvPr/>
        </p:nvSpPr>
        <p:spPr>
          <a:xfrm>
            <a:off x="3218688" y="2761488"/>
            <a:ext cx="2697480" cy="1627632"/>
          </a:xfrm>
          <a:prstGeom prst="roundRect">
            <a:avLst>
              <a:gd name="adj" fmla="val 5617"/>
            </a:avLst>
          </a:prstGeom>
          <a:solidFill>
            <a:srgbClr val="EDF1F3"/>
          </a:solidFill>
          <a:ln>
            <a:noFill/>
          </a:ln>
        </p:spPr>
        <p:txBody>
          <a:bodyPr rtlCol="0" anchor="ctr" wrap="square" lIns="54864" rIns="54864" tIns="54864" bIns="54864"/>
          <a:lstStyle/>
          <a:p>
            <a:pPr algn="ctr"/>
          </a:p>
        </p:txBody>
      </p:sp>
      <p:sp>
        <p:nvSpPr>
          <p:cNvPr id="29" name="TextBox 28"/>
          <p:cNvSpPr txBox="1"/>
          <p:nvPr/>
        </p:nvSpPr>
        <p:spPr>
          <a:xfrm>
            <a:off x="3328416" y="2816352"/>
            <a:ext cx="1280160" cy="365760"/>
          </a:xfrm>
          <a:prstGeom prst="rect">
            <a:avLst/>
          </a:prstGeom>
          <a:noFill/>
        </p:spPr>
        <p:txBody>
          <a:bodyPr wrap="square" lIns="36576" rIns="36576" tIns="36576" bIns="36576" anchor="t"/>
          <a:lstStyle/>
          <a:p>
            <a:pPr algn="l" marL="0" indent="0">
              <a:spcAft>
                <a:spcPts val="400"/>
              </a:spcAft>
              <a:buNone/>
            </a:pPr>
            <a:r>
              <a:rPr sz="1700" b="1" i="0" lang="es-CL">
                <a:solidFill>
                  <a:srgbClr val="CC850A"/>
                </a:solidFill>
                <a:latin typeface="Bitter"/>
                <a:ea typeface="Bitter"/>
                <a:cs typeface="Bitter"/>
              </a:rPr>
              <a:t>IaC</a:t>
            </a:r>
          </a:p>
        </p:txBody>
      </p:sp>
      <p:sp>
        <p:nvSpPr>
          <p:cNvPr id="30" name="TextBox 29"/>
          <p:cNvSpPr txBox="1"/>
          <p:nvPr/>
        </p:nvSpPr>
        <p:spPr>
          <a:xfrm>
            <a:off x="4361688" y="2834640"/>
            <a:ext cx="1463040" cy="365760"/>
          </a:xfrm>
          <a:prstGeom prst="rect">
            <a:avLst/>
          </a:prstGeom>
          <a:noFill/>
        </p:spPr>
        <p:txBody>
          <a:bodyPr wrap="square" lIns="36576" rIns="36576" tIns="36576" bIns="36576" anchor="ctr"/>
          <a:lstStyle/>
          <a:p>
            <a:pPr algn="r" marL="0" indent="0">
              <a:spcAft>
                <a:spcPts val="400"/>
              </a:spcAft>
              <a:buNone/>
            </a:pPr>
            <a:r>
              <a:rPr sz="800" b="0" i="0" lang="es-CL">
                <a:solidFill>
                  <a:srgbClr val="57606A"/>
                </a:solidFill>
                <a:latin typeface="Inter"/>
                <a:ea typeface="Inter"/>
                <a:cs typeface="Inter"/>
              </a:rPr>
              <a:t>Infraestructura y contenedores</a:t>
            </a:r>
          </a:p>
        </p:txBody>
      </p:sp>
      <p:sp>
        <p:nvSpPr>
          <p:cNvPr id="31" name="TextBox 30"/>
          <p:cNvSpPr txBox="1"/>
          <p:nvPr/>
        </p:nvSpPr>
        <p:spPr>
          <a:xfrm>
            <a:off x="3328416" y="3218688"/>
            <a:ext cx="2468880" cy="384048"/>
          </a:xfrm>
          <a:prstGeom prst="rect">
            <a:avLst/>
          </a:prstGeom>
          <a:noFill/>
        </p:spPr>
        <p:txBody>
          <a:bodyPr wrap="square" lIns="36576" rIns="36576" tIns="36576" bIns="36576" anchor="t"/>
          <a:lstStyle/>
          <a:p>
            <a:pPr algn="l" marL="0" indent="0">
              <a:spcAft>
                <a:spcPts val="400"/>
              </a:spcAft>
              <a:buNone/>
            </a:pPr>
            <a:r>
              <a:rPr sz="950" b="0" i="0" lang="es-CL">
                <a:solidFill>
                  <a:srgbClr val="1F2328"/>
                </a:solidFill>
                <a:latin typeface="Inter"/>
                <a:ea typeface="Inter"/>
                <a:cs typeface="Inter"/>
              </a:rPr>
              <a:t>Revisa Dockerfile, compose y configuración.</a:t>
            </a:r>
          </a:p>
        </p:txBody>
      </p:sp>
      <p:sp>
        <p:nvSpPr>
          <p:cNvPr id="32" name="TextBox 31"/>
          <p:cNvSpPr txBox="1"/>
          <p:nvPr/>
        </p:nvSpPr>
        <p:spPr>
          <a:xfrm>
            <a:off x="3328416" y="3630168"/>
            <a:ext cx="2468880" cy="384048"/>
          </a:xfrm>
          <a:prstGeom prst="rect">
            <a:avLst/>
          </a:prstGeom>
          <a:noFill/>
        </p:spPr>
        <p:txBody>
          <a:bodyPr wrap="square" lIns="36576" rIns="36576" tIns="36576" bIns="36576" anchor="t"/>
          <a:lstStyle/>
          <a:p>
            <a:pPr algn="l" marL="0" indent="0">
              <a:spcAft>
                <a:spcPts val="400"/>
              </a:spcAft>
              <a:buNone/>
            </a:pPr>
            <a:r>
              <a:rPr sz="900" b="1" i="0" lang="es-CL">
                <a:solidFill>
                  <a:srgbClr val="1F2328"/>
                </a:solidFill>
                <a:latin typeface="Inter"/>
                <a:ea typeface="Inter"/>
                <a:cs typeface="Inter"/>
              </a:rPr>
              <a:t>Detecta:</a:t>
            </a:r>
            <a:r>
              <a:rPr sz="900" b="0" i="0" lang="es-CL">
                <a:solidFill>
                  <a:srgbClr val="1F2328"/>
                </a:solidFill>
                <a:latin typeface="Inter"/>
                <a:ea typeface="Inter"/>
                <a:cs typeface="Inter"/>
              </a:rPr>
              <a:t> Contenedor como root, versiones sin fijar</a:t>
            </a:r>
          </a:p>
        </p:txBody>
      </p:sp>
      <p:sp>
        <p:nvSpPr>
          <p:cNvPr id="33" name="TextBox 32"/>
          <p:cNvSpPr txBox="1"/>
          <p:nvPr/>
        </p:nvSpPr>
        <p:spPr>
          <a:xfrm>
            <a:off x="3328416" y="4041648"/>
            <a:ext cx="2468880" cy="274320"/>
          </a:xfrm>
          <a:prstGeom prst="rect">
            <a:avLst/>
          </a:prstGeom>
          <a:noFill/>
        </p:spPr>
        <p:txBody>
          <a:bodyPr wrap="square" lIns="36576" rIns="36576" tIns="36576" bIns="36576" anchor="t"/>
          <a:lstStyle/>
          <a:p>
            <a:pPr algn="l" marL="0" indent="0">
              <a:spcAft>
                <a:spcPts val="400"/>
              </a:spcAft>
              <a:buNone/>
            </a:pPr>
            <a:r>
              <a:rPr sz="900" b="0" i="1" lang="es-CL">
                <a:solidFill>
                  <a:srgbClr val="CC850A"/>
                </a:solidFill>
                <a:latin typeface="Inter"/>
                <a:ea typeface="Inter"/>
                <a:cs typeface="Inter"/>
              </a:rPr>
              <a:t>Analogía: Revisar las instalaciones</a:t>
            </a:r>
          </a:p>
        </p:txBody>
      </p:sp>
      <p:sp>
        <p:nvSpPr>
          <p:cNvPr id="34" name="Rounded Rectangle 33"/>
          <p:cNvSpPr/>
          <p:nvPr/>
        </p:nvSpPr>
        <p:spPr>
          <a:xfrm>
            <a:off x="6025896" y="2761488"/>
            <a:ext cx="2697480" cy="1627632"/>
          </a:xfrm>
          <a:prstGeom prst="roundRect">
            <a:avLst>
              <a:gd name="adj" fmla="val 5617"/>
            </a:avLst>
          </a:prstGeom>
          <a:solidFill>
            <a:srgbClr val="EDF1F3"/>
          </a:solidFill>
          <a:ln>
            <a:noFill/>
          </a:ln>
        </p:spPr>
        <p:txBody>
          <a:bodyPr rtlCol="0" anchor="ctr" wrap="square" lIns="54864" rIns="54864" tIns="54864" bIns="54864"/>
          <a:lstStyle/>
          <a:p>
            <a:pPr algn="ctr"/>
          </a:p>
        </p:txBody>
      </p:sp>
      <p:sp>
        <p:nvSpPr>
          <p:cNvPr id="35" name="TextBox 34"/>
          <p:cNvSpPr txBox="1"/>
          <p:nvPr/>
        </p:nvSpPr>
        <p:spPr>
          <a:xfrm>
            <a:off x="6135624" y="2816352"/>
            <a:ext cx="1280160" cy="365760"/>
          </a:xfrm>
          <a:prstGeom prst="rect">
            <a:avLst/>
          </a:prstGeom>
          <a:noFill/>
        </p:spPr>
        <p:txBody>
          <a:bodyPr wrap="square" lIns="36576" rIns="36576" tIns="36576" bIns="36576" anchor="t"/>
          <a:lstStyle/>
          <a:p>
            <a:pPr algn="l" marL="0" indent="0">
              <a:spcAft>
                <a:spcPts val="400"/>
              </a:spcAft>
              <a:buNone/>
            </a:pPr>
            <a:r>
              <a:rPr sz="1700" b="1" i="0" lang="es-CL">
                <a:solidFill>
                  <a:srgbClr val="634F7D"/>
                </a:solidFill>
                <a:latin typeface="Bitter"/>
                <a:ea typeface="Bitter"/>
                <a:cs typeface="Bitter"/>
              </a:rPr>
              <a:t>SBOM</a:t>
            </a:r>
          </a:p>
        </p:txBody>
      </p:sp>
      <p:sp>
        <p:nvSpPr>
          <p:cNvPr id="36" name="TextBox 35"/>
          <p:cNvSpPr txBox="1"/>
          <p:nvPr/>
        </p:nvSpPr>
        <p:spPr>
          <a:xfrm>
            <a:off x="7168896" y="2834640"/>
            <a:ext cx="1463040" cy="365760"/>
          </a:xfrm>
          <a:prstGeom prst="rect">
            <a:avLst/>
          </a:prstGeom>
          <a:noFill/>
        </p:spPr>
        <p:txBody>
          <a:bodyPr wrap="square" lIns="36576" rIns="36576" tIns="36576" bIns="36576" anchor="ctr"/>
          <a:lstStyle/>
          <a:p>
            <a:pPr algn="r" marL="0" indent="0">
              <a:spcAft>
                <a:spcPts val="400"/>
              </a:spcAft>
              <a:buNone/>
            </a:pPr>
            <a:r>
              <a:rPr sz="800" b="0" i="0" lang="es-CL">
                <a:solidFill>
                  <a:srgbClr val="57606A"/>
                </a:solidFill>
                <a:latin typeface="Inter"/>
                <a:ea typeface="Inter"/>
                <a:cs typeface="Inter"/>
              </a:rPr>
              <a:t>Software Bill of Materials</a:t>
            </a:r>
          </a:p>
        </p:txBody>
      </p:sp>
      <p:sp>
        <p:nvSpPr>
          <p:cNvPr id="37" name="TextBox 36"/>
          <p:cNvSpPr txBox="1"/>
          <p:nvPr/>
        </p:nvSpPr>
        <p:spPr>
          <a:xfrm>
            <a:off x="6135624" y="3218688"/>
            <a:ext cx="2468880" cy="384048"/>
          </a:xfrm>
          <a:prstGeom prst="rect">
            <a:avLst/>
          </a:prstGeom>
          <a:noFill/>
        </p:spPr>
        <p:txBody>
          <a:bodyPr wrap="square" lIns="36576" rIns="36576" tIns="36576" bIns="36576" anchor="t"/>
          <a:lstStyle/>
          <a:p>
            <a:pPr algn="l" marL="0" indent="0">
              <a:spcAft>
                <a:spcPts val="400"/>
              </a:spcAft>
              <a:buNone/>
            </a:pPr>
            <a:r>
              <a:rPr sz="950" b="0" i="0" lang="es-CL">
                <a:solidFill>
                  <a:srgbClr val="1F2328"/>
                </a:solidFill>
                <a:latin typeface="Inter"/>
                <a:ea typeface="Inter"/>
                <a:cs typeface="Inter"/>
              </a:rPr>
              <a:t>Inventario de todo lo que va dentro del artefacto.</a:t>
            </a:r>
          </a:p>
        </p:txBody>
      </p:sp>
      <p:sp>
        <p:nvSpPr>
          <p:cNvPr id="38" name="TextBox 37"/>
          <p:cNvSpPr txBox="1"/>
          <p:nvPr/>
        </p:nvSpPr>
        <p:spPr>
          <a:xfrm>
            <a:off x="6135624" y="3630168"/>
            <a:ext cx="2468880" cy="384048"/>
          </a:xfrm>
          <a:prstGeom prst="rect">
            <a:avLst/>
          </a:prstGeom>
          <a:noFill/>
        </p:spPr>
        <p:txBody>
          <a:bodyPr wrap="square" lIns="36576" rIns="36576" tIns="36576" bIns="36576" anchor="t"/>
          <a:lstStyle/>
          <a:p>
            <a:pPr algn="l" marL="0" indent="0">
              <a:spcAft>
                <a:spcPts val="400"/>
              </a:spcAft>
              <a:buNone/>
            </a:pPr>
            <a:r>
              <a:rPr sz="900" b="1" i="0" lang="es-CL">
                <a:solidFill>
                  <a:srgbClr val="1F2328"/>
                </a:solidFill>
                <a:latin typeface="Inter"/>
                <a:ea typeface="Inter"/>
                <a:cs typeface="Inter"/>
              </a:rPr>
              <a:t>Detecta:</a:t>
            </a:r>
            <a:r>
              <a:rPr sz="900" b="0" i="0" lang="es-CL">
                <a:solidFill>
                  <a:srgbClr val="1F2328"/>
                </a:solidFill>
                <a:latin typeface="Inter"/>
                <a:ea typeface="Inter"/>
                <a:cs typeface="Inter"/>
              </a:rPr>
              <a:t> Responde: ¿nos afecta la CVE de hoy?</a:t>
            </a:r>
          </a:p>
        </p:txBody>
      </p:sp>
      <p:sp>
        <p:nvSpPr>
          <p:cNvPr id="39" name="TextBox 38"/>
          <p:cNvSpPr txBox="1"/>
          <p:nvPr/>
        </p:nvSpPr>
        <p:spPr>
          <a:xfrm>
            <a:off x="6135624" y="4041648"/>
            <a:ext cx="2468880" cy="274320"/>
          </a:xfrm>
          <a:prstGeom prst="rect">
            <a:avLst/>
          </a:prstGeom>
          <a:noFill/>
        </p:spPr>
        <p:txBody>
          <a:bodyPr wrap="square" lIns="36576" rIns="36576" tIns="36576" bIns="36576" anchor="t"/>
          <a:lstStyle/>
          <a:p>
            <a:pPr algn="l" marL="0" indent="0">
              <a:spcAft>
                <a:spcPts val="400"/>
              </a:spcAft>
              <a:buNone/>
            </a:pPr>
            <a:r>
              <a:rPr sz="900" b="0" i="1" lang="es-CL">
                <a:solidFill>
                  <a:srgbClr val="634F7D"/>
                </a:solidFill>
                <a:latin typeface="Inter"/>
                <a:ea typeface="Inter"/>
                <a:cs typeface="Inter"/>
              </a:rPr>
              <a:t>Analogía: La lista de ingredientes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¿Qué es esto? Las herramientas del pipeline</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1024128"/>
          <a:ext cx="8321040" cy="3383280"/>
        </p:xfrm>
        <a:graphic>
          <a:graphicData uri="http://schemas.openxmlformats.org/drawingml/2006/table">
            <a:tbl>
              <a:tblPr firstRow="0" bandRow="0">
                <a:tableStyleId>{5C22544A-7EE6-4342-B048-85BDC9FD1C3A}</a:tableStyleId>
              </a:tblPr>
              <a:tblGrid>
                <a:gridCol w="1600200"/>
                <a:gridCol w="1463040"/>
                <a:gridCol w="4572000"/>
                <a:gridCol w="685800"/>
              </a:tblGrid>
              <a:tr h="338328">
                <a:tc>
                  <a:txBody>
                    <a:bodyPr wrap="square"/>
                    <a:lstStyle/>
                    <a:p>
                      <a:pPr algn="l" marL="0" indent="0">
                        <a:spcAft>
                          <a:spcPts val="0"/>
                        </a:spcAft>
                        <a:buNone/>
                      </a:pPr>
                      <a:r>
                        <a:rPr sz="1000" b="1" i="0" lang="es-CL">
                          <a:solidFill>
                            <a:srgbClr val="FFFFFF"/>
                          </a:solidFill>
                          <a:latin typeface="Inter"/>
                          <a:ea typeface="Inter"/>
                          <a:cs typeface="Inter"/>
                        </a:rPr>
                        <a:t>Herramienta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00" b="1" i="0" lang="es-CL">
                          <a:solidFill>
                            <a:srgbClr val="FFFFFF"/>
                          </a:solidFill>
                          <a:latin typeface="Inter"/>
                          <a:ea typeface="Inter"/>
                          <a:cs typeface="Inter"/>
                        </a:rPr>
                        <a:t>Tipo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000" b="1" i="0" lang="es-CL">
                          <a:solidFill>
                            <a:srgbClr val="FFFFFF"/>
                          </a:solidFill>
                          <a:latin typeface="Inter"/>
                          <a:ea typeface="Inter"/>
                          <a:cs typeface="Inter"/>
                        </a:rPr>
                        <a:t>Qué detecta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ctr" marL="0" indent="0">
                        <a:spcAft>
                          <a:spcPts val="0"/>
                        </a:spcAft>
                        <a:buNone/>
                      </a:pPr>
                      <a:r>
                        <a:rPr sz="1000" b="1" i="0" lang="es-CL">
                          <a:solidFill>
                            <a:srgbClr val="FFFFFF"/>
                          </a:solidFill>
                          <a:latin typeface="Inter"/>
                          <a:ea typeface="Inter"/>
                          <a:cs typeface="Inter"/>
                        </a:rPr>
                        <a:t>Etapa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338328">
                <a:tc>
                  <a:txBody>
                    <a:bodyPr wrap="square"/>
                    <a:lstStyle/>
                    <a:p>
                      <a:pPr algn="l" marL="0" indent="0">
                        <a:spcAft>
                          <a:spcPts val="0"/>
                        </a:spcAft>
                        <a:buNone/>
                      </a:pPr>
                      <a:r>
                        <a:rPr sz="1000" b="1" i="0" lang="es-CL">
                          <a:solidFill>
                            <a:srgbClr val="1F2328"/>
                          </a:solidFill>
                          <a:latin typeface="Inter"/>
                          <a:ea typeface="Inter"/>
                          <a:cs typeface="Inter"/>
                        </a:rPr>
                        <a:t>gitleaks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Secretos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Llaves y tokens en commits y en el historial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1000" b="0" i="0" lang="es-CL">
                          <a:solidFill>
                            <a:srgbClr val="1F2328"/>
                          </a:solidFill>
                          <a:latin typeface="Inter"/>
                          <a:ea typeface="Inter"/>
                          <a:cs typeface="Inter"/>
                        </a:rPr>
                        <a:t>1</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38328">
                <a:tc>
                  <a:txBody>
                    <a:bodyPr wrap="square"/>
                    <a:lstStyle/>
                    <a:p>
                      <a:pPr algn="l" marL="0" indent="0">
                        <a:spcAft>
                          <a:spcPts val="0"/>
                        </a:spcAft>
                        <a:buNone/>
                      </a:pPr>
                      <a:r>
                        <a:rPr sz="1000" b="1" i="0" lang="es-CL">
                          <a:solidFill>
                            <a:srgbClr val="1F2328"/>
                          </a:solidFill>
                          <a:latin typeface="Inter"/>
                          <a:ea typeface="Inter"/>
                          <a:cs typeface="Inter"/>
                        </a:rPr>
                        <a:t>Semgrep</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SAST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Patrones inseguros con reglas legibles, también reglas propias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ctr" marL="0" indent="0">
                        <a:spcAft>
                          <a:spcPts val="0"/>
                        </a:spcAft>
                        <a:buNone/>
                      </a:pPr>
                      <a:r>
                        <a:rPr sz="1000" b="0" i="0" lang="es-CL">
                          <a:solidFill>
                            <a:srgbClr val="1F2328"/>
                          </a:solidFill>
                          <a:latin typeface="Inter"/>
                          <a:ea typeface="Inter"/>
                          <a:cs typeface="Inter"/>
                        </a:rPr>
                        <a:t>3</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38328">
                <a:tc>
                  <a:txBody>
                    <a:bodyPr wrap="square"/>
                    <a:lstStyle/>
                    <a:p>
                      <a:pPr algn="l" marL="0" indent="0">
                        <a:spcAft>
                          <a:spcPts val="0"/>
                        </a:spcAft>
                        <a:buNone/>
                      </a:pPr>
                      <a:r>
                        <a:rPr sz="1000" b="1" i="0" lang="es-CL">
                          <a:solidFill>
                            <a:srgbClr val="1F2328"/>
                          </a:solidFill>
                          <a:latin typeface="Inter"/>
                          <a:ea typeface="Inter"/>
                          <a:cs typeface="Inter"/>
                        </a:rPr>
                        <a:t>CodeQL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SAST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Flujo de datos: un input que llega a una consulta o a la respuesta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1000" b="0" i="0" lang="es-CL">
                          <a:solidFill>
                            <a:srgbClr val="1F2328"/>
                          </a:solidFill>
                          <a:latin typeface="Inter"/>
                          <a:ea typeface="Inter"/>
                          <a:cs typeface="Inter"/>
                        </a:rPr>
                        <a:t>3</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38328">
                <a:tc>
                  <a:txBody>
                    <a:bodyPr wrap="square"/>
                    <a:lstStyle/>
                    <a:p>
                      <a:pPr algn="l" marL="0" indent="0">
                        <a:spcAft>
                          <a:spcPts val="0"/>
                        </a:spcAft>
                        <a:buNone/>
                      </a:pPr>
                      <a:r>
                        <a:rPr sz="1000" b="1" i="0" lang="es-CL">
                          <a:solidFill>
                            <a:srgbClr val="1F2328"/>
                          </a:solidFill>
                          <a:latin typeface="Inter"/>
                          <a:ea typeface="Inter"/>
                          <a:cs typeface="Inter"/>
                        </a:rPr>
                        <a:t>Dependency Review</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SCA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Dependencias nuevas del PR con CVE o licencia no permitida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ctr" marL="0" indent="0">
                        <a:spcAft>
                          <a:spcPts val="0"/>
                        </a:spcAft>
                        <a:buNone/>
                      </a:pPr>
                      <a:r>
                        <a:rPr sz="1000" b="0" i="0" lang="es-CL">
                          <a:solidFill>
                            <a:srgbClr val="1F2328"/>
                          </a:solidFill>
                          <a:latin typeface="Inter"/>
                          <a:ea typeface="Inter"/>
                          <a:cs typeface="Inter"/>
                        </a:rPr>
                        <a:t>4</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38328">
                <a:tc>
                  <a:txBody>
                    <a:bodyPr wrap="square"/>
                    <a:lstStyle/>
                    <a:p>
                      <a:pPr algn="l" marL="0" indent="0">
                        <a:spcAft>
                          <a:spcPts val="0"/>
                        </a:spcAft>
                        <a:buNone/>
                      </a:pPr>
                      <a:r>
                        <a:rPr sz="1000" b="1" i="0" lang="es-CL">
                          <a:solidFill>
                            <a:srgbClr val="1F2328"/>
                          </a:solidFill>
                          <a:latin typeface="Inter"/>
                          <a:ea typeface="Inter"/>
                          <a:cs typeface="Inter"/>
                        </a:rPr>
                        <a:t>Trivy</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SCA, secretos, IaC</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CVE en node_modules y en la imagen, Dockerfile mal configurado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1000" b="0" i="0" lang="es-CL">
                          <a:solidFill>
                            <a:srgbClr val="1F2328"/>
                          </a:solidFill>
                          <a:latin typeface="Inter"/>
                          <a:ea typeface="Inter"/>
                          <a:cs typeface="Inter"/>
                        </a:rPr>
                        <a:t>4 y 8</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38328">
                <a:tc>
                  <a:txBody>
                    <a:bodyPr wrap="square"/>
                    <a:lstStyle/>
                    <a:p>
                      <a:pPr algn="l" marL="0" indent="0">
                        <a:spcAft>
                          <a:spcPts val="0"/>
                        </a:spcAft>
                        <a:buNone/>
                      </a:pPr>
                      <a:r>
                        <a:rPr sz="1000" b="1" i="0" lang="es-CL">
                          <a:solidFill>
                            <a:srgbClr val="1F2328"/>
                          </a:solidFill>
                          <a:latin typeface="Inter"/>
                          <a:ea typeface="Inter"/>
                          <a:cs typeface="Inter"/>
                        </a:rPr>
                        <a:t>hadolint, zizmor</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IaC y CI</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Dockerfile con malas prácticas, workflows de Actions inseguros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ctr" marL="0" indent="0">
                        <a:spcAft>
                          <a:spcPts val="0"/>
                        </a:spcAft>
                        <a:buNone/>
                      </a:pPr>
                      <a:r>
                        <a:rPr sz="1000" b="0" i="0" lang="es-CL">
                          <a:solidFill>
                            <a:srgbClr val="1F2328"/>
                          </a:solidFill>
                          <a:latin typeface="Inter"/>
                          <a:ea typeface="Inter"/>
                          <a:cs typeface="Inter"/>
                        </a:rPr>
                        <a:t>2</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38328">
                <a:tc>
                  <a:txBody>
                    <a:bodyPr wrap="square"/>
                    <a:lstStyle/>
                    <a:p>
                      <a:pPr algn="l" marL="0" indent="0">
                        <a:spcAft>
                          <a:spcPts val="0"/>
                        </a:spcAft>
                        <a:buNone/>
                      </a:pPr>
                      <a:r>
                        <a:rPr sz="1000" b="1" i="0" lang="es-CL">
                          <a:solidFill>
                            <a:srgbClr val="1F2328"/>
                          </a:solidFill>
                          <a:latin typeface="Inter"/>
                          <a:ea typeface="Inter"/>
                          <a:cs typeface="Inter"/>
                        </a:rPr>
                        <a:t>SBOM (CycloneDX)</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SBOM</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Inventario del artefacto, se adjunta al run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1000" b="0" i="0" lang="es-CL">
                          <a:solidFill>
                            <a:srgbClr val="1F2328"/>
                          </a:solidFill>
                          <a:latin typeface="Inter"/>
                          <a:ea typeface="Inter"/>
                          <a:cs typeface="Inter"/>
                        </a:rPr>
                        <a:t>8</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38328">
                <a:tc>
                  <a:txBody>
                    <a:bodyPr wrap="square"/>
                    <a:lstStyle/>
                    <a:p>
                      <a:pPr algn="l" marL="0" indent="0">
                        <a:spcAft>
                          <a:spcPts val="0"/>
                        </a:spcAft>
                        <a:buNone/>
                      </a:pPr>
                      <a:r>
                        <a:rPr sz="1000" b="1" i="0" lang="es-CL">
                          <a:solidFill>
                            <a:srgbClr val="1F2328"/>
                          </a:solidFill>
                          <a:latin typeface="Inter"/>
                          <a:ea typeface="Inter"/>
                          <a:cs typeface="Inter"/>
                        </a:rPr>
                        <a:t>OWASP ZAP</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DAST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000" b="0" i="0" lang="es-CL">
                          <a:solidFill>
                            <a:srgbClr val="1F2328"/>
                          </a:solidFill>
                          <a:latin typeface="Inter"/>
                          <a:ea typeface="Inter"/>
                          <a:cs typeface="Inter"/>
                        </a:rPr>
                        <a:t>Headers, cookies, errores y ataques sobre la API corriendo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ctr" marL="0" indent="0">
                        <a:spcAft>
                          <a:spcPts val="0"/>
                        </a:spcAft>
                        <a:buNone/>
                      </a:pPr>
                      <a:r>
                        <a:rPr sz="1000" b="0" i="0" lang="es-CL">
                          <a:solidFill>
                            <a:srgbClr val="1F2328"/>
                          </a:solidFill>
                          <a:latin typeface="Inter"/>
                          <a:ea typeface="Inter"/>
                          <a:cs typeface="Inter"/>
                        </a:rPr>
                        <a:t>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38328">
                <a:tc>
                  <a:txBody>
                    <a:bodyPr wrap="square"/>
                    <a:lstStyle/>
                    <a:p>
                      <a:pPr algn="l" marL="0" indent="0">
                        <a:spcAft>
                          <a:spcPts val="0"/>
                        </a:spcAft>
                        <a:buNone/>
                      </a:pPr>
                      <a:r>
                        <a:rPr sz="1000" b="1" i="0" lang="es-CL">
                          <a:solidFill>
                            <a:srgbClr val="1F2328"/>
                          </a:solidFill>
                          <a:latin typeface="Inter"/>
                          <a:ea typeface="Inter"/>
                          <a:cs typeface="Inter"/>
                        </a:rPr>
                        <a:t>Schemathesis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Fuzzing</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000" b="0" i="0" lang="es-CL">
                          <a:solidFill>
                            <a:srgbClr val="1F2328"/>
                          </a:solidFill>
                          <a:latin typeface="Inter"/>
                          <a:ea typeface="Inter"/>
                          <a:cs typeface="Inter"/>
                        </a:rPr>
                        <a:t>Respuestas 500 y desvíos del contrato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1000" b="0" i="0" lang="es-CL">
                          <a:solidFill>
                            <a:srgbClr val="1F2328"/>
                          </a:solidFill>
                          <a:latin typeface="Inter"/>
                          <a:ea typeface="Inter"/>
                          <a:cs typeface="Inter"/>
                        </a:rPr>
                        <a:t>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SAST con reglas de la spec: Semgrep</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Análisis estático con reglas propias que convierten decisiones de la spec en chequeos.</a:t>
            </a:r>
          </a:p>
        </p:txBody>
      </p:sp>
      <p:sp>
        <p:nvSpPr>
          <p:cNvPr id="6" name="Rounded Rectangle 5"/>
          <p:cNvSpPr/>
          <p:nvPr/>
        </p:nvSpPr>
        <p:spPr>
          <a:xfrm>
            <a:off x="411480" y="1783080"/>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755648"/>
            <a:ext cx="2432304" cy="731519"/>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Hora del sistema en el dominio, SQL concatenado, fetch en componentes, dangerouslySetInnerHTML.</a:t>
            </a:r>
          </a:p>
        </p:txBody>
      </p:sp>
      <p:sp>
        <p:nvSpPr>
          <p:cNvPr id="8" name="Rounded Rectangle 7"/>
          <p:cNvSpPr/>
          <p:nvPr/>
        </p:nvSpPr>
        <p:spPr>
          <a:xfrm>
            <a:off x="411480" y="2624327"/>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596896"/>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Semgrep con reglas del registro y .semgrep/rules.yml. CodeQL para flujo de datos.</a:t>
            </a:r>
          </a:p>
        </p:txBody>
      </p:sp>
      <p:sp>
        <p:nvSpPr>
          <p:cNvPr id="10" name="Rounded Rectangle 9"/>
          <p:cNvSpPr/>
          <p:nvPr/>
        </p:nvSpPr>
        <p:spPr>
          <a:xfrm>
            <a:off x="411480" y="3300983"/>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3273551"/>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3 · SAST. Los hallazgos llegan como SARIF a la pestaña Security.</a:t>
            </a:r>
          </a:p>
        </p:txBody>
      </p:sp>
      <p:sp>
        <p:nvSpPr>
          <p:cNvPr id="12" name="Rounded Rectangle 11"/>
          <p:cNvSpPr/>
          <p:nvPr/>
        </p:nvSpPr>
        <p:spPr>
          <a:xfrm>
            <a:off x="411480" y="3977639"/>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950208"/>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SAST en la estrategia de seguridad, p. 225.</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.semgrep/rules.yml (extracto)</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1000" b="0" i="0" lang="es-CL">
                <a:solidFill>
                  <a:srgbClr val="0451A5"/>
                </a:solidFill>
                <a:latin typeface="Consolas"/>
                <a:ea typeface="Consolas"/>
                <a:cs typeface="Consolas"/>
              </a:rPr>
              <a:t>- id</a:t>
            </a:r>
            <a:r>
              <a:rPr sz="1000" b="0" i="0" lang="es-CL">
                <a:solidFill>
                  <a:srgbClr val="1F2328"/>
                </a:solidFill>
                <a:latin typeface="Consolas"/>
                <a:ea typeface="Consolas"/>
                <a:cs typeface="Consolas"/>
              </a:rPr>
              <a:t>: biblioteca-usar-clock</a:t>
            </a:r>
          </a:p>
          <a:p>
            <a:pPr marL="0" indent="0">
              <a:lnSpc>
                <a:spcPct val="100000"/>
              </a:lnSpc>
              <a:spcAft>
                <a:spcPts val="0"/>
              </a:spcAft>
              <a:buNone/>
            </a:pPr>
            <a:r>
              <a:rPr sz="1000" b="0" i="0" lang="es-CL">
                <a:solidFill>
                  <a:srgbClr val="0451A5"/>
                </a:solidFill>
                <a:latin typeface="Consolas"/>
                <a:ea typeface="Consolas"/>
                <a:cs typeface="Consolas"/>
              </a:rPr>
              <a:t>  languages</a:t>
            </a:r>
            <a:r>
              <a:rPr sz="1000" b="0" i="0" lang="es-CL">
                <a:solidFill>
                  <a:srgbClr val="1F2328"/>
                </a:solidFill>
                <a:latin typeface="Consolas"/>
                <a:ea typeface="Consolas"/>
                <a:cs typeface="Consolas"/>
              </a:rPr>
              <a:t>: [typescript]</a:t>
            </a:r>
          </a:p>
          <a:p>
            <a:pPr marL="0" indent="0">
              <a:lnSpc>
                <a:spcPct val="100000"/>
              </a:lnSpc>
              <a:spcAft>
                <a:spcPts val="0"/>
              </a:spcAft>
              <a:buNone/>
            </a:pPr>
            <a:r>
              <a:rPr sz="1000" b="0" i="0" lang="es-CL">
                <a:solidFill>
                  <a:srgbClr val="0451A5"/>
                </a:solidFill>
                <a:latin typeface="Consolas"/>
                <a:ea typeface="Consolas"/>
                <a:cs typeface="Consolas"/>
              </a:rPr>
              <a:t>  severity</a:t>
            </a:r>
            <a:r>
              <a:rPr sz="1000" b="0" i="0" lang="es-CL">
                <a:solidFill>
                  <a:srgbClr val="1F2328"/>
                </a:solidFill>
                <a:latin typeface="Consolas"/>
                <a:ea typeface="Consolas"/>
                <a:cs typeface="Consolas"/>
              </a:rPr>
              <a:t>: ERROR</a:t>
            </a:r>
          </a:p>
          <a:p>
            <a:pPr marL="0" indent="0">
              <a:lnSpc>
                <a:spcPct val="100000"/>
              </a:lnSpc>
              <a:spcAft>
                <a:spcPts val="0"/>
              </a:spcAft>
              <a:buNone/>
            </a:pPr>
            <a:r>
              <a:rPr sz="1000" b="0" i="0" lang="es-CL">
                <a:solidFill>
                  <a:srgbClr val="0451A5"/>
                </a:solidFill>
                <a:latin typeface="Consolas"/>
                <a:ea typeface="Consolas"/>
                <a:cs typeface="Consolas"/>
              </a:rPr>
              <a:t>  message</a:t>
            </a:r>
            <a:r>
              <a:rPr sz="1000" b="0" i="0" lang="es-CL">
                <a:solidFill>
                  <a:srgbClr val="1F2328"/>
                </a:solidFill>
                <a:latin typeface="Consolas"/>
                <a:ea typeface="Consolas"/>
                <a:cs typeface="Consolas"/>
              </a:rPr>
              <a:t>: &gt;-</a:t>
            </a:r>
          </a:p>
          <a:p>
            <a:pPr marL="0" indent="0">
              <a:lnSpc>
                <a:spcPct val="100000"/>
              </a:lnSpc>
              <a:spcAft>
                <a:spcPts val="0"/>
              </a:spcAft>
              <a:buNone/>
            </a:pPr>
            <a:r>
              <a:rPr sz="1000" b="0" i="0" lang="es-CL">
                <a:solidFill>
                  <a:srgbClr val="1F2328"/>
                </a:solidFill>
                <a:latin typeface="Consolas"/>
                <a:ea typeface="Consolas"/>
                <a:cs typeface="Consolas"/>
              </a:rPr>
              <a:t>    No leas la hora del sistema en domain ni application.</a:t>
            </a:r>
          </a:p>
          <a:p>
            <a:pPr marL="0" indent="0">
              <a:lnSpc>
                <a:spcPct val="100000"/>
              </a:lnSpc>
              <a:spcAft>
                <a:spcPts val="0"/>
              </a:spcAft>
              <a:buNone/>
            </a:pPr>
            <a:r>
              <a:rPr sz="1000" b="0" i="0" lang="es-CL">
                <a:solidFill>
                  <a:srgbClr val="1F2328"/>
                </a:solidFill>
                <a:latin typeface="Consolas"/>
                <a:ea typeface="Consolas"/>
                <a:cs typeface="Consolas"/>
              </a:rPr>
              <a:t>    Recibe la hora desde el puerto Clock (SPEC-LIB-</a:t>
            </a:r>
            <a:r>
              <a:rPr sz="1000" b="0" i="0" lang="es-CL">
                <a:solidFill>
                  <a:srgbClr val="098658"/>
                </a:solidFill>
                <a:latin typeface="Consolas"/>
                <a:ea typeface="Consolas"/>
                <a:cs typeface="Consolas"/>
              </a:rPr>
              <a:t>02</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LOAN-R6): así los tests usan un reloj fijo y el</a:t>
            </a:r>
          </a:p>
          <a:p>
            <a:pPr marL="0" indent="0">
              <a:lnSpc>
                <a:spcPct val="100000"/>
              </a:lnSpc>
              <a:spcAft>
                <a:spcPts val="0"/>
              </a:spcAft>
              <a:buNone/>
            </a:pPr>
            <a:r>
              <a:rPr sz="1000" b="0" i="0" lang="es-CL">
                <a:solidFill>
                  <a:srgbClr val="1F2328"/>
                </a:solidFill>
                <a:latin typeface="Consolas"/>
                <a:ea typeface="Consolas"/>
                <a:cs typeface="Consolas"/>
              </a:rPr>
              <a:t>    estado OVERDUE es determinista.</a:t>
            </a:r>
          </a:p>
          <a:p>
            <a:pPr marL="0" indent="0">
              <a:lnSpc>
                <a:spcPct val="100000"/>
              </a:lnSpc>
              <a:spcAft>
                <a:spcPts val="0"/>
              </a:spcAft>
              <a:buNone/>
            </a:pPr>
            <a:r>
              <a:rPr sz="1000" b="0" i="0" lang="es-CL">
                <a:solidFill>
                  <a:srgbClr val="0451A5"/>
                </a:solidFill>
                <a:latin typeface="Consolas"/>
                <a:ea typeface="Consolas"/>
                <a:cs typeface="Consolas"/>
              </a:rPr>
              <a:t>  metadata</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0451A5"/>
                </a:solidFill>
                <a:latin typeface="Consolas"/>
                <a:ea typeface="Consolas"/>
                <a:cs typeface="Consolas"/>
              </a:rPr>
              <a:t>    rule</a:t>
            </a:r>
            <a:r>
              <a:rPr sz="1000" b="0" i="0" lang="es-CL">
                <a:solidFill>
                  <a:srgbClr val="1F2328"/>
                </a:solidFill>
                <a:latin typeface="Consolas"/>
                <a:ea typeface="Consolas"/>
                <a:cs typeface="Consolas"/>
              </a:rPr>
              <a:t>: LOAN-R6</a:t>
            </a:r>
          </a:p>
          <a:p>
            <a:pPr marL="0" indent="0">
              <a:lnSpc>
                <a:spcPct val="100000"/>
              </a:lnSpc>
              <a:spcAft>
                <a:spcPts val="0"/>
              </a:spcAft>
              <a:buNone/>
            </a:pPr>
            <a:r>
              <a:rPr sz="1000" b="0" i="0" lang="es-CL">
                <a:solidFill>
                  <a:srgbClr val="0451A5"/>
                </a:solidFill>
                <a:latin typeface="Consolas"/>
                <a:ea typeface="Consolas"/>
                <a:cs typeface="Consolas"/>
              </a:rPr>
              <a:t>  paths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0451A5"/>
                </a:solidFill>
                <a:latin typeface="Consolas"/>
                <a:ea typeface="Consolas"/>
                <a:cs typeface="Consolas"/>
              </a:rPr>
              <a:t>    include</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 </a:t>
            </a:r>
            <a:r>
              <a:rPr sz="1000" b="0" i="0" lang="es-CL">
                <a:solidFill>
                  <a:srgbClr val="A31515"/>
                </a:solidFill>
                <a:latin typeface="Consolas"/>
                <a:ea typeface="Consolas"/>
                <a:cs typeface="Consolas"/>
              </a:rPr>
              <a:t>'backend/src/**/domain/**'</a:t>
            </a:r>
          </a:p>
          <a:p>
            <a:pPr marL="0" indent="0">
              <a:lnSpc>
                <a:spcPct val="100000"/>
              </a:lnSpc>
              <a:spcAft>
                <a:spcPts val="0"/>
              </a:spcAft>
              <a:buNone/>
            </a:pPr>
            <a:r>
              <a:rPr sz="1000" b="0" i="0" lang="es-CL">
                <a:solidFill>
                  <a:srgbClr val="1F2328"/>
                </a:solidFill>
                <a:latin typeface="Consolas"/>
                <a:ea typeface="Consolas"/>
                <a:cs typeface="Consolas"/>
              </a:rPr>
              <a:t>      - </a:t>
            </a:r>
            <a:r>
              <a:rPr sz="1000" b="0" i="0" lang="es-CL">
                <a:solidFill>
                  <a:srgbClr val="A31515"/>
                </a:solidFill>
                <a:latin typeface="Consolas"/>
                <a:ea typeface="Consolas"/>
                <a:cs typeface="Consolas"/>
              </a:rPr>
              <a:t>'backend/src/**/application/**'</a:t>
            </a:r>
          </a:p>
          <a:p>
            <a:pPr marL="0" indent="0">
              <a:lnSpc>
                <a:spcPct val="100000"/>
              </a:lnSpc>
              <a:spcAft>
                <a:spcPts val="0"/>
              </a:spcAft>
              <a:buNone/>
            </a:pPr>
            <a:r>
              <a:rPr sz="1000" b="0" i="0" lang="es-CL">
                <a:solidFill>
                  <a:srgbClr val="0451A5"/>
                </a:solidFill>
                <a:latin typeface="Consolas"/>
                <a:ea typeface="Consolas"/>
                <a:cs typeface="Consolas"/>
              </a:rPr>
              <a:t>  pattern-either</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0451A5"/>
                </a:solidFill>
                <a:latin typeface="Consolas"/>
                <a:ea typeface="Consolas"/>
                <a:cs typeface="Consolas"/>
              </a:rPr>
              <a:t>    - pattern</a:t>
            </a:r>
            <a:r>
              <a:rPr sz="1000" b="0" i="0" lang="es-CL">
                <a:solidFill>
                  <a:srgbClr val="1F2328"/>
                </a:solidFill>
                <a:latin typeface="Consolas"/>
                <a:ea typeface="Consolas"/>
                <a:cs typeface="Consolas"/>
              </a:rPr>
              <a:t>: Date.now()</a:t>
            </a:r>
          </a:p>
          <a:p>
            <a:pPr marL="0" indent="0">
              <a:lnSpc>
                <a:spcPct val="100000"/>
              </a:lnSpc>
              <a:spcAft>
                <a:spcPts val="0"/>
              </a:spcAft>
              <a:buNone/>
            </a:pPr>
            <a:r>
              <a:rPr sz="1000" b="0" i="0" lang="es-CL">
                <a:solidFill>
                  <a:srgbClr val="0451A5"/>
                </a:solidFill>
                <a:latin typeface="Consolas"/>
                <a:ea typeface="Consolas"/>
                <a:cs typeface="Consolas"/>
              </a:rPr>
              <a:t>    - pattern</a:t>
            </a:r>
            <a:r>
              <a:rPr sz="1000" b="0" i="0" lang="es-CL">
                <a:solidFill>
                  <a:srgbClr val="1F2328"/>
                </a:solidFill>
                <a:latin typeface="Consolas"/>
                <a:ea typeface="Consolas"/>
                <a:cs typeface="Consolas"/>
              </a:rPr>
              <a:t>: new Date()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DAST: OWASP ZAP contra el stack real</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06424"/>
            <a:ext cx="1024128"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es</a:t>
            </a:r>
          </a:p>
        </p:txBody>
      </p:sp>
      <p:sp>
        <p:nvSpPr>
          <p:cNvPr id="5" name="TextBox 4"/>
          <p:cNvSpPr txBox="1"/>
          <p:nvPr/>
        </p:nvSpPr>
        <p:spPr>
          <a:xfrm>
            <a:off x="1517904" y="1078992"/>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Ataca la app corriendo desde afuera: baseline sobre el frontend y API scan guiado por el OpenAPI.</a:t>
            </a:r>
          </a:p>
        </p:txBody>
      </p:sp>
      <p:sp>
        <p:nvSpPr>
          <p:cNvPr id="6" name="Rounded Rectangle 5"/>
          <p:cNvSpPr/>
          <p:nvPr/>
        </p:nvSpPr>
        <p:spPr>
          <a:xfrm>
            <a:off x="411480" y="1783080"/>
            <a:ext cx="1024128"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Qué detecta</a:t>
            </a:r>
          </a:p>
        </p:txBody>
      </p:sp>
      <p:sp>
        <p:nvSpPr>
          <p:cNvPr id="7" name="TextBox 6"/>
          <p:cNvSpPr txBox="1"/>
          <p:nvPr/>
        </p:nvSpPr>
        <p:spPr>
          <a:xfrm>
            <a:off x="1517904" y="1755648"/>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Headers de seguridad faltantes, cookies inseguras, errores que filtran información.</a:t>
            </a:r>
          </a:p>
        </p:txBody>
      </p:sp>
      <p:sp>
        <p:nvSpPr>
          <p:cNvPr id="8" name="Rounded Rectangle 7"/>
          <p:cNvSpPr/>
          <p:nvPr/>
        </p:nvSpPr>
        <p:spPr>
          <a:xfrm>
            <a:off x="411480" y="2459735"/>
            <a:ext cx="1024128"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Herramienta</a:t>
            </a:r>
          </a:p>
        </p:txBody>
      </p:sp>
      <p:sp>
        <p:nvSpPr>
          <p:cNvPr id="9" name="TextBox 8"/>
          <p:cNvSpPr txBox="1"/>
          <p:nvPr/>
        </p:nvSpPr>
        <p:spPr>
          <a:xfrm>
            <a:off x="1517904" y="2432303"/>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OWASP ZAP con reglas versionadas en tools/zap/rules.tsv.</a:t>
            </a:r>
          </a:p>
        </p:txBody>
      </p:sp>
      <p:sp>
        <p:nvSpPr>
          <p:cNvPr id="10" name="Rounded Rectangle 9"/>
          <p:cNvSpPr/>
          <p:nvPr/>
        </p:nvSpPr>
        <p:spPr>
          <a:xfrm>
            <a:off x="411480" y="2971799"/>
            <a:ext cx="1024128"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Dónde corre</a:t>
            </a:r>
          </a:p>
        </p:txBody>
      </p:sp>
      <p:sp>
        <p:nvSpPr>
          <p:cNvPr id="11" name="TextBox 10"/>
          <p:cNvSpPr txBox="1"/>
          <p:nvPr/>
        </p:nvSpPr>
        <p:spPr>
          <a:xfrm>
            <a:off x="1517904" y="2944368"/>
            <a:ext cx="2432304" cy="566928"/>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Etapa 9, contra el stack levantado con Docker. Una alerta High rompe el build.</a:t>
            </a:r>
          </a:p>
        </p:txBody>
      </p:sp>
      <p:sp>
        <p:nvSpPr>
          <p:cNvPr id="12" name="Rounded Rectangle 11"/>
          <p:cNvSpPr/>
          <p:nvPr/>
        </p:nvSpPr>
        <p:spPr>
          <a:xfrm>
            <a:off x="411480" y="3648455"/>
            <a:ext cx="1024128" cy="274320"/>
          </a:xfrm>
          <a:prstGeom prst="roundRect">
            <a:avLst>
              <a:gd name="adj" fmla="val 20000"/>
            </a:avLst>
          </a:prstGeom>
          <a:solidFill>
            <a:srgbClr val="F2617A"/>
          </a:solidFill>
          <a:ln>
            <a:noFill/>
          </a:ln>
        </p:spPr>
        <p:txBody>
          <a:bodyPr rtlCol="0" anchor="ctr" wrap="square" lIns="27432" rIns="27432" tIns="27432" bIns="27432"/>
          <a:lstStyle/>
          <a:p>
            <a:pPr algn="ctr" marL="0" indent="0">
              <a:spcAft>
                <a:spcPts val="200"/>
              </a:spcAft>
              <a:buNone/>
            </a:pPr>
            <a:r>
              <a:rPr sz="950" b="1" i="0" lang="es-CL">
                <a:solidFill>
                  <a:srgbClr val="FFFFFF"/>
                </a:solidFill>
                <a:latin typeface="Inter"/>
                <a:ea typeface="Inter"/>
                <a:cs typeface="Inter"/>
              </a:rPr>
              <a:t>Libro</a:t>
            </a:r>
          </a:p>
        </p:txBody>
      </p:sp>
      <p:sp>
        <p:nvSpPr>
          <p:cNvPr id="13" name="TextBox 12"/>
          <p:cNvSpPr txBox="1"/>
          <p:nvPr/>
        </p:nvSpPr>
        <p:spPr>
          <a:xfrm>
            <a:off x="1517904" y="3621023"/>
            <a:ext cx="2432304" cy="402336"/>
          </a:xfrm>
          <a:prstGeom prst="rect">
            <a:avLst/>
          </a:prstGeom>
          <a:noFill/>
        </p:spPr>
        <p:txBody>
          <a:bodyPr wrap="square" lIns="36576" rIns="36576" tIns="36576" bIns="36576" anchor="t"/>
          <a:lstStyle/>
          <a:p>
            <a:pPr algn="l" marL="0" indent="0">
              <a:spcAft>
                <a:spcPts val="0"/>
              </a:spcAft>
              <a:buNone/>
            </a:pPr>
            <a:r>
              <a:rPr sz="1050" b="0" i="0" lang="es-CL">
                <a:solidFill>
                  <a:srgbClr val="1F2328"/>
                </a:solidFill>
                <a:latin typeface="Inter"/>
                <a:ea typeface="Inter"/>
                <a:cs typeface="Inter"/>
              </a:rPr>
              <a:t>ZAP, p. 229. Estrategia de seguridad, p. 225.</a:t>
            </a:r>
          </a:p>
        </p:txBody>
      </p:sp>
      <p:sp>
        <p:nvSpPr>
          <p:cNvPr id="14" name="Rounded Rectangle 13"/>
          <p:cNvSpPr/>
          <p:nvPr/>
        </p:nvSpPr>
        <p:spPr>
          <a:xfrm>
            <a:off x="4069080" y="1051560"/>
            <a:ext cx="4663440" cy="3474720"/>
          </a:xfrm>
          <a:prstGeom prst="roundRect">
            <a:avLst>
              <a:gd name="adj" fmla="val 1578"/>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4178808" y="1106424"/>
            <a:ext cx="44439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tools/zap/rules.tsv (extracto)</a:t>
            </a:r>
          </a:p>
        </p:txBody>
      </p:sp>
      <p:sp>
        <p:nvSpPr>
          <p:cNvPr id="16" name="TextBox 15"/>
          <p:cNvSpPr txBox="1"/>
          <p:nvPr/>
        </p:nvSpPr>
        <p:spPr>
          <a:xfrm>
            <a:off x="4178808" y="1362456"/>
            <a:ext cx="4443983" cy="3108959"/>
          </a:xfrm>
          <a:prstGeom prst="rect">
            <a:avLst/>
          </a:prstGeom>
          <a:noFill/>
        </p:spPr>
        <p:txBody>
          <a:bodyPr wrap="none" lIns="0" rIns="0" tIns="0" bIns="0"/>
          <a:lstStyle/>
          <a:p>
            <a:pPr marL="0" indent="0">
              <a:lnSpc>
                <a:spcPct val="100000"/>
              </a:lnSpc>
              <a:spcAft>
                <a:spcPts val="0"/>
              </a:spcAft>
              <a:buNone/>
            </a:pPr>
            <a:r>
              <a:rPr sz="950" b="0" i="0" lang="es-CL">
                <a:solidFill>
                  <a:srgbClr val="008000"/>
                </a:solidFill>
                <a:latin typeface="Consolas"/>
                <a:ea typeface="Consolas"/>
                <a:cs typeface="Consolas"/>
              </a:rPr>
              <a:t># Formato: &lt;id de regla&gt; &lt;IGNORE|WARN|FAIL&gt; (&lt;nombre&gt;)</a:t>
            </a:r>
          </a:p>
          <a:p>
            <a:pPr marL="0" indent="0">
              <a:lnSpc>
                <a:spcPct val="100000"/>
              </a:lnSpc>
              <a:spcAft>
                <a:spcPts val="0"/>
              </a:spcAft>
              <a:buNone/>
            </a:pPr>
            <a:r>
              <a:rPr sz="950" b="0" i="0" lang="es-CL">
                <a:solidFill>
                  <a:srgbClr val="008000"/>
                </a:solidFill>
                <a:latin typeface="Consolas"/>
                <a:ea typeface="Consolas"/>
                <a:cs typeface="Consolas"/>
              </a:rPr>
              <a:t># Toda regla ignorada lleva su justificación arriba.</a:t>
            </a:r>
          </a:p>
          <a:p>
            <a:pPr marL="0" indent="0">
              <a:lnSpc>
                <a:spcPct val="100000"/>
              </a:lnSpc>
              <a:spcAft>
                <a:spcPts val="0"/>
              </a:spcAft>
              <a:buNone/>
            </a:pPr>
            <a:r>
              <a:rPr sz="950" b="0" i="0" lang="es-CL">
                <a:solidFill>
                  <a:srgbClr val="008000"/>
                </a:solidFill>
                <a:latin typeface="Consolas"/>
                <a:ea typeface="Consolas"/>
                <a:cs typeface="Consolas"/>
              </a:rPr>
              <a:t># Lo que no aparece queda como WARN: se informa en el PR.</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008000"/>
                </a:solidFill>
                <a:latin typeface="Consolas"/>
                <a:ea typeface="Consolas"/>
                <a:cs typeface="Consolas"/>
              </a:rPr>
              <a:t># HSTS solo tiene sentido sobre HTTPS. En CI el stack</a:t>
            </a:r>
          </a:p>
          <a:p>
            <a:pPr marL="0" indent="0">
              <a:lnSpc>
                <a:spcPct val="100000"/>
              </a:lnSpc>
              <a:spcAft>
                <a:spcPts val="0"/>
              </a:spcAft>
              <a:buNone/>
            </a:pPr>
            <a:r>
              <a:rPr sz="950" b="0" i="0" lang="es-CL">
                <a:solidFill>
                  <a:srgbClr val="008000"/>
                </a:solidFill>
                <a:latin typeface="Consolas"/>
                <a:ea typeface="Consolas"/>
                <a:cs typeface="Consolas"/>
              </a:rPr>
              <a:t># corre en http://localhost.</a:t>
            </a:r>
          </a:p>
          <a:p>
            <a:pPr marL="0" indent="0">
              <a:lnSpc>
                <a:spcPct val="100000"/>
              </a:lnSpc>
              <a:spcAft>
                <a:spcPts val="0"/>
              </a:spcAft>
              <a:buNone/>
            </a:pPr>
            <a:r>
              <a:rPr sz="950" b="0" i="0" lang="es-CL">
                <a:solidFill>
                  <a:srgbClr val="1F2328"/>
                </a:solidFill>
                <a:latin typeface="Consolas"/>
                <a:ea typeface="Consolas"/>
                <a:cs typeface="Consolas"/>
              </a:rPr>
              <a:t>10035   IGNORE  (Strict-Transport-Security Header Not Set)</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008000"/>
                </a:solidFill>
                <a:latin typeface="Consolas"/>
                <a:ea typeface="Consolas"/>
                <a:cs typeface="Consolas"/>
              </a:rPr>
              <a:t># El API scan envía datos inválidos a propósito y la</a:t>
            </a:r>
          </a:p>
          <a:p>
            <a:pPr marL="0" indent="0">
              <a:lnSpc>
                <a:spcPct val="100000"/>
              </a:lnSpc>
              <a:spcAft>
                <a:spcPts val="0"/>
              </a:spcAft>
              <a:buNone/>
            </a:pPr>
            <a:r>
              <a:rPr sz="950" b="0" i="0" lang="es-CL">
                <a:solidFill>
                  <a:srgbClr val="008000"/>
                </a:solidFill>
                <a:latin typeface="Consolas"/>
                <a:ea typeface="Consolas"/>
                <a:cs typeface="Consolas"/>
              </a:rPr>
              <a:t># API responde 4xx según el contrato: es lo correcto.</a:t>
            </a:r>
          </a:p>
          <a:p>
            <a:pPr marL="0" indent="0">
              <a:lnSpc>
                <a:spcPct val="100000"/>
              </a:lnSpc>
              <a:spcAft>
                <a:spcPts val="0"/>
              </a:spcAft>
              <a:buNone/>
            </a:pPr>
            <a:r>
              <a:rPr sz="950" b="0" i="0" lang="es-CL">
                <a:solidFill>
                  <a:srgbClr val="1F2328"/>
                </a:solidFill>
                <a:latin typeface="Consolas"/>
                <a:ea typeface="Consolas"/>
                <a:cs typeface="Consolas"/>
              </a:rPr>
              <a:t>100000  IGNORE  (A Client Error response code was returned)</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008000"/>
                </a:solidFill>
                <a:latin typeface="Consolas"/>
                <a:ea typeface="Consolas"/>
                <a:cs typeface="Consolas"/>
              </a:rPr>
              <a:t># tools/zap/check-alerts.mjs rompe el build si queda</a:t>
            </a:r>
          </a:p>
          <a:p>
            <a:pPr marL="0" indent="0">
              <a:lnSpc>
                <a:spcPct val="100000"/>
              </a:lnSpc>
              <a:spcAft>
                <a:spcPts val="0"/>
              </a:spcAft>
              <a:buNone/>
            </a:pPr>
            <a:r>
              <a:rPr sz="950" b="0" i="0" lang="es-CL">
                <a:solidFill>
                  <a:srgbClr val="008000"/>
                </a:solidFill>
                <a:latin typeface="Consolas"/>
                <a:ea typeface="Consolas"/>
                <a:cs typeface="Consolas"/>
              </a:rPr>
              <a:t># alguna alerta High que no esté ignorada.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El pipeline del repo, etapa por etapa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1536192" cy="1024128"/>
          </a:xfrm>
          <a:prstGeom prst="roundRect">
            <a:avLst>
              <a:gd name="adj" fmla="val 7142"/>
            </a:avLst>
          </a:prstGeom>
          <a:solidFill>
            <a:srgbClr val="EDF1F3"/>
          </a:solidFill>
          <a:ln>
            <a:noFill/>
          </a:ln>
        </p:spPr>
        <p:txBody>
          <a:bodyPr rtlCol="0" anchor="ctr" wrap="square" lIns="54864" rIns="54864" tIns="54864" bIns="54864"/>
          <a:lstStyle/>
          <a:p>
            <a:pPr algn="ctr"/>
          </a:p>
        </p:txBody>
      </p:sp>
      <p:sp>
        <p:nvSpPr>
          <p:cNvPr id="5" name="Oval 4"/>
          <p:cNvSpPr/>
          <p:nvPr/>
        </p:nvSpPr>
        <p:spPr>
          <a:xfrm>
            <a:off x="484632" y="1124712"/>
            <a:ext cx="310896" cy="310896"/>
          </a:xfrm>
          <a:prstGeom prst="ellipse">
            <a:avLst/>
          </a:prstGeom>
          <a:solidFill>
            <a:srgbClr val="980000"/>
          </a:solidFill>
          <a:ln>
            <a:noFill/>
          </a:ln>
        </p:spPr>
        <p:txBody>
          <a:bodyPr rtlCol="0" anchor="ctr" wrap="square" lIns="0" rIns="0" tIns="0" bIns="0"/>
          <a:lstStyle/>
          <a:p>
            <a:pPr algn="ctr" marL="0" indent="0">
              <a:spcAft>
                <a:spcPts val="200"/>
              </a:spcAft>
              <a:buNone/>
            </a:pPr>
            <a:r>
              <a:rPr sz="1000" b="1" i="0" lang="es-CL">
                <a:solidFill>
                  <a:srgbClr val="FFFFFF"/>
                </a:solidFill>
                <a:latin typeface="Inter"/>
                <a:ea typeface="Inter"/>
                <a:cs typeface="Inter"/>
              </a:rPr>
              <a:t>1</a:t>
            </a:r>
          </a:p>
        </p:txBody>
      </p:sp>
      <p:sp>
        <p:nvSpPr>
          <p:cNvPr id="6" name="TextBox 5"/>
          <p:cNvSpPr txBox="1"/>
          <p:nvPr/>
        </p:nvSpPr>
        <p:spPr>
          <a:xfrm>
            <a:off x="832104" y="1106424"/>
            <a:ext cx="1078992" cy="384048"/>
          </a:xfrm>
          <a:prstGeom prst="rect">
            <a:avLst/>
          </a:prstGeom>
          <a:noFill/>
        </p:spPr>
        <p:txBody>
          <a:bodyPr wrap="square" lIns="36576" rIns="36576" tIns="36576" bIns="36576" anchor="ctr"/>
          <a:lstStyle/>
          <a:p>
            <a:pPr algn="l" marL="0" indent="0">
              <a:spcAft>
                <a:spcPts val="400"/>
              </a:spcAft>
              <a:buNone/>
            </a:pPr>
            <a:r>
              <a:rPr sz="950" b="1" i="0" lang="es-CL">
                <a:solidFill>
                  <a:srgbClr val="980000"/>
                </a:solidFill>
                <a:latin typeface="Inter"/>
                <a:ea typeface="Inter"/>
                <a:cs typeface="Inter"/>
              </a:rPr>
              <a:t>Secretos</a:t>
            </a:r>
          </a:p>
        </p:txBody>
      </p:sp>
      <p:sp>
        <p:nvSpPr>
          <p:cNvPr id="7" name="TextBox 6"/>
          <p:cNvSpPr txBox="1"/>
          <p:nvPr/>
        </p:nvSpPr>
        <p:spPr>
          <a:xfrm>
            <a:off x="484632" y="1508760"/>
            <a:ext cx="1408176" cy="548640"/>
          </a:xfrm>
          <a:prstGeom prst="rect">
            <a:avLst/>
          </a:prstGeom>
          <a:noFill/>
        </p:spPr>
        <p:txBody>
          <a:bodyPr wrap="square" lIns="36576" rIns="36576" tIns="36576" bIns="36576" anchor="t"/>
          <a:lstStyle/>
          <a:p>
            <a:pPr algn="l" marL="0" indent="0">
              <a:spcAft>
                <a:spcPts val="400"/>
              </a:spcAft>
              <a:buNone/>
            </a:pPr>
            <a:r>
              <a:rPr sz="850" b="0" i="0" lang="es-CL">
                <a:solidFill>
                  <a:srgbClr val="1F2328"/>
                </a:solidFill>
                <a:latin typeface="Inter"/>
                <a:ea typeface="Inter"/>
                <a:cs typeface="Inter"/>
              </a:rPr>
              <a:t>gitleaks sobre todo el historial</a:t>
            </a:r>
          </a:p>
        </p:txBody>
      </p:sp>
      <p:cxnSp>
        <p:nvCxnSpPr>
          <p:cNvPr id="8" name="Connector 7"/>
          <p:cNvCxnSpPr/>
          <p:nvPr/>
        </p:nvCxnSpPr>
        <p:spPr>
          <a:xfrm>
            <a:off x="1956815" y="1563624"/>
            <a:ext cx="141733" cy="0"/>
          </a:xfrm>
          <a:prstGeom prst="line">
            <a:avLst/>
          </a:prstGeom>
          <a:ln w="19050">
            <a:solidFill>
              <a:srgbClr val="8C959F"/>
            </a:solidFill>
            <a:tailEnd type="triangle" w="med" len="med"/>
          </a:ln>
        </p:spPr>
      </p:cxnSp>
      <p:sp>
        <p:nvSpPr>
          <p:cNvPr id="9" name="Rounded Rectangle 8"/>
          <p:cNvSpPr/>
          <p:nvPr/>
        </p:nvSpPr>
        <p:spPr>
          <a:xfrm>
            <a:off x="2107692" y="1051560"/>
            <a:ext cx="1536192" cy="1024128"/>
          </a:xfrm>
          <a:prstGeom prst="roundRect">
            <a:avLst>
              <a:gd name="adj" fmla="val 7142"/>
            </a:avLst>
          </a:prstGeom>
          <a:solidFill>
            <a:srgbClr val="EDF1F3"/>
          </a:solidFill>
          <a:ln>
            <a:noFill/>
          </a:ln>
        </p:spPr>
        <p:txBody>
          <a:bodyPr rtlCol="0" anchor="ctr" wrap="square" lIns="54864" rIns="54864" tIns="54864" bIns="54864"/>
          <a:lstStyle/>
          <a:p>
            <a:pPr algn="ctr"/>
          </a:p>
        </p:txBody>
      </p:sp>
      <p:sp>
        <p:nvSpPr>
          <p:cNvPr id="10" name="Oval 9"/>
          <p:cNvSpPr/>
          <p:nvPr/>
        </p:nvSpPr>
        <p:spPr>
          <a:xfrm>
            <a:off x="2180844" y="1124712"/>
            <a:ext cx="310896" cy="310896"/>
          </a:xfrm>
          <a:prstGeom prst="ellipse">
            <a:avLst/>
          </a:prstGeom>
          <a:solidFill>
            <a:srgbClr val="003D4F"/>
          </a:solidFill>
          <a:ln>
            <a:noFill/>
          </a:ln>
        </p:spPr>
        <p:txBody>
          <a:bodyPr rtlCol="0" anchor="ctr" wrap="square" lIns="0" rIns="0" tIns="0" bIns="0"/>
          <a:lstStyle/>
          <a:p>
            <a:pPr algn="ctr" marL="0" indent="0">
              <a:spcAft>
                <a:spcPts val="200"/>
              </a:spcAft>
              <a:buNone/>
            </a:pPr>
            <a:r>
              <a:rPr sz="1000" b="1" i="0" lang="es-CL">
                <a:solidFill>
                  <a:srgbClr val="FFFFFF"/>
                </a:solidFill>
                <a:latin typeface="Inter"/>
                <a:ea typeface="Inter"/>
                <a:cs typeface="Inter"/>
              </a:rPr>
              <a:t>2</a:t>
            </a:r>
          </a:p>
        </p:txBody>
      </p:sp>
      <p:sp>
        <p:nvSpPr>
          <p:cNvPr id="11" name="TextBox 10"/>
          <p:cNvSpPr txBox="1"/>
          <p:nvPr/>
        </p:nvSpPr>
        <p:spPr>
          <a:xfrm>
            <a:off x="2528316" y="1106424"/>
            <a:ext cx="1078992" cy="384048"/>
          </a:xfrm>
          <a:prstGeom prst="rect">
            <a:avLst/>
          </a:prstGeom>
          <a:noFill/>
        </p:spPr>
        <p:txBody>
          <a:bodyPr wrap="square" lIns="36576" rIns="36576" tIns="36576" bIns="36576" anchor="ctr"/>
          <a:lstStyle/>
          <a:p>
            <a:pPr algn="l" marL="0" indent="0">
              <a:spcAft>
                <a:spcPts val="400"/>
              </a:spcAft>
              <a:buNone/>
            </a:pPr>
            <a:r>
              <a:rPr sz="950" b="1" i="0" lang="es-CL">
                <a:solidFill>
                  <a:srgbClr val="003D4F"/>
                </a:solidFill>
                <a:latin typeface="Inter"/>
                <a:ea typeface="Inter"/>
                <a:cs typeface="Inter"/>
              </a:rPr>
              <a:t>Calidad y spec</a:t>
            </a:r>
          </a:p>
        </p:txBody>
      </p:sp>
      <p:sp>
        <p:nvSpPr>
          <p:cNvPr id="12" name="TextBox 11"/>
          <p:cNvSpPr txBox="1"/>
          <p:nvPr/>
        </p:nvSpPr>
        <p:spPr>
          <a:xfrm>
            <a:off x="2180844" y="1508760"/>
            <a:ext cx="1408176" cy="548640"/>
          </a:xfrm>
          <a:prstGeom prst="rect">
            <a:avLst/>
          </a:prstGeom>
          <a:noFill/>
        </p:spPr>
        <p:txBody>
          <a:bodyPr wrap="square" lIns="36576" rIns="36576" tIns="36576" bIns="36576" anchor="t"/>
          <a:lstStyle/>
          <a:p>
            <a:pPr algn="l" marL="0" indent="0">
              <a:spcAft>
                <a:spcPts val="400"/>
              </a:spcAft>
              <a:buNone/>
            </a:pPr>
            <a:r>
              <a:rPr sz="850" b="0" i="0" lang="es-CL">
                <a:solidFill>
                  <a:srgbClr val="1F2328"/>
                </a:solidFill>
                <a:latin typeface="Inter"/>
                <a:ea typeface="Inter"/>
                <a:cs typeface="Inter"/>
              </a:rPr>
              <a:t>lint, tipos, arquitectura, Spectral, oasdiff, spec-trace, hadolint, zizmor</a:t>
            </a:r>
          </a:p>
        </p:txBody>
      </p:sp>
      <p:cxnSp>
        <p:nvCxnSpPr>
          <p:cNvPr id="13" name="Connector 12"/>
          <p:cNvCxnSpPr/>
          <p:nvPr/>
        </p:nvCxnSpPr>
        <p:spPr>
          <a:xfrm>
            <a:off x="3653028" y="1563624"/>
            <a:ext cx="141732" cy="0"/>
          </a:xfrm>
          <a:prstGeom prst="line">
            <a:avLst/>
          </a:prstGeom>
          <a:ln w="19050">
            <a:solidFill>
              <a:srgbClr val="8C959F"/>
            </a:solidFill>
            <a:tailEnd type="triangle" w="med" len="med"/>
          </a:ln>
        </p:spPr>
      </p:cxnSp>
      <p:sp>
        <p:nvSpPr>
          <p:cNvPr id="14" name="Rounded Rectangle 13"/>
          <p:cNvSpPr/>
          <p:nvPr/>
        </p:nvSpPr>
        <p:spPr>
          <a:xfrm>
            <a:off x="3803904" y="1051560"/>
            <a:ext cx="1536192" cy="1024128"/>
          </a:xfrm>
          <a:prstGeom prst="roundRect">
            <a:avLst>
              <a:gd name="adj" fmla="val 7142"/>
            </a:avLst>
          </a:prstGeom>
          <a:solidFill>
            <a:srgbClr val="EDF1F3"/>
          </a:solidFill>
          <a:ln>
            <a:noFill/>
          </a:ln>
        </p:spPr>
        <p:txBody>
          <a:bodyPr rtlCol="0" anchor="ctr" wrap="square" lIns="54864" rIns="54864" tIns="54864" bIns="54864"/>
          <a:lstStyle/>
          <a:p>
            <a:pPr algn="ctr"/>
          </a:p>
        </p:txBody>
      </p:sp>
      <p:sp>
        <p:nvSpPr>
          <p:cNvPr id="15" name="Oval 14"/>
          <p:cNvSpPr/>
          <p:nvPr/>
        </p:nvSpPr>
        <p:spPr>
          <a:xfrm>
            <a:off x="3877056" y="1124712"/>
            <a:ext cx="310896" cy="310896"/>
          </a:xfrm>
          <a:prstGeom prst="ellipse">
            <a:avLst/>
          </a:prstGeom>
          <a:solidFill>
            <a:srgbClr val="980000"/>
          </a:solidFill>
          <a:ln>
            <a:noFill/>
          </a:ln>
        </p:spPr>
        <p:txBody>
          <a:bodyPr rtlCol="0" anchor="ctr" wrap="square" lIns="0" rIns="0" tIns="0" bIns="0"/>
          <a:lstStyle/>
          <a:p>
            <a:pPr algn="ctr" marL="0" indent="0">
              <a:spcAft>
                <a:spcPts val="200"/>
              </a:spcAft>
              <a:buNone/>
            </a:pPr>
            <a:r>
              <a:rPr sz="1000" b="1" i="0" lang="es-CL">
                <a:solidFill>
                  <a:srgbClr val="FFFFFF"/>
                </a:solidFill>
                <a:latin typeface="Inter"/>
                <a:ea typeface="Inter"/>
                <a:cs typeface="Inter"/>
              </a:rPr>
              <a:t>3</a:t>
            </a:r>
          </a:p>
        </p:txBody>
      </p:sp>
      <p:sp>
        <p:nvSpPr>
          <p:cNvPr id="16" name="TextBox 15"/>
          <p:cNvSpPr txBox="1"/>
          <p:nvPr/>
        </p:nvSpPr>
        <p:spPr>
          <a:xfrm>
            <a:off x="4224528" y="1106424"/>
            <a:ext cx="1078992" cy="384048"/>
          </a:xfrm>
          <a:prstGeom prst="rect">
            <a:avLst/>
          </a:prstGeom>
          <a:noFill/>
        </p:spPr>
        <p:txBody>
          <a:bodyPr wrap="square" lIns="36576" rIns="36576" tIns="36576" bIns="36576" anchor="ctr"/>
          <a:lstStyle/>
          <a:p>
            <a:pPr algn="l" marL="0" indent="0">
              <a:spcAft>
                <a:spcPts val="400"/>
              </a:spcAft>
              <a:buNone/>
            </a:pPr>
            <a:r>
              <a:rPr sz="950" b="1" i="0" lang="es-CL">
                <a:solidFill>
                  <a:srgbClr val="980000"/>
                </a:solidFill>
                <a:latin typeface="Inter"/>
                <a:ea typeface="Inter"/>
                <a:cs typeface="Inter"/>
              </a:rPr>
              <a:t>SAST</a:t>
            </a:r>
          </a:p>
        </p:txBody>
      </p:sp>
      <p:sp>
        <p:nvSpPr>
          <p:cNvPr id="17" name="TextBox 16"/>
          <p:cNvSpPr txBox="1"/>
          <p:nvPr/>
        </p:nvSpPr>
        <p:spPr>
          <a:xfrm>
            <a:off x="3877056" y="1508760"/>
            <a:ext cx="1408176" cy="548640"/>
          </a:xfrm>
          <a:prstGeom prst="rect">
            <a:avLst/>
          </a:prstGeom>
          <a:noFill/>
        </p:spPr>
        <p:txBody>
          <a:bodyPr wrap="square" lIns="36576" rIns="36576" tIns="36576" bIns="36576" anchor="t"/>
          <a:lstStyle/>
          <a:p>
            <a:pPr algn="l" marL="0" indent="0">
              <a:spcAft>
                <a:spcPts val="400"/>
              </a:spcAft>
              <a:buNone/>
            </a:pPr>
            <a:r>
              <a:rPr sz="850" b="0" i="0" lang="es-CL">
                <a:solidFill>
                  <a:srgbClr val="1F2328"/>
                </a:solidFill>
                <a:latin typeface="Inter"/>
                <a:ea typeface="Inter"/>
                <a:cs typeface="Inter"/>
              </a:rPr>
              <a:t>Semgrep (reglas propias) y CodeQL</a:t>
            </a:r>
          </a:p>
        </p:txBody>
      </p:sp>
      <p:cxnSp>
        <p:nvCxnSpPr>
          <p:cNvPr id="18" name="Connector 17"/>
          <p:cNvCxnSpPr/>
          <p:nvPr/>
        </p:nvCxnSpPr>
        <p:spPr>
          <a:xfrm>
            <a:off x="5349240" y="1563624"/>
            <a:ext cx="141732" cy="0"/>
          </a:xfrm>
          <a:prstGeom prst="line">
            <a:avLst/>
          </a:prstGeom>
          <a:ln w="19050">
            <a:solidFill>
              <a:srgbClr val="8C959F"/>
            </a:solidFill>
            <a:tailEnd type="triangle" w="med" len="med"/>
          </a:ln>
        </p:spPr>
      </p:cxnSp>
      <p:sp>
        <p:nvSpPr>
          <p:cNvPr id="19" name="Rounded Rectangle 18"/>
          <p:cNvSpPr/>
          <p:nvPr/>
        </p:nvSpPr>
        <p:spPr>
          <a:xfrm>
            <a:off x="5500116" y="1051560"/>
            <a:ext cx="1536192" cy="1024128"/>
          </a:xfrm>
          <a:prstGeom prst="roundRect">
            <a:avLst>
              <a:gd name="adj" fmla="val 7142"/>
            </a:avLst>
          </a:prstGeom>
          <a:solidFill>
            <a:srgbClr val="EDF1F3"/>
          </a:solidFill>
          <a:ln>
            <a:noFill/>
          </a:ln>
        </p:spPr>
        <p:txBody>
          <a:bodyPr rtlCol="0" anchor="ctr" wrap="square" lIns="54864" rIns="54864" tIns="54864" bIns="54864"/>
          <a:lstStyle/>
          <a:p>
            <a:pPr algn="ctr"/>
          </a:p>
        </p:txBody>
      </p:sp>
      <p:sp>
        <p:nvSpPr>
          <p:cNvPr id="20" name="Oval 19"/>
          <p:cNvSpPr/>
          <p:nvPr/>
        </p:nvSpPr>
        <p:spPr>
          <a:xfrm>
            <a:off x="5573268" y="1124712"/>
            <a:ext cx="310896" cy="310896"/>
          </a:xfrm>
          <a:prstGeom prst="ellipse">
            <a:avLst/>
          </a:prstGeom>
          <a:solidFill>
            <a:srgbClr val="980000"/>
          </a:solidFill>
          <a:ln>
            <a:noFill/>
          </a:ln>
        </p:spPr>
        <p:txBody>
          <a:bodyPr rtlCol="0" anchor="ctr" wrap="square" lIns="0" rIns="0" tIns="0" bIns="0"/>
          <a:lstStyle/>
          <a:p>
            <a:pPr algn="ctr" marL="0" indent="0">
              <a:spcAft>
                <a:spcPts val="200"/>
              </a:spcAft>
              <a:buNone/>
            </a:pPr>
            <a:r>
              <a:rPr sz="1000" b="1" i="0" lang="es-CL">
                <a:solidFill>
                  <a:srgbClr val="FFFFFF"/>
                </a:solidFill>
                <a:latin typeface="Inter"/>
                <a:ea typeface="Inter"/>
                <a:cs typeface="Inter"/>
              </a:rPr>
              <a:t>4</a:t>
            </a:r>
          </a:p>
        </p:txBody>
      </p:sp>
      <p:sp>
        <p:nvSpPr>
          <p:cNvPr id="21" name="TextBox 20"/>
          <p:cNvSpPr txBox="1"/>
          <p:nvPr/>
        </p:nvSpPr>
        <p:spPr>
          <a:xfrm>
            <a:off x="5920740" y="1106424"/>
            <a:ext cx="1078992" cy="384048"/>
          </a:xfrm>
          <a:prstGeom prst="rect">
            <a:avLst/>
          </a:prstGeom>
          <a:noFill/>
        </p:spPr>
        <p:txBody>
          <a:bodyPr wrap="square" lIns="36576" rIns="36576" tIns="36576" bIns="36576" anchor="ctr"/>
          <a:lstStyle/>
          <a:p>
            <a:pPr algn="l" marL="0" indent="0">
              <a:spcAft>
                <a:spcPts val="400"/>
              </a:spcAft>
              <a:buNone/>
            </a:pPr>
            <a:r>
              <a:rPr sz="950" b="1" i="0" lang="es-CL">
                <a:solidFill>
                  <a:srgbClr val="980000"/>
                </a:solidFill>
                <a:latin typeface="Inter"/>
                <a:ea typeface="Inter"/>
                <a:cs typeface="Inter"/>
              </a:rPr>
              <a:t>Dependencias</a:t>
            </a:r>
          </a:p>
        </p:txBody>
      </p:sp>
      <p:sp>
        <p:nvSpPr>
          <p:cNvPr id="22" name="TextBox 21"/>
          <p:cNvSpPr txBox="1"/>
          <p:nvPr/>
        </p:nvSpPr>
        <p:spPr>
          <a:xfrm>
            <a:off x="5573268" y="1508760"/>
            <a:ext cx="1408176" cy="548640"/>
          </a:xfrm>
          <a:prstGeom prst="rect">
            <a:avLst/>
          </a:prstGeom>
          <a:noFill/>
        </p:spPr>
        <p:txBody>
          <a:bodyPr wrap="square" lIns="36576" rIns="36576" tIns="36576" bIns="36576" anchor="t"/>
          <a:lstStyle/>
          <a:p>
            <a:pPr algn="l" marL="0" indent="0">
              <a:spcAft>
                <a:spcPts val="400"/>
              </a:spcAft>
              <a:buNone/>
            </a:pPr>
            <a:r>
              <a:rPr sz="850" b="0" i="0" lang="es-CL">
                <a:solidFill>
                  <a:srgbClr val="1F2328"/>
                </a:solidFill>
                <a:latin typeface="Inter"/>
                <a:ea typeface="Inter"/>
                <a:cs typeface="Inter"/>
              </a:rPr>
              <a:t>dependency review, npm audit, Trivy fs</a:t>
            </a:r>
          </a:p>
        </p:txBody>
      </p:sp>
      <p:cxnSp>
        <p:nvCxnSpPr>
          <p:cNvPr id="23" name="Connector 22"/>
          <p:cNvCxnSpPr/>
          <p:nvPr/>
        </p:nvCxnSpPr>
        <p:spPr>
          <a:xfrm>
            <a:off x="7045451" y="1563624"/>
            <a:ext cx="141732" cy="0"/>
          </a:xfrm>
          <a:prstGeom prst="line">
            <a:avLst/>
          </a:prstGeom>
          <a:ln w="19050">
            <a:solidFill>
              <a:srgbClr val="8C959F"/>
            </a:solidFill>
            <a:tailEnd type="triangle" w="med" len="med"/>
          </a:ln>
        </p:spPr>
      </p:cxnSp>
      <p:sp>
        <p:nvSpPr>
          <p:cNvPr id="24" name="Rounded Rectangle 23"/>
          <p:cNvSpPr/>
          <p:nvPr/>
        </p:nvSpPr>
        <p:spPr>
          <a:xfrm>
            <a:off x="7196328" y="1051560"/>
            <a:ext cx="1536192" cy="1024128"/>
          </a:xfrm>
          <a:prstGeom prst="roundRect">
            <a:avLst>
              <a:gd name="adj" fmla="val 7142"/>
            </a:avLst>
          </a:prstGeom>
          <a:solidFill>
            <a:srgbClr val="EDF1F3"/>
          </a:solidFill>
          <a:ln>
            <a:noFill/>
          </a:ln>
        </p:spPr>
        <p:txBody>
          <a:bodyPr rtlCol="0" anchor="ctr" wrap="square" lIns="54864" rIns="54864" tIns="54864" bIns="54864"/>
          <a:lstStyle/>
          <a:p>
            <a:pPr algn="ctr"/>
          </a:p>
        </p:txBody>
      </p:sp>
      <p:sp>
        <p:nvSpPr>
          <p:cNvPr id="25" name="Oval 24"/>
          <p:cNvSpPr/>
          <p:nvPr/>
        </p:nvSpPr>
        <p:spPr>
          <a:xfrm>
            <a:off x="7269480" y="1124712"/>
            <a:ext cx="310896" cy="310896"/>
          </a:xfrm>
          <a:prstGeom prst="ellipse">
            <a:avLst/>
          </a:prstGeom>
          <a:solidFill>
            <a:srgbClr val="38761D"/>
          </a:solidFill>
          <a:ln>
            <a:noFill/>
          </a:ln>
        </p:spPr>
        <p:txBody>
          <a:bodyPr rtlCol="0" anchor="ctr" wrap="square" lIns="0" rIns="0" tIns="0" bIns="0"/>
          <a:lstStyle/>
          <a:p>
            <a:pPr algn="ctr" marL="0" indent="0">
              <a:spcAft>
                <a:spcPts val="200"/>
              </a:spcAft>
              <a:buNone/>
            </a:pPr>
            <a:r>
              <a:rPr sz="1000" b="1" i="0" lang="es-CL">
                <a:solidFill>
                  <a:srgbClr val="FFFFFF"/>
                </a:solidFill>
                <a:latin typeface="Inter"/>
                <a:ea typeface="Inter"/>
                <a:cs typeface="Inter"/>
              </a:rPr>
              <a:t>5</a:t>
            </a:r>
          </a:p>
        </p:txBody>
      </p:sp>
      <p:sp>
        <p:nvSpPr>
          <p:cNvPr id="26" name="TextBox 25"/>
          <p:cNvSpPr txBox="1"/>
          <p:nvPr/>
        </p:nvSpPr>
        <p:spPr>
          <a:xfrm>
            <a:off x="7616952" y="1106424"/>
            <a:ext cx="1078992" cy="384048"/>
          </a:xfrm>
          <a:prstGeom prst="rect">
            <a:avLst/>
          </a:prstGeom>
          <a:noFill/>
        </p:spPr>
        <p:txBody>
          <a:bodyPr wrap="square" lIns="36576" rIns="36576" tIns="36576" bIns="36576" anchor="ctr"/>
          <a:lstStyle/>
          <a:p>
            <a:pPr algn="l" marL="0" indent="0">
              <a:spcAft>
                <a:spcPts val="400"/>
              </a:spcAft>
              <a:buNone/>
            </a:pPr>
            <a:r>
              <a:rPr sz="950" b="1" i="0" lang="es-CL">
                <a:solidFill>
                  <a:srgbClr val="38761D"/>
                </a:solidFill>
                <a:latin typeface="Inter"/>
                <a:ea typeface="Inter"/>
                <a:cs typeface="Inter"/>
              </a:rPr>
              <a:t>Unit</a:t>
            </a:r>
          </a:p>
        </p:txBody>
      </p:sp>
      <p:sp>
        <p:nvSpPr>
          <p:cNvPr id="27" name="TextBox 26"/>
          <p:cNvSpPr txBox="1"/>
          <p:nvPr/>
        </p:nvSpPr>
        <p:spPr>
          <a:xfrm>
            <a:off x="7269480" y="1508760"/>
            <a:ext cx="1408176" cy="548640"/>
          </a:xfrm>
          <a:prstGeom prst="rect">
            <a:avLst/>
          </a:prstGeom>
          <a:noFill/>
        </p:spPr>
        <p:txBody>
          <a:bodyPr wrap="square" lIns="36576" rIns="36576" tIns="36576" bIns="36576" anchor="t"/>
          <a:lstStyle/>
          <a:p>
            <a:pPr algn="l" marL="0" indent="0">
              <a:spcAft>
                <a:spcPts val="400"/>
              </a:spcAft>
              <a:buNone/>
            </a:pPr>
            <a:r>
              <a:rPr sz="850" b="0" i="0" lang="es-CL">
                <a:solidFill>
                  <a:srgbClr val="1F2328"/>
                </a:solidFill>
                <a:latin typeface="Inter"/>
                <a:ea typeface="Inter"/>
                <a:cs typeface="Inter"/>
              </a:rPr>
              <a:t>dominio y aplicación sin mocks, componentes con MSW</a:t>
            </a:r>
          </a:p>
        </p:txBody>
      </p:sp>
      <p:sp>
        <p:nvSpPr>
          <p:cNvPr id="28" name="Rounded Rectangle 27"/>
          <p:cNvSpPr/>
          <p:nvPr/>
        </p:nvSpPr>
        <p:spPr>
          <a:xfrm>
            <a:off x="7196328" y="2423160"/>
            <a:ext cx="1536192" cy="1024128"/>
          </a:xfrm>
          <a:prstGeom prst="roundRect">
            <a:avLst>
              <a:gd name="adj" fmla="val 7142"/>
            </a:avLst>
          </a:prstGeom>
          <a:solidFill>
            <a:srgbClr val="EDF1F3"/>
          </a:solidFill>
          <a:ln>
            <a:noFill/>
          </a:ln>
        </p:spPr>
        <p:txBody>
          <a:bodyPr rtlCol="0" anchor="ctr" wrap="square" lIns="54864" rIns="54864" tIns="54864" bIns="54864"/>
          <a:lstStyle/>
          <a:p>
            <a:pPr algn="ctr"/>
          </a:p>
        </p:txBody>
      </p:sp>
      <p:sp>
        <p:nvSpPr>
          <p:cNvPr id="29" name="Oval 28"/>
          <p:cNvSpPr/>
          <p:nvPr/>
        </p:nvSpPr>
        <p:spPr>
          <a:xfrm>
            <a:off x="7269480" y="2496312"/>
            <a:ext cx="310896" cy="310896"/>
          </a:xfrm>
          <a:prstGeom prst="ellipse">
            <a:avLst/>
          </a:prstGeom>
          <a:solidFill>
            <a:srgbClr val="38761D"/>
          </a:solidFill>
          <a:ln>
            <a:noFill/>
          </a:ln>
        </p:spPr>
        <p:txBody>
          <a:bodyPr rtlCol="0" anchor="ctr" wrap="square" lIns="0" rIns="0" tIns="0" bIns="0"/>
          <a:lstStyle/>
          <a:p>
            <a:pPr algn="ctr" marL="0" indent="0">
              <a:spcAft>
                <a:spcPts val="200"/>
              </a:spcAft>
              <a:buNone/>
            </a:pPr>
            <a:r>
              <a:rPr sz="1000" b="1" i="0" lang="es-CL">
                <a:solidFill>
                  <a:srgbClr val="FFFFFF"/>
                </a:solidFill>
                <a:latin typeface="Inter"/>
                <a:ea typeface="Inter"/>
                <a:cs typeface="Inter"/>
              </a:rPr>
              <a:t>6</a:t>
            </a:r>
          </a:p>
        </p:txBody>
      </p:sp>
      <p:sp>
        <p:nvSpPr>
          <p:cNvPr id="30" name="TextBox 29"/>
          <p:cNvSpPr txBox="1"/>
          <p:nvPr/>
        </p:nvSpPr>
        <p:spPr>
          <a:xfrm>
            <a:off x="7616952" y="2478024"/>
            <a:ext cx="1078992" cy="384048"/>
          </a:xfrm>
          <a:prstGeom prst="rect">
            <a:avLst/>
          </a:prstGeom>
          <a:noFill/>
        </p:spPr>
        <p:txBody>
          <a:bodyPr wrap="square" lIns="36576" rIns="36576" tIns="36576" bIns="36576" anchor="ctr"/>
          <a:lstStyle/>
          <a:p>
            <a:pPr algn="l" marL="0" indent="0">
              <a:spcAft>
                <a:spcPts val="400"/>
              </a:spcAft>
              <a:buNone/>
            </a:pPr>
            <a:r>
              <a:rPr sz="950" b="1" i="0" lang="es-CL">
                <a:solidFill>
                  <a:srgbClr val="38761D"/>
                </a:solidFill>
                <a:latin typeface="Inter"/>
                <a:ea typeface="Inter"/>
                <a:cs typeface="Inter"/>
              </a:rPr>
              <a:t>Integración y contrato</a:t>
            </a:r>
          </a:p>
        </p:txBody>
      </p:sp>
      <p:sp>
        <p:nvSpPr>
          <p:cNvPr id="31" name="TextBox 30"/>
          <p:cNvSpPr txBox="1"/>
          <p:nvPr/>
        </p:nvSpPr>
        <p:spPr>
          <a:xfrm>
            <a:off x="7269480" y="2880360"/>
            <a:ext cx="1408176" cy="548640"/>
          </a:xfrm>
          <a:prstGeom prst="rect">
            <a:avLst/>
          </a:prstGeom>
          <a:noFill/>
        </p:spPr>
        <p:txBody>
          <a:bodyPr wrap="square" lIns="36576" rIns="36576" tIns="36576" bIns="36576" anchor="t"/>
          <a:lstStyle/>
          <a:p>
            <a:pPr algn="l" marL="0" indent="0">
              <a:spcAft>
                <a:spcPts val="400"/>
              </a:spcAft>
              <a:buNone/>
            </a:pPr>
            <a:r>
              <a:rPr sz="850" b="0" i="0" lang="es-CL">
                <a:solidFill>
                  <a:srgbClr val="1F2328"/>
                </a:solidFill>
                <a:latin typeface="Inter"/>
                <a:ea typeface="Inter"/>
                <a:cs typeface="Inter"/>
              </a:rPr>
              <a:t>Testcontainers y supertest contra el OpenAPI</a:t>
            </a:r>
          </a:p>
        </p:txBody>
      </p:sp>
      <p:cxnSp>
        <p:nvCxnSpPr>
          <p:cNvPr id="32" name="Connector 31"/>
          <p:cNvCxnSpPr/>
          <p:nvPr/>
        </p:nvCxnSpPr>
        <p:spPr>
          <a:xfrm flipH="1">
            <a:off x="7045452" y="2935224"/>
            <a:ext cx="141732" cy="0"/>
          </a:xfrm>
          <a:prstGeom prst="line">
            <a:avLst/>
          </a:prstGeom>
          <a:ln w="19050">
            <a:solidFill>
              <a:srgbClr val="8C959F"/>
            </a:solidFill>
            <a:tailEnd type="triangle" w="med" len="med"/>
          </a:ln>
        </p:spPr>
      </p:cxnSp>
      <p:sp>
        <p:nvSpPr>
          <p:cNvPr id="33" name="Rounded Rectangle 32"/>
          <p:cNvSpPr/>
          <p:nvPr/>
        </p:nvSpPr>
        <p:spPr>
          <a:xfrm>
            <a:off x="5500116" y="2423160"/>
            <a:ext cx="1536192" cy="1024128"/>
          </a:xfrm>
          <a:prstGeom prst="roundRect">
            <a:avLst>
              <a:gd name="adj" fmla="val 7142"/>
            </a:avLst>
          </a:prstGeom>
          <a:solidFill>
            <a:srgbClr val="EDF1F3"/>
          </a:solidFill>
          <a:ln>
            <a:noFill/>
          </a:ln>
        </p:spPr>
        <p:txBody>
          <a:bodyPr rtlCol="0" anchor="ctr" wrap="square" lIns="54864" rIns="54864" tIns="54864" bIns="54864"/>
          <a:lstStyle/>
          <a:p>
            <a:pPr algn="ctr"/>
          </a:p>
        </p:txBody>
      </p:sp>
      <p:sp>
        <p:nvSpPr>
          <p:cNvPr id="34" name="Oval 33"/>
          <p:cNvSpPr/>
          <p:nvPr/>
        </p:nvSpPr>
        <p:spPr>
          <a:xfrm>
            <a:off x="5573268" y="2496312"/>
            <a:ext cx="310896" cy="310896"/>
          </a:xfrm>
          <a:prstGeom prst="ellipse">
            <a:avLst/>
          </a:prstGeom>
          <a:solidFill>
            <a:srgbClr val="38761D"/>
          </a:solidFill>
          <a:ln>
            <a:noFill/>
          </a:ln>
        </p:spPr>
        <p:txBody>
          <a:bodyPr rtlCol="0" anchor="ctr" wrap="square" lIns="0" rIns="0" tIns="0" bIns="0"/>
          <a:lstStyle/>
          <a:p>
            <a:pPr algn="ctr" marL="0" indent="0">
              <a:spcAft>
                <a:spcPts val="200"/>
              </a:spcAft>
              <a:buNone/>
            </a:pPr>
            <a:r>
              <a:rPr sz="1000" b="1" i="0" lang="es-CL">
                <a:solidFill>
                  <a:srgbClr val="FFFFFF"/>
                </a:solidFill>
                <a:latin typeface="Inter"/>
                <a:ea typeface="Inter"/>
                <a:cs typeface="Inter"/>
              </a:rPr>
              <a:t>7</a:t>
            </a:r>
          </a:p>
        </p:txBody>
      </p:sp>
      <p:sp>
        <p:nvSpPr>
          <p:cNvPr id="35" name="TextBox 34"/>
          <p:cNvSpPr txBox="1"/>
          <p:nvPr/>
        </p:nvSpPr>
        <p:spPr>
          <a:xfrm>
            <a:off x="5920740" y="2478024"/>
            <a:ext cx="1078992" cy="384048"/>
          </a:xfrm>
          <a:prstGeom prst="rect">
            <a:avLst/>
          </a:prstGeom>
          <a:noFill/>
        </p:spPr>
        <p:txBody>
          <a:bodyPr wrap="square" lIns="36576" rIns="36576" tIns="36576" bIns="36576" anchor="ctr"/>
          <a:lstStyle/>
          <a:p>
            <a:pPr algn="l" marL="0" indent="0">
              <a:spcAft>
                <a:spcPts val="400"/>
              </a:spcAft>
              <a:buNone/>
            </a:pPr>
            <a:r>
              <a:rPr sz="950" b="1" i="0" lang="es-CL">
                <a:solidFill>
                  <a:srgbClr val="38761D"/>
                </a:solidFill>
                <a:latin typeface="Inter"/>
                <a:ea typeface="Inter"/>
                <a:cs typeface="Inter"/>
              </a:rPr>
              <a:t>E2E con mock server</a:t>
            </a:r>
          </a:p>
        </p:txBody>
      </p:sp>
      <p:sp>
        <p:nvSpPr>
          <p:cNvPr id="36" name="TextBox 35"/>
          <p:cNvSpPr txBox="1"/>
          <p:nvPr/>
        </p:nvSpPr>
        <p:spPr>
          <a:xfrm>
            <a:off x="5573268" y="2880360"/>
            <a:ext cx="1408176" cy="548640"/>
          </a:xfrm>
          <a:prstGeom prst="rect">
            <a:avLst/>
          </a:prstGeom>
          <a:noFill/>
        </p:spPr>
        <p:txBody>
          <a:bodyPr wrap="square" lIns="36576" rIns="36576" tIns="36576" bIns="36576" anchor="t"/>
          <a:lstStyle/>
          <a:p>
            <a:pPr algn="l" marL="0" indent="0">
              <a:spcAft>
                <a:spcPts val="400"/>
              </a:spcAft>
              <a:buNone/>
            </a:pPr>
            <a:r>
              <a:rPr sz="850" b="0" i="0" lang="es-CL">
                <a:solidFill>
                  <a:srgbClr val="1F2328"/>
                </a:solidFill>
                <a:latin typeface="Inter"/>
                <a:ea typeface="Inter"/>
                <a:cs typeface="Inter"/>
              </a:rPr>
              <a:t>Playwright + MSW: flujos, visual, estilos, layout, a11y</a:t>
            </a:r>
          </a:p>
        </p:txBody>
      </p:sp>
      <p:cxnSp>
        <p:nvCxnSpPr>
          <p:cNvPr id="37" name="Connector 36"/>
          <p:cNvCxnSpPr/>
          <p:nvPr/>
        </p:nvCxnSpPr>
        <p:spPr>
          <a:xfrm flipH="1">
            <a:off x="5349240" y="2935224"/>
            <a:ext cx="141732" cy="0"/>
          </a:xfrm>
          <a:prstGeom prst="line">
            <a:avLst/>
          </a:prstGeom>
          <a:ln w="19050">
            <a:solidFill>
              <a:srgbClr val="8C959F"/>
            </a:solidFill>
            <a:tailEnd type="triangle" w="med" len="med"/>
          </a:ln>
        </p:spPr>
      </p:cxnSp>
      <p:sp>
        <p:nvSpPr>
          <p:cNvPr id="38" name="Rounded Rectangle 37"/>
          <p:cNvSpPr/>
          <p:nvPr/>
        </p:nvSpPr>
        <p:spPr>
          <a:xfrm>
            <a:off x="3803904" y="2423160"/>
            <a:ext cx="1536192" cy="1024128"/>
          </a:xfrm>
          <a:prstGeom prst="roundRect">
            <a:avLst>
              <a:gd name="adj" fmla="val 7142"/>
            </a:avLst>
          </a:prstGeom>
          <a:solidFill>
            <a:srgbClr val="EDF1F3"/>
          </a:solidFill>
          <a:ln>
            <a:noFill/>
          </a:ln>
        </p:spPr>
        <p:txBody>
          <a:bodyPr rtlCol="0" anchor="ctr" wrap="square" lIns="54864" rIns="54864" tIns="54864" bIns="54864"/>
          <a:lstStyle/>
          <a:p>
            <a:pPr algn="ctr"/>
          </a:p>
        </p:txBody>
      </p:sp>
      <p:sp>
        <p:nvSpPr>
          <p:cNvPr id="39" name="Oval 38"/>
          <p:cNvSpPr/>
          <p:nvPr/>
        </p:nvSpPr>
        <p:spPr>
          <a:xfrm>
            <a:off x="3877056" y="2496312"/>
            <a:ext cx="310896" cy="310896"/>
          </a:xfrm>
          <a:prstGeom prst="ellipse">
            <a:avLst/>
          </a:prstGeom>
          <a:solidFill>
            <a:srgbClr val="CC850A"/>
          </a:solidFill>
          <a:ln>
            <a:noFill/>
          </a:ln>
        </p:spPr>
        <p:txBody>
          <a:bodyPr rtlCol="0" anchor="ctr" wrap="square" lIns="0" rIns="0" tIns="0" bIns="0"/>
          <a:lstStyle/>
          <a:p>
            <a:pPr algn="ctr" marL="0" indent="0">
              <a:spcAft>
                <a:spcPts val="200"/>
              </a:spcAft>
              <a:buNone/>
            </a:pPr>
            <a:r>
              <a:rPr sz="1000" b="1" i="0" lang="es-CL">
                <a:solidFill>
                  <a:srgbClr val="FFFFFF"/>
                </a:solidFill>
                <a:latin typeface="Inter"/>
                <a:ea typeface="Inter"/>
                <a:cs typeface="Inter"/>
              </a:rPr>
              <a:t>8</a:t>
            </a:r>
          </a:p>
        </p:txBody>
      </p:sp>
      <p:sp>
        <p:nvSpPr>
          <p:cNvPr id="40" name="TextBox 39"/>
          <p:cNvSpPr txBox="1"/>
          <p:nvPr/>
        </p:nvSpPr>
        <p:spPr>
          <a:xfrm>
            <a:off x="4224528" y="2478024"/>
            <a:ext cx="1078992" cy="384048"/>
          </a:xfrm>
          <a:prstGeom prst="rect">
            <a:avLst/>
          </a:prstGeom>
          <a:noFill/>
        </p:spPr>
        <p:txBody>
          <a:bodyPr wrap="square" lIns="36576" rIns="36576" tIns="36576" bIns="36576" anchor="ctr"/>
          <a:lstStyle/>
          <a:p>
            <a:pPr algn="l" marL="0" indent="0">
              <a:spcAft>
                <a:spcPts val="400"/>
              </a:spcAft>
              <a:buNone/>
            </a:pPr>
            <a:r>
              <a:rPr sz="950" b="1" i="0" lang="es-CL">
                <a:solidFill>
                  <a:srgbClr val="CC850A"/>
                </a:solidFill>
                <a:latin typeface="Inter"/>
                <a:ea typeface="Inter"/>
                <a:cs typeface="Inter"/>
              </a:rPr>
              <a:t>Build e imágenes</a:t>
            </a:r>
          </a:p>
        </p:txBody>
      </p:sp>
      <p:sp>
        <p:nvSpPr>
          <p:cNvPr id="41" name="TextBox 40"/>
          <p:cNvSpPr txBox="1"/>
          <p:nvPr/>
        </p:nvSpPr>
        <p:spPr>
          <a:xfrm>
            <a:off x="3877056" y="2880360"/>
            <a:ext cx="1408176" cy="548640"/>
          </a:xfrm>
          <a:prstGeom prst="rect">
            <a:avLst/>
          </a:prstGeom>
          <a:noFill/>
        </p:spPr>
        <p:txBody>
          <a:bodyPr wrap="square" lIns="36576" rIns="36576" tIns="36576" bIns="36576" anchor="t"/>
          <a:lstStyle/>
          <a:p>
            <a:pPr algn="l" marL="0" indent="0">
              <a:spcAft>
                <a:spcPts val="400"/>
              </a:spcAft>
              <a:buNone/>
            </a:pPr>
            <a:r>
              <a:rPr sz="850" b="0" i="0" lang="es-CL">
                <a:solidFill>
                  <a:srgbClr val="1F2328"/>
                </a:solidFill>
                <a:latin typeface="Inter"/>
                <a:ea typeface="Inter"/>
                <a:cs typeface="Inter"/>
              </a:rPr>
              <a:t>docker build, Trivy image, SBOM</a:t>
            </a:r>
          </a:p>
        </p:txBody>
      </p:sp>
      <p:cxnSp>
        <p:nvCxnSpPr>
          <p:cNvPr id="42" name="Connector 41"/>
          <p:cNvCxnSpPr/>
          <p:nvPr/>
        </p:nvCxnSpPr>
        <p:spPr>
          <a:xfrm flipH="1">
            <a:off x="3653028" y="2935224"/>
            <a:ext cx="141732" cy="0"/>
          </a:xfrm>
          <a:prstGeom prst="line">
            <a:avLst/>
          </a:prstGeom>
          <a:ln w="19050">
            <a:solidFill>
              <a:srgbClr val="8C959F"/>
            </a:solidFill>
            <a:tailEnd type="triangle" w="med" len="med"/>
          </a:ln>
        </p:spPr>
      </p:cxnSp>
      <p:sp>
        <p:nvSpPr>
          <p:cNvPr id="43" name="Rounded Rectangle 42"/>
          <p:cNvSpPr/>
          <p:nvPr/>
        </p:nvSpPr>
        <p:spPr>
          <a:xfrm>
            <a:off x="2107692" y="2423160"/>
            <a:ext cx="1536192" cy="1024128"/>
          </a:xfrm>
          <a:prstGeom prst="roundRect">
            <a:avLst>
              <a:gd name="adj" fmla="val 7142"/>
            </a:avLst>
          </a:prstGeom>
          <a:solidFill>
            <a:srgbClr val="EDF1F3"/>
          </a:solidFill>
          <a:ln>
            <a:noFill/>
          </a:ln>
        </p:spPr>
        <p:txBody>
          <a:bodyPr rtlCol="0" anchor="ctr" wrap="square" lIns="54864" rIns="54864" tIns="54864" bIns="54864"/>
          <a:lstStyle/>
          <a:p>
            <a:pPr algn="ctr"/>
          </a:p>
        </p:txBody>
      </p:sp>
      <p:sp>
        <p:nvSpPr>
          <p:cNvPr id="44" name="Oval 43"/>
          <p:cNvSpPr/>
          <p:nvPr/>
        </p:nvSpPr>
        <p:spPr>
          <a:xfrm>
            <a:off x="2180844" y="2496312"/>
            <a:ext cx="310896" cy="310896"/>
          </a:xfrm>
          <a:prstGeom prst="ellipse">
            <a:avLst/>
          </a:prstGeom>
          <a:solidFill>
            <a:srgbClr val="980000"/>
          </a:solidFill>
          <a:ln>
            <a:noFill/>
          </a:ln>
        </p:spPr>
        <p:txBody>
          <a:bodyPr rtlCol="0" anchor="ctr" wrap="square" lIns="0" rIns="0" tIns="0" bIns="0"/>
          <a:lstStyle/>
          <a:p>
            <a:pPr algn="ctr" marL="0" indent="0">
              <a:spcAft>
                <a:spcPts val="200"/>
              </a:spcAft>
              <a:buNone/>
            </a:pPr>
            <a:r>
              <a:rPr sz="1000" b="1" i="0" lang="es-CL">
                <a:solidFill>
                  <a:srgbClr val="FFFFFF"/>
                </a:solidFill>
                <a:latin typeface="Inter"/>
                <a:ea typeface="Inter"/>
                <a:cs typeface="Inter"/>
              </a:rPr>
              <a:t>9</a:t>
            </a:r>
          </a:p>
        </p:txBody>
      </p:sp>
      <p:sp>
        <p:nvSpPr>
          <p:cNvPr id="45" name="TextBox 44"/>
          <p:cNvSpPr txBox="1"/>
          <p:nvPr/>
        </p:nvSpPr>
        <p:spPr>
          <a:xfrm>
            <a:off x="2528316" y="2478024"/>
            <a:ext cx="1078992" cy="384048"/>
          </a:xfrm>
          <a:prstGeom prst="rect">
            <a:avLst/>
          </a:prstGeom>
          <a:noFill/>
        </p:spPr>
        <p:txBody>
          <a:bodyPr wrap="square" lIns="36576" rIns="36576" tIns="36576" bIns="36576" anchor="ctr"/>
          <a:lstStyle/>
          <a:p>
            <a:pPr algn="l" marL="0" indent="0">
              <a:spcAft>
                <a:spcPts val="400"/>
              </a:spcAft>
              <a:buNone/>
            </a:pPr>
            <a:r>
              <a:rPr sz="950" b="1" i="0" lang="es-CL">
                <a:solidFill>
                  <a:srgbClr val="980000"/>
                </a:solidFill>
                <a:latin typeface="Inter"/>
                <a:ea typeface="Inter"/>
                <a:cs typeface="Inter"/>
              </a:rPr>
              <a:t>Sistema y DAST</a:t>
            </a:r>
          </a:p>
        </p:txBody>
      </p:sp>
      <p:sp>
        <p:nvSpPr>
          <p:cNvPr id="46" name="TextBox 45"/>
          <p:cNvSpPr txBox="1"/>
          <p:nvPr/>
        </p:nvSpPr>
        <p:spPr>
          <a:xfrm>
            <a:off x="2180844" y="2880360"/>
            <a:ext cx="1408176" cy="548640"/>
          </a:xfrm>
          <a:prstGeom prst="rect">
            <a:avLst/>
          </a:prstGeom>
          <a:noFill/>
        </p:spPr>
        <p:txBody>
          <a:bodyPr wrap="square" lIns="36576" rIns="36576" tIns="36576" bIns="36576" anchor="t"/>
          <a:lstStyle/>
          <a:p>
            <a:pPr algn="l" marL="0" indent="0">
              <a:spcAft>
                <a:spcPts val="400"/>
              </a:spcAft>
              <a:buNone/>
            </a:pPr>
            <a:r>
              <a:rPr sz="850" b="0" i="0" lang="es-CL">
                <a:solidFill>
                  <a:srgbClr val="1F2328"/>
                </a:solidFill>
                <a:latin typeface="Inter"/>
                <a:ea typeface="Inter"/>
                <a:cs typeface="Inter"/>
              </a:rPr>
              <a:t>smoke, Schemathesis, @smoke, k6, Lighthouse, ZAP</a:t>
            </a:r>
          </a:p>
        </p:txBody>
      </p:sp>
      <p:cxnSp>
        <p:nvCxnSpPr>
          <p:cNvPr id="47" name="Connector 46"/>
          <p:cNvCxnSpPr/>
          <p:nvPr/>
        </p:nvCxnSpPr>
        <p:spPr>
          <a:xfrm flipH="1">
            <a:off x="1956816" y="2935224"/>
            <a:ext cx="141732" cy="0"/>
          </a:xfrm>
          <a:prstGeom prst="line">
            <a:avLst/>
          </a:prstGeom>
          <a:ln w="19050">
            <a:solidFill>
              <a:srgbClr val="8C959F"/>
            </a:solidFill>
            <a:tailEnd type="triangle" w="med" len="med"/>
          </a:ln>
        </p:spPr>
      </p:cxnSp>
      <p:sp>
        <p:nvSpPr>
          <p:cNvPr id="48" name="Rounded Rectangle 47"/>
          <p:cNvSpPr/>
          <p:nvPr/>
        </p:nvSpPr>
        <p:spPr>
          <a:xfrm>
            <a:off x="411480" y="2423160"/>
            <a:ext cx="1536192" cy="1024128"/>
          </a:xfrm>
          <a:prstGeom prst="roundRect">
            <a:avLst>
              <a:gd name="adj" fmla="val 7142"/>
            </a:avLst>
          </a:prstGeom>
          <a:solidFill>
            <a:srgbClr val="EDF1F3"/>
          </a:solidFill>
          <a:ln>
            <a:noFill/>
          </a:ln>
        </p:spPr>
        <p:txBody>
          <a:bodyPr rtlCol="0" anchor="ctr" wrap="square" lIns="54864" rIns="54864" tIns="54864" bIns="54864"/>
          <a:lstStyle/>
          <a:p>
            <a:pPr algn="ctr"/>
          </a:p>
        </p:txBody>
      </p:sp>
      <p:sp>
        <p:nvSpPr>
          <p:cNvPr id="49" name="Oval 48"/>
          <p:cNvSpPr/>
          <p:nvPr/>
        </p:nvSpPr>
        <p:spPr>
          <a:xfrm>
            <a:off x="484632" y="2496312"/>
            <a:ext cx="310896" cy="310896"/>
          </a:xfrm>
          <a:prstGeom prst="ellipse">
            <a:avLst/>
          </a:prstGeom>
          <a:solidFill>
            <a:srgbClr val="634F7D"/>
          </a:solidFill>
          <a:ln>
            <a:noFill/>
          </a:ln>
        </p:spPr>
        <p:txBody>
          <a:bodyPr rtlCol="0" anchor="ctr" wrap="square" lIns="0" rIns="0" tIns="0" bIns="0"/>
          <a:lstStyle/>
          <a:p>
            <a:pPr algn="ctr" marL="0" indent="0">
              <a:spcAft>
                <a:spcPts val="200"/>
              </a:spcAft>
              <a:buNone/>
            </a:pPr>
            <a:r>
              <a:rPr sz="1000" b="1" i="0" lang="es-CL">
                <a:solidFill>
                  <a:srgbClr val="FFFFFF"/>
                </a:solidFill>
                <a:latin typeface="Inter"/>
                <a:ea typeface="Inter"/>
                <a:cs typeface="Inter"/>
              </a:rPr>
              <a:t>10</a:t>
            </a:r>
          </a:p>
        </p:txBody>
      </p:sp>
      <p:sp>
        <p:nvSpPr>
          <p:cNvPr id="50" name="TextBox 49"/>
          <p:cNvSpPr txBox="1"/>
          <p:nvPr/>
        </p:nvSpPr>
        <p:spPr>
          <a:xfrm>
            <a:off x="832104" y="2478024"/>
            <a:ext cx="1078992" cy="384048"/>
          </a:xfrm>
          <a:prstGeom prst="rect">
            <a:avLst/>
          </a:prstGeom>
          <a:noFill/>
        </p:spPr>
        <p:txBody>
          <a:bodyPr wrap="square" lIns="36576" rIns="36576" tIns="36576" bIns="36576" anchor="ctr"/>
          <a:lstStyle/>
          <a:p>
            <a:pPr algn="l" marL="0" indent="0">
              <a:spcAft>
                <a:spcPts val="400"/>
              </a:spcAft>
              <a:buNone/>
            </a:pPr>
            <a:r>
              <a:rPr sz="950" b="1" i="0" lang="es-CL">
                <a:solidFill>
                  <a:srgbClr val="634F7D"/>
                </a:solidFill>
                <a:latin typeface="Inter"/>
                <a:ea typeface="Inter"/>
                <a:cs typeface="Inter"/>
              </a:rPr>
              <a:t>Evidencia en el PR</a:t>
            </a:r>
          </a:p>
        </p:txBody>
      </p:sp>
      <p:sp>
        <p:nvSpPr>
          <p:cNvPr id="51" name="TextBox 50"/>
          <p:cNvSpPr txBox="1"/>
          <p:nvPr/>
        </p:nvSpPr>
        <p:spPr>
          <a:xfrm>
            <a:off x="484632" y="2880360"/>
            <a:ext cx="1408176" cy="548640"/>
          </a:xfrm>
          <a:prstGeom prst="rect">
            <a:avLst/>
          </a:prstGeom>
          <a:noFill/>
        </p:spPr>
        <p:txBody>
          <a:bodyPr wrap="square" lIns="36576" rIns="36576" tIns="36576" bIns="36576" anchor="t"/>
          <a:lstStyle/>
          <a:p>
            <a:pPr algn="l" marL="0" indent="0">
              <a:spcAft>
                <a:spcPts val="400"/>
              </a:spcAft>
              <a:buNone/>
            </a:pPr>
            <a:r>
              <a:rPr sz="850" b="0" i="0" lang="es-CL">
                <a:solidFill>
                  <a:srgbClr val="1F2328"/>
                </a:solidFill>
                <a:latin typeface="Inter"/>
                <a:ea typeface="Inter"/>
                <a:cs typeface="Inter"/>
              </a:rPr>
              <a:t>capturas, GIF, endpoints y seguridad</a:t>
            </a:r>
          </a:p>
        </p:txBody>
      </p:sp>
      <p:cxnSp>
        <p:nvCxnSpPr>
          <p:cNvPr id="52" name="Connector 51"/>
          <p:cNvCxnSpPr/>
          <p:nvPr/>
        </p:nvCxnSpPr>
        <p:spPr>
          <a:xfrm>
            <a:off x="7964424" y="2093976"/>
            <a:ext cx="0" cy="310896"/>
          </a:xfrm>
          <a:prstGeom prst="line">
            <a:avLst/>
          </a:prstGeom>
          <a:ln w="19050">
            <a:solidFill>
              <a:srgbClr val="8C959F"/>
            </a:solidFill>
            <a:tailEnd type="triangle" w="med" len="med"/>
          </a:ln>
        </p:spPr>
      </p:cxnSp>
      <p:sp>
        <p:nvSpPr>
          <p:cNvPr id="53" name="Rounded Rectangle 52"/>
          <p:cNvSpPr/>
          <p:nvPr/>
        </p:nvSpPr>
        <p:spPr>
          <a:xfrm>
            <a:off x="411480" y="3977639"/>
            <a:ext cx="8321040" cy="566928"/>
          </a:xfrm>
          <a:prstGeom prst="roundRect">
            <a:avLst>
              <a:gd name="adj" fmla="val 12903"/>
            </a:avLst>
          </a:prstGeom>
          <a:solidFill>
            <a:srgbClr val="FFFFFF"/>
          </a:solidFill>
          <a:ln w="15875">
            <a:solidFill>
              <a:srgbClr val="634F7D"/>
            </a:solidFill>
            <a:prstDash val="dash"/>
          </a:ln>
        </p:spPr>
        <p:txBody>
          <a:bodyPr rtlCol="0" anchor="ctr" wrap="square" lIns="54864" rIns="54864" tIns="54864" bIns="54864"/>
          <a:lstStyle/>
          <a:p>
            <a:pPr algn="ctr"/>
          </a:p>
        </p:txBody>
      </p:sp>
      <p:sp>
        <p:nvSpPr>
          <p:cNvPr id="54" name="TextBox 53"/>
          <p:cNvSpPr txBox="1"/>
          <p:nvPr/>
        </p:nvSpPr>
        <p:spPr>
          <a:xfrm>
            <a:off x="548640" y="3977639"/>
            <a:ext cx="1371600" cy="566928"/>
          </a:xfrm>
          <a:prstGeom prst="rect">
            <a:avLst/>
          </a:prstGeom>
          <a:noFill/>
        </p:spPr>
        <p:txBody>
          <a:bodyPr wrap="square" lIns="36576" rIns="36576" tIns="36576" bIns="36576" anchor="ctr"/>
          <a:lstStyle/>
          <a:p>
            <a:pPr algn="l" marL="0" indent="0">
              <a:spcAft>
                <a:spcPts val="400"/>
              </a:spcAft>
              <a:buNone/>
            </a:pPr>
            <a:r>
              <a:rPr sz="1100" b="1" i="0" lang="es-CL">
                <a:solidFill>
                  <a:srgbClr val="634F7D"/>
                </a:solidFill>
                <a:latin typeface="Inter"/>
                <a:ea typeface="Inter"/>
                <a:cs typeface="Inter"/>
              </a:rPr>
              <a:t>Nightly</a:t>
            </a:r>
          </a:p>
        </p:txBody>
      </p:sp>
      <p:sp>
        <p:nvSpPr>
          <p:cNvPr id="55" name="TextBox 54"/>
          <p:cNvSpPr txBox="1"/>
          <p:nvPr/>
        </p:nvSpPr>
        <p:spPr>
          <a:xfrm>
            <a:off x="1645920" y="3977639"/>
            <a:ext cx="6949440" cy="566928"/>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Mutación con Stryker (backend y frontend) · los mismos flujos en Firefox y WebKit · ZAP full scan (manual, opcional)</a:t>
            </a:r>
          </a:p>
        </p:txBody>
      </p:sp>
      <p:sp>
        <p:nvSpPr>
          <p:cNvPr id="56" name="Oval 55"/>
          <p:cNvSpPr/>
          <p:nvPr/>
        </p:nvSpPr>
        <p:spPr>
          <a:xfrm>
            <a:off x="548640" y="3630168"/>
            <a:ext cx="164592" cy="164592"/>
          </a:xfrm>
          <a:prstGeom prst="ellipse">
            <a:avLst/>
          </a:prstGeom>
          <a:solidFill>
            <a:srgbClr val="980000"/>
          </a:solidFill>
          <a:ln>
            <a:noFill/>
          </a:ln>
        </p:spPr>
        <p:txBody>
          <a:bodyPr rtlCol="0" anchor="ctr" wrap="square" lIns="54864" rIns="54864" tIns="54864" bIns="54864"/>
          <a:lstStyle/>
          <a:p>
            <a:pPr algn="ctr"/>
          </a:p>
        </p:txBody>
      </p:sp>
      <p:sp>
        <p:nvSpPr>
          <p:cNvPr id="57" name="TextBox 56"/>
          <p:cNvSpPr txBox="1"/>
          <p:nvPr/>
        </p:nvSpPr>
        <p:spPr>
          <a:xfrm>
            <a:off x="768096" y="3575304"/>
            <a:ext cx="1371600" cy="274320"/>
          </a:xfrm>
          <a:prstGeom prst="rect">
            <a:avLst/>
          </a:prstGeom>
          <a:noFill/>
        </p:spPr>
        <p:txBody>
          <a:bodyPr wrap="square" lIns="36576" rIns="36576" tIns="36576" bIns="36576" anchor="ctr"/>
          <a:lstStyle/>
          <a:p>
            <a:pPr algn="l" marL="0" indent="0">
              <a:spcAft>
                <a:spcPts val="400"/>
              </a:spcAft>
              <a:buNone/>
            </a:pPr>
            <a:r>
              <a:rPr sz="900" b="0" i="0" lang="es-CL">
                <a:solidFill>
                  <a:srgbClr val="57606A"/>
                </a:solidFill>
                <a:latin typeface="Inter"/>
                <a:ea typeface="Inter"/>
                <a:cs typeface="Inter"/>
              </a:rPr>
              <a:t>Seguridad</a:t>
            </a:r>
          </a:p>
        </p:txBody>
      </p:sp>
      <p:sp>
        <p:nvSpPr>
          <p:cNvPr id="58" name="Oval 57"/>
          <p:cNvSpPr/>
          <p:nvPr/>
        </p:nvSpPr>
        <p:spPr>
          <a:xfrm>
            <a:off x="2148840" y="3630168"/>
            <a:ext cx="164592" cy="164592"/>
          </a:xfrm>
          <a:prstGeom prst="ellipse">
            <a:avLst/>
          </a:prstGeom>
          <a:solidFill>
            <a:srgbClr val="003D4F"/>
          </a:solidFill>
          <a:ln>
            <a:noFill/>
          </a:ln>
        </p:spPr>
        <p:txBody>
          <a:bodyPr rtlCol="0" anchor="ctr" wrap="square" lIns="54864" rIns="54864" tIns="54864" bIns="54864"/>
          <a:lstStyle/>
          <a:p>
            <a:pPr algn="ctr"/>
          </a:p>
        </p:txBody>
      </p:sp>
      <p:sp>
        <p:nvSpPr>
          <p:cNvPr id="59" name="TextBox 58"/>
          <p:cNvSpPr txBox="1"/>
          <p:nvPr/>
        </p:nvSpPr>
        <p:spPr>
          <a:xfrm>
            <a:off x="2368296" y="3575304"/>
            <a:ext cx="1371600" cy="274320"/>
          </a:xfrm>
          <a:prstGeom prst="rect">
            <a:avLst/>
          </a:prstGeom>
          <a:noFill/>
        </p:spPr>
        <p:txBody>
          <a:bodyPr wrap="square" lIns="36576" rIns="36576" tIns="36576" bIns="36576" anchor="ctr"/>
          <a:lstStyle/>
          <a:p>
            <a:pPr algn="l" marL="0" indent="0">
              <a:spcAft>
                <a:spcPts val="400"/>
              </a:spcAft>
              <a:buNone/>
            </a:pPr>
            <a:r>
              <a:rPr sz="900" b="0" i="0" lang="es-CL">
                <a:solidFill>
                  <a:srgbClr val="57606A"/>
                </a:solidFill>
                <a:latin typeface="Inter"/>
                <a:ea typeface="Inter"/>
                <a:cs typeface="Inter"/>
              </a:rPr>
              <a:t>Calidad y spec</a:t>
            </a:r>
          </a:p>
        </p:txBody>
      </p:sp>
      <p:sp>
        <p:nvSpPr>
          <p:cNvPr id="60" name="Oval 59"/>
          <p:cNvSpPr/>
          <p:nvPr/>
        </p:nvSpPr>
        <p:spPr>
          <a:xfrm>
            <a:off x="3749039" y="3630168"/>
            <a:ext cx="164592" cy="164592"/>
          </a:xfrm>
          <a:prstGeom prst="ellipse">
            <a:avLst/>
          </a:prstGeom>
          <a:solidFill>
            <a:srgbClr val="38761D"/>
          </a:solidFill>
          <a:ln>
            <a:noFill/>
          </a:ln>
        </p:spPr>
        <p:txBody>
          <a:bodyPr rtlCol="0" anchor="ctr" wrap="square" lIns="54864" rIns="54864" tIns="54864" bIns="54864"/>
          <a:lstStyle/>
          <a:p>
            <a:pPr algn="ctr"/>
          </a:p>
        </p:txBody>
      </p:sp>
      <p:sp>
        <p:nvSpPr>
          <p:cNvPr id="61" name="TextBox 60"/>
          <p:cNvSpPr txBox="1"/>
          <p:nvPr/>
        </p:nvSpPr>
        <p:spPr>
          <a:xfrm>
            <a:off x="3968496" y="3575304"/>
            <a:ext cx="1371600" cy="274320"/>
          </a:xfrm>
          <a:prstGeom prst="rect">
            <a:avLst/>
          </a:prstGeom>
          <a:noFill/>
        </p:spPr>
        <p:txBody>
          <a:bodyPr wrap="square" lIns="36576" rIns="36576" tIns="36576" bIns="36576" anchor="ctr"/>
          <a:lstStyle/>
          <a:p>
            <a:pPr algn="l" marL="0" indent="0">
              <a:spcAft>
                <a:spcPts val="400"/>
              </a:spcAft>
              <a:buNone/>
            </a:pPr>
            <a:r>
              <a:rPr sz="900" b="0" i="0" lang="es-CL">
                <a:solidFill>
                  <a:srgbClr val="57606A"/>
                </a:solidFill>
                <a:latin typeface="Inter"/>
                <a:ea typeface="Inter"/>
                <a:cs typeface="Inter"/>
              </a:rPr>
              <a:t>Pruebas</a:t>
            </a:r>
          </a:p>
        </p:txBody>
      </p:sp>
      <p:sp>
        <p:nvSpPr>
          <p:cNvPr id="62" name="Oval 61"/>
          <p:cNvSpPr/>
          <p:nvPr/>
        </p:nvSpPr>
        <p:spPr>
          <a:xfrm>
            <a:off x="5349240" y="3630168"/>
            <a:ext cx="164592" cy="164592"/>
          </a:xfrm>
          <a:prstGeom prst="ellipse">
            <a:avLst/>
          </a:prstGeom>
          <a:solidFill>
            <a:srgbClr val="CC850A"/>
          </a:solidFill>
          <a:ln>
            <a:noFill/>
          </a:ln>
        </p:spPr>
        <p:txBody>
          <a:bodyPr rtlCol="0" anchor="ctr" wrap="square" lIns="54864" rIns="54864" tIns="54864" bIns="54864"/>
          <a:lstStyle/>
          <a:p>
            <a:pPr algn="ctr"/>
          </a:p>
        </p:txBody>
      </p:sp>
      <p:sp>
        <p:nvSpPr>
          <p:cNvPr id="63" name="TextBox 62"/>
          <p:cNvSpPr txBox="1"/>
          <p:nvPr/>
        </p:nvSpPr>
        <p:spPr>
          <a:xfrm>
            <a:off x="5568696" y="3575304"/>
            <a:ext cx="1371600" cy="274320"/>
          </a:xfrm>
          <a:prstGeom prst="rect">
            <a:avLst/>
          </a:prstGeom>
          <a:noFill/>
        </p:spPr>
        <p:txBody>
          <a:bodyPr wrap="square" lIns="36576" rIns="36576" tIns="36576" bIns="36576" anchor="ctr"/>
          <a:lstStyle/>
          <a:p>
            <a:pPr algn="l" marL="0" indent="0">
              <a:spcAft>
                <a:spcPts val="400"/>
              </a:spcAft>
              <a:buNone/>
            </a:pPr>
            <a:r>
              <a:rPr sz="900" b="0" i="0" lang="es-CL">
                <a:solidFill>
                  <a:srgbClr val="57606A"/>
                </a:solidFill>
                <a:latin typeface="Inter"/>
                <a:ea typeface="Inter"/>
                <a:cs typeface="Inter"/>
              </a:rPr>
              <a:t>Build</a:t>
            </a:r>
          </a:p>
        </p:txBody>
      </p:sp>
      <p:sp>
        <p:nvSpPr>
          <p:cNvPr id="64" name="Oval 63"/>
          <p:cNvSpPr/>
          <p:nvPr/>
        </p:nvSpPr>
        <p:spPr>
          <a:xfrm>
            <a:off x="6949440" y="3630168"/>
            <a:ext cx="164592" cy="164592"/>
          </a:xfrm>
          <a:prstGeom prst="ellipse">
            <a:avLst/>
          </a:prstGeom>
          <a:solidFill>
            <a:srgbClr val="634F7D"/>
          </a:solidFill>
          <a:ln>
            <a:noFill/>
          </a:ln>
        </p:spPr>
        <p:txBody>
          <a:bodyPr rtlCol="0" anchor="ctr" wrap="square" lIns="54864" rIns="54864" tIns="54864" bIns="54864"/>
          <a:lstStyle/>
          <a:p>
            <a:pPr algn="ctr"/>
          </a:p>
        </p:txBody>
      </p:sp>
      <p:sp>
        <p:nvSpPr>
          <p:cNvPr id="65" name="TextBox 64"/>
          <p:cNvSpPr txBox="1"/>
          <p:nvPr/>
        </p:nvSpPr>
        <p:spPr>
          <a:xfrm>
            <a:off x="7168896" y="3575304"/>
            <a:ext cx="1371600" cy="274320"/>
          </a:xfrm>
          <a:prstGeom prst="rect">
            <a:avLst/>
          </a:prstGeom>
          <a:noFill/>
        </p:spPr>
        <p:txBody>
          <a:bodyPr wrap="square" lIns="36576" rIns="36576" tIns="36576" bIns="36576" anchor="ctr"/>
          <a:lstStyle/>
          <a:p>
            <a:pPr algn="l" marL="0" indent="0">
              <a:spcAft>
                <a:spcPts val="400"/>
              </a:spcAft>
              <a:buNone/>
            </a:pPr>
            <a:r>
              <a:rPr sz="900" b="0" i="0" lang="es-CL">
                <a:solidFill>
                  <a:srgbClr val="57606A"/>
                </a:solidFill>
                <a:latin typeface="Inter"/>
                <a:ea typeface="Inter"/>
                <a:cs typeface="Inter"/>
              </a:rPr>
              <a:t>Evidencia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6</a:t>
            </a:r>
          </a:p>
          <a:p>
            <a:pPr algn="ctr">
              <a:spcAft>
                <a:spcPts val="1600"/>
              </a:spcAft>
            </a:pPr>
            <a:r>
              <a:rPr sz="3600" b="1" i="0" lang="es-CL">
                <a:solidFill>
                  <a:srgbClr val="4A86E8"/>
                </a:solidFill>
                <a:latin typeface="Bitter"/>
                <a:ea typeface="Bitter"/>
                <a:cs typeface="Bitter"/>
              </a:rPr>
              <a:t>Evidencia en el PR</a:t>
            </a:r>
          </a:p>
          <a:p>
            <a:pPr algn="ctr">
              <a:spcAft>
                <a:spcPts val="1400"/>
              </a:spcAft>
            </a:pPr>
            <a:r>
              <a:rPr sz="1500" b="0" i="0" lang="es-CL">
                <a:solidFill>
                  <a:srgbClr val="57606A"/>
                </a:solidFill>
                <a:latin typeface="Inter"/>
                <a:ea typeface="Inter"/>
                <a:cs typeface="Inter"/>
              </a:rPr>
              <a:t>Que el revisor vea lo que cambió sin descargar nada.</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Qué publica el pipeline en cada PR</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97280"/>
            <a:ext cx="1965960" cy="2057400"/>
          </a:xfrm>
          <a:prstGeom prst="roundRect">
            <a:avLst>
              <a:gd name="adj" fmla="val 4651"/>
            </a:avLst>
          </a:prstGeom>
          <a:solidFill>
            <a:srgbClr val="EDF1F3"/>
          </a:solidFill>
          <a:ln>
            <a:noFill/>
          </a:ln>
        </p:spPr>
        <p:txBody>
          <a:bodyPr rtlCol="0" anchor="ctr" wrap="square" lIns="54864" rIns="54864" tIns="54864" bIns="54864"/>
          <a:lstStyle/>
          <a:p>
            <a:pPr algn="ctr"/>
          </a:p>
        </p:txBody>
      </p:sp>
      <p:sp>
        <p:nvSpPr>
          <p:cNvPr id="5" name="Rounded Rectangle 4"/>
          <p:cNvSpPr/>
          <p:nvPr/>
        </p:nvSpPr>
        <p:spPr>
          <a:xfrm>
            <a:off x="548640" y="1234440"/>
            <a:ext cx="1691640" cy="384048"/>
          </a:xfrm>
          <a:prstGeom prst="roundRect">
            <a:avLst>
              <a:gd name="adj" fmla="val 19047"/>
            </a:avLst>
          </a:prstGeom>
          <a:solidFill>
            <a:srgbClr val="CC850A"/>
          </a:solidFill>
          <a:ln>
            <a:noFill/>
          </a:ln>
        </p:spPr>
        <p:txBody>
          <a:bodyPr rtlCol="0" anchor="ctr" wrap="square" lIns="54864" rIns="54864" tIns="54864" bIns="54864"/>
          <a:lstStyle/>
          <a:p>
            <a:pPr algn="ctr" marL="0" indent="0">
              <a:spcAft>
                <a:spcPts val="200"/>
              </a:spcAft>
              <a:buNone/>
            </a:pPr>
            <a:r>
              <a:rPr sz="1150" b="1" i="0" lang="es-CL">
                <a:solidFill>
                  <a:srgbClr val="FFFFFF"/>
                </a:solidFill>
                <a:latin typeface="Inter"/>
                <a:ea typeface="Inter"/>
                <a:cs typeface="Inter"/>
              </a:rPr>
              <a:t>Capturas</a:t>
            </a:r>
          </a:p>
        </p:txBody>
      </p:sp>
      <p:sp>
        <p:nvSpPr>
          <p:cNvPr id="6" name="TextBox 5"/>
          <p:cNvSpPr txBox="1"/>
          <p:nvPr/>
        </p:nvSpPr>
        <p:spPr>
          <a:xfrm>
            <a:off x="548640" y="1737360"/>
            <a:ext cx="1691640" cy="685800"/>
          </a:xfrm>
          <a:prstGeom prst="rect">
            <a:avLst/>
          </a:prstGeom>
          <a:noFill/>
        </p:spPr>
        <p:txBody>
          <a:bodyPr wrap="square" lIns="36576" rIns="36576" tIns="36576" bIns="36576" anchor="t"/>
          <a:lstStyle/>
          <a:p>
            <a:pPr algn="l" marL="0" indent="0">
              <a:spcAft>
                <a:spcPts val="400"/>
              </a:spcAft>
              <a:buNone/>
            </a:pPr>
            <a:r>
              <a:rPr sz="1050" b="0" i="0" lang="es-CL">
                <a:solidFill>
                  <a:srgbClr val="1F2328"/>
                </a:solidFill>
                <a:latin typeface="Inter"/>
                <a:ea typeface="Inter"/>
                <a:cs typeface="Inter"/>
              </a:rPr>
              <a:t>Una por paso de cada flujo E2E</a:t>
            </a:r>
          </a:p>
        </p:txBody>
      </p:sp>
      <p:sp>
        <p:nvSpPr>
          <p:cNvPr id="7" name="TextBox 6"/>
          <p:cNvSpPr txBox="1"/>
          <p:nvPr/>
        </p:nvSpPr>
        <p:spPr>
          <a:xfrm>
            <a:off x="548640" y="2468880"/>
            <a:ext cx="1691640" cy="594360"/>
          </a:xfrm>
          <a:prstGeom prst="rect">
            <a:avLst/>
          </a:prstGeom>
          <a:noFill/>
        </p:spPr>
        <p:txBody>
          <a:bodyPr wrap="square" lIns="36576" rIns="36576" tIns="36576" bIns="36576" anchor="t"/>
          <a:lstStyle/>
          <a:p>
            <a:pPr algn="l" marL="0" indent="0">
              <a:spcAft>
                <a:spcPts val="400"/>
              </a:spcAft>
              <a:buNone/>
            </a:pPr>
            <a:r>
              <a:rPr sz="850" b="0" i="0" lang="es-CL">
                <a:solidFill>
                  <a:srgbClr val="57606A"/>
                </a:solidFill>
                <a:latin typeface="Consolas"/>
                <a:ea typeface="Consolas"/>
                <a:cs typeface="Consolas"/>
              </a:rPr>
              <a:t>frontend/evidence/manifest.json</a:t>
            </a:r>
          </a:p>
        </p:txBody>
      </p:sp>
      <p:sp>
        <p:nvSpPr>
          <p:cNvPr id="8" name="Rounded Rectangle 7"/>
          <p:cNvSpPr/>
          <p:nvPr/>
        </p:nvSpPr>
        <p:spPr>
          <a:xfrm>
            <a:off x="2532888" y="1097280"/>
            <a:ext cx="1965960" cy="2057400"/>
          </a:xfrm>
          <a:prstGeom prst="roundRect">
            <a:avLst>
              <a:gd name="adj" fmla="val 4651"/>
            </a:avLst>
          </a:prstGeom>
          <a:solidFill>
            <a:srgbClr val="EDF1F3"/>
          </a:solidFill>
          <a:ln>
            <a:noFill/>
          </a:ln>
        </p:spPr>
        <p:txBody>
          <a:bodyPr rtlCol="0" anchor="ctr" wrap="square" lIns="54864" rIns="54864" tIns="54864" bIns="54864"/>
          <a:lstStyle/>
          <a:p>
            <a:pPr algn="ctr"/>
          </a:p>
        </p:txBody>
      </p:sp>
      <p:sp>
        <p:nvSpPr>
          <p:cNvPr id="9" name="Rounded Rectangle 8"/>
          <p:cNvSpPr/>
          <p:nvPr/>
        </p:nvSpPr>
        <p:spPr>
          <a:xfrm>
            <a:off x="2670048" y="1234440"/>
            <a:ext cx="1691640" cy="384048"/>
          </a:xfrm>
          <a:prstGeom prst="roundRect">
            <a:avLst>
              <a:gd name="adj" fmla="val 19047"/>
            </a:avLst>
          </a:prstGeom>
          <a:solidFill>
            <a:srgbClr val="47A1AD"/>
          </a:solidFill>
          <a:ln>
            <a:noFill/>
          </a:ln>
        </p:spPr>
        <p:txBody>
          <a:bodyPr rtlCol="0" anchor="ctr" wrap="square" lIns="54864" rIns="54864" tIns="54864" bIns="54864"/>
          <a:lstStyle/>
          <a:p>
            <a:pPr algn="ctr" marL="0" indent="0">
              <a:spcAft>
                <a:spcPts val="200"/>
              </a:spcAft>
              <a:buNone/>
            </a:pPr>
            <a:r>
              <a:rPr sz="1150" b="1" i="0" lang="es-CL">
                <a:solidFill>
                  <a:srgbClr val="FFFFFF"/>
                </a:solidFill>
                <a:latin typeface="Inter"/>
                <a:ea typeface="Inter"/>
                <a:cs typeface="Inter"/>
              </a:rPr>
              <a:t>Videos y GIF</a:t>
            </a:r>
          </a:p>
        </p:txBody>
      </p:sp>
      <p:sp>
        <p:nvSpPr>
          <p:cNvPr id="10" name="TextBox 9"/>
          <p:cNvSpPr txBox="1"/>
          <p:nvPr/>
        </p:nvSpPr>
        <p:spPr>
          <a:xfrm>
            <a:off x="2670048" y="1737360"/>
            <a:ext cx="1691640" cy="685800"/>
          </a:xfrm>
          <a:prstGeom prst="rect">
            <a:avLst/>
          </a:prstGeom>
          <a:noFill/>
        </p:spPr>
        <p:txBody>
          <a:bodyPr wrap="square" lIns="36576" rIns="36576" tIns="36576" bIns="36576" anchor="t"/>
          <a:lstStyle/>
          <a:p>
            <a:pPr algn="l" marL="0" indent="0">
              <a:spcAft>
                <a:spcPts val="400"/>
              </a:spcAft>
              <a:buNone/>
            </a:pPr>
            <a:r>
              <a:rPr sz="1050" b="0" i="0" lang="es-CL">
                <a:solidFill>
                  <a:srgbClr val="1F2328"/>
                </a:solidFill>
                <a:latin typeface="Inter"/>
                <a:ea typeface="Inter"/>
                <a:cs typeface="Inter"/>
              </a:rPr>
              <a:t>El recorrido del usuario de cada flujo</a:t>
            </a:r>
          </a:p>
        </p:txBody>
      </p:sp>
      <p:sp>
        <p:nvSpPr>
          <p:cNvPr id="11" name="TextBox 10"/>
          <p:cNvSpPr txBox="1"/>
          <p:nvPr/>
        </p:nvSpPr>
        <p:spPr>
          <a:xfrm>
            <a:off x="2670048" y="2468880"/>
            <a:ext cx="1691640" cy="594360"/>
          </a:xfrm>
          <a:prstGeom prst="rect">
            <a:avLst/>
          </a:prstGeom>
          <a:noFill/>
        </p:spPr>
        <p:txBody>
          <a:bodyPr wrap="square" lIns="36576" rIns="36576" tIns="36576" bIns="36576" anchor="t"/>
          <a:lstStyle/>
          <a:p>
            <a:pPr algn="l" marL="0" indent="0">
              <a:spcAft>
                <a:spcPts val="400"/>
              </a:spcAft>
              <a:buNone/>
            </a:pPr>
            <a:r>
              <a:rPr sz="850" b="0" i="0" lang="es-CL">
                <a:solidFill>
                  <a:srgbClr val="57606A"/>
                </a:solidFill>
                <a:latin typeface="Consolas"/>
                <a:ea typeface="Consolas"/>
                <a:cs typeface="Consolas"/>
              </a:rPr>
              <a:t>videos/FLOW-*.webm → GIF</a:t>
            </a:r>
          </a:p>
        </p:txBody>
      </p:sp>
      <p:sp>
        <p:nvSpPr>
          <p:cNvPr id="12" name="Rounded Rectangle 11"/>
          <p:cNvSpPr/>
          <p:nvPr/>
        </p:nvSpPr>
        <p:spPr>
          <a:xfrm>
            <a:off x="4654296" y="1097280"/>
            <a:ext cx="1965960" cy="2057400"/>
          </a:xfrm>
          <a:prstGeom prst="roundRect">
            <a:avLst>
              <a:gd name="adj" fmla="val 4651"/>
            </a:avLst>
          </a:prstGeom>
          <a:solidFill>
            <a:srgbClr val="EDF1F3"/>
          </a:solidFill>
          <a:ln>
            <a:noFill/>
          </a:ln>
        </p:spPr>
        <p:txBody>
          <a:bodyPr rtlCol="0" anchor="ctr" wrap="square" lIns="54864" rIns="54864" tIns="54864" bIns="54864"/>
          <a:lstStyle/>
          <a:p>
            <a:pPr algn="ctr"/>
          </a:p>
        </p:txBody>
      </p:sp>
      <p:sp>
        <p:nvSpPr>
          <p:cNvPr id="13" name="Rounded Rectangle 12"/>
          <p:cNvSpPr/>
          <p:nvPr/>
        </p:nvSpPr>
        <p:spPr>
          <a:xfrm>
            <a:off x="4791456" y="1234440"/>
            <a:ext cx="1691640" cy="384048"/>
          </a:xfrm>
          <a:prstGeom prst="roundRect">
            <a:avLst>
              <a:gd name="adj" fmla="val 19047"/>
            </a:avLst>
          </a:prstGeom>
          <a:solidFill>
            <a:srgbClr val="38761D"/>
          </a:solidFill>
          <a:ln>
            <a:noFill/>
          </a:ln>
        </p:spPr>
        <p:txBody>
          <a:bodyPr rtlCol="0" anchor="ctr" wrap="square" lIns="54864" rIns="54864" tIns="54864" bIns="54864"/>
          <a:lstStyle/>
          <a:p>
            <a:pPr algn="ctr" marL="0" indent="0">
              <a:spcAft>
                <a:spcPts val="200"/>
              </a:spcAft>
              <a:buNone/>
            </a:pPr>
            <a:r>
              <a:rPr sz="1150" b="1" i="0" lang="es-CL">
                <a:solidFill>
                  <a:srgbClr val="FFFFFF"/>
                </a:solidFill>
                <a:latin typeface="Inter"/>
                <a:ea typeface="Inter"/>
                <a:cs typeface="Inter"/>
              </a:rPr>
              <a:t>Endpoints</a:t>
            </a:r>
          </a:p>
        </p:txBody>
      </p:sp>
      <p:sp>
        <p:nvSpPr>
          <p:cNvPr id="14" name="TextBox 13"/>
          <p:cNvSpPr txBox="1"/>
          <p:nvPr/>
        </p:nvSpPr>
        <p:spPr>
          <a:xfrm>
            <a:off x="4791456" y="1737360"/>
            <a:ext cx="1691640" cy="685800"/>
          </a:xfrm>
          <a:prstGeom prst="rect">
            <a:avLst/>
          </a:prstGeom>
          <a:noFill/>
        </p:spPr>
        <p:txBody>
          <a:bodyPr wrap="square" lIns="36576" rIns="36576" tIns="36576" bIns="36576" anchor="t"/>
          <a:lstStyle/>
          <a:p>
            <a:pPr algn="l" marL="0" indent="0">
              <a:spcAft>
                <a:spcPts val="400"/>
              </a:spcAft>
              <a:buNone/>
            </a:pPr>
            <a:r>
              <a:rPr sz="1050" b="0" i="0" lang="es-CL">
                <a:solidFill>
                  <a:srgbClr val="1F2328"/>
                </a:solidFill>
                <a:latin typeface="Inter"/>
                <a:ea typeface="Inter"/>
                <a:cs typeface="Inter"/>
              </a:rPr>
              <a:t>Qué operaciones y status probó el contrato</a:t>
            </a:r>
          </a:p>
        </p:txBody>
      </p:sp>
      <p:sp>
        <p:nvSpPr>
          <p:cNvPr id="15" name="TextBox 14"/>
          <p:cNvSpPr txBox="1"/>
          <p:nvPr/>
        </p:nvSpPr>
        <p:spPr>
          <a:xfrm>
            <a:off x="4791456" y="2468880"/>
            <a:ext cx="1691640" cy="594360"/>
          </a:xfrm>
          <a:prstGeom prst="rect">
            <a:avLst/>
          </a:prstGeom>
          <a:noFill/>
        </p:spPr>
        <p:txBody>
          <a:bodyPr wrap="square" lIns="36576" rIns="36576" tIns="36576" bIns="36576" anchor="t"/>
          <a:lstStyle/>
          <a:p>
            <a:pPr algn="l" marL="0" indent="0">
              <a:spcAft>
                <a:spcPts val="400"/>
              </a:spcAft>
              <a:buNone/>
            </a:pPr>
            <a:r>
              <a:rPr sz="850" b="0" i="0" lang="es-CL">
                <a:solidFill>
                  <a:srgbClr val="57606A"/>
                </a:solidFill>
                <a:latin typeface="Consolas"/>
                <a:ea typeface="Consolas"/>
                <a:cs typeface="Consolas"/>
              </a:rPr>
              <a:t>backend/reports/contract-coverage.json</a:t>
            </a:r>
          </a:p>
        </p:txBody>
      </p:sp>
      <p:sp>
        <p:nvSpPr>
          <p:cNvPr id="16" name="Rounded Rectangle 15"/>
          <p:cNvSpPr/>
          <p:nvPr/>
        </p:nvSpPr>
        <p:spPr>
          <a:xfrm>
            <a:off x="6775703" y="1097280"/>
            <a:ext cx="1965960" cy="2057400"/>
          </a:xfrm>
          <a:prstGeom prst="roundRect">
            <a:avLst>
              <a:gd name="adj" fmla="val 4651"/>
            </a:avLst>
          </a:prstGeom>
          <a:solidFill>
            <a:srgbClr val="EDF1F3"/>
          </a:solidFill>
          <a:ln>
            <a:noFill/>
          </a:ln>
        </p:spPr>
        <p:txBody>
          <a:bodyPr rtlCol="0" anchor="ctr" wrap="square" lIns="54864" rIns="54864" tIns="54864" bIns="54864"/>
          <a:lstStyle/>
          <a:p>
            <a:pPr algn="ctr"/>
          </a:p>
        </p:txBody>
      </p:sp>
      <p:sp>
        <p:nvSpPr>
          <p:cNvPr id="17" name="Rounded Rectangle 16"/>
          <p:cNvSpPr/>
          <p:nvPr/>
        </p:nvSpPr>
        <p:spPr>
          <a:xfrm>
            <a:off x="6912864" y="1234440"/>
            <a:ext cx="1691640" cy="384048"/>
          </a:xfrm>
          <a:prstGeom prst="roundRect">
            <a:avLst>
              <a:gd name="adj" fmla="val 19047"/>
            </a:avLst>
          </a:prstGeom>
          <a:solidFill>
            <a:srgbClr val="980000"/>
          </a:solidFill>
          <a:ln>
            <a:noFill/>
          </a:ln>
        </p:spPr>
        <p:txBody>
          <a:bodyPr rtlCol="0" anchor="ctr" wrap="square" lIns="54864" rIns="54864" tIns="54864" bIns="54864"/>
          <a:lstStyle/>
          <a:p>
            <a:pPr algn="ctr" marL="0" indent="0">
              <a:spcAft>
                <a:spcPts val="200"/>
              </a:spcAft>
              <a:buNone/>
            </a:pPr>
            <a:r>
              <a:rPr sz="1150" b="1" i="0" lang="es-CL">
                <a:solidFill>
                  <a:srgbClr val="FFFFFF"/>
                </a:solidFill>
                <a:latin typeface="Inter"/>
                <a:ea typeface="Inter"/>
                <a:cs typeface="Inter"/>
              </a:rPr>
              <a:t>Seguridad</a:t>
            </a:r>
          </a:p>
        </p:txBody>
      </p:sp>
      <p:sp>
        <p:nvSpPr>
          <p:cNvPr id="18" name="TextBox 17"/>
          <p:cNvSpPr txBox="1"/>
          <p:nvPr/>
        </p:nvSpPr>
        <p:spPr>
          <a:xfrm>
            <a:off x="6912864" y="1737360"/>
            <a:ext cx="1691640" cy="685800"/>
          </a:xfrm>
          <a:prstGeom prst="rect">
            <a:avLst/>
          </a:prstGeom>
          <a:noFill/>
        </p:spPr>
        <p:txBody>
          <a:bodyPr wrap="square" lIns="36576" rIns="36576" tIns="36576" bIns="36576" anchor="t"/>
          <a:lstStyle/>
          <a:p>
            <a:pPr algn="l" marL="0" indent="0">
              <a:spcAft>
                <a:spcPts val="400"/>
              </a:spcAft>
              <a:buNone/>
            </a:pPr>
            <a:r>
              <a:rPr sz="1050" b="0" i="0" lang="es-CL">
                <a:solidFill>
                  <a:srgbClr val="1F2328"/>
                </a:solidFill>
                <a:latin typeface="Inter"/>
                <a:ea typeface="Inter"/>
                <a:cs typeface="Inter"/>
              </a:rPr>
              <a:t>Hallazgos de SAST, SCA, imagen y DAST</a:t>
            </a:r>
          </a:p>
        </p:txBody>
      </p:sp>
      <p:sp>
        <p:nvSpPr>
          <p:cNvPr id="19" name="TextBox 18"/>
          <p:cNvSpPr txBox="1"/>
          <p:nvPr/>
        </p:nvSpPr>
        <p:spPr>
          <a:xfrm>
            <a:off x="6912864" y="2468880"/>
            <a:ext cx="1691640" cy="594360"/>
          </a:xfrm>
          <a:prstGeom prst="rect">
            <a:avLst/>
          </a:prstGeom>
          <a:noFill/>
        </p:spPr>
        <p:txBody>
          <a:bodyPr wrap="square" lIns="36576" rIns="36576" tIns="36576" bIns="36576" anchor="t"/>
          <a:lstStyle/>
          <a:p>
            <a:pPr algn="l" marL="0" indent="0">
              <a:spcAft>
                <a:spcPts val="400"/>
              </a:spcAft>
              <a:buNone/>
            </a:pPr>
            <a:r>
              <a:rPr sz="850" b="0" i="0" lang="es-CL">
                <a:solidFill>
                  <a:srgbClr val="57606A"/>
                </a:solidFill>
                <a:latin typeface="Consolas"/>
                <a:ea typeface="Consolas"/>
                <a:cs typeface="Consolas"/>
              </a:rPr>
              <a:t>SARIF y reporte de ZAP</a:t>
            </a:r>
          </a:p>
        </p:txBody>
      </p:sp>
      <p:sp>
        <p:nvSpPr>
          <p:cNvPr id="20" name="Rounded Rectangle 19"/>
          <p:cNvSpPr/>
          <p:nvPr/>
        </p:nvSpPr>
        <p:spPr>
          <a:xfrm>
            <a:off x="822960" y="3474720"/>
            <a:ext cx="2103120" cy="502920"/>
          </a:xfrm>
          <a:prstGeom prst="roundRect">
            <a:avLst>
              <a:gd name="adj" fmla="val 14545"/>
            </a:avLst>
          </a:prstGeom>
          <a:solidFill>
            <a:srgbClr val="003D4F"/>
          </a:solidFill>
          <a:ln>
            <a:noFill/>
          </a:ln>
        </p:spPr>
        <p:txBody>
          <a:bodyPr rtlCol="0" anchor="ctr" wrap="square" lIns="54864" rIns="54864" tIns="54864" bIns="54864"/>
          <a:lstStyle/>
          <a:p>
            <a:pPr algn="ctr" marL="0" indent="0">
              <a:spcAft>
                <a:spcPts val="200"/>
              </a:spcAft>
              <a:buNone/>
            </a:pPr>
            <a:r>
              <a:rPr sz="1050" b="1" i="0" lang="es-CL">
                <a:solidFill>
                  <a:srgbClr val="FFFFFF"/>
                </a:solidFill>
                <a:latin typeface="Inter"/>
                <a:ea typeface="Inter"/>
                <a:cs typeface="Inter"/>
              </a:rPr>
              <a:t>Artefactos de los jobs</a:t>
            </a:r>
          </a:p>
        </p:txBody>
      </p:sp>
      <p:cxnSp>
        <p:nvCxnSpPr>
          <p:cNvPr id="21" name="Connector 20"/>
          <p:cNvCxnSpPr/>
          <p:nvPr/>
        </p:nvCxnSpPr>
        <p:spPr>
          <a:xfrm>
            <a:off x="2944368" y="3721608"/>
            <a:ext cx="603504" cy="0"/>
          </a:xfrm>
          <a:prstGeom prst="line">
            <a:avLst/>
          </a:prstGeom>
          <a:ln w="22225">
            <a:solidFill>
              <a:srgbClr val="8C959F"/>
            </a:solidFill>
            <a:tailEnd type="triangle" w="med" len="med"/>
          </a:ln>
        </p:spPr>
      </p:cxnSp>
      <p:sp>
        <p:nvSpPr>
          <p:cNvPr id="22" name="Rounded Rectangle 21"/>
          <p:cNvSpPr/>
          <p:nvPr/>
        </p:nvSpPr>
        <p:spPr>
          <a:xfrm>
            <a:off x="3566160" y="3474720"/>
            <a:ext cx="2103120" cy="502920"/>
          </a:xfrm>
          <a:prstGeom prst="roundRect">
            <a:avLst>
              <a:gd name="adj" fmla="val 14545"/>
            </a:avLst>
          </a:prstGeom>
          <a:solidFill>
            <a:srgbClr val="634F7D"/>
          </a:solidFill>
          <a:ln>
            <a:noFill/>
          </a:ln>
        </p:spPr>
        <p:txBody>
          <a:bodyPr rtlCol="0" anchor="ctr" wrap="square" lIns="54864" rIns="54864" tIns="54864" bIns="54864"/>
          <a:lstStyle/>
          <a:p>
            <a:pPr algn="ctr" marL="0" indent="0">
              <a:spcAft>
                <a:spcPts val="200"/>
              </a:spcAft>
              <a:buNone/>
            </a:pPr>
            <a:r>
              <a:rPr sz="1050" b="1" i="0" lang="es-CL">
                <a:solidFill>
                  <a:srgbClr val="FFFFFF"/>
                </a:solidFill>
                <a:latin typeface="Inter"/>
                <a:ea typeface="Inter"/>
                <a:cs typeface="Inter"/>
              </a:rPr>
              <a:t>tools/evidence</a:t>
            </a:r>
          </a:p>
        </p:txBody>
      </p:sp>
      <p:cxnSp>
        <p:nvCxnSpPr>
          <p:cNvPr id="23" name="Connector 22"/>
          <p:cNvCxnSpPr/>
          <p:nvPr/>
        </p:nvCxnSpPr>
        <p:spPr>
          <a:xfrm>
            <a:off x="5687568" y="3721608"/>
            <a:ext cx="603504" cy="0"/>
          </a:xfrm>
          <a:prstGeom prst="line">
            <a:avLst/>
          </a:prstGeom>
          <a:ln w="22225">
            <a:solidFill>
              <a:srgbClr val="8C959F"/>
            </a:solidFill>
            <a:tailEnd type="triangle" w="med" len="med"/>
          </a:ln>
        </p:spPr>
      </p:cxnSp>
      <p:sp>
        <p:nvSpPr>
          <p:cNvPr id="24" name="Rounded Rectangle 23"/>
          <p:cNvSpPr/>
          <p:nvPr/>
        </p:nvSpPr>
        <p:spPr>
          <a:xfrm>
            <a:off x="6309360" y="3474720"/>
            <a:ext cx="2103120" cy="502920"/>
          </a:xfrm>
          <a:prstGeom prst="roundRect">
            <a:avLst>
              <a:gd name="adj" fmla="val 14545"/>
            </a:avLst>
          </a:prstGeom>
          <a:solidFill>
            <a:srgbClr val="38761D"/>
          </a:solidFill>
          <a:ln>
            <a:noFill/>
          </a:ln>
        </p:spPr>
        <p:txBody>
          <a:bodyPr rtlCol="0" anchor="ctr" wrap="square" lIns="54864" rIns="54864" tIns="54864" bIns="54864"/>
          <a:lstStyle/>
          <a:p>
            <a:pPr algn="ctr" marL="0" indent="0">
              <a:spcAft>
                <a:spcPts val="200"/>
              </a:spcAft>
              <a:buNone/>
            </a:pPr>
            <a:r>
              <a:rPr sz="1050" b="1" i="0" lang="es-CL">
                <a:solidFill>
                  <a:srgbClr val="FFFFFF"/>
                </a:solidFill>
                <a:latin typeface="Inter"/>
                <a:ea typeface="Inter"/>
                <a:cs typeface="Inter"/>
              </a:rPr>
              <a:t>Comentario único en el PR</a:t>
            </a:r>
          </a:p>
        </p:txBody>
      </p:sp>
      <p:sp>
        <p:nvSpPr>
          <p:cNvPr id="25" name="TextBox 24"/>
          <p:cNvSpPr txBox="1"/>
          <p:nvPr/>
        </p:nvSpPr>
        <p:spPr>
          <a:xfrm>
            <a:off x="411480" y="4114800"/>
            <a:ext cx="8321040" cy="411480"/>
          </a:xfrm>
          <a:prstGeom prst="rect">
            <a:avLst/>
          </a:prstGeom>
          <a:noFill/>
        </p:spPr>
        <p:txBody>
          <a:bodyPr wrap="square" lIns="36576" rIns="36576" tIns="36576" bIns="36576" anchor="t"/>
          <a:lstStyle/>
          <a:p>
            <a:pPr algn="ctr" marL="0" indent="0">
              <a:spcAft>
                <a:spcPts val="400"/>
              </a:spcAft>
              <a:buNone/>
            </a:pPr>
            <a:r>
              <a:rPr sz="1000" b="0" i="0" lang="es-CL">
                <a:solidFill>
                  <a:srgbClr val="57606A"/>
                </a:solidFill>
                <a:latin typeface="Inter"/>
                <a:ea typeface="Inter"/>
                <a:cs typeface="Inter"/>
              </a:rPr>
              <a:t>El comentario se actualiza en cada push (no se acumulan comentarios) y cada ítem lleva el ID del flujo o de la regla.</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Así se ve el comentario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24128"/>
            <a:ext cx="8321040" cy="3520440"/>
          </a:xfrm>
          <a:prstGeom prst="roundRect">
            <a:avLst>
              <a:gd name="adj" fmla="val 2077"/>
            </a:avLst>
          </a:prstGeom>
          <a:solidFill>
            <a:srgbClr val="FFFFFF"/>
          </a:solidFill>
          <a:ln w="12700">
            <a:solidFill>
              <a:srgbClr val="D0D7DE"/>
            </a:solidFill>
          </a:ln>
        </p:spPr>
        <p:txBody>
          <a:bodyPr rtlCol="0" anchor="ctr" wrap="square" lIns="54864" rIns="54864" tIns="54864" bIns="54864"/>
          <a:lstStyle/>
          <a:p>
            <a:pPr algn="ctr"/>
          </a:p>
        </p:txBody>
      </p:sp>
      <p:sp>
        <p:nvSpPr>
          <p:cNvPr id="5" name="Rectangle 4"/>
          <p:cNvSpPr/>
          <p:nvPr/>
        </p:nvSpPr>
        <p:spPr>
          <a:xfrm>
            <a:off x="411480" y="1024128"/>
            <a:ext cx="8321040" cy="384048"/>
          </a:xfrm>
          <a:prstGeom prst="rect">
            <a:avLst/>
          </a:prstGeom>
          <a:solidFill>
            <a:srgbClr val="F6F8FA"/>
          </a:solidFill>
          <a:ln w="12700">
            <a:solidFill>
              <a:srgbClr val="D0D7DE"/>
            </a:solidFill>
          </a:ln>
        </p:spPr>
        <p:txBody>
          <a:bodyPr rtlCol="0" anchor="ctr" wrap="square" lIns="54864" rIns="54864" tIns="54864" bIns="54864"/>
          <a:lstStyle/>
          <a:p>
            <a:pPr algn="ctr"/>
          </a:p>
        </p:txBody>
      </p:sp>
      <p:sp>
        <p:nvSpPr>
          <p:cNvPr id="6" name="Oval 5"/>
          <p:cNvSpPr/>
          <p:nvPr/>
        </p:nvSpPr>
        <p:spPr>
          <a:xfrm>
            <a:off x="548640" y="1078992"/>
            <a:ext cx="274320" cy="274320"/>
          </a:xfrm>
          <a:prstGeom prst="ellipse">
            <a:avLst/>
          </a:prstGeom>
          <a:solidFill>
            <a:srgbClr val="57606A"/>
          </a:solidFill>
          <a:ln>
            <a:noFill/>
          </a:ln>
        </p:spPr>
        <p:txBody>
          <a:bodyPr rtlCol="0" anchor="ctr" wrap="square" lIns="0" rIns="0" tIns="0" bIns="0"/>
          <a:lstStyle/>
          <a:p>
            <a:pPr algn="ctr" marL="0" indent="0">
              <a:spcAft>
                <a:spcPts val="200"/>
              </a:spcAft>
              <a:buNone/>
            </a:pPr>
            <a:r>
              <a:rPr sz="750" b="1" i="0" lang="es-CL">
                <a:solidFill>
                  <a:srgbClr val="FFFFFF"/>
                </a:solidFill>
                <a:latin typeface="Inter"/>
                <a:ea typeface="Inter"/>
                <a:cs typeface="Inter"/>
              </a:rPr>
              <a:t>CI</a:t>
            </a:r>
          </a:p>
        </p:txBody>
      </p:sp>
      <p:sp>
        <p:nvSpPr>
          <p:cNvPr id="7" name="TextBox 6"/>
          <p:cNvSpPr txBox="1"/>
          <p:nvPr/>
        </p:nvSpPr>
        <p:spPr>
          <a:xfrm>
            <a:off x="914400" y="1051560"/>
            <a:ext cx="5486400" cy="329184"/>
          </a:xfrm>
          <a:prstGeom prst="rect">
            <a:avLst/>
          </a:prstGeom>
          <a:noFill/>
        </p:spPr>
        <p:txBody>
          <a:bodyPr wrap="square" lIns="36576" rIns="36576" tIns="36576" bIns="36576" anchor="ctr"/>
          <a:lstStyle/>
          <a:p>
            <a:pPr algn="l" marL="0" indent="0">
              <a:spcAft>
                <a:spcPts val="400"/>
              </a:spcAft>
              <a:buNone/>
            </a:pPr>
            <a:r>
              <a:rPr sz="950" b="1" i="0" lang="es-CL">
                <a:solidFill>
                  <a:srgbClr val="1F2328"/>
                </a:solidFill>
                <a:latin typeface="Inter"/>
                <a:ea typeface="Inter"/>
                <a:cs typeface="Inter"/>
              </a:rPr>
              <a:t>github-actions</a:t>
            </a:r>
            <a:r>
              <a:rPr sz="950" b="0" i="0" lang="es-CL">
                <a:solidFill>
                  <a:srgbClr val="1F2328"/>
                </a:solidFill>
                <a:latin typeface="Inter"/>
                <a:ea typeface="Inter"/>
                <a:cs typeface="Inter"/>
              </a:rPr>
              <a:t> comentó · Evidencia de CI · PR #42 · commit 3f2a9c1</a:t>
            </a:r>
          </a:p>
        </p:txBody>
      </p:sp>
      <p:sp>
        <p:nvSpPr>
          <p:cNvPr id="8" name="TextBox 7"/>
          <p:cNvSpPr txBox="1"/>
          <p:nvPr/>
        </p:nvSpPr>
        <p:spPr>
          <a:xfrm>
            <a:off x="594360" y="1481328"/>
            <a:ext cx="3840480" cy="274320"/>
          </a:xfrm>
          <a:prstGeom prst="rect">
            <a:avLst/>
          </a:prstGeom>
          <a:noFill/>
        </p:spPr>
        <p:txBody>
          <a:bodyPr wrap="square" lIns="36576" rIns="36576" tIns="36576" bIns="36576" anchor="t"/>
          <a:lstStyle/>
          <a:p>
            <a:pPr algn="l" marL="0" indent="0">
              <a:spcAft>
                <a:spcPts val="400"/>
              </a:spcAft>
              <a:buNone/>
            </a:pPr>
            <a:r>
              <a:rPr sz="1050" b="1" i="0" lang="es-CL">
                <a:solidFill>
                  <a:srgbClr val="1F2328"/>
                </a:solidFill>
                <a:latin typeface="Inter"/>
                <a:ea typeface="Inter"/>
                <a:cs typeface="Inter"/>
              </a:rPr>
              <a:t>Flujos de usuario (Playwright + MSW)</a:t>
            </a:r>
          </a:p>
        </p:txBody>
      </p:sp>
      <p:pic>
        <p:nvPicPr>
          <p:cNvPr id="9" name="Picture 8" descr="Captura de FLOW-CAT-01"/>
          <p:cNvPicPr>
            <a:picLocks noChangeAspect="1"/>
          </p:cNvPicPr>
          <p:nvPr/>
        </p:nvPicPr>
        <p:blipFill>
          <a:blip r:embed="rId2"/>
          <a:stretch>
            <a:fillRect/>
          </a:stretch>
        </p:blipFill>
        <p:spPr>
          <a:xfrm>
            <a:off x="594360" y="1801368"/>
            <a:ext cx="1207008" cy="754380"/>
          </a:xfrm>
          <a:prstGeom prst="rect">
            <a:avLst/>
          </a:prstGeom>
          <a:ln w="9525">
            <a:solidFill>
              <a:srgbClr val="D0D7DE"/>
            </a:solidFill>
          </a:ln>
        </p:spPr>
      </p:pic>
      <p:sp>
        <p:nvSpPr>
          <p:cNvPr id="10" name="TextBox 9"/>
          <p:cNvSpPr txBox="1"/>
          <p:nvPr/>
        </p:nvSpPr>
        <p:spPr>
          <a:xfrm>
            <a:off x="594360" y="2596896"/>
            <a:ext cx="1207008" cy="201168"/>
          </a:xfrm>
          <a:prstGeom prst="rect">
            <a:avLst/>
          </a:prstGeom>
          <a:noFill/>
        </p:spPr>
        <p:txBody>
          <a:bodyPr wrap="square" lIns="36576" rIns="36576" tIns="36576" bIns="36576" anchor="t"/>
          <a:lstStyle/>
          <a:p>
            <a:pPr algn="ctr" marL="0" indent="0">
              <a:spcAft>
                <a:spcPts val="400"/>
              </a:spcAft>
              <a:buNone/>
            </a:pPr>
            <a:r>
              <a:rPr sz="800" b="1" i="0" lang="es-CL">
                <a:solidFill>
                  <a:srgbClr val="38761D"/>
                </a:solidFill>
                <a:latin typeface="Consolas"/>
                <a:ea typeface="Consolas"/>
                <a:cs typeface="Consolas"/>
              </a:rPr>
              <a:t>✓ FLOW-CAT-01</a:t>
            </a:r>
          </a:p>
        </p:txBody>
      </p:sp>
      <p:sp>
        <p:nvSpPr>
          <p:cNvPr id="11" name="TextBox 10"/>
          <p:cNvSpPr txBox="1"/>
          <p:nvPr/>
        </p:nvSpPr>
        <p:spPr>
          <a:xfrm>
            <a:off x="594360" y="2788920"/>
            <a:ext cx="1207008" cy="201168"/>
          </a:xfrm>
          <a:prstGeom prst="rect">
            <a:avLst/>
          </a:prstGeom>
          <a:noFill/>
        </p:spPr>
        <p:txBody>
          <a:bodyPr wrap="square" lIns="36576" rIns="36576" tIns="36576" bIns="36576" anchor="t"/>
          <a:lstStyle/>
          <a:p>
            <a:pPr algn="ctr" marL="0" indent="0">
              <a:spcAft>
                <a:spcPts val="400"/>
              </a:spcAft>
              <a:buNone/>
            </a:pPr>
            <a:r>
              <a:rPr sz="800" b="0" i="0" lang="es-CL">
                <a:solidFill>
                  <a:srgbClr val="57606A"/>
                </a:solidFill>
                <a:latin typeface="Inter"/>
                <a:ea typeface="Inter"/>
                <a:cs typeface="Inter"/>
              </a:rPr>
              <a:t>Buscar sin tildes</a:t>
            </a:r>
          </a:p>
        </p:txBody>
      </p:sp>
      <p:pic>
        <p:nvPicPr>
          <p:cNvPr id="12" name="Picture 11" descr="Captura de FLOW-PRE-01"/>
          <p:cNvPicPr>
            <a:picLocks noChangeAspect="1"/>
          </p:cNvPicPr>
          <p:nvPr/>
        </p:nvPicPr>
        <p:blipFill>
          <a:blip r:embed="rId3"/>
          <a:stretch>
            <a:fillRect/>
          </a:stretch>
        </p:blipFill>
        <p:spPr>
          <a:xfrm>
            <a:off x="1901952" y="1801368"/>
            <a:ext cx="1207008" cy="754380"/>
          </a:xfrm>
          <a:prstGeom prst="rect">
            <a:avLst/>
          </a:prstGeom>
          <a:ln w="9525">
            <a:solidFill>
              <a:srgbClr val="D0D7DE"/>
            </a:solidFill>
          </a:ln>
        </p:spPr>
      </p:pic>
      <p:sp>
        <p:nvSpPr>
          <p:cNvPr id="13" name="TextBox 12"/>
          <p:cNvSpPr txBox="1"/>
          <p:nvPr/>
        </p:nvSpPr>
        <p:spPr>
          <a:xfrm>
            <a:off x="1901952" y="2596896"/>
            <a:ext cx="1207008" cy="201168"/>
          </a:xfrm>
          <a:prstGeom prst="rect">
            <a:avLst/>
          </a:prstGeom>
          <a:noFill/>
        </p:spPr>
        <p:txBody>
          <a:bodyPr wrap="square" lIns="36576" rIns="36576" tIns="36576" bIns="36576" anchor="t"/>
          <a:lstStyle/>
          <a:p>
            <a:pPr algn="ctr" marL="0" indent="0">
              <a:spcAft>
                <a:spcPts val="400"/>
              </a:spcAft>
              <a:buNone/>
            </a:pPr>
            <a:r>
              <a:rPr sz="800" b="1" i="0" lang="es-CL">
                <a:solidFill>
                  <a:srgbClr val="38761D"/>
                </a:solidFill>
                <a:latin typeface="Consolas"/>
                <a:ea typeface="Consolas"/>
                <a:cs typeface="Consolas"/>
              </a:rPr>
              <a:t>✓ FLOW-PRE-01</a:t>
            </a:r>
          </a:p>
        </p:txBody>
      </p:sp>
      <p:sp>
        <p:nvSpPr>
          <p:cNvPr id="14" name="TextBox 13"/>
          <p:cNvSpPr txBox="1"/>
          <p:nvPr/>
        </p:nvSpPr>
        <p:spPr>
          <a:xfrm>
            <a:off x="1901952" y="2788920"/>
            <a:ext cx="1207008" cy="201168"/>
          </a:xfrm>
          <a:prstGeom prst="rect">
            <a:avLst/>
          </a:prstGeom>
          <a:noFill/>
        </p:spPr>
        <p:txBody>
          <a:bodyPr wrap="square" lIns="36576" rIns="36576" tIns="36576" bIns="36576" anchor="t"/>
          <a:lstStyle/>
          <a:p>
            <a:pPr algn="ctr" marL="0" indent="0">
              <a:spcAft>
                <a:spcPts val="400"/>
              </a:spcAft>
              <a:buNone/>
            </a:pPr>
            <a:r>
              <a:rPr sz="800" b="0" i="0" lang="es-CL">
                <a:solidFill>
                  <a:srgbClr val="57606A"/>
                </a:solidFill>
                <a:latin typeface="Inter"/>
                <a:ea typeface="Inter"/>
                <a:cs typeface="Inter"/>
              </a:rPr>
              <a:t>Pedir prestado</a:t>
            </a:r>
          </a:p>
        </p:txBody>
      </p:sp>
      <p:pic>
        <p:nvPicPr>
          <p:cNvPr id="15" name="Picture 14" descr="Captura de FLOW-PRE-03"/>
          <p:cNvPicPr>
            <a:picLocks noChangeAspect="1"/>
          </p:cNvPicPr>
          <p:nvPr/>
        </p:nvPicPr>
        <p:blipFill>
          <a:blip r:embed="rId4"/>
          <a:stretch>
            <a:fillRect/>
          </a:stretch>
        </p:blipFill>
        <p:spPr>
          <a:xfrm>
            <a:off x="3209544" y="1801368"/>
            <a:ext cx="1207008" cy="754380"/>
          </a:xfrm>
          <a:prstGeom prst="rect">
            <a:avLst/>
          </a:prstGeom>
          <a:ln w="9525">
            <a:solidFill>
              <a:srgbClr val="D0D7DE"/>
            </a:solidFill>
          </a:ln>
        </p:spPr>
      </p:pic>
      <p:sp>
        <p:nvSpPr>
          <p:cNvPr id="16" name="TextBox 15"/>
          <p:cNvSpPr txBox="1"/>
          <p:nvPr/>
        </p:nvSpPr>
        <p:spPr>
          <a:xfrm>
            <a:off x="3209544" y="2596896"/>
            <a:ext cx="1207008" cy="201168"/>
          </a:xfrm>
          <a:prstGeom prst="rect">
            <a:avLst/>
          </a:prstGeom>
          <a:noFill/>
        </p:spPr>
        <p:txBody>
          <a:bodyPr wrap="square" lIns="36576" rIns="36576" tIns="36576" bIns="36576" anchor="t"/>
          <a:lstStyle/>
          <a:p>
            <a:pPr algn="ctr" marL="0" indent="0">
              <a:spcAft>
                <a:spcPts val="400"/>
              </a:spcAft>
              <a:buNone/>
            </a:pPr>
            <a:r>
              <a:rPr sz="800" b="1" i="0" lang="es-CL">
                <a:solidFill>
                  <a:srgbClr val="38761D"/>
                </a:solidFill>
                <a:latin typeface="Consolas"/>
                <a:ea typeface="Consolas"/>
                <a:cs typeface="Consolas"/>
              </a:rPr>
              <a:t>✓ FLOW-PRE-03</a:t>
            </a:r>
          </a:p>
        </p:txBody>
      </p:sp>
      <p:sp>
        <p:nvSpPr>
          <p:cNvPr id="17" name="TextBox 16"/>
          <p:cNvSpPr txBox="1"/>
          <p:nvPr/>
        </p:nvSpPr>
        <p:spPr>
          <a:xfrm>
            <a:off x="3209544" y="2788920"/>
            <a:ext cx="1207008" cy="201168"/>
          </a:xfrm>
          <a:prstGeom prst="rect">
            <a:avLst/>
          </a:prstGeom>
          <a:noFill/>
        </p:spPr>
        <p:txBody>
          <a:bodyPr wrap="square" lIns="36576" rIns="36576" tIns="36576" bIns="36576" anchor="t"/>
          <a:lstStyle/>
          <a:p>
            <a:pPr algn="ctr" marL="0" indent="0">
              <a:spcAft>
                <a:spcPts val="400"/>
              </a:spcAft>
              <a:buNone/>
            </a:pPr>
            <a:r>
              <a:rPr sz="800" b="0" i="0" lang="es-CL">
                <a:solidFill>
                  <a:srgbClr val="57606A"/>
                </a:solidFill>
                <a:latin typeface="Inter"/>
                <a:ea typeface="Inter"/>
                <a:cs typeface="Inter"/>
              </a:rPr>
              <a:t>Límite de 3</a:t>
            </a:r>
          </a:p>
        </p:txBody>
      </p:sp>
      <p:sp>
        <p:nvSpPr>
          <p:cNvPr id="18" name="TextBox 17"/>
          <p:cNvSpPr txBox="1"/>
          <p:nvPr/>
        </p:nvSpPr>
        <p:spPr>
          <a:xfrm>
            <a:off x="594360" y="3127248"/>
            <a:ext cx="3840480" cy="274320"/>
          </a:xfrm>
          <a:prstGeom prst="rect">
            <a:avLst/>
          </a:prstGeom>
          <a:noFill/>
        </p:spPr>
        <p:txBody>
          <a:bodyPr wrap="square" lIns="36576" rIns="36576" tIns="36576" bIns="36576" anchor="t"/>
          <a:lstStyle/>
          <a:p>
            <a:pPr algn="l" marL="0" indent="0">
              <a:spcAft>
                <a:spcPts val="400"/>
              </a:spcAft>
              <a:buNone/>
            </a:pPr>
            <a:r>
              <a:rPr sz="1050" b="1" i="0" lang="es-CL">
                <a:solidFill>
                  <a:srgbClr val="1F2328"/>
                </a:solidFill>
                <a:latin typeface="Inter"/>
                <a:ea typeface="Inter"/>
                <a:cs typeface="Inter"/>
              </a:rPr>
              <a:t>Seguridad</a:t>
            </a:r>
          </a:p>
        </p:txBody>
      </p:sp>
      <p:sp>
        <p:nvSpPr>
          <p:cNvPr id="19" name="TextBox 18"/>
          <p:cNvSpPr txBox="1"/>
          <p:nvPr/>
        </p:nvSpPr>
        <p:spPr>
          <a:xfrm>
            <a:off x="594360" y="3401568"/>
            <a:ext cx="3886200" cy="1051560"/>
          </a:xfrm>
          <a:prstGeom prst="rect">
            <a:avLst/>
          </a:prstGeom>
          <a:noFill/>
        </p:spPr>
        <p:txBody>
          <a:bodyPr wrap="square" lIns="36576" rIns="36576" tIns="36576" bIns="36576" anchor="t"/>
          <a:lstStyle/>
          <a:p>
            <a:pPr algn="l" marL="0" indent="0">
              <a:spcAft>
                <a:spcPts val="100"/>
              </a:spcAft>
              <a:buNone/>
            </a:pPr>
            <a:r>
              <a:rPr sz="950" b="0" i="0" lang="es-CL">
                <a:solidFill>
                  <a:srgbClr val="1F2328"/>
                </a:solidFill>
                <a:latin typeface="Inter"/>
                <a:ea typeface="Inter"/>
                <a:cs typeface="Inter"/>
              </a:rPr>
              <a:t>✓ gitleaks: 0 secretos</a:t>
            </a:r>
          </a:p>
          <a:p>
            <a:pPr algn="l" marL="0" indent="0">
              <a:spcAft>
                <a:spcPts val="100"/>
              </a:spcAft>
              <a:buNone/>
            </a:pPr>
            <a:r>
              <a:rPr sz="950" b="0" i="0" lang="es-CL">
                <a:solidFill>
                  <a:srgbClr val="1F2328"/>
                </a:solidFill>
                <a:latin typeface="Inter"/>
                <a:ea typeface="Inter"/>
                <a:cs typeface="Inter"/>
              </a:rPr>
              <a:t>✓ Semgrep y CodeQL: 0 hallazgos nuevos</a:t>
            </a:r>
          </a:p>
          <a:p>
            <a:pPr algn="l" marL="0" indent="0">
              <a:spcAft>
                <a:spcPts val="100"/>
              </a:spcAft>
              <a:buNone/>
            </a:pPr>
            <a:r>
              <a:rPr sz="950" b="0" i="0" lang="es-CL">
                <a:solidFill>
                  <a:srgbClr val="1F2328"/>
                </a:solidFill>
                <a:latin typeface="Inter"/>
                <a:ea typeface="Inter"/>
                <a:cs typeface="Inter"/>
              </a:rPr>
              <a:t>✓ Trivy: 0 críticas ni altas</a:t>
            </a:r>
          </a:p>
          <a:p>
            <a:pPr algn="l" marL="0" indent="0">
              <a:spcAft>
                <a:spcPts val="100"/>
              </a:spcAft>
              <a:buNone/>
            </a:pPr>
            <a:r>
              <a:rPr sz="950" b="0" i="0" lang="es-CL">
                <a:solidFill>
                  <a:srgbClr val="1F2328"/>
                </a:solidFill>
                <a:latin typeface="Inter"/>
                <a:ea typeface="Inter"/>
                <a:cs typeface="Inter"/>
              </a:rPr>
              <a:t>! ZAP: 2 avisos de severidad baja</a:t>
            </a:r>
          </a:p>
        </p:txBody>
      </p:sp>
      <p:sp>
        <p:nvSpPr>
          <p:cNvPr id="20" name="TextBox 19"/>
          <p:cNvSpPr txBox="1"/>
          <p:nvPr/>
        </p:nvSpPr>
        <p:spPr>
          <a:xfrm>
            <a:off x="4709160" y="1481328"/>
            <a:ext cx="3840480" cy="274320"/>
          </a:xfrm>
          <a:prstGeom prst="rect">
            <a:avLst/>
          </a:prstGeom>
          <a:noFill/>
        </p:spPr>
        <p:txBody>
          <a:bodyPr wrap="square" lIns="36576" rIns="36576" tIns="36576" bIns="36576" anchor="t"/>
          <a:lstStyle/>
          <a:p>
            <a:pPr algn="l" marL="0" indent="0">
              <a:spcAft>
                <a:spcPts val="400"/>
              </a:spcAft>
              <a:buNone/>
            </a:pPr>
            <a:r>
              <a:rPr sz="1050" b="1" i="0" lang="es-CL">
                <a:solidFill>
                  <a:srgbClr val="1F2328"/>
                </a:solidFill>
                <a:latin typeface="Inter"/>
                <a:ea typeface="Inter"/>
                <a:cs typeface="Inter"/>
              </a:rPr>
              <a:t>Endpoints (contrato vs OpenAPI)</a:t>
            </a:r>
          </a:p>
        </p:txBody>
      </p:sp>
      <p:graphicFrame>
        <p:nvGraphicFramePr>
          <p:cNvPr id="21" name="Table 20"/>
          <p:cNvGraphicFramePr>
            <a:graphicFrameLocks noGrp="1"/>
          </p:cNvGraphicFramePr>
          <p:nvPr/>
        </p:nvGraphicFramePr>
        <p:xfrm>
          <a:off x="4709160" y="1801368"/>
          <a:ext cx="3886200" cy="2487168"/>
        </p:xfrm>
        <a:graphic>
          <a:graphicData uri="http://schemas.openxmlformats.org/drawingml/2006/table">
            <a:tbl>
              <a:tblPr firstRow="0" bandRow="0">
                <a:tableStyleId>{5C22544A-7EE6-4342-B048-85BDC9FD1C3A}</a:tableStyleId>
              </a:tblPr>
              <a:tblGrid>
                <a:gridCol w="1920240"/>
                <a:gridCol w="1600200"/>
                <a:gridCol w="365760"/>
              </a:tblGrid>
              <a:tr h="310896">
                <a:tc>
                  <a:txBody>
                    <a:bodyPr wrap="square"/>
                    <a:lstStyle/>
                    <a:p>
                      <a:pPr algn="l" marL="0" indent="0">
                        <a:spcAft>
                          <a:spcPts val="0"/>
                        </a:spcAft>
                        <a:buNone/>
                      </a:pPr>
                      <a:r>
                        <a:rPr sz="850" b="1" i="0" lang="es-CL">
                          <a:solidFill>
                            <a:srgbClr val="1F2328"/>
                          </a:solidFill>
                          <a:latin typeface="Inter"/>
                          <a:ea typeface="Inter"/>
                          <a:cs typeface="Inter"/>
                        </a:rPr>
                        <a:t>Endpoint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0F3F6"/>
                    </a:solidFill>
                  </a:tcPr>
                </a:tc>
                <a:tc>
                  <a:txBody>
                    <a:bodyPr wrap="square"/>
                    <a:lstStyle/>
                    <a:p>
                      <a:pPr algn="l" marL="0" indent="0">
                        <a:spcAft>
                          <a:spcPts val="0"/>
                        </a:spcAft>
                        <a:buNone/>
                      </a:pPr>
                      <a:r>
                        <a:rPr sz="850" b="1" i="0" lang="es-CL">
                          <a:solidFill>
                            <a:srgbClr val="1F2328"/>
                          </a:solidFill>
                          <a:latin typeface="Inter"/>
                          <a:ea typeface="Inter"/>
                          <a:cs typeface="Inter"/>
                        </a:rPr>
                        <a:t>Status probados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0F3F6"/>
                    </a:solidFill>
                  </a:tcPr>
                </a:tc>
                <a:tc>
                  <a:txBody>
                    <a:bodyPr wrap="square"/>
                    <a:lstStyle/>
                    <a:p>
                      <a:pPr algn="ctr" marL="0" indent="0">
                        <a:spcAft>
                          <a:spcPts val="0"/>
                        </a:spcAft>
                        <a:buNone/>
                      </a:pP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0F3F6"/>
                    </a:solidFill>
                  </a:tcPr>
                </a:tc>
              </a:tr>
              <a:tr h="310896">
                <a:tc>
                  <a:txBody>
                    <a:bodyPr wrap="square"/>
                    <a:lstStyle/>
                    <a:p>
                      <a:pPr algn="l" marL="0" indent="0">
                        <a:spcAft>
                          <a:spcPts val="0"/>
                        </a:spcAft>
                        <a:buNone/>
                      </a:pPr>
                      <a:r>
                        <a:rPr sz="850" b="0" i="0" lang="es-CL">
                          <a:solidFill>
                            <a:srgbClr val="1F2328"/>
                          </a:solidFill>
                          <a:latin typeface="Inter"/>
                          <a:ea typeface="Inter"/>
                          <a:cs typeface="Inter"/>
                        </a:rPr>
                        <a:t>GET /api/health</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850" b="0" i="0" lang="es-CL">
                          <a:solidFill>
                            <a:srgbClr val="1F2328"/>
                          </a:solidFill>
                          <a:latin typeface="Inter"/>
                          <a:ea typeface="Inter"/>
                          <a:cs typeface="Inter"/>
                        </a:rPr>
                        <a:t>200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850" b="0" i="0" lang="es-CL">
                          <a:solidFill>
                            <a:srgbClr val="38761D"/>
                          </a:solidFill>
                          <a:latin typeface="Inter"/>
                          <a:ea typeface="Inter"/>
                          <a:cs typeface="Inter"/>
                        </a:rPr>
                        <a: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10896">
                <a:tc>
                  <a:txBody>
                    <a:bodyPr wrap="square"/>
                    <a:lstStyle/>
                    <a:p>
                      <a:pPr algn="l" marL="0" indent="0">
                        <a:spcAft>
                          <a:spcPts val="0"/>
                        </a:spcAft>
                        <a:buNone/>
                      </a:pPr>
                      <a:r>
                        <a:rPr sz="850" b="0" i="0" lang="es-CL">
                          <a:solidFill>
                            <a:srgbClr val="1F2328"/>
                          </a:solidFill>
                          <a:latin typeface="Inter"/>
                          <a:ea typeface="Inter"/>
                          <a:cs typeface="Inter"/>
                        </a:rPr>
                        <a:t>GET /api/books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850" b="0" i="0" lang="es-CL">
                          <a:solidFill>
                            <a:srgbClr val="1F2328"/>
                          </a:solidFill>
                          <a:latin typeface="Inter"/>
                          <a:ea typeface="Inter"/>
                          <a:cs typeface="Inter"/>
                        </a:rPr>
                        <a:t>200 · 400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ctr" marL="0" indent="0">
                        <a:spcAft>
                          <a:spcPts val="0"/>
                        </a:spcAft>
                        <a:buNone/>
                      </a:pPr>
                      <a:r>
                        <a:rPr sz="850" b="0" i="0" lang="es-CL">
                          <a:solidFill>
                            <a:srgbClr val="38761D"/>
                          </a:solidFill>
                          <a:latin typeface="Inter"/>
                          <a:ea typeface="Inter"/>
                          <a:cs typeface="Inter"/>
                        </a:rPr>
                        <a: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10896">
                <a:tc>
                  <a:txBody>
                    <a:bodyPr wrap="square"/>
                    <a:lstStyle/>
                    <a:p>
                      <a:pPr algn="l" marL="0" indent="0">
                        <a:spcAft>
                          <a:spcPts val="0"/>
                        </a:spcAft>
                        <a:buNone/>
                      </a:pPr>
                      <a:r>
                        <a:rPr sz="850" b="0" i="0" lang="es-CL">
                          <a:solidFill>
                            <a:srgbClr val="1F2328"/>
                          </a:solidFill>
                          <a:latin typeface="Inter"/>
                          <a:ea typeface="Inter"/>
                          <a:cs typeface="Inter"/>
                        </a:rPr>
                        <a:t>POST /api/books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850" b="0" i="0" lang="es-CL">
                          <a:solidFill>
                            <a:srgbClr val="1F2328"/>
                          </a:solidFill>
                          <a:latin typeface="Inter"/>
                          <a:ea typeface="Inter"/>
                          <a:cs typeface="Inter"/>
                        </a:rPr>
                        <a:t>201 · 400 · 409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850" b="0" i="0" lang="es-CL">
                          <a:solidFill>
                            <a:srgbClr val="38761D"/>
                          </a:solidFill>
                          <a:latin typeface="Inter"/>
                          <a:ea typeface="Inter"/>
                          <a:cs typeface="Inter"/>
                        </a:rPr>
                        <a: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10896">
                <a:tc>
                  <a:txBody>
                    <a:bodyPr wrap="square"/>
                    <a:lstStyle/>
                    <a:p>
                      <a:pPr algn="l" marL="0" indent="0">
                        <a:spcAft>
                          <a:spcPts val="0"/>
                        </a:spcAft>
                        <a:buNone/>
                      </a:pPr>
                      <a:r>
                        <a:rPr sz="850" b="0" i="0" lang="es-CL">
                          <a:solidFill>
                            <a:srgbClr val="1F2328"/>
                          </a:solidFill>
                          <a:latin typeface="Inter"/>
                          <a:ea typeface="Inter"/>
                          <a:cs typeface="Inter"/>
                        </a:rPr>
                        <a:t>GET /api/books/{id}</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850" b="0" i="0" lang="es-CL">
                          <a:solidFill>
                            <a:srgbClr val="1F2328"/>
                          </a:solidFill>
                          <a:latin typeface="Inter"/>
                          <a:ea typeface="Inter"/>
                          <a:cs typeface="Inter"/>
                        </a:rPr>
                        <a:t>200 · 400 · 404</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ctr" marL="0" indent="0">
                        <a:spcAft>
                          <a:spcPts val="0"/>
                        </a:spcAft>
                        <a:buNone/>
                      </a:pPr>
                      <a:r>
                        <a:rPr sz="850" b="0" i="0" lang="es-CL">
                          <a:solidFill>
                            <a:srgbClr val="38761D"/>
                          </a:solidFill>
                          <a:latin typeface="Inter"/>
                          <a:ea typeface="Inter"/>
                          <a:cs typeface="Inter"/>
                        </a:rPr>
                        <a: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10896">
                <a:tc>
                  <a:txBody>
                    <a:bodyPr wrap="square"/>
                    <a:lstStyle/>
                    <a:p>
                      <a:pPr algn="l" marL="0" indent="0">
                        <a:spcAft>
                          <a:spcPts val="0"/>
                        </a:spcAft>
                        <a:buNone/>
                      </a:pPr>
                      <a:r>
                        <a:rPr sz="850" b="0" i="0" lang="es-CL">
                          <a:solidFill>
                            <a:srgbClr val="1F2328"/>
                          </a:solidFill>
                          <a:latin typeface="Inter"/>
                          <a:ea typeface="Inter"/>
                          <a:cs typeface="Inter"/>
                        </a:rPr>
                        <a:t>POST /api/loans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850" b="0" i="0" lang="es-CL">
                          <a:solidFill>
                            <a:srgbClr val="1F2328"/>
                          </a:solidFill>
                          <a:latin typeface="Inter"/>
                          <a:ea typeface="Inter"/>
                          <a:cs typeface="Inter"/>
                        </a:rPr>
                        <a:t>201 · 400 · 404 · 409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850" b="0" i="0" lang="es-CL">
                          <a:solidFill>
                            <a:srgbClr val="38761D"/>
                          </a:solidFill>
                          <a:latin typeface="Inter"/>
                          <a:ea typeface="Inter"/>
                          <a:cs typeface="Inter"/>
                        </a:rPr>
                        <a: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10896">
                <a:tc>
                  <a:txBody>
                    <a:bodyPr wrap="square"/>
                    <a:lstStyle/>
                    <a:p>
                      <a:pPr algn="l" marL="0" indent="0">
                        <a:spcAft>
                          <a:spcPts val="0"/>
                        </a:spcAft>
                        <a:buNone/>
                      </a:pPr>
                      <a:r>
                        <a:rPr sz="850" b="0" i="0" lang="es-CL">
                          <a:solidFill>
                            <a:srgbClr val="1F2328"/>
                          </a:solidFill>
                          <a:latin typeface="Inter"/>
                          <a:ea typeface="Inter"/>
                          <a:cs typeface="Inter"/>
                        </a:rPr>
                        <a:t>GET /api/loans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850" b="0" i="0" lang="es-CL">
                          <a:solidFill>
                            <a:srgbClr val="1F2328"/>
                          </a:solidFill>
                          <a:latin typeface="Inter"/>
                          <a:ea typeface="Inter"/>
                          <a:cs typeface="Inter"/>
                        </a:rPr>
                        <a:t>200 · 400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ctr" marL="0" indent="0">
                        <a:spcAft>
                          <a:spcPts val="0"/>
                        </a:spcAft>
                        <a:buNone/>
                      </a:pPr>
                      <a:r>
                        <a:rPr sz="850" b="0" i="0" lang="es-CL">
                          <a:solidFill>
                            <a:srgbClr val="38761D"/>
                          </a:solidFill>
                          <a:latin typeface="Inter"/>
                          <a:ea typeface="Inter"/>
                          <a:cs typeface="Inter"/>
                        </a:rPr>
                        <a: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10896">
                <a:tc>
                  <a:txBody>
                    <a:bodyPr wrap="square"/>
                    <a:lstStyle/>
                    <a:p>
                      <a:pPr algn="l" marL="0" indent="0">
                        <a:spcAft>
                          <a:spcPts val="0"/>
                        </a:spcAft>
                        <a:buNone/>
                      </a:pPr>
                      <a:r>
                        <a:rPr sz="850" b="0" i="0" lang="es-CL">
                          <a:solidFill>
                            <a:srgbClr val="1F2328"/>
                          </a:solidFill>
                          <a:latin typeface="Inter"/>
                          <a:ea typeface="Inter"/>
                          <a:cs typeface="Inter"/>
                        </a:rPr>
                        <a:t>POST /api/loans/{id}/return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850" b="0" i="0" lang="es-CL">
                          <a:solidFill>
                            <a:srgbClr val="1F2328"/>
                          </a:solidFill>
                          <a:latin typeface="Inter"/>
                          <a:ea typeface="Inter"/>
                          <a:cs typeface="Inter"/>
                        </a:rPr>
                        <a:t>200 · 404 · 409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850" b="0" i="0" lang="es-CL">
                          <a:solidFill>
                            <a:srgbClr val="38761D"/>
                          </a:solidFill>
                          <a:latin typeface="Inter"/>
                          <a:ea typeface="Inter"/>
                          <a:cs typeface="Inter"/>
                        </a:rPr>
                        <a: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Chrome sin interfaz como testigo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TextBox 3"/>
          <p:cNvSpPr txBox="1"/>
          <p:nvPr/>
        </p:nvSpPr>
        <p:spPr>
          <a:xfrm>
            <a:off x="411480" y="1051560"/>
            <a:ext cx="3977639" cy="3429000"/>
          </a:xfrm>
          <a:prstGeom prst="rect">
            <a:avLst/>
          </a:prstGeom>
          <a:noFill/>
        </p:spPr>
        <p:txBody>
          <a:bodyPr wrap="square" lIns="36576" rIns="36576" tIns="36576" bIns="36576" anchor="t"/>
          <a:lstStyle/>
          <a:p>
            <a:pPr algn="l" marL="182880" indent="-164592">
              <a:spcAft>
                <a:spcPts val="600"/>
              </a:spcAft>
              <a:buClr>
                <a:srgbClr val="F2617A"/>
              </a:buClr>
              <a:buSzPct val="100000"/>
              <a:buFont typeface="Arial"/>
              <a:buChar char="●"/>
            </a:pPr>
            <a:r>
              <a:rPr sz="1050" b="0" i="0" lang="es-CL">
                <a:solidFill>
                  <a:srgbClr val="1F2328"/>
                </a:solidFill>
                <a:latin typeface="Inter"/>
                <a:ea typeface="Inter"/>
                <a:cs typeface="Inter"/>
              </a:rPr>
              <a:t>En CI, Playwright lanza </a:t>
            </a:r>
            <a:r>
              <a:rPr sz="1050" b="1" i="0" lang="es-CL">
                <a:solidFill>
                  <a:srgbClr val="1F2328"/>
                </a:solidFill>
                <a:latin typeface="Inter"/>
                <a:ea typeface="Inter"/>
                <a:cs typeface="Inter"/>
              </a:rPr>
              <a:t>Chromium headless</a:t>
            </a:r>
            <a:r>
              <a:rPr sz="1050" b="0" i="0" lang="es-CL">
                <a:solidFill>
                  <a:srgbClr val="1F2328"/>
                </a:solidFill>
                <a:latin typeface="Inter"/>
                <a:ea typeface="Inter"/>
                <a:cs typeface="Inter"/>
              </a:rPr>
              <a:t>: el mismo motor de Chrome, sin ventana.</a:t>
            </a:r>
          </a:p>
          <a:p>
            <a:pPr algn="l" marL="182880" indent="-164592">
              <a:spcAft>
                <a:spcPts val="600"/>
              </a:spcAft>
              <a:buClr>
                <a:srgbClr val="F2617A"/>
              </a:buClr>
              <a:buSzPct val="100000"/>
              <a:buFont typeface="Arial"/>
              <a:buChar char="●"/>
            </a:pPr>
            <a:r>
              <a:rPr sz="1050" b="0" i="0" lang="es-CL">
                <a:solidFill>
                  <a:srgbClr val="1F2328"/>
                </a:solidFill>
                <a:latin typeface="Inter"/>
                <a:ea typeface="Inter"/>
                <a:cs typeface="Inter"/>
              </a:rPr>
              <a:t>Captura en cada paso, video del flujo y trace al fallar: el revisor ve lo mismo que vería una persona.</a:t>
            </a:r>
          </a:p>
          <a:p>
            <a:pPr algn="l" marL="182880" indent="-164592">
              <a:spcAft>
                <a:spcPts val="600"/>
              </a:spcAft>
              <a:buClr>
                <a:srgbClr val="F2617A"/>
              </a:buClr>
              <a:buSzPct val="100000"/>
              <a:buFont typeface="Arial"/>
              <a:buChar char="●"/>
            </a:pPr>
            <a:r>
              <a:rPr sz="1050" b="0" i="0" lang="es-CL">
                <a:solidFill>
                  <a:srgbClr val="1F2328"/>
                </a:solidFill>
                <a:latin typeface="Inter"/>
                <a:ea typeface="Inter"/>
                <a:cs typeface="Inter"/>
              </a:rPr>
              <a:t>El libro toma capturas en el teardown cuando un test falla en CI (Selenium, p. 86).</a:t>
            </a:r>
          </a:p>
          <a:p>
            <a:pPr algn="l" marL="182880" indent="-164592">
              <a:spcAft>
                <a:spcPts val="600"/>
              </a:spcAft>
              <a:buClr>
                <a:srgbClr val="F2617A"/>
              </a:buClr>
              <a:buSzPct val="100000"/>
              <a:buFont typeface="Arial"/>
              <a:buChar char="●"/>
            </a:pPr>
            <a:r>
              <a:rPr sz="1050" b="1" i="0" lang="es-CL">
                <a:solidFill>
                  <a:srgbClr val="1F2328"/>
                </a:solidFill>
                <a:latin typeface="Inter"/>
                <a:ea typeface="Inter"/>
                <a:cs typeface="Inter"/>
              </a:rPr>
              <a:t>Lighthouse</a:t>
            </a:r>
            <a:r>
              <a:rPr sz="1050" b="0" i="0" lang="es-CL">
                <a:solidFill>
                  <a:srgbClr val="1F2328"/>
                </a:solidFill>
                <a:latin typeface="Inter"/>
                <a:ea typeface="Inter"/>
                <a:cs typeface="Inter"/>
              </a:rPr>
              <a:t> corre sobre el mismo Chrome headless: performance, accesibilidad y buenas prácticas (p. 270).</a:t>
            </a:r>
          </a:p>
          <a:p>
            <a:pPr algn="l" marL="182880" indent="-164592">
              <a:spcAft>
                <a:spcPts val="600"/>
              </a:spcAft>
              <a:buClr>
                <a:srgbClr val="F2617A"/>
              </a:buClr>
              <a:buSzPct val="100000"/>
              <a:buFont typeface="Arial"/>
              <a:buChar char="●"/>
            </a:pPr>
            <a:r>
              <a:rPr sz="1050" b="0" i="0" lang="es-CL">
                <a:solidFill>
                  <a:srgbClr val="1F2328"/>
                </a:solidFill>
                <a:latin typeface="Inter"/>
                <a:ea typeface="Inter"/>
                <a:cs typeface="Inter"/>
              </a:rPr>
              <a:t>Chrome DevTools sigue siendo la herramienta de exploración manual (cap. 2).</a:t>
            </a:r>
          </a:p>
        </p:txBody>
      </p:sp>
      <p:sp>
        <p:nvSpPr>
          <p:cNvPr id="5" name="Rounded Rectangle 4"/>
          <p:cNvSpPr/>
          <p:nvPr/>
        </p:nvSpPr>
        <p:spPr>
          <a:xfrm>
            <a:off x="4572000" y="1051560"/>
            <a:ext cx="4160520" cy="3429000"/>
          </a:xfrm>
          <a:prstGeom prst="roundRect">
            <a:avLst>
              <a:gd name="adj" fmla="val 1600"/>
            </a:avLst>
          </a:prstGeom>
          <a:solidFill>
            <a:srgbClr val="F6F8FA"/>
          </a:solidFill>
          <a:ln w="9525">
            <a:solidFill>
              <a:srgbClr val="D0D7DE"/>
            </a:solidFill>
          </a:ln>
        </p:spPr>
        <p:txBody>
          <a:bodyPr rtlCol="0" anchor="ctr" wrap="square" lIns="54864" rIns="54864" tIns="54864" bIns="54864"/>
          <a:lstStyle/>
          <a:p>
            <a:pPr algn="ctr"/>
          </a:p>
        </p:txBody>
      </p:sp>
      <p:sp>
        <p:nvSpPr>
          <p:cNvPr id="6" name="TextBox 5"/>
          <p:cNvSpPr txBox="1"/>
          <p:nvPr/>
        </p:nvSpPr>
        <p:spPr>
          <a:xfrm>
            <a:off x="4681728" y="1106424"/>
            <a:ext cx="394106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frontend/tests/e2e/fixtures.ts (extracto)</a:t>
            </a:r>
          </a:p>
        </p:txBody>
      </p:sp>
      <p:sp>
        <p:nvSpPr>
          <p:cNvPr id="7" name="TextBox 6"/>
          <p:cNvSpPr txBox="1"/>
          <p:nvPr/>
        </p:nvSpPr>
        <p:spPr>
          <a:xfrm>
            <a:off x="4681728" y="1362456"/>
            <a:ext cx="3941063" cy="3063240"/>
          </a:xfrm>
          <a:prstGeom prst="rect">
            <a:avLst/>
          </a:prstGeom>
          <a:noFill/>
        </p:spPr>
        <p:txBody>
          <a:bodyPr wrap="none" lIns="0" rIns="0" tIns="0" bIns="0"/>
          <a:lstStyle/>
          <a:p>
            <a:pPr marL="0" indent="0">
              <a:lnSpc>
                <a:spcPct val="100000"/>
              </a:lnSpc>
              <a:spcAft>
                <a:spcPts val="0"/>
              </a:spcAft>
              <a:buNone/>
            </a:pPr>
            <a:r>
              <a:rPr sz="900" b="0" i="0" lang="es-CL">
                <a:solidFill>
                  <a:srgbClr val="008000"/>
                </a:solidFill>
                <a:latin typeface="Consolas"/>
                <a:ea typeface="Consolas"/>
                <a:cs typeface="Consolas"/>
              </a:rPr>
              <a:t>// Fixtures de los flujos BDD: reloj fijo y capturas</a:t>
            </a:r>
          </a:p>
          <a:p>
            <a:pPr marL="0" indent="0">
              <a:lnSpc>
                <a:spcPct val="100000"/>
              </a:lnSpc>
              <a:spcAft>
                <a:spcPts val="0"/>
              </a:spcAft>
              <a:buNone/>
            </a:pPr>
            <a:r>
              <a:rPr sz="900" b="0" i="0" lang="es-CL">
                <a:solidFill>
                  <a:srgbClr val="008000"/>
                </a:solidFill>
                <a:latin typeface="Consolas"/>
                <a:ea typeface="Consolas"/>
                <a:cs typeface="Consolas"/>
              </a:rPr>
              <a:t>// de evidencia para el PR</a:t>
            </a:r>
          </a:p>
          <a:p>
            <a:pPr marL="0" indent="0">
              <a:lnSpc>
                <a:spcPct val="100000"/>
              </a:lnSpc>
              <a:spcAft>
                <a:spcPts val="0"/>
              </a:spcAft>
              <a:buNone/>
            </a:pPr>
            <a:r>
              <a:rPr sz="900" b="0" i="0" lang="es-CL">
                <a:solidFill>
                  <a:srgbClr val="AF00DB"/>
                </a:solidFill>
                <a:latin typeface="Consolas"/>
                <a:ea typeface="Consolas"/>
                <a:cs typeface="Consolas"/>
              </a:rPr>
              <a:t>export</a:t>
            </a: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const</a:t>
            </a:r>
            <a:r>
              <a:rPr sz="900" b="0" i="0" lang="es-CL">
                <a:solidFill>
                  <a:srgbClr val="1F2328"/>
                </a:solidFill>
                <a:latin typeface="Consolas"/>
                <a:ea typeface="Consolas"/>
                <a:cs typeface="Consolas"/>
              </a:rPr>
              <a:t> </a:t>
            </a:r>
            <a:r>
              <a:rPr sz="900" b="0" i="0" lang="es-CL">
                <a:solidFill>
                  <a:srgbClr val="795E26"/>
                </a:solidFill>
                <a:latin typeface="Consolas"/>
                <a:ea typeface="Consolas"/>
                <a:cs typeface="Consolas"/>
              </a:rPr>
              <a:t>test</a:t>
            </a:r>
            <a:r>
              <a:rPr sz="900" b="0" i="0" lang="es-CL">
                <a:solidFill>
                  <a:srgbClr val="1F2328"/>
                </a:solidFill>
                <a:latin typeface="Consolas"/>
                <a:ea typeface="Consolas"/>
                <a:cs typeface="Consolas"/>
              </a:rPr>
              <a:t> = base.extend&lt;{ evidence: Evidence }&gt;({</a:t>
            </a:r>
          </a:p>
          <a:p>
            <a:pPr marL="0" indent="0">
              <a:lnSpc>
                <a:spcPct val="100000"/>
              </a:lnSpc>
              <a:spcAft>
                <a:spcPts val="0"/>
              </a:spcAft>
              <a:buNone/>
            </a:pPr>
            <a:r>
              <a:rPr sz="900" b="0" i="0" lang="es-CL">
                <a:solidFill>
                  <a:srgbClr val="1F2328"/>
                </a:solidFill>
                <a:latin typeface="Consolas"/>
                <a:ea typeface="Consolas"/>
                <a:cs typeface="Consolas"/>
              </a:rPr>
              <a:t>  page: fixedClockPage,</a:t>
            </a:r>
          </a:p>
          <a:p>
            <a:pPr marL="0" indent="0">
              <a:lnSpc>
                <a:spcPct val="100000"/>
              </a:lnSpc>
              <a:spcAft>
                <a:spcPts val="0"/>
              </a:spcAft>
              <a:buNone/>
            </a:pPr>
            <a:r>
              <a:rPr sz="900" b="0" i="0" lang="es-CL">
                <a:solidFill>
                  <a:srgbClr val="1F2328"/>
                </a:solidFill>
                <a:latin typeface="Consolas"/>
                <a:ea typeface="Consolas"/>
                <a:cs typeface="Consolas"/>
              </a:rPr>
              <a:t>  evidence: </a:t>
            </a:r>
            <a:r>
              <a:rPr sz="900" b="0" i="0" lang="es-CL">
                <a:solidFill>
                  <a:srgbClr val="0000FF"/>
                </a:solidFill>
                <a:latin typeface="Consolas"/>
                <a:ea typeface="Consolas"/>
                <a:cs typeface="Consolas"/>
              </a:rPr>
              <a:t>async</a:t>
            </a:r>
            <a:r>
              <a:rPr sz="900" b="0" i="0" lang="es-CL">
                <a:solidFill>
                  <a:srgbClr val="1F2328"/>
                </a:solidFill>
                <a:latin typeface="Consolas"/>
                <a:ea typeface="Consolas"/>
                <a:cs typeface="Consolas"/>
              </a:rPr>
              <a:t> ({ page }, use, testInfo) =&gt; {</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008000"/>
                </a:solidFill>
                <a:latin typeface="Consolas"/>
                <a:ea typeface="Consolas"/>
                <a:cs typeface="Consolas"/>
              </a:rPr>
              <a:t>// El ID viene del tag del escenario (@FLOW-PRE-01)</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const</a:t>
            </a:r>
            <a:r>
              <a:rPr sz="900" b="0" i="0" lang="es-CL">
                <a:solidFill>
                  <a:srgbClr val="1F2328"/>
                </a:solidFill>
                <a:latin typeface="Consolas"/>
                <a:ea typeface="Consolas"/>
                <a:cs typeface="Consolas"/>
              </a:rPr>
              <a:t> flowId = testInfo.tags</a:t>
            </a:r>
          </a:p>
          <a:p>
            <a:pPr marL="0" indent="0">
              <a:lnSpc>
                <a:spcPct val="100000"/>
              </a:lnSpc>
              <a:spcAft>
                <a:spcPts val="0"/>
              </a:spcAft>
              <a:buNone/>
            </a:pPr>
            <a:r>
              <a:rPr sz="900" b="0" i="0" lang="es-CL">
                <a:solidFill>
                  <a:srgbClr val="1F2328"/>
                </a:solidFill>
                <a:latin typeface="Consolas"/>
                <a:ea typeface="Consolas"/>
                <a:cs typeface="Consolas"/>
              </a:rPr>
              <a:t>      .find((tag) =&gt; tag.startsWith(</a:t>
            </a:r>
            <a:r>
              <a:rPr sz="900" b="0" i="0" lang="es-CL">
                <a:solidFill>
                  <a:srgbClr val="A31515"/>
                </a:solidFill>
                <a:latin typeface="Consolas"/>
                <a:ea typeface="Consolas"/>
                <a:cs typeface="Consolas"/>
              </a:rPr>
              <a:t>'@FLOW-'</a:t>
            </a:r>
            <a:r>
              <a:rPr sz="900" b="0" i="0" lang="es-CL">
                <a:solidFill>
                  <a:srgbClr val="1F2328"/>
                </a:solidFill>
                <a:latin typeface="Consolas"/>
                <a:ea typeface="Consolas"/>
                <a:cs typeface="Consolas"/>
              </a:rPr>
              <a:t>))</a:t>
            </a:r>
          </a:p>
          <a:p>
            <a:pPr marL="0" indent="0">
              <a:lnSpc>
                <a:spcPct val="100000"/>
              </a:lnSpc>
              <a:spcAft>
                <a:spcPts val="0"/>
              </a:spcAft>
              <a:buNone/>
            </a:pPr>
            <a:r>
              <a:rPr sz="900" b="0" i="0" lang="es-CL">
                <a:solidFill>
                  <a:srgbClr val="1F2328"/>
                </a:solidFill>
                <a:latin typeface="Consolas"/>
                <a:ea typeface="Consolas"/>
                <a:cs typeface="Consolas"/>
              </a:rPr>
              <a:t>      ?.slice(</a:t>
            </a:r>
            <a:r>
              <a:rPr sz="900" b="0" i="0" lang="es-CL">
                <a:solidFill>
                  <a:srgbClr val="098658"/>
                </a:solidFill>
                <a:latin typeface="Consolas"/>
                <a:ea typeface="Consolas"/>
                <a:cs typeface="Consolas"/>
              </a:rPr>
              <a:t>1</a:t>
            </a:r>
            <a:r>
              <a:rPr sz="900" b="0" i="0" lang="es-CL">
                <a:solidFill>
                  <a:srgbClr val="1F2328"/>
                </a:solidFill>
                <a:latin typeface="Consolas"/>
                <a:ea typeface="Consolas"/>
                <a:cs typeface="Consolas"/>
              </a:rPr>
              <a:t>) ?? </a:t>
            </a:r>
            <a:r>
              <a:rPr sz="900" b="0" i="0" lang="es-CL">
                <a:solidFill>
                  <a:srgbClr val="A31515"/>
                </a:solidFill>
                <a:latin typeface="Consolas"/>
                <a:ea typeface="Consolas"/>
                <a:cs typeface="Consolas"/>
              </a:rPr>
              <a:t>'SIN-ID'</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let</a:t>
            </a:r>
            <a:r>
              <a:rPr sz="900" b="0" i="0" lang="es-CL">
                <a:solidFill>
                  <a:srgbClr val="1F2328"/>
                </a:solidFill>
                <a:latin typeface="Consolas"/>
                <a:ea typeface="Consolas"/>
                <a:cs typeface="Consolas"/>
              </a:rPr>
              <a:t> counter = </a:t>
            </a:r>
            <a:r>
              <a:rPr sz="900" b="0" i="0" lang="es-CL">
                <a:solidFill>
                  <a:srgbClr val="098658"/>
                </a:solidFill>
                <a:latin typeface="Consolas"/>
                <a:ea typeface="Consolas"/>
                <a:cs typeface="Consolas"/>
              </a:rPr>
              <a:t>0</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F00DB"/>
                </a:solidFill>
                <a:latin typeface="Consolas"/>
                <a:ea typeface="Consolas"/>
                <a:cs typeface="Consolas"/>
              </a:rPr>
              <a:t>await</a:t>
            </a:r>
            <a:r>
              <a:rPr sz="900" b="0" i="0" lang="es-CL">
                <a:solidFill>
                  <a:srgbClr val="1F2328"/>
                </a:solidFill>
                <a:latin typeface="Consolas"/>
                <a:ea typeface="Consolas"/>
                <a:cs typeface="Consolas"/>
              </a:rPr>
              <a:t> use({</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async</a:t>
            </a:r>
            <a:r>
              <a:rPr sz="900" b="0" i="0" lang="es-CL">
                <a:solidFill>
                  <a:srgbClr val="1F2328"/>
                </a:solidFill>
                <a:latin typeface="Consolas"/>
                <a:ea typeface="Consolas"/>
                <a:cs typeface="Consolas"/>
              </a:rPr>
              <a:t> capture(stepTitle) {</a:t>
            </a:r>
          </a:p>
          <a:p>
            <a:pPr marL="0" indent="0">
              <a:lnSpc>
                <a:spcPct val="100000"/>
              </a:lnSpc>
              <a:spcAft>
                <a:spcPts val="0"/>
              </a:spcAft>
              <a:buNone/>
            </a:pPr>
            <a:r>
              <a:rPr sz="900" b="0" i="0" lang="es-CL">
                <a:solidFill>
                  <a:srgbClr val="1F2328"/>
                </a:solidFill>
                <a:latin typeface="Consolas"/>
                <a:ea typeface="Consolas"/>
                <a:cs typeface="Consolas"/>
              </a:rPr>
              <a:t>        counter += </a:t>
            </a:r>
            <a:r>
              <a:rPr sz="900" b="0" i="0" lang="es-CL">
                <a:solidFill>
                  <a:srgbClr val="098658"/>
                </a:solidFill>
                <a:latin typeface="Consolas"/>
                <a:ea typeface="Consolas"/>
                <a:cs typeface="Consolas"/>
              </a:rPr>
              <a:t>1</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0000FF"/>
                </a:solidFill>
                <a:latin typeface="Consolas"/>
                <a:ea typeface="Consolas"/>
                <a:cs typeface="Consolas"/>
              </a:rPr>
              <a:t>const</a:t>
            </a:r>
            <a:r>
              <a:rPr sz="900" b="0" i="0" lang="es-CL">
                <a:solidFill>
                  <a:srgbClr val="1F2328"/>
                </a:solidFill>
                <a:latin typeface="Consolas"/>
                <a:ea typeface="Consolas"/>
                <a:cs typeface="Consolas"/>
              </a:rPr>
              <a:t> name =</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31515"/>
                </a:solidFill>
                <a:latin typeface="Consolas"/>
                <a:ea typeface="Consolas"/>
                <a:cs typeface="Consolas"/>
              </a:rPr>
              <a:t>`${flowId}-${counter}-${slug(stepTitle)}.png`</a:t>
            </a:r>
          </a:p>
          <a:p>
            <a:pPr marL="0" indent="0">
              <a:lnSpc>
                <a:spcPct val="100000"/>
              </a:lnSpc>
              <a:spcAft>
                <a:spcPts val="0"/>
              </a:spcAft>
              <a:buNone/>
            </a:pPr>
            <a:r>
              <a:rPr sz="900" b="0" i="0" lang="es-CL">
                <a:solidFill>
                  <a:srgbClr val="1F2328"/>
                </a:solidFill>
                <a:latin typeface="Consolas"/>
                <a:ea typeface="Consolas"/>
                <a:cs typeface="Consolas"/>
              </a:rPr>
              <a:t>        </a:t>
            </a:r>
            <a:r>
              <a:rPr sz="900" b="0" i="0" lang="es-CL">
                <a:solidFill>
                  <a:srgbClr val="AF00DB"/>
                </a:solidFill>
                <a:latin typeface="Consolas"/>
                <a:ea typeface="Consolas"/>
                <a:cs typeface="Consolas"/>
              </a:rPr>
              <a:t>await</a:t>
            </a:r>
            <a:r>
              <a:rPr sz="900" b="0" i="0" lang="es-CL">
                <a:solidFill>
                  <a:srgbClr val="1F2328"/>
                </a:solidFill>
                <a:latin typeface="Consolas"/>
                <a:ea typeface="Consolas"/>
                <a:cs typeface="Consolas"/>
              </a:rPr>
              <a:t> page.screenshot({ path: join(DIR, name),</a:t>
            </a:r>
          </a:p>
          <a:p>
            <a:pPr marL="0" indent="0">
              <a:lnSpc>
                <a:spcPct val="100000"/>
              </a:lnSpc>
              <a:spcAft>
                <a:spcPts val="0"/>
              </a:spcAft>
              <a:buNone/>
            </a:pPr>
            <a:r>
              <a:rPr sz="900" b="0" i="0" lang="es-CL">
                <a:solidFill>
                  <a:srgbClr val="1F2328"/>
                </a:solidFill>
                <a:latin typeface="Consolas"/>
                <a:ea typeface="Consolas"/>
                <a:cs typeface="Consolas"/>
              </a:rPr>
              <a:t>          animations: </a:t>
            </a:r>
            <a:r>
              <a:rPr sz="900" b="0" i="0" lang="es-CL">
                <a:solidFill>
                  <a:srgbClr val="A31515"/>
                </a:solidFill>
                <a:latin typeface="Consolas"/>
                <a:ea typeface="Consolas"/>
                <a:cs typeface="Consolas"/>
              </a:rPr>
              <a:t>'disabled'</a:t>
            </a:r>
            <a:r>
              <a:rPr sz="900" b="0" i="0" lang="es-CL">
                <a:solidFill>
                  <a:srgbClr val="1F2328"/>
                </a:solidFill>
                <a:latin typeface="Consolas"/>
                <a:ea typeface="Consolas"/>
                <a:cs typeface="Consolas"/>
              </a:rPr>
              <a:t>, caret: </a:t>
            </a:r>
            <a:r>
              <a:rPr sz="900" b="0" i="0" lang="es-CL">
                <a:solidFill>
                  <a:srgbClr val="A31515"/>
                </a:solidFill>
                <a:latin typeface="Consolas"/>
                <a:ea typeface="Consolas"/>
                <a:cs typeface="Consolas"/>
              </a:rPr>
              <a:t>'hide'</a:t>
            </a: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  },</a:t>
            </a:r>
          </a:p>
          <a:p>
            <a:pPr marL="0" indent="0">
              <a:lnSpc>
                <a:spcPct val="100000"/>
              </a:lnSpc>
              <a:spcAft>
                <a:spcPts val="0"/>
              </a:spcAft>
              <a:buNone/>
            </a:pPr>
            <a:r>
              <a:rPr sz="900" b="0" i="0" lang="es-CL">
                <a:solidFill>
                  <a:srgbClr val="1F2328"/>
                </a:solidFill>
                <a:latin typeface="Consolas"/>
                <a:ea typeface="Consolas"/>
                <a:cs typeface="Consolas"/>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7</a:t>
            </a:r>
          </a:p>
          <a:p>
            <a:pPr algn="ctr">
              <a:spcAft>
                <a:spcPts val="1600"/>
              </a:spcAft>
            </a:pPr>
            <a:r>
              <a:rPr sz="3600" b="1" i="0" lang="es-CL">
                <a:solidFill>
                  <a:srgbClr val="4A86E8"/>
                </a:solidFill>
                <a:latin typeface="Bitter"/>
                <a:ea typeface="Bitter"/>
                <a:cs typeface="Bitter"/>
              </a:rPr>
              <a:t>Actividad: renovar un préstamo</a:t>
            </a:r>
          </a:p>
          <a:p>
            <a:pPr algn="ctr">
              <a:spcAft>
                <a:spcPts val="1400"/>
              </a:spcAft>
            </a:pPr>
            <a:r>
              <a:rPr sz="1500" b="0" i="0" lang="es-CL">
                <a:solidFill>
                  <a:srgbClr val="57606A"/>
                </a:solidFill>
                <a:latin typeface="Inter"/>
                <a:ea typeface="Inter"/>
                <a:cs typeface="Inter"/>
              </a:rPr>
              <a:t>SPEC-LIB-03, de la spec al PR con evidencia, con un agente de IA.</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Paso a paso con SDD</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Oval 3"/>
          <p:cNvSpPr/>
          <p:nvPr/>
        </p:nvSpPr>
        <p:spPr>
          <a:xfrm>
            <a:off x="731520" y="1143000"/>
            <a:ext cx="457200" cy="457200"/>
          </a:xfrm>
          <a:prstGeom prst="ellipse">
            <a:avLst/>
          </a:prstGeom>
          <a:solidFill>
            <a:srgbClr val="003D4F"/>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1</a:t>
            </a:r>
          </a:p>
        </p:txBody>
      </p:sp>
      <p:cxnSp>
        <p:nvCxnSpPr>
          <p:cNvPr id="5" name="Connector 4"/>
          <p:cNvCxnSpPr/>
          <p:nvPr/>
        </p:nvCxnSpPr>
        <p:spPr>
          <a:xfrm>
            <a:off x="1207008" y="1371600"/>
            <a:ext cx="710488" cy="0"/>
          </a:xfrm>
          <a:prstGeom prst="line">
            <a:avLst/>
          </a:prstGeom>
          <a:ln w="19050">
            <a:solidFill>
              <a:srgbClr val="8C959F"/>
            </a:solidFill>
          </a:ln>
        </p:spPr>
      </p:cxnSp>
      <p:sp>
        <p:nvSpPr>
          <p:cNvPr id="6" name="TextBox 5"/>
          <p:cNvSpPr txBox="1"/>
          <p:nvPr/>
        </p:nvSpPr>
        <p:spPr>
          <a:xfrm>
            <a:off x="411480" y="1691640"/>
            <a:ext cx="1097280" cy="274320"/>
          </a:xfrm>
          <a:prstGeom prst="rect">
            <a:avLst/>
          </a:prstGeom>
          <a:noFill/>
        </p:spPr>
        <p:txBody>
          <a:bodyPr wrap="square" lIns="36576" rIns="36576" tIns="36576" bIns="36576" anchor="t"/>
          <a:lstStyle/>
          <a:p>
            <a:pPr algn="ctr" marL="0" indent="0">
              <a:spcAft>
                <a:spcPts val="400"/>
              </a:spcAft>
              <a:buNone/>
            </a:pPr>
            <a:r>
              <a:rPr sz="1200" b="1" i="0" lang="es-CL">
                <a:solidFill>
                  <a:srgbClr val="003D4F"/>
                </a:solidFill>
                <a:latin typeface="Inter"/>
                <a:ea typeface="Inter"/>
                <a:cs typeface="Inter"/>
              </a:rPr>
              <a:t>Spec</a:t>
            </a:r>
          </a:p>
        </p:txBody>
      </p:sp>
      <p:sp>
        <p:nvSpPr>
          <p:cNvPr id="7" name="TextBox 6"/>
          <p:cNvSpPr txBox="1"/>
          <p:nvPr/>
        </p:nvSpPr>
        <p:spPr>
          <a:xfrm>
            <a:off x="411480" y="2011680"/>
            <a:ext cx="1097280" cy="1188720"/>
          </a:xfrm>
          <a:prstGeom prst="rect">
            <a:avLst/>
          </a:prstGeom>
          <a:noFill/>
        </p:spPr>
        <p:txBody>
          <a:bodyPr wrap="square" lIns="36576" rIns="36576" tIns="36576" bIns="36576" anchor="t"/>
          <a:lstStyle/>
          <a:p>
            <a:pPr algn="ctr" marL="0" indent="0">
              <a:spcAft>
                <a:spcPts val="400"/>
              </a:spcAft>
              <a:buNone/>
            </a:pPr>
            <a:r>
              <a:rPr sz="950" b="0" i="0" lang="es-CL">
                <a:solidFill>
                  <a:srgbClr val="1F2328"/>
                </a:solidFill>
                <a:latin typeface="Inter"/>
                <a:ea typeface="Inter"/>
                <a:cs typeface="Inter"/>
              </a:rPr>
              <a:t>Escribe SPEC-LIB-03 con RENEW-R1 a R3 (plantilla)</a:t>
            </a:r>
          </a:p>
        </p:txBody>
      </p:sp>
      <p:sp>
        <p:nvSpPr>
          <p:cNvPr id="8" name="Rounded Rectangle 7"/>
          <p:cNvSpPr/>
          <p:nvPr/>
        </p:nvSpPr>
        <p:spPr>
          <a:xfrm>
            <a:off x="640080" y="3246120"/>
            <a:ext cx="640080" cy="256032"/>
          </a:xfrm>
          <a:prstGeom prst="roundRect">
            <a:avLst>
              <a:gd name="adj" fmla="val 21428"/>
            </a:avLst>
          </a:prstGeom>
          <a:solidFill>
            <a:srgbClr val="EDF1F3"/>
          </a:solidFill>
          <a:ln>
            <a:noFill/>
          </a:ln>
        </p:spPr>
        <p:txBody>
          <a:bodyPr rtlCol="0" anchor="ctr" wrap="square" lIns="27432" rIns="27432" tIns="27432" bIns="27432"/>
          <a:lstStyle/>
          <a:p>
            <a:pPr algn="ctr" marL="0" indent="0">
              <a:spcAft>
                <a:spcPts val="200"/>
              </a:spcAft>
              <a:buNone/>
            </a:pPr>
            <a:r>
              <a:rPr sz="850" b="1" i="0" lang="es-CL">
                <a:solidFill>
                  <a:srgbClr val="57606A"/>
                </a:solidFill>
                <a:latin typeface="Inter"/>
                <a:ea typeface="Inter"/>
                <a:cs typeface="Inter"/>
              </a:rPr>
              <a:t>10 min</a:t>
            </a:r>
          </a:p>
        </p:txBody>
      </p:sp>
      <p:sp>
        <p:nvSpPr>
          <p:cNvPr id="9" name="Oval 8"/>
          <p:cNvSpPr/>
          <p:nvPr/>
        </p:nvSpPr>
        <p:spPr>
          <a:xfrm>
            <a:off x="1935784" y="1143000"/>
            <a:ext cx="457200" cy="457200"/>
          </a:xfrm>
          <a:prstGeom prst="ellipse">
            <a:avLst/>
          </a:prstGeom>
          <a:solidFill>
            <a:srgbClr val="47A1AD"/>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2</a:t>
            </a:r>
          </a:p>
        </p:txBody>
      </p:sp>
      <p:cxnSp>
        <p:nvCxnSpPr>
          <p:cNvPr id="10" name="Connector 9"/>
          <p:cNvCxnSpPr/>
          <p:nvPr/>
        </p:nvCxnSpPr>
        <p:spPr>
          <a:xfrm>
            <a:off x="2411272" y="1371600"/>
            <a:ext cx="710489" cy="0"/>
          </a:xfrm>
          <a:prstGeom prst="line">
            <a:avLst/>
          </a:prstGeom>
          <a:ln w="19050">
            <a:solidFill>
              <a:srgbClr val="8C959F"/>
            </a:solidFill>
          </a:ln>
        </p:spPr>
      </p:cxnSp>
      <p:sp>
        <p:nvSpPr>
          <p:cNvPr id="11" name="TextBox 10"/>
          <p:cNvSpPr txBox="1"/>
          <p:nvPr/>
        </p:nvSpPr>
        <p:spPr>
          <a:xfrm>
            <a:off x="1615744" y="1691640"/>
            <a:ext cx="1097280" cy="274320"/>
          </a:xfrm>
          <a:prstGeom prst="rect">
            <a:avLst/>
          </a:prstGeom>
          <a:noFill/>
        </p:spPr>
        <p:txBody>
          <a:bodyPr wrap="square" lIns="36576" rIns="36576" tIns="36576" bIns="36576" anchor="t"/>
          <a:lstStyle/>
          <a:p>
            <a:pPr algn="ctr" marL="0" indent="0">
              <a:spcAft>
                <a:spcPts val="400"/>
              </a:spcAft>
              <a:buNone/>
            </a:pPr>
            <a:r>
              <a:rPr sz="1200" b="1" i="0" lang="es-CL">
                <a:solidFill>
                  <a:srgbClr val="47A1AD"/>
                </a:solidFill>
                <a:latin typeface="Inter"/>
                <a:ea typeface="Inter"/>
                <a:cs typeface="Inter"/>
              </a:rPr>
              <a:t>Contrato</a:t>
            </a:r>
          </a:p>
        </p:txBody>
      </p:sp>
      <p:sp>
        <p:nvSpPr>
          <p:cNvPr id="12" name="TextBox 11"/>
          <p:cNvSpPr txBox="1"/>
          <p:nvPr/>
        </p:nvSpPr>
        <p:spPr>
          <a:xfrm>
            <a:off x="1615744" y="2011680"/>
            <a:ext cx="1097280" cy="1188720"/>
          </a:xfrm>
          <a:prstGeom prst="rect">
            <a:avLst/>
          </a:prstGeom>
          <a:noFill/>
        </p:spPr>
        <p:txBody>
          <a:bodyPr wrap="square" lIns="36576" rIns="36576" tIns="36576" bIns="36576" anchor="t"/>
          <a:lstStyle/>
          <a:p>
            <a:pPr algn="ctr" marL="0" indent="0">
              <a:spcAft>
                <a:spcPts val="400"/>
              </a:spcAft>
              <a:buNone/>
            </a:pPr>
            <a:r>
              <a:rPr sz="950" b="0" i="0" lang="es-CL">
                <a:solidFill>
                  <a:srgbClr val="1F2328"/>
                </a:solidFill>
                <a:latin typeface="Inter"/>
                <a:ea typeface="Inter"/>
                <a:cs typeface="Inter"/>
              </a:rPr>
              <a:t>Agrega la operación renewLoan al OpenAPI</a:t>
            </a:r>
          </a:p>
        </p:txBody>
      </p:sp>
      <p:sp>
        <p:nvSpPr>
          <p:cNvPr id="13" name="Rounded Rectangle 12"/>
          <p:cNvSpPr/>
          <p:nvPr/>
        </p:nvSpPr>
        <p:spPr>
          <a:xfrm>
            <a:off x="1844344" y="3246120"/>
            <a:ext cx="640080" cy="256032"/>
          </a:xfrm>
          <a:prstGeom prst="roundRect">
            <a:avLst>
              <a:gd name="adj" fmla="val 21428"/>
            </a:avLst>
          </a:prstGeom>
          <a:solidFill>
            <a:srgbClr val="EDF1F3"/>
          </a:solidFill>
          <a:ln>
            <a:noFill/>
          </a:ln>
        </p:spPr>
        <p:txBody>
          <a:bodyPr rtlCol="0" anchor="ctr" wrap="square" lIns="27432" rIns="27432" tIns="27432" bIns="27432"/>
          <a:lstStyle/>
          <a:p>
            <a:pPr algn="ctr" marL="0" indent="0">
              <a:spcAft>
                <a:spcPts val="200"/>
              </a:spcAft>
              <a:buNone/>
            </a:pPr>
            <a:r>
              <a:rPr sz="850" b="1" i="0" lang="es-CL">
                <a:solidFill>
                  <a:srgbClr val="57606A"/>
                </a:solidFill>
                <a:latin typeface="Inter"/>
                <a:ea typeface="Inter"/>
                <a:cs typeface="Inter"/>
              </a:rPr>
              <a:t>10 min</a:t>
            </a:r>
          </a:p>
        </p:txBody>
      </p:sp>
      <p:sp>
        <p:nvSpPr>
          <p:cNvPr id="14" name="Oval 13"/>
          <p:cNvSpPr/>
          <p:nvPr/>
        </p:nvSpPr>
        <p:spPr>
          <a:xfrm>
            <a:off x="3140049" y="1143000"/>
            <a:ext cx="457200" cy="457200"/>
          </a:xfrm>
          <a:prstGeom prst="ellipse">
            <a:avLst/>
          </a:prstGeom>
          <a:solidFill>
            <a:srgbClr val="634F7D"/>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3</a:t>
            </a:r>
          </a:p>
        </p:txBody>
      </p:sp>
      <p:cxnSp>
        <p:nvCxnSpPr>
          <p:cNvPr id="15" name="Connector 14"/>
          <p:cNvCxnSpPr/>
          <p:nvPr/>
        </p:nvCxnSpPr>
        <p:spPr>
          <a:xfrm>
            <a:off x="3615537" y="1371600"/>
            <a:ext cx="710489" cy="0"/>
          </a:xfrm>
          <a:prstGeom prst="line">
            <a:avLst/>
          </a:prstGeom>
          <a:ln w="19050">
            <a:solidFill>
              <a:srgbClr val="8C959F"/>
            </a:solidFill>
          </a:ln>
        </p:spPr>
      </p:cxnSp>
      <p:sp>
        <p:nvSpPr>
          <p:cNvPr id="16" name="TextBox 15"/>
          <p:cNvSpPr txBox="1"/>
          <p:nvPr/>
        </p:nvSpPr>
        <p:spPr>
          <a:xfrm>
            <a:off x="2820009" y="1691640"/>
            <a:ext cx="1097280" cy="274320"/>
          </a:xfrm>
          <a:prstGeom prst="rect">
            <a:avLst/>
          </a:prstGeom>
          <a:noFill/>
        </p:spPr>
        <p:txBody>
          <a:bodyPr wrap="square" lIns="36576" rIns="36576" tIns="36576" bIns="36576" anchor="t"/>
          <a:lstStyle/>
          <a:p>
            <a:pPr algn="ctr" marL="0" indent="0">
              <a:spcAft>
                <a:spcPts val="400"/>
              </a:spcAft>
              <a:buNone/>
            </a:pPr>
            <a:r>
              <a:rPr sz="1200" b="1" i="0" lang="es-CL">
                <a:solidFill>
                  <a:srgbClr val="634F7D"/>
                </a:solidFill>
                <a:latin typeface="Inter"/>
                <a:ea typeface="Inter"/>
                <a:cs typeface="Inter"/>
              </a:rPr>
              <a:t>Verifica</a:t>
            </a:r>
          </a:p>
        </p:txBody>
      </p:sp>
      <p:sp>
        <p:nvSpPr>
          <p:cNvPr id="17" name="TextBox 16"/>
          <p:cNvSpPr txBox="1"/>
          <p:nvPr/>
        </p:nvSpPr>
        <p:spPr>
          <a:xfrm>
            <a:off x="2820009" y="2011680"/>
            <a:ext cx="1097280" cy="1188720"/>
          </a:xfrm>
          <a:prstGeom prst="rect">
            <a:avLst/>
          </a:prstGeom>
          <a:noFill/>
        </p:spPr>
        <p:txBody>
          <a:bodyPr wrap="square" lIns="36576" rIns="36576" tIns="36576" bIns="36576" anchor="t"/>
          <a:lstStyle/>
          <a:p>
            <a:pPr algn="ctr" marL="0" indent="0">
              <a:spcAft>
                <a:spcPts val="400"/>
              </a:spcAft>
              <a:buNone/>
            </a:pPr>
            <a:r>
              <a:rPr sz="950" b="0" i="0" lang="es-CL">
                <a:solidFill>
                  <a:srgbClr val="1F2328"/>
                </a:solidFill>
                <a:latin typeface="Inter"/>
                <a:ea typeface="Inter"/>
                <a:cs typeface="Inter"/>
              </a:rPr>
              <a:t>Spectral y oasdiff: ¿cambio compatible?</a:t>
            </a:r>
          </a:p>
        </p:txBody>
      </p:sp>
      <p:sp>
        <p:nvSpPr>
          <p:cNvPr id="18" name="Rounded Rectangle 17"/>
          <p:cNvSpPr/>
          <p:nvPr/>
        </p:nvSpPr>
        <p:spPr>
          <a:xfrm>
            <a:off x="3048609" y="3246120"/>
            <a:ext cx="640080" cy="256032"/>
          </a:xfrm>
          <a:prstGeom prst="roundRect">
            <a:avLst>
              <a:gd name="adj" fmla="val 21428"/>
            </a:avLst>
          </a:prstGeom>
          <a:solidFill>
            <a:srgbClr val="EDF1F3"/>
          </a:solidFill>
          <a:ln>
            <a:noFill/>
          </a:ln>
        </p:spPr>
        <p:txBody>
          <a:bodyPr rtlCol="0" anchor="ctr" wrap="square" lIns="27432" rIns="27432" tIns="27432" bIns="27432"/>
          <a:lstStyle/>
          <a:p>
            <a:pPr algn="ctr" marL="0" indent="0">
              <a:spcAft>
                <a:spcPts val="200"/>
              </a:spcAft>
              <a:buNone/>
            </a:pPr>
            <a:r>
              <a:rPr sz="850" b="1" i="0" lang="es-CL">
                <a:solidFill>
                  <a:srgbClr val="57606A"/>
                </a:solidFill>
                <a:latin typeface="Inter"/>
                <a:ea typeface="Inter"/>
                <a:cs typeface="Inter"/>
              </a:rPr>
              <a:t>5 min</a:t>
            </a:r>
          </a:p>
        </p:txBody>
      </p:sp>
      <p:sp>
        <p:nvSpPr>
          <p:cNvPr id="19" name="Oval 18"/>
          <p:cNvSpPr/>
          <p:nvPr/>
        </p:nvSpPr>
        <p:spPr>
          <a:xfrm>
            <a:off x="4344314" y="1143000"/>
            <a:ext cx="457200" cy="457200"/>
          </a:xfrm>
          <a:prstGeom prst="ellipse">
            <a:avLst/>
          </a:prstGeom>
          <a:solidFill>
            <a:srgbClr val="CC850A"/>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4</a:t>
            </a:r>
          </a:p>
        </p:txBody>
      </p:sp>
      <p:cxnSp>
        <p:nvCxnSpPr>
          <p:cNvPr id="20" name="Connector 19"/>
          <p:cNvCxnSpPr/>
          <p:nvPr/>
        </p:nvCxnSpPr>
        <p:spPr>
          <a:xfrm>
            <a:off x="4819802" y="1371600"/>
            <a:ext cx="710489" cy="0"/>
          </a:xfrm>
          <a:prstGeom prst="line">
            <a:avLst/>
          </a:prstGeom>
          <a:ln w="19050">
            <a:solidFill>
              <a:srgbClr val="8C959F"/>
            </a:solidFill>
          </a:ln>
        </p:spPr>
      </p:cxnSp>
      <p:sp>
        <p:nvSpPr>
          <p:cNvPr id="21" name="TextBox 20"/>
          <p:cNvSpPr txBox="1"/>
          <p:nvPr/>
        </p:nvSpPr>
        <p:spPr>
          <a:xfrm>
            <a:off x="4024274" y="1691640"/>
            <a:ext cx="1097280" cy="274320"/>
          </a:xfrm>
          <a:prstGeom prst="rect">
            <a:avLst/>
          </a:prstGeom>
          <a:noFill/>
        </p:spPr>
        <p:txBody>
          <a:bodyPr wrap="square" lIns="36576" rIns="36576" tIns="36576" bIns="36576" anchor="t"/>
          <a:lstStyle/>
          <a:p>
            <a:pPr algn="ctr" marL="0" indent="0">
              <a:spcAft>
                <a:spcPts val="400"/>
              </a:spcAft>
              <a:buNone/>
            </a:pPr>
            <a:r>
              <a:rPr sz="1200" b="1" i="0" lang="es-CL">
                <a:solidFill>
                  <a:srgbClr val="CC850A"/>
                </a:solidFill>
                <a:latin typeface="Inter"/>
                <a:ea typeface="Inter"/>
                <a:cs typeface="Inter"/>
              </a:rPr>
              <a:t>Plan</a:t>
            </a:r>
          </a:p>
        </p:txBody>
      </p:sp>
      <p:sp>
        <p:nvSpPr>
          <p:cNvPr id="22" name="TextBox 21"/>
          <p:cNvSpPr txBox="1"/>
          <p:nvPr/>
        </p:nvSpPr>
        <p:spPr>
          <a:xfrm>
            <a:off x="4024274" y="2011680"/>
            <a:ext cx="1097280" cy="1188720"/>
          </a:xfrm>
          <a:prstGeom prst="rect">
            <a:avLst/>
          </a:prstGeom>
          <a:noFill/>
        </p:spPr>
        <p:txBody>
          <a:bodyPr wrap="square" lIns="36576" rIns="36576" tIns="36576" bIns="36576" anchor="t"/>
          <a:lstStyle/>
          <a:p>
            <a:pPr algn="ctr" marL="0" indent="0">
              <a:spcAft>
                <a:spcPts val="400"/>
              </a:spcAft>
              <a:buNone/>
            </a:pPr>
            <a:r>
              <a:rPr sz="950" b="0" i="0" lang="es-CL">
                <a:solidFill>
                  <a:srgbClr val="1F2328"/>
                </a:solidFill>
                <a:latin typeface="Inter"/>
                <a:ea typeface="Inter"/>
                <a:cs typeface="Inter"/>
              </a:rPr>
              <a:t>El agente propone casos. Tú apruebas o podas</a:t>
            </a:r>
          </a:p>
        </p:txBody>
      </p:sp>
      <p:sp>
        <p:nvSpPr>
          <p:cNvPr id="23" name="Rounded Rectangle 22"/>
          <p:cNvSpPr/>
          <p:nvPr/>
        </p:nvSpPr>
        <p:spPr>
          <a:xfrm>
            <a:off x="4252874" y="3246120"/>
            <a:ext cx="640080" cy="256032"/>
          </a:xfrm>
          <a:prstGeom prst="roundRect">
            <a:avLst>
              <a:gd name="adj" fmla="val 21428"/>
            </a:avLst>
          </a:prstGeom>
          <a:solidFill>
            <a:srgbClr val="EDF1F3"/>
          </a:solidFill>
          <a:ln>
            <a:noFill/>
          </a:ln>
        </p:spPr>
        <p:txBody>
          <a:bodyPr rtlCol="0" anchor="ctr" wrap="square" lIns="27432" rIns="27432" tIns="27432" bIns="27432"/>
          <a:lstStyle/>
          <a:p>
            <a:pPr algn="ctr" marL="0" indent="0">
              <a:spcAft>
                <a:spcPts val="200"/>
              </a:spcAft>
              <a:buNone/>
            </a:pPr>
            <a:r>
              <a:rPr sz="850" b="1" i="0" lang="es-CL">
                <a:solidFill>
                  <a:srgbClr val="57606A"/>
                </a:solidFill>
                <a:latin typeface="Inter"/>
                <a:ea typeface="Inter"/>
                <a:cs typeface="Inter"/>
              </a:rPr>
              <a:t>10 min</a:t>
            </a:r>
          </a:p>
        </p:txBody>
      </p:sp>
      <p:sp>
        <p:nvSpPr>
          <p:cNvPr id="24" name="Oval 23"/>
          <p:cNvSpPr/>
          <p:nvPr/>
        </p:nvSpPr>
        <p:spPr>
          <a:xfrm>
            <a:off x="5548579" y="1143000"/>
            <a:ext cx="457200" cy="457200"/>
          </a:xfrm>
          <a:prstGeom prst="ellipse">
            <a:avLst/>
          </a:prstGeom>
          <a:solidFill>
            <a:srgbClr val="980000"/>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5</a:t>
            </a:r>
          </a:p>
        </p:txBody>
      </p:sp>
      <p:cxnSp>
        <p:nvCxnSpPr>
          <p:cNvPr id="25" name="Connector 24"/>
          <p:cNvCxnSpPr/>
          <p:nvPr/>
        </p:nvCxnSpPr>
        <p:spPr>
          <a:xfrm>
            <a:off x="6024067" y="1371600"/>
            <a:ext cx="710489" cy="0"/>
          </a:xfrm>
          <a:prstGeom prst="line">
            <a:avLst/>
          </a:prstGeom>
          <a:ln w="19050">
            <a:solidFill>
              <a:srgbClr val="8C959F"/>
            </a:solidFill>
          </a:ln>
        </p:spPr>
      </p:cxnSp>
      <p:sp>
        <p:nvSpPr>
          <p:cNvPr id="26" name="TextBox 25"/>
          <p:cNvSpPr txBox="1"/>
          <p:nvPr/>
        </p:nvSpPr>
        <p:spPr>
          <a:xfrm>
            <a:off x="5228539" y="1691640"/>
            <a:ext cx="1097280" cy="274320"/>
          </a:xfrm>
          <a:prstGeom prst="rect">
            <a:avLst/>
          </a:prstGeom>
          <a:noFill/>
        </p:spPr>
        <p:txBody>
          <a:bodyPr wrap="square" lIns="36576" rIns="36576" tIns="36576" bIns="36576" anchor="t"/>
          <a:lstStyle/>
          <a:p>
            <a:pPr algn="ctr" marL="0" indent="0">
              <a:spcAft>
                <a:spcPts val="400"/>
              </a:spcAft>
              <a:buNone/>
            </a:pPr>
            <a:r>
              <a:rPr sz="1200" b="1" i="0" lang="es-CL">
                <a:solidFill>
                  <a:srgbClr val="980000"/>
                </a:solidFill>
                <a:latin typeface="Inter"/>
                <a:ea typeface="Inter"/>
                <a:cs typeface="Inter"/>
              </a:rPr>
              <a:t>Rojo</a:t>
            </a:r>
          </a:p>
        </p:txBody>
      </p:sp>
      <p:sp>
        <p:nvSpPr>
          <p:cNvPr id="27" name="TextBox 26"/>
          <p:cNvSpPr txBox="1"/>
          <p:nvPr/>
        </p:nvSpPr>
        <p:spPr>
          <a:xfrm>
            <a:off x="5228539" y="2011680"/>
            <a:ext cx="1097280" cy="1188720"/>
          </a:xfrm>
          <a:prstGeom prst="rect">
            <a:avLst/>
          </a:prstGeom>
          <a:noFill/>
        </p:spPr>
        <p:txBody>
          <a:bodyPr wrap="square" lIns="36576" rIns="36576" tIns="36576" bIns="36576" anchor="t"/>
          <a:lstStyle/>
          <a:p>
            <a:pPr algn="ctr" marL="0" indent="0">
              <a:spcAft>
                <a:spcPts val="400"/>
              </a:spcAft>
              <a:buNone/>
            </a:pPr>
            <a:r>
              <a:rPr sz="950" b="0" i="0" lang="es-CL">
                <a:solidFill>
                  <a:srgbClr val="1F2328"/>
                </a:solidFill>
                <a:latin typeface="Inter"/>
                <a:ea typeface="Inter"/>
                <a:cs typeface="Inter"/>
              </a:rPr>
              <a:t>Tests que fallan, capa por capa, uno a la vez</a:t>
            </a:r>
          </a:p>
        </p:txBody>
      </p:sp>
      <p:sp>
        <p:nvSpPr>
          <p:cNvPr id="28" name="Rounded Rectangle 27"/>
          <p:cNvSpPr/>
          <p:nvPr/>
        </p:nvSpPr>
        <p:spPr>
          <a:xfrm>
            <a:off x="5457139" y="3246120"/>
            <a:ext cx="640080" cy="256032"/>
          </a:xfrm>
          <a:prstGeom prst="roundRect">
            <a:avLst>
              <a:gd name="adj" fmla="val 21428"/>
            </a:avLst>
          </a:prstGeom>
          <a:solidFill>
            <a:srgbClr val="EDF1F3"/>
          </a:solidFill>
          <a:ln>
            <a:noFill/>
          </a:ln>
        </p:spPr>
        <p:txBody>
          <a:bodyPr rtlCol="0" anchor="ctr" wrap="square" lIns="27432" rIns="27432" tIns="27432" bIns="27432"/>
          <a:lstStyle/>
          <a:p>
            <a:pPr algn="ctr" marL="0" indent="0">
              <a:spcAft>
                <a:spcPts val="200"/>
              </a:spcAft>
              <a:buNone/>
            </a:pPr>
            <a:r>
              <a:rPr sz="850" b="1" i="0" lang="es-CL">
                <a:solidFill>
                  <a:srgbClr val="57606A"/>
                </a:solidFill>
                <a:latin typeface="Inter"/>
                <a:ea typeface="Inter"/>
                <a:cs typeface="Inter"/>
              </a:rPr>
              <a:t>20 min</a:t>
            </a:r>
          </a:p>
        </p:txBody>
      </p:sp>
      <p:sp>
        <p:nvSpPr>
          <p:cNvPr id="29" name="Oval 28"/>
          <p:cNvSpPr/>
          <p:nvPr/>
        </p:nvSpPr>
        <p:spPr>
          <a:xfrm>
            <a:off x="6752844" y="1143000"/>
            <a:ext cx="457200" cy="457200"/>
          </a:xfrm>
          <a:prstGeom prst="ellipse">
            <a:avLst/>
          </a:prstGeom>
          <a:solidFill>
            <a:srgbClr val="38761D"/>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6</a:t>
            </a:r>
          </a:p>
        </p:txBody>
      </p:sp>
      <p:cxnSp>
        <p:nvCxnSpPr>
          <p:cNvPr id="30" name="Connector 29"/>
          <p:cNvCxnSpPr/>
          <p:nvPr/>
        </p:nvCxnSpPr>
        <p:spPr>
          <a:xfrm>
            <a:off x="7228331" y="1371600"/>
            <a:ext cx="710489" cy="0"/>
          </a:xfrm>
          <a:prstGeom prst="line">
            <a:avLst/>
          </a:prstGeom>
          <a:ln w="19050">
            <a:solidFill>
              <a:srgbClr val="8C959F"/>
            </a:solidFill>
          </a:ln>
        </p:spPr>
      </p:cxnSp>
      <p:sp>
        <p:nvSpPr>
          <p:cNvPr id="31" name="TextBox 30"/>
          <p:cNvSpPr txBox="1"/>
          <p:nvPr/>
        </p:nvSpPr>
        <p:spPr>
          <a:xfrm>
            <a:off x="6432804" y="1691640"/>
            <a:ext cx="1097280" cy="274320"/>
          </a:xfrm>
          <a:prstGeom prst="rect">
            <a:avLst/>
          </a:prstGeom>
          <a:noFill/>
        </p:spPr>
        <p:txBody>
          <a:bodyPr wrap="square" lIns="36576" rIns="36576" tIns="36576" bIns="36576" anchor="t"/>
          <a:lstStyle/>
          <a:p>
            <a:pPr algn="ctr" marL="0" indent="0">
              <a:spcAft>
                <a:spcPts val="400"/>
              </a:spcAft>
              <a:buNone/>
            </a:pPr>
            <a:r>
              <a:rPr sz="1200" b="1" i="0" lang="es-CL">
                <a:solidFill>
                  <a:srgbClr val="38761D"/>
                </a:solidFill>
                <a:latin typeface="Inter"/>
                <a:ea typeface="Inter"/>
                <a:cs typeface="Inter"/>
              </a:rPr>
              <a:t>Verde</a:t>
            </a:r>
          </a:p>
        </p:txBody>
      </p:sp>
      <p:sp>
        <p:nvSpPr>
          <p:cNvPr id="32" name="TextBox 31"/>
          <p:cNvSpPr txBox="1"/>
          <p:nvPr/>
        </p:nvSpPr>
        <p:spPr>
          <a:xfrm>
            <a:off x="6432804" y="2011680"/>
            <a:ext cx="1097280" cy="1188720"/>
          </a:xfrm>
          <a:prstGeom prst="rect">
            <a:avLst/>
          </a:prstGeom>
          <a:noFill/>
        </p:spPr>
        <p:txBody>
          <a:bodyPr wrap="square" lIns="36576" rIns="36576" tIns="36576" bIns="36576" anchor="t"/>
          <a:lstStyle/>
          <a:p>
            <a:pPr algn="ctr" marL="0" indent="0">
              <a:spcAft>
                <a:spcPts val="400"/>
              </a:spcAft>
              <a:buNone/>
            </a:pPr>
            <a:r>
              <a:rPr sz="950" b="0" i="0" lang="es-CL">
                <a:solidFill>
                  <a:srgbClr val="1F2328"/>
                </a:solidFill>
                <a:latin typeface="Inter"/>
                <a:ea typeface="Inter"/>
                <a:cs typeface="Inter"/>
              </a:rPr>
              <a:t>Código mínimo. spec-trace sin huérfanos</a:t>
            </a:r>
          </a:p>
        </p:txBody>
      </p:sp>
      <p:sp>
        <p:nvSpPr>
          <p:cNvPr id="33" name="Rounded Rectangle 32"/>
          <p:cNvSpPr/>
          <p:nvPr/>
        </p:nvSpPr>
        <p:spPr>
          <a:xfrm>
            <a:off x="6661404" y="3246120"/>
            <a:ext cx="640080" cy="256032"/>
          </a:xfrm>
          <a:prstGeom prst="roundRect">
            <a:avLst>
              <a:gd name="adj" fmla="val 21428"/>
            </a:avLst>
          </a:prstGeom>
          <a:solidFill>
            <a:srgbClr val="EDF1F3"/>
          </a:solidFill>
          <a:ln>
            <a:noFill/>
          </a:ln>
        </p:spPr>
        <p:txBody>
          <a:bodyPr rtlCol="0" anchor="ctr" wrap="square" lIns="27432" rIns="27432" tIns="27432" bIns="27432"/>
          <a:lstStyle/>
          <a:p>
            <a:pPr algn="ctr" marL="0" indent="0">
              <a:spcAft>
                <a:spcPts val="200"/>
              </a:spcAft>
              <a:buNone/>
            </a:pPr>
            <a:r>
              <a:rPr sz="850" b="1" i="0" lang="es-CL">
                <a:solidFill>
                  <a:srgbClr val="57606A"/>
                </a:solidFill>
                <a:latin typeface="Inter"/>
                <a:ea typeface="Inter"/>
                <a:cs typeface="Inter"/>
              </a:rPr>
              <a:t>20 min</a:t>
            </a:r>
          </a:p>
        </p:txBody>
      </p:sp>
      <p:sp>
        <p:nvSpPr>
          <p:cNvPr id="34" name="Oval 33"/>
          <p:cNvSpPr/>
          <p:nvPr/>
        </p:nvSpPr>
        <p:spPr>
          <a:xfrm>
            <a:off x="7957108" y="1143000"/>
            <a:ext cx="457200" cy="457200"/>
          </a:xfrm>
          <a:prstGeom prst="ellipse">
            <a:avLst/>
          </a:prstGeom>
          <a:solidFill>
            <a:srgbClr val="4A86E8"/>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7</a:t>
            </a:r>
          </a:p>
        </p:txBody>
      </p:sp>
      <p:sp>
        <p:nvSpPr>
          <p:cNvPr id="35" name="TextBox 34"/>
          <p:cNvSpPr txBox="1"/>
          <p:nvPr/>
        </p:nvSpPr>
        <p:spPr>
          <a:xfrm>
            <a:off x="7637068" y="1691640"/>
            <a:ext cx="1097280" cy="274320"/>
          </a:xfrm>
          <a:prstGeom prst="rect">
            <a:avLst/>
          </a:prstGeom>
          <a:noFill/>
        </p:spPr>
        <p:txBody>
          <a:bodyPr wrap="square" lIns="36576" rIns="36576" tIns="36576" bIns="36576" anchor="t"/>
          <a:lstStyle/>
          <a:p>
            <a:pPr algn="ctr" marL="0" indent="0">
              <a:spcAft>
                <a:spcPts val="400"/>
              </a:spcAft>
              <a:buNone/>
            </a:pPr>
            <a:r>
              <a:rPr sz="1200" b="1" i="0" lang="es-CL">
                <a:solidFill>
                  <a:srgbClr val="4A86E8"/>
                </a:solidFill>
                <a:latin typeface="Inter"/>
                <a:ea typeface="Inter"/>
                <a:cs typeface="Inter"/>
              </a:rPr>
              <a:t>PR</a:t>
            </a:r>
          </a:p>
        </p:txBody>
      </p:sp>
      <p:sp>
        <p:nvSpPr>
          <p:cNvPr id="36" name="TextBox 35"/>
          <p:cNvSpPr txBox="1"/>
          <p:nvPr/>
        </p:nvSpPr>
        <p:spPr>
          <a:xfrm>
            <a:off x="7637068" y="2011680"/>
            <a:ext cx="1097280" cy="1188720"/>
          </a:xfrm>
          <a:prstGeom prst="rect">
            <a:avLst/>
          </a:prstGeom>
          <a:noFill/>
        </p:spPr>
        <p:txBody>
          <a:bodyPr wrap="square" lIns="36576" rIns="36576" tIns="36576" bIns="36576" anchor="t"/>
          <a:lstStyle/>
          <a:p>
            <a:pPr algn="ctr" marL="0" indent="0">
              <a:spcAft>
                <a:spcPts val="400"/>
              </a:spcAft>
              <a:buNone/>
            </a:pPr>
            <a:r>
              <a:rPr sz="950" b="0" i="0" lang="es-CL">
                <a:solidFill>
                  <a:srgbClr val="1F2328"/>
                </a:solidFill>
                <a:latin typeface="Inter"/>
                <a:ea typeface="Inter"/>
                <a:cs typeface="Inter"/>
              </a:rPr>
              <a:t>Lee la evidencia y el comentario del revisor IA</a:t>
            </a:r>
          </a:p>
        </p:txBody>
      </p:sp>
      <p:sp>
        <p:nvSpPr>
          <p:cNvPr id="37" name="Rounded Rectangle 36"/>
          <p:cNvSpPr/>
          <p:nvPr/>
        </p:nvSpPr>
        <p:spPr>
          <a:xfrm>
            <a:off x="7865668" y="3246120"/>
            <a:ext cx="640080" cy="256032"/>
          </a:xfrm>
          <a:prstGeom prst="roundRect">
            <a:avLst>
              <a:gd name="adj" fmla="val 21428"/>
            </a:avLst>
          </a:prstGeom>
          <a:solidFill>
            <a:srgbClr val="EDF1F3"/>
          </a:solidFill>
          <a:ln>
            <a:noFill/>
          </a:ln>
        </p:spPr>
        <p:txBody>
          <a:bodyPr rtlCol="0" anchor="ctr" wrap="square" lIns="27432" rIns="27432" tIns="27432" bIns="27432"/>
          <a:lstStyle/>
          <a:p>
            <a:pPr algn="ctr" marL="0" indent="0">
              <a:spcAft>
                <a:spcPts val="200"/>
              </a:spcAft>
              <a:buNone/>
            </a:pPr>
            <a:r>
              <a:rPr sz="850" b="1" i="0" lang="es-CL">
                <a:solidFill>
                  <a:srgbClr val="57606A"/>
                </a:solidFill>
                <a:latin typeface="Inter"/>
                <a:ea typeface="Inter"/>
                <a:cs typeface="Inter"/>
              </a:rPr>
              <a:t>15 min</a:t>
            </a:r>
          </a:p>
        </p:txBody>
      </p:sp>
      <p:sp>
        <p:nvSpPr>
          <p:cNvPr id="38" name="Rounded Rectangle 37"/>
          <p:cNvSpPr/>
          <p:nvPr/>
        </p:nvSpPr>
        <p:spPr>
          <a:xfrm>
            <a:off x="411480" y="3703320"/>
            <a:ext cx="8321040" cy="777240"/>
          </a:xfrm>
          <a:prstGeom prst="roundRect">
            <a:avLst>
              <a:gd name="adj" fmla="val 11764"/>
            </a:avLst>
          </a:prstGeom>
          <a:solidFill>
            <a:srgbClr val="DCE9F7"/>
          </a:solidFill>
          <a:ln>
            <a:noFill/>
          </a:ln>
        </p:spPr>
        <p:txBody>
          <a:bodyPr rtlCol="0" anchor="ctr" wrap="square" lIns="54864" rIns="54864" tIns="54864" bIns="54864"/>
          <a:lstStyle/>
          <a:p>
            <a:pPr algn="ctr"/>
          </a:p>
        </p:txBody>
      </p:sp>
      <p:sp>
        <p:nvSpPr>
          <p:cNvPr id="39" name="TextBox 38"/>
          <p:cNvSpPr txBox="1"/>
          <p:nvPr/>
        </p:nvSpPr>
        <p:spPr>
          <a:xfrm>
            <a:off x="548640" y="3749039"/>
            <a:ext cx="8046720" cy="685800"/>
          </a:xfrm>
          <a:prstGeom prst="rect">
            <a:avLst/>
          </a:prstGeom>
          <a:noFill/>
        </p:spPr>
        <p:txBody>
          <a:bodyPr wrap="square" lIns="36576" rIns="36576" tIns="36576" bIns="36576" anchor="ctr"/>
          <a:lstStyle/>
          <a:p>
            <a:pPr algn="l" marL="0" indent="0">
              <a:spcAft>
                <a:spcPts val="400"/>
              </a:spcAft>
              <a:buNone/>
            </a:pPr>
            <a:r>
              <a:rPr sz="1100" b="0" i="0" lang="es-CL">
                <a:solidFill>
                  <a:srgbClr val="1F2328"/>
                </a:solidFill>
                <a:latin typeface="Inter"/>
                <a:ea typeface="Inter"/>
                <a:cs typeface="Inter"/>
              </a:rPr>
              <a:t>Regla de la actividad: </a:t>
            </a:r>
            <a:r>
              <a:rPr sz="1100" b="1" i="0" lang="es-CL">
                <a:solidFill>
                  <a:srgbClr val="1F2328"/>
                </a:solidFill>
                <a:latin typeface="Inter"/>
                <a:ea typeface="Inter"/>
                <a:cs typeface="Inter"/>
              </a:rPr>
              <a:t>ningún paso se salta</a:t>
            </a:r>
            <a:r>
              <a:rPr sz="1100" b="0" i="0" lang="es-CL">
                <a:solidFill>
                  <a:srgbClr val="1F2328"/>
                </a:solidFill>
                <a:latin typeface="Inter"/>
                <a:ea typeface="Inter"/>
                <a:cs typeface="Inter"/>
              </a:rPr>
              <a:t>. Si el agente escribe código antes de que apruebes el plan, se descarta y se vuelve al paso 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Borrador de SPEC-LIB-03: Renovar préstamo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5120640" cy="3429000"/>
          </a:xfrm>
          <a:prstGeom prst="roundRect">
            <a:avLst>
              <a:gd name="adj" fmla="val 1600"/>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106424"/>
            <a:ext cx="4901183"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specs/features/SPEC-LIB-03-renovacion.md</a:t>
            </a:r>
          </a:p>
        </p:txBody>
      </p:sp>
      <p:sp>
        <p:nvSpPr>
          <p:cNvPr id="6" name="TextBox 5"/>
          <p:cNvSpPr txBox="1"/>
          <p:nvPr/>
        </p:nvSpPr>
        <p:spPr>
          <a:xfrm>
            <a:off x="521208" y="1362456"/>
            <a:ext cx="4901183" cy="3063240"/>
          </a:xfrm>
          <a:prstGeom prst="rect">
            <a:avLst/>
          </a:prstGeom>
          <a:noFill/>
        </p:spPr>
        <p:txBody>
          <a:bodyPr wrap="none" lIns="0" rIns="0" tIns="0" bIns="0"/>
          <a:lstStyle/>
          <a:p>
            <a:pPr marL="0" indent="0">
              <a:lnSpc>
                <a:spcPct val="100000"/>
              </a:lnSpc>
              <a:spcAft>
                <a:spcPts val="0"/>
              </a:spcAft>
              <a:buNone/>
            </a:pPr>
            <a:r>
              <a:rPr sz="950" b="1" i="0" lang="es-CL">
                <a:solidFill>
                  <a:srgbClr val="003D4F"/>
                </a:solidFill>
                <a:latin typeface="Consolas"/>
                <a:ea typeface="Consolas"/>
                <a:cs typeface="Consolas"/>
              </a:rPr>
              <a:t># SPEC-LIB-03 · Renovar préstamo</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1" i="0" lang="es-CL">
                <a:solidFill>
                  <a:srgbClr val="003D4F"/>
                </a:solidFill>
                <a:latin typeface="Consolas"/>
                <a:ea typeface="Consolas"/>
                <a:cs typeface="Consolas"/>
              </a:rPr>
              <a:t>## Reglas de negocio (borrador para completar)</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0" i="0" lang="es-CL">
                <a:solidFill>
                  <a:srgbClr val="1F2328"/>
                </a:solidFill>
                <a:latin typeface="Consolas"/>
                <a:ea typeface="Consolas"/>
                <a:cs typeface="Consolas"/>
              </a:rPr>
              <a:t>- </a:t>
            </a:r>
            <a:r>
              <a:rPr sz="950" b="1" i="0" lang="es-CL">
                <a:solidFill>
                  <a:srgbClr val="1F2328"/>
                </a:solidFill>
                <a:latin typeface="Consolas"/>
                <a:ea typeface="Consolas"/>
                <a:cs typeface="Consolas"/>
              </a:rPr>
              <a:t>**RENEW-R1 · Solo préstamos activos.**</a:t>
            </a:r>
            <a:r>
              <a:rPr sz="950" b="0" i="0" lang="es-CL">
                <a:solidFill>
                  <a:srgbClr val="1F2328"/>
                </a:solidFill>
                <a:latin typeface="Consolas"/>
                <a:ea typeface="Consolas"/>
                <a:cs typeface="Consolas"/>
              </a:rPr>
              <a:t> Se renueva</a:t>
            </a:r>
          </a:p>
          <a:p>
            <a:pPr marL="0" indent="0">
              <a:lnSpc>
                <a:spcPct val="100000"/>
              </a:lnSpc>
              <a:spcAft>
                <a:spcPts val="0"/>
              </a:spcAft>
              <a:buNone/>
            </a:pPr>
            <a:r>
              <a:rPr sz="950" b="0" i="0" lang="es-CL">
                <a:solidFill>
                  <a:srgbClr val="1F2328"/>
                </a:solidFill>
                <a:latin typeface="Consolas"/>
                <a:ea typeface="Consolas"/>
                <a:cs typeface="Consolas"/>
              </a:rPr>
              <a:t>  un préstamo </a:t>
            </a:r>
            <a:r>
              <a:rPr sz="950" b="0" i="0" lang="es-CL">
                <a:solidFill>
                  <a:srgbClr val="A31515"/>
                </a:solidFill>
                <a:latin typeface="Consolas"/>
                <a:ea typeface="Consolas"/>
                <a:cs typeface="Consolas"/>
              </a:rPr>
              <a:t>`ACTIVE`</a:t>
            </a:r>
            <a:r>
              <a:rPr sz="950" b="0" i="0" lang="es-CL">
                <a:solidFill>
                  <a:srgbClr val="1F2328"/>
                </a:solidFill>
                <a:latin typeface="Consolas"/>
                <a:ea typeface="Consolas"/>
                <a:cs typeface="Consolas"/>
              </a:rPr>
              <a:t>. Vencido o devuelto: 409</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`LOAN_NOT_RENEWABLE`</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r>
              <a:rPr sz="950" b="1" i="0" lang="es-CL">
                <a:solidFill>
                  <a:srgbClr val="1F2328"/>
                </a:solidFill>
                <a:latin typeface="Consolas"/>
                <a:ea typeface="Consolas"/>
                <a:cs typeface="Consolas"/>
              </a:rPr>
              <a:t>**RENEW-R2 · Una renovación.**</a:t>
            </a:r>
            <a:r>
              <a:rPr sz="950" b="0" i="0" lang="es-CL">
                <a:solidFill>
                  <a:srgbClr val="1F2328"/>
                </a:solidFill>
                <a:latin typeface="Consolas"/>
                <a:ea typeface="Consolas"/>
                <a:cs typeface="Consolas"/>
              </a:rPr>
              <a:t> Cada préstamo se</a:t>
            </a:r>
          </a:p>
          <a:p>
            <a:pPr marL="0" indent="0">
              <a:lnSpc>
                <a:spcPct val="100000"/>
              </a:lnSpc>
              <a:spcAft>
                <a:spcPts val="0"/>
              </a:spcAft>
              <a:buNone/>
            </a:pPr>
            <a:r>
              <a:rPr sz="950" b="0" i="0" lang="es-CL">
                <a:solidFill>
                  <a:srgbClr val="1F2328"/>
                </a:solidFill>
                <a:latin typeface="Consolas"/>
                <a:ea typeface="Consolas"/>
                <a:cs typeface="Consolas"/>
              </a:rPr>
              <a:t>  renueva como máximo 1 vez: 409</a:t>
            </a:r>
          </a:p>
          <a:p>
            <a:pPr marL="0" indent="0">
              <a:lnSpc>
                <a:spcPct val="100000"/>
              </a:lnSpc>
              <a:spcAft>
                <a:spcPts val="0"/>
              </a:spcAft>
              <a:buNone/>
            </a:pP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`RENEWAL_LIMIT_REACHED`</a:t>
            </a:r>
            <a:r>
              <a:rPr sz="950" b="0" i="0" lang="es-CL">
                <a:solidFill>
                  <a:srgbClr val="1F2328"/>
                </a:solidFill>
                <a:latin typeface="Consolas"/>
                <a:ea typeface="Consolas"/>
                <a:cs typeface="Consolas"/>
              </a:rPr>
              <a:t>.</a:t>
            </a:r>
          </a:p>
          <a:p>
            <a:pPr marL="0" indent="0">
              <a:lnSpc>
                <a:spcPct val="100000"/>
              </a:lnSpc>
              <a:spcAft>
                <a:spcPts val="0"/>
              </a:spcAft>
              <a:buNone/>
            </a:pPr>
            <a:r>
              <a:rPr sz="950" b="0" i="0" lang="es-CL">
                <a:solidFill>
                  <a:srgbClr val="1F2328"/>
                </a:solidFill>
                <a:latin typeface="Consolas"/>
                <a:ea typeface="Consolas"/>
                <a:cs typeface="Consolas"/>
              </a:rPr>
              <a:t>- </a:t>
            </a:r>
            <a:r>
              <a:rPr sz="950" b="1" i="0" lang="es-CL">
                <a:solidFill>
                  <a:srgbClr val="1F2328"/>
                </a:solidFill>
                <a:latin typeface="Consolas"/>
                <a:ea typeface="Consolas"/>
                <a:cs typeface="Consolas"/>
              </a:rPr>
              <a:t>**RENEW-R3 · Nueva fecha.**</a:t>
            </a:r>
            <a:r>
              <a:rPr sz="950" b="0" i="0" lang="es-CL">
                <a:solidFill>
                  <a:srgbClr val="1F2328"/>
                </a:solidFill>
                <a:latin typeface="Consolas"/>
                <a:ea typeface="Consolas"/>
                <a:cs typeface="Consolas"/>
              </a:rPr>
              <a:t> </a:t>
            </a:r>
            <a:r>
              <a:rPr sz="950" b="0" i="0" lang="es-CL">
                <a:solidFill>
                  <a:srgbClr val="A31515"/>
                </a:solidFill>
                <a:latin typeface="Consolas"/>
                <a:ea typeface="Consolas"/>
                <a:cs typeface="Consolas"/>
              </a:rPr>
              <a:t>`dueAt`</a:t>
            </a:r>
            <a:r>
              <a:rPr sz="950" b="0" i="0" lang="es-CL">
                <a:solidFill>
                  <a:srgbClr val="1F2328"/>
                </a:solidFill>
                <a:latin typeface="Consolas"/>
                <a:ea typeface="Consolas"/>
                <a:cs typeface="Consolas"/>
              </a:rPr>
              <a:t> se extiende</a:t>
            </a:r>
          </a:p>
          <a:p>
            <a:pPr marL="0" indent="0">
              <a:lnSpc>
                <a:spcPct val="100000"/>
              </a:lnSpc>
              <a:spcAft>
                <a:spcPts val="0"/>
              </a:spcAft>
              <a:buNone/>
            </a:pPr>
            <a:r>
              <a:rPr sz="950" b="0" i="0" lang="es-CL">
                <a:solidFill>
                  <a:srgbClr val="1F2328"/>
                </a:solidFill>
                <a:latin typeface="Consolas"/>
                <a:ea typeface="Consolas"/>
                <a:cs typeface="Consolas"/>
              </a:rPr>
              <a:t>  7 días desde el </a:t>
            </a:r>
            <a:r>
              <a:rPr sz="950" b="0" i="0" lang="es-CL">
                <a:solidFill>
                  <a:srgbClr val="A31515"/>
                </a:solidFill>
                <a:latin typeface="Consolas"/>
                <a:ea typeface="Consolas"/>
                <a:cs typeface="Consolas"/>
              </a:rPr>
              <a:t>`dueAt`</a:t>
            </a:r>
            <a:r>
              <a:rPr sz="950" b="0" i="0" lang="es-CL">
                <a:solidFill>
                  <a:srgbClr val="1F2328"/>
                </a:solidFill>
                <a:latin typeface="Consolas"/>
                <a:ea typeface="Consolas"/>
                <a:cs typeface="Consolas"/>
              </a:rPr>
              <a:t> actual.</a:t>
            </a:r>
          </a:p>
          <a:p>
            <a:pPr marL="0" indent="0">
              <a:lnSpc>
                <a:spcPct val="100000"/>
              </a:lnSpc>
              <a:spcAft>
                <a:spcPts val="0"/>
              </a:spcAft>
              <a:buNone/>
            </a:pPr>
            <a:r>
              <a:rPr sz="950" b="0" i="0" lang="es-CL">
                <a:solidFill>
                  <a:srgbClr val="1F2328"/>
                </a:solidFill>
                <a:latin typeface="Consolas"/>
                <a:ea typeface="Consolas"/>
                <a:cs typeface="Consolas"/>
              </a:rPr>
              <a:t> </a:t>
            </a:r>
          </a:p>
          <a:p>
            <a:pPr marL="0" indent="0">
              <a:lnSpc>
                <a:spcPct val="100000"/>
              </a:lnSpc>
              <a:spcAft>
                <a:spcPts val="0"/>
              </a:spcAft>
              <a:buNone/>
            </a:pPr>
            <a:r>
              <a:rPr sz="950" b="1" i="0" lang="es-CL">
                <a:solidFill>
                  <a:srgbClr val="003D4F"/>
                </a:solidFill>
                <a:latin typeface="Consolas"/>
                <a:ea typeface="Consolas"/>
                <a:cs typeface="Consolas"/>
              </a:rPr>
              <a:t>## Fuera de alcance</a:t>
            </a:r>
          </a:p>
          <a:p>
            <a:pPr marL="0" indent="0">
              <a:lnSpc>
                <a:spcPct val="100000"/>
              </a:lnSpc>
              <a:spcAft>
                <a:spcPts val="0"/>
              </a:spcAft>
              <a:buNone/>
            </a:pPr>
            <a:r>
              <a:rPr sz="950" b="0" i="0" lang="es-CL">
                <a:solidFill>
                  <a:srgbClr val="1F2328"/>
                </a:solidFill>
                <a:latin typeface="Consolas"/>
                <a:ea typeface="Consolas"/>
                <a:cs typeface="Consolas"/>
              </a:rPr>
              <a:t>Reservas y listas de espera.</a:t>
            </a:r>
          </a:p>
        </p:txBody>
      </p:sp>
      <p:sp>
        <p:nvSpPr>
          <p:cNvPr id="7" name="Rounded Rectangle 6"/>
          <p:cNvSpPr/>
          <p:nvPr/>
        </p:nvSpPr>
        <p:spPr>
          <a:xfrm>
            <a:off x="5760720" y="1051560"/>
            <a:ext cx="2971800" cy="3429000"/>
          </a:xfrm>
          <a:prstGeom prst="roundRect">
            <a:avLst>
              <a:gd name="adj" fmla="val 3076"/>
            </a:avLst>
          </a:prstGeom>
          <a:solidFill>
            <a:srgbClr val="EDF1F3"/>
          </a:solidFill>
          <a:ln>
            <a:noFill/>
          </a:ln>
        </p:spPr>
        <p:txBody>
          <a:bodyPr rtlCol="0" anchor="ctr" wrap="square" lIns="54864" rIns="54864" tIns="54864" bIns="54864"/>
          <a:lstStyle/>
          <a:p>
            <a:pPr algn="ctr"/>
          </a:p>
        </p:txBody>
      </p:sp>
      <p:sp>
        <p:nvSpPr>
          <p:cNvPr id="8" name="TextBox 7"/>
          <p:cNvSpPr txBox="1"/>
          <p:nvPr/>
        </p:nvSpPr>
        <p:spPr>
          <a:xfrm>
            <a:off x="5897880" y="1143000"/>
            <a:ext cx="2697480" cy="274320"/>
          </a:xfrm>
          <a:prstGeom prst="rect">
            <a:avLst/>
          </a:prstGeom>
          <a:noFill/>
        </p:spPr>
        <p:txBody>
          <a:bodyPr wrap="square" lIns="36576" rIns="36576" tIns="36576" bIns="36576" anchor="t"/>
          <a:lstStyle/>
          <a:p>
            <a:pPr algn="l" marL="0" indent="0">
              <a:spcAft>
                <a:spcPts val="400"/>
              </a:spcAft>
              <a:buNone/>
            </a:pPr>
            <a:r>
              <a:rPr sz="1150" b="1" i="0" lang="es-CL">
                <a:solidFill>
                  <a:srgbClr val="003D4F"/>
                </a:solidFill>
                <a:latin typeface="Inter"/>
                <a:ea typeface="Inter"/>
                <a:cs typeface="Inter"/>
              </a:rPr>
              <a:t>Lo que la spec debe resolver</a:t>
            </a:r>
          </a:p>
        </p:txBody>
      </p:sp>
      <p:sp>
        <p:nvSpPr>
          <p:cNvPr id="9" name="TextBox 8"/>
          <p:cNvSpPr txBox="1"/>
          <p:nvPr/>
        </p:nvSpPr>
        <p:spPr>
          <a:xfrm>
            <a:off x="5897880" y="1508760"/>
            <a:ext cx="2697480" cy="2926080"/>
          </a:xfrm>
          <a:prstGeom prst="rect">
            <a:avLst/>
          </a:prstGeom>
          <a:noFill/>
        </p:spPr>
        <p:txBody>
          <a:bodyPr wrap="square" lIns="36576" rIns="36576" tIns="36576" bIns="36576" anchor="t"/>
          <a:lstStyle/>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¿Se puede renovar el día exacto de dueAt? Es el valor límite de LOAN-R6.</a:t>
            </a:r>
          </a:p>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¿Qué status y body responde el 200?</a:t>
            </a:r>
          </a:p>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¿Los nuevos códigos de error entran al enum ErrorCode?</a:t>
            </a:r>
          </a:p>
          <a:p>
            <a:pPr algn="l" marL="182880" indent="-164592">
              <a:spcAft>
                <a:spcPts val="600"/>
              </a:spcAft>
              <a:buClr>
                <a:srgbClr val="F2617A"/>
              </a:buClr>
              <a:buSzPct val="100000"/>
              <a:buFont typeface="Arial"/>
              <a:buChar char="●"/>
            </a:pPr>
            <a:r>
              <a:rPr sz="1000" b="0" i="0" lang="es-CL">
                <a:solidFill>
                  <a:srgbClr val="1F2328"/>
                </a:solidFill>
                <a:latin typeface="Inter"/>
                <a:ea typeface="Inter"/>
                <a:cs typeface="Inter"/>
              </a:rPr>
              <a:t>¿Cómo se ve en la UI? Escribe el flujo en Gherkin.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El prompt para el agente y el checklist del PR</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5029200" cy="2697480"/>
          </a:xfrm>
          <a:prstGeom prst="roundRect">
            <a:avLst>
              <a:gd name="adj" fmla="val 2033"/>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106424"/>
            <a:ext cx="4809744" cy="237744"/>
          </a:xfrm>
          <a:prstGeom prst="rect">
            <a:avLst/>
          </a:prstGeom>
          <a:noFill/>
        </p:spPr>
        <p:txBody>
          <a:bodyPr wrap="square" lIns="0" rIns="0" tIns="0" bIns="0" anchor="t"/>
          <a:lstStyle/>
          <a:p>
            <a:pPr algn="l" marL="0" indent="0">
              <a:spcAft>
                <a:spcPts val="400"/>
              </a:spcAft>
              <a:buNone/>
            </a:pPr>
            <a:r>
              <a:rPr sz="850" b="0" i="0" lang="es-CL">
                <a:solidFill>
                  <a:srgbClr val="8C959F"/>
                </a:solidFill>
                <a:latin typeface="Consolas"/>
                <a:ea typeface="Consolas"/>
                <a:cs typeface="Consolas"/>
              </a:rPr>
              <a:t>Prompt (Claude Code, Copilot o Cursor)</a:t>
            </a:r>
          </a:p>
        </p:txBody>
      </p:sp>
      <p:sp>
        <p:nvSpPr>
          <p:cNvPr id="6" name="TextBox 5"/>
          <p:cNvSpPr txBox="1"/>
          <p:nvPr/>
        </p:nvSpPr>
        <p:spPr>
          <a:xfrm>
            <a:off x="521208" y="1362456"/>
            <a:ext cx="4809744" cy="2331719"/>
          </a:xfrm>
          <a:prstGeom prst="rect">
            <a:avLst/>
          </a:prstGeom>
          <a:noFill/>
        </p:spPr>
        <p:txBody>
          <a:bodyPr wrap="none" lIns="0" rIns="0" tIns="0" bIns="0"/>
          <a:lstStyle/>
          <a:p>
            <a:pPr marL="0" indent="0">
              <a:lnSpc>
                <a:spcPct val="100000"/>
              </a:lnSpc>
              <a:spcAft>
                <a:spcPts val="0"/>
              </a:spcAft>
              <a:buNone/>
            </a:pPr>
            <a:r>
              <a:rPr sz="1050" b="0" i="0" lang="es-CL">
                <a:solidFill>
                  <a:srgbClr val="1F2328"/>
                </a:solidFill>
                <a:latin typeface="Consolas"/>
                <a:ea typeface="Consolas"/>
                <a:cs typeface="Consolas"/>
              </a:rPr>
              <a:t>Lee specs/constitution.md, specs/architecture.md</a:t>
            </a:r>
          </a:p>
          <a:p>
            <a:pPr marL="0" indent="0">
              <a:lnSpc>
                <a:spcPct val="100000"/>
              </a:lnSpc>
              <a:spcAft>
                <a:spcPts val="0"/>
              </a:spcAft>
              <a:buNone/>
            </a:pPr>
            <a:r>
              <a:rPr sz="1050" b="0" i="0" lang="es-CL">
                <a:solidFill>
                  <a:srgbClr val="1F2328"/>
                </a:solidFill>
                <a:latin typeface="Consolas"/>
                <a:ea typeface="Consolas"/>
                <a:cs typeface="Consolas"/>
              </a:rPr>
              <a:t>y specs/features/SPEC-LIB-03-renovacion.md.</a:t>
            </a:r>
          </a:p>
          <a:p>
            <a:pPr marL="0" indent="0">
              <a:lnSpc>
                <a:spcPct val="100000"/>
              </a:lnSpc>
              <a:spcAft>
                <a:spcPts val="0"/>
              </a:spcAft>
              <a:buNone/>
            </a:pPr>
            <a:r>
              <a:rPr sz="1050" b="0" i="0" lang="es-CL">
                <a:solidFill>
                  <a:srgbClr val="1F2328"/>
                </a:solidFill>
                <a:latin typeface="Consolas"/>
                <a:ea typeface="Consolas"/>
                <a:cs typeface="Consolas"/>
              </a:rPr>
              <a:t/>
            </a:r>
          </a:p>
          <a:p>
            <a:pPr marL="0" indent="0">
              <a:lnSpc>
                <a:spcPct val="100000"/>
              </a:lnSpc>
              <a:spcAft>
                <a:spcPts val="0"/>
              </a:spcAft>
              <a:buNone/>
            </a:pPr>
            <a:r>
              <a:rPr sz="1050" b="0" i="0" lang="es-CL">
                <a:solidFill>
                  <a:srgbClr val="1F2328"/>
                </a:solidFill>
                <a:latin typeface="Consolas"/>
                <a:ea typeface="Consolas"/>
                <a:cs typeface="Consolas"/>
              </a:rPr>
              <a:t>1. No escribas código todavía. Propón la lista</a:t>
            </a:r>
          </a:p>
          <a:p>
            <a:pPr marL="0" indent="0">
              <a:lnSpc>
                <a:spcPct val="100000"/>
              </a:lnSpc>
              <a:spcAft>
                <a:spcPts val="0"/>
              </a:spcAft>
              <a:buNone/>
            </a:pPr>
            <a:r>
              <a:rPr sz="1050" b="0" i="0" lang="es-CL">
                <a:solidFill>
                  <a:srgbClr val="1F2328"/>
                </a:solidFill>
                <a:latin typeface="Consolas"/>
                <a:ea typeface="Consolas"/>
                <a:cs typeface="Consolas"/>
              </a:rPr>
              <a:t>   de tests como tabla: regla, capa, partición o</a:t>
            </a:r>
          </a:p>
          <a:p>
            <a:pPr marL="0" indent="0">
              <a:lnSpc>
                <a:spcPct val="100000"/>
              </a:lnSpc>
              <a:spcAft>
                <a:spcPts val="0"/>
              </a:spcAft>
              <a:buNone/>
            </a:pPr>
            <a:r>
              <a:rPr sz="1050" b="0" i="0" lang="es-CL">
                <a:solidFill>
                  <a:srgbClr val="1F2328"/>
                </a:solidFill>
                <a:latin typeface="Consolas"/>
                <a:ea typeface="Consolas"/>
                <a:cs typeface="Consolas"/>
              </a:rPr>
              <a:t>   valor límite y archivo. Máximo 6 por regla y</a:t>
            </a:r>
          </a:p>
          <a:p>
            <a:pPr marL="0" indent="0">
              <a:lnSpc>
                <a:spcPct val="100000"/>
              </a:lnSpc>
              <a:spcAft>
                <a:spcPts val="0"/>
              </a:spcAft>
              <a:buNone/>
            </a:pPr>
            <a:r>
              <a:rPr sz="1050" b="0" i="0" lang="es-CL">
                <a:solidFill>
                  <a:srgbClr val="1F2328"/>
                </a:solidFill>
                <a:latin typeface="Consolas"/>
                <a:ea typeface="Consolas"/>
                <a:cs typeface="Consolas"/>
              </a:rPr>
              <a:t>   capa. Ningún caso repetido entre capas.</a:t>
            </a:r>
          </a:p>
          <a:p>
            <a:pPr marL="0" indent="0">
              <a:lnSpc>
                <a:spcPct val="100000"/>
              </a:lnSpc>
              <a:spcAft>
                <a:spcPts val="0"/>
              </a:spcAft>
              <a:buNone/>
            </a:pPr>
            <a:r>
              <a:rPr sz="1050" b="0" i="0" lang="es-CL">
                <a:solidFill>
                  <a:srgbClr val="1F2328"/>
                </a:solidFill>
                <a:latin typeface="Consolas"/>
                <a:ea typeface="Consolas"/>
                <a:cs typeface="Consolas"/>
              </a:rPr>
              <a:t>2. Espera mi aprobación.</a:t>
            </a:r>
          </a:p>
          <a:p>
            <a:pPr marL="0" indent="0">
              <a:lnSpc>
                <a:spcPct val="100000"/>
              </a:lnSpc>
              <a:spcAft>
                <a:spcPts val="0"/>
              </a:spcAft>
              <a:buNone/>
            </a:pPr>
            <a:r>
              <a:rPr sz="1050" b="0" i="0" lang="es-CL">
                <a:solidFill>
                  <a:srgbClr val="1F2328"/>
                </a:solidFill>
                <a:latin typeface="Consolas"/>
                <a:ea typeface="Consolas"/>
                <a:cs typeface="Consolas"/>
              </a:rPr>
              <a:t>3. Escribe un test a la vez. Muéstrame que falla</a:t>
            </a:r>
          </a:p>
          <a:p>
            <a:pPr marL="0" indent="0">
              <a:lnSpc>
                <a:spcPct val="100000"/>
              </a:lnSpc>
              <a:spcAft>
                <a:spcPts val="0"/>
              </a:spcAft>
              <a:buNone/>
            </a:pPr>
            <a:r>
              <a:rPr sz="1050" b="0" i="0" lang="es-CL">
                <a:solidFill>
                  <a:srgbClr val="1F2328"/>
                </a:solidFill>
                <a:latin typeface="Consolas"/>
                <a:ea typeface="Consolas"/>
                <a:cs typeface="Consolas"/>
              </a:rPr>
              <a:t>   por la razón correcta y recién ahí implementa.</a:t>
            </a:r>
          </a:p>
          <a:p>
            <a:pPr marL="0" indent="0">
              <a:lnSpc>
                <a:spcPct val="100000"/>
              </a:lnSpc>
              <a:spcAft>
                <a:spcPts val="0"/>
              </a:spcAft>
              <a:buNone/>
            </a:pPr>
            <a:r>
              <a:rPr sz="1050" b="0" i="0" lang="es-CL">
                <a:solidFill>
                  <a:srgbClr val="1F2328"/>
                </a:solidFill>
                <a:latin typeface="Consolas"/>
                <a:ea typeface="Consolas"/>
                <a:cs typeface="Consolas"/>
              </a:rPr>
              <a:t>4. Antes de terminar corre spec:trace y los</a:t>
            </a:r>
          </a:p>
          <a:p>
            <a:pPr marL="0" indent="0">
              <a:lnSpc>
                <a:spcPct val="100000"/>
              </a:lnSpc>
              <a:spcAft>
                <a:spcPts val="0"/>
              </a:spcAft>
              <a:buNone/>
            </a:pPr>
            <a:r>
              <a:rPr sz="1050" b="0" i="0" lang="es-CL">
                <a:solidFill>
                  <a:srgbClr val="1F2328"/>
                </a:solidFill>
                <a:latin typeface="Consolas"/>
                <a:ea typeface="Consolas"/>
                <a:cs typeface="Consolas"/>
              </a:rPr>
              <a:t>   scripts lint, typecheck y test:* de la app.</a:t>
            </a:r>
          </a:p>
        </p:txBody>
      </p:sp>
      <p:sp>
        <p:nvSpPr>
          <p:cNvPr id="7" name="Rounded Rectangle 6"/>
          <p:cNvSpPr/>
          <p:nvPr/>
        </p:nvSpPr>
        <p:spPr>
          <a:xfrm>
            <a:off x="411480" y="3886200"/>
            <a:ext cx="5029200" cy="594360"/>
          </a:xfrm>
          <a:prstGeom prst="roundRect">
            <a:avLst>
              <a:gd name="adj" fmla="val 15384"/>
            </a:avLst>
          </a:prstGeom>
          <a:solidFill>
            <a:srgbClr val="FCE8EC"/>
          </a:solidFill>
          <a:ln>
            <a:noFill/>
          </a:ln>
        </p:spPr>
        <p:txBody>
          <a:bodyPr rtlCol="0" anchor="ctr" wrap="square" lIns="54864" rIns="54864" tIns="54864" bIns="54864"/>
          <a:lstStyle/>
          <a:p>
            <a:pPr algn="ctr"/>
          </a:p>
        </p:txBody>
      </p:sp>
      <p:sp>
        <p:nvSpPr>
          <p:cNvPr id="8" name="TextBox 7"/>
          <p:cNvSpPr txBox="1"/>
          <p:nvPr/>
        </p:nvSpPr>
        <p:spPr>
          <a:xfrm>
            <a:off x="548640" y="3886200"/>
            <a:ext cx="4754880" cy="594360"/>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Si el plan trae más de 6 casos para una regla o casos repetidos entre capas, </a:t>
            </a:r>
            <a:r>
              <a:rPr sz="1000" b="1" i="0" lang="es-CL">
                <a:solidFill>
                  <a:srgbClr val="1F2328"/>
                </a:solidFill>
                <a:latin typeface="Inter"/>
                <a:ea typeface="Inter"/>
                <a:cs typeface="Inter"/>
              </a:rPr>
              <a:t>recházalo</a:t>
            </a:r>
            <a:r>
              <a:rPr sz="1000" b="0" i="0" lang="es-CL">
                <a:solidFill>
                  <a:srgbClr val="1F2328"/>
                </a:solidFill>
                <a:latin typeface="Inter"/>
                <a:ea typeface="Inter"/>
                <a:cs typeface="Inter"/>
              </a:rPr>
              <a:t> y pide que justifique cada caso.</a:t>
            </a:r>
          </a:p>
        </p:txBody>
      </p:sp>
      <p:sp>
        <p:nvSpPr>
          <p:cNvPr id="9" name="TextBox 8"/>
          <p:cNvSpPr txBox="1"/>
          <p:nvPr/>
        </p:nvSpPr>
        <p:spPr>
          <a:xfrm>
            <a:off x="5669280" y="1051560"/>
            <a:ext cx="3063240" cy="274320"/>
          </a:xfrm>
          <a:prstGeom prst="rect">
            <a:avLst/>
          </a:prstGeom>
          <a:noFill/>
        </p:spPr>
        <p:txBody>
          <a:bodyPr wrap="square" lIns="36576" rIns="36576" tIns="36576" bIns="36576" anchor="t"/>
          <a:lstStyle/>
          <a:p>
            <a:pPr algn="l" marL="0" indent="0">
              <a:spcAft>
                <a:spcPts val="400"/>
              </a:spcAft>
              <a:buNone/>
            </a:pPr>
            <a:r>
              <a:rPr sz="1200" b="1" i="0" lang="es-CL">
                <a:solidFill>
                  <a:srgbClr val="003D4F"/>
                </a:solidFill>
                <a:latin typeface="Inter"/>
                <a:ea typeface="Inter"/>
                <a:cs typeface="Inter"/>
              </a:rPr>
              <a:t>Checklist del PR</a:t>
            </a:r>
          </a:p>
        </p:txBody>
      </p:sp>
      <p:sp>
        <p:nvSpPr>
          <p:cNvPr id="10" name="Rounded Rectangle 9"/>
          <p:cNvSpPr/>
          <p:nvPr/>
        </p:nvSpPr>
        <p:spPr>
          <a:xfrm>
            <a:off x="5669280" y="1463040"/>
            <a:ext cx="237744" cy="237744"/>
          </a:xfrm>
          <a:prstGeom prst="roundRect">
            <a:avLst>
              <a:gd name="adj" fmla="val 15384"/>
            </a:avLst>
          </a:prstGeom>
          <a:solidFill>
            <a:srgbClr val="FFFFFF"/>
          </a:solidFill>
          <a:ln w="19050">
            <a:solidFill>
              <a:srgbClr val="003D4F"/>
            </a:solidFill>
          </a:ln>
        </p:spPr>
        <p:txBody>
          <a:bodyPr rtlCol="0" anchor="ctr" wrap="square" lIns="54864" rIns="54864" tIns="54864" bIns="54864"/>
          <a:lstStyle/>
          <a:p>
            <a:pPr algn="ctr"/>
          </a:p>
        </p:txBody>
      </p:sp>
      <p:sp>
        <p:nvSpPr>
          <p:cNvPr id="11" name="TextBox 10"/>
          <p:cNvSpPr txBox="1"/>
          <p:nvPr/>
        </p:nvSpPr>
        <p:spPr>
          <a:xfrm>
            <a:off x="5989320" y="1417320"/>
            <a:ext cx="2743200" cy="365760"/>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Spec y OpenAPI cambian en el mismo PR</a:t>
            </a:r>
          </a:p>
        </p:txBody>
      </p:sp>
      <p:sp>
        <p:nvSpPr>
          <p:cNvPr id="12" name="Rounded Rectangle 11"/>
          <p:cNvSpPr/>
          <p:nvPr/>
        </p:nvSpPr>
        <p:spPr>
          <a:xfrm>
            <a:off x="5669280" y="1892807"/>
            <a:ext cx="237744" cy="237744"/>
          </a:xfrm>
          <a:prstGeom prst="roundRect">
            <a:avLst>
              <a:gd name="adj" fmla="val 15384"/>
            </a:avLst>
          </a:prstGeom>
          <a:solidFill>
            <a:srgbClr val="FFFFFF"/>
          </a:solidFill>
          <a:ln w="19050">
            <a:solidFill>
              <a:srgbClr val="003D4F"/>
            </a:solidFill>
          </a:ln>
        </p:spPr>
        <p:txBody>
          <a:bodyPr rtlCol="0" anchor="ctr" wrap="square" lIns="54864" rIns="54864" tIns="54864" bIns="54864"/>
          <a:lstStyle/>
          <a:p>
            <a:pPr algn="ctr"/>
          </a:p>
        </p:txBody>
      </p:sp>
      <p:sp>
        <p:nvSpPr>
          <p:cNvPr id="13" name="TextBox 12"/>
          <p:cNvSpPr txBox="1"/>
          <p:nvPr/>
        </p:nvSpPr>
        <p:spPr>
          <a:xfrm>
            <a:off x="5989320" y="1847088"/>
            <a:ext cx="2743200" cy="365760"/>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Spectral y oasdiff en verde</a:t>
            </a:r>
          </a:p>
        </p:txBody>
      </p:sp>
      <p:sp>
        <p:nvSpPr>
          <p:cNvPr id="14" name="Rounded Rectangle 13"/>
          <p:cNvSpPr/>
          <p:nvPr/>
        </p:nvSpPr>
        <p:spPr>
          <a:xfrm>
            <a:off x="5669280" y="2322576"/>
            <a:ext cx="237744" cy="237744"/>
          </a:xfrm>
          <a:prstGeom prst="roundRect">
            <a:avLst>
              <a:gd name="adj" fmla="val 15384"/>
            </a:avLst>
          </a:prstGeom>
          <a:solidFill>
            <a:srgbClr val="FFFFFF"/>
          </a:solidFill>
          <a:ln w="19050">
            <a:solidFill>
              <a:srgbClr val="003D4F"/>
            </a:solidFill>
          </a:ln>
        </p:spPr>
        <p:txBody>
          <a:bodyPr rtlCol="0" anchor="ctr" wrap="square" lIns="54864" rIns="54864" tIns="54864" bIns="54864"/>
          <a:lstStyle/>
          <a:p>
            <a:pPr algn="ctr"/>
          </a:p>
        </p:txBody>
      </p:sp>
      <p:sp>
        <p:nvSpPr>
          <p:cNvPr id="15" name="TextBox 14"/>
          <p:cNvSpPr txBox="1"/>
          <p:nvPr/>
        </p:nvSpPr>
        <p:spPr>
          <a:xfrm>
            <a:off x="5989320" y="2276856"/>
            <a:ext cx="2743200" cy="365760"/>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Cada test nuevo con [RENEW-Rx] en el título</a:t>
            </a:r>
          </a:p>
        </p:txBody>
      </p:sp>
      <p:sp>
        <p:nvSpPr>
          <p:cNvPr id="16" name="Rounded Rectangle 15"/>
          <p:cNvSpPr/>
          <p:nvPr/>
        </p:nvSpPr>
        <p:spPr>
          <a:xfrm>
            <a:off x="5669280" y="2752344"/>
            <a:ext cx="237744" cy="237744"/>
          </a:xfrm>
          <a:prstGeom prst="roundRect">
            <a:avLst>
              <a:gd name="adj" fmla="val 15384"/>
            </a:avLst>
          </a:prstGeom>
          <a:solidFill>
            <a:srgbClr val="FFFFFF"/>
          </a:solidFill>
          <a:ln w="19050">
            <a:solidFill>
              <a:srgbClr val="003D4F"/>
            </a:solidFill>
          </a:ln>
        </p:spPr>
        <p:txBody>
          <a:bodyPr rtlCol="0" anchor="ctr" wrap="square" lIns="54864" rIns="54864" tIns="54864" bIns="54864"/>
          <a:lstStyle/>
          <a:p>
            <a:pPr algn="ctr"/>
          </a:p>
        </p:txBody>
      </p:sp>
      <p:sp>
        <p:nvSpPr>
          <p:cNvPr id="17" name="TextBox 16"/>
          <p:cNvSpPr txBox="1"/>
          <p:nvPr/>
        </p:nvSpPr>
        <p:spPr>
          <a:xfrm>
            <a:off x="5989320" y="2706624"/>
            <a:ext cx="2743200" cy="365760"/>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Ningún mock sin justificación escrita</a:t>
            </a:r>
          </a:p>
        </p:txBody>
      </p:sp>
      <p:sp>
        <p:nvSpPr>
          <p:cNvPr id="18" name="Rounded Rectangle 17"/>
          <p:cNvSpPr/>
          <p:nvPr/>
        </p:nvSpPr>
        <p:spPr>
          <a:xfrm>
            <a:off x="5669280" y="3182111"/>
            <a:ext cx="237744" cy="237744"/>
          </a:xfrm>
          <a:prstGeom prst="roundRect">
            <a:avLst>
              <a:gd name="adj" fmla="val 15384"/>
            </a:avLst>
          </a:prstGeom>
          <a:solidFill>
            <a:srgbClr val="FFFFFF"/>
          </a:solidFill>
          <a:ln w="19050">
            <a:solidFill>
              <a:srgbClr val="003D4F"/>
            </a:solidFill>
          </a:ln>
        </p:spPr>
        <p:txBody>
          <a:bodyPr rtlCol="0" anchor="ctr" wrap="square" lIns="54864" rIns="54864" tIns="54864" bIns="54864"/>
          <a:lstStyle/>
          <a:p>
            <a:pPr algn="ctr"/>
          </a:p>
        </p:txBody>
      </p:sp>
      <p:sp>
        <p:nvSpPr>
          <p:cNvPr id="19" name="TextBox 18"/>
          <p:cNvSpPr txBox="1"/>
          <p:nvPr/>
        </p:nvSpPr>
        <p:spPr>
          <a:xfrm>
            <a:off x="5989320" y="3136391"/>
            <a:ext cx="2743200" cy="365760"/>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Video del flujo de renovación en la evidencia</a:t>
            </a:r>
          </a:p>
        </p:txBody>
      </p:sp>
      <p:sp>
        <p:nvSpPr>
          <p:cNvPr id="20" name="Rounded Rectangle 19"/>
          <p:cNvSpPr/>
          <p:nvPr/>
        </p:nvSpPr>
        <p:spPr>
          <a:xfrm>
            <a:off x="5669280" y="3611879"/>
            <a:ext cx="237744" cy="237744"/>
          </a:xfrm>
          <a:prstGeom prst="roundRect">
            <a:avLst>
              <a:gd name="adj" fmla="val 15384"/>
            </a:avLst>
          </a:prstGeom>
          <a:solidFill>
            <a:srgbClr val="FFFFFF"/>
          </a:solidFill>
          <a:ln w="19050">
            <a:solidFill>
              <a:srgbClr val="003D4F"/>
            </a:solidFill>
          </a:ln>
        </p:spPr>
        <p:txBody>
          <a:bodyPr rtlCol="0" anchor="ctr" wrap="square" lIns="54864" rIns="54864" tIns="54864" bIns="54864"/>
          <a:lstStyle/>
          <a:p>
            <a:pPr algn="ctr"/>
          </a:p>
        </p:txBody>
      </p:sp>
      <p:sp>
        <p:nvSpPr>
          <p:cNvPr id="21" name="TextBox 20"/>
          <p:cNvSpPr txBox="1"/>
          <p:nvPr/>
        </p:nvSpPr>
        <p:spPr>
          <a:xfrm>
            <a:off x="5989320" y="3566159"/>
            <a:ext cx="2743200" cy="365760"/>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Seguridad sin hallazgos nuevos</a:t>
            </a:r>
          </a:p>
        </p:txBody>
      </p:sp>
      <p:sp>
        <p:nvSpPr>
          <p:cNvPr id="22" name="Rounded Rectangle 21"/>
          <p:cNvSpPr/>
          <p:nvPr/>
        </p:nvSpPr>
        <p:spPr>
          <a:xfrm>
            <a:off x="5669280" y="4041648"/>
            <a:ext cx="237744" cy="237744"/>
          </a:xfrm>
          <a:prstGeom prst="roundRect">
            <a:avLst>
              <a:gd name="adj" fmla="val 15384"/>
            </a:avLst>
          </a:prstGeom>
          <a:solidFill>
            <a:srgbClr val="FFFFFF"/>
          </a:solidFill>
          <a:ln w="19050">
            <a:solidFill>
              <a:srgbClr val="003D4F"/>
            </a:solidFill>
          </a:ln>
        </p:spPr>
        <p:txBody>
          <a:bodyPr rtlCol="0" anchor="ctr" wrap="square" lIns="54864" rIns="54864" tIns="54864" bIns="54864"/>
          <a:lstStyle/>
          <a:p>
            <a:pPr algn="ctr"/>
          </a:p>
        </p:txBody>
      </p:sp>
      <p:sp>
        <p:nvSpPr>
          <p:cNvPr id="23" name="TextBox 22"/>
          <p:cNvSpPr txBox="1"/>
          <p:nvPr/>
        </p:nvSpPr>
        <p:spPr>
          <a:xfrm>
            <a:off x="5989320" y="3995928"/>
            <a:ext cx="2743200" cy="365760"/>
          </a:xfrm>
          <a:prstGeom prst="rect">
            <a:avLst/>
          </a:prstGeom>
          <a:noFill/>
        </p:spPr>
        <p:txBody>
          <a:bodyPr wrap="square" lIns="36576" rIns="36576" tIns="36576" bIns="36576" anchor="ctr"/>
          <a:lstStyle/>
          <a:p>
            <a:pPr algn="l" marL="0" indent="0">
              <a:spcAft>
                <a:spcPts val="400"/>
              </a:spcAft>
              <a:buNone/>
            </a:pPr>
            <a:r>
              <a:rPr sz="1000" b="0" i="0" lang="es-CL">
                <a:solidFill>
                  <a:srgbClr val="1F2328"/>
                </a:solidFill>
                <a:latin typeface="Inter"/>
                <a:ea typeface="Inter"/>
                <a:cs typeface="Inter"/>
              </a:rPr>
              <a:t>Rama de menos de 2 días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Conclusiones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Oval 3"/>
          <p:cNvSpPr/>
          <p:nvPr/>
        </p:nvSpPr>
        <p:spPr>
          <a:xfrm>
            <a:off x="822960" y="1133856"/>
            <a:ext cx="457200" cy="457200"/>
          </a:xfrm>
          <a:prstGeom prst="ellipse">
            <a:avLst/>
          </a:prstGeom>
          <a:solidFill>
            <a:srgbClr val="003D4F"/>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1</a:t>
            </a:r>
          </a:p>
        </p:txBody>
      </p:sp>
      <p:sp>
        <p:nvSpPr>
          <p:cNvPr id="5" name="TextBox 4"/>
          <p:cNvSpPr txBox="1"/>
          <p:nvPr/>
        </p:nvSpPr>
        <p:spPr>
          <a:xfrm>
            <a:off x="1463040" y="1097280"/>
            <a:ext cx="3108960" cy="530352"/>
          </a:xfrm>
          <a:prstGeom prst="rect">
            <a:avLst/>
          </a:prstGeom>
          <a:noFill/>
        </p:spPr>
        <p:txBody>
          <a:bodyPr wrap="square" lIns="36576" rIns="36576" tIns="36576" bIns="36576" anchor="ctr"/>
          <a:lstStyle/>
          <a:p>
            <a:pPr algn="l" marL="0" indent="0">
              <a:spcAft>
                <a:spcPts val="400"/>
              </a:spcAft>
              <a:buNone/>
            </a:pPr>
            <a:r>
              <a:rPr sz="1400" b="1" i="0" lang="es-CL">
                <a:solidFill>
                  <a:srgbClr val="003D4F"/>
                </a:solidFill>
                <a:latin typeface="Inter"/>
                <a:ea typeface="Inter"/>
                <a:cs typeface="Inter"/>
              </a:rPr>
              <a:t>La spec es el prompt</a:t>
            </a:r>
          </a:p>
        </p:txBody>
      </p:sp>
      <p:sp>
        <p:nvSpPr>
          <p:cNvPr id="6" name="TextBox 5"/>
          <p:cNvSpPr txBox="1"/>
          <p:nvPr/>
        </p:nvSpPr>
        <p:spPr>
          <a:xfrm>
            <a:off x="4572000" y="1097280"/>
            <a:ext cx="4114800" cy="530352"/>
          </a:xfrm>
          <a:prstGeom prst="rect">
            <a:avLst/>
          </a:prstGeom>
          <a:noFill/>
        </p:spPr>
        <p:txBody>
          <a:bodyPr wrap="square" lIns="36576" rIns="36576" tIns="36576" bIns="36576" anchor="ctr"/>
          <a:lstStyle/>
          <a:p>
            <a:pPr algn="l" marL="0" indent="0">
              <a:spcAft>
                <a:spcPts val="400"/>
              </a:spcAft>
              <a:buNone/>
            </a:pPr>
            <a:r>
              <a:rPr sz="1150" b="0" i="0" lang="es-CL">
                <a:solidFill>
                  <a:srgbClr val="1F2328"/>
                </a:solidFill>
                <a:latin typeface="Inter"/>
                <a:ea typeface="Inter"/>
                <a:cs typeface="Inter"/>
              </a:rPr>
              <a:t>Reglas con ID, contrato y flujos guían a personas y agentes.</a:t>
            </a:r>
          </a:p>
        </p:txBody>
      </p:sp>
      <p:sp>
        <p:nvSpPr>
          <p:cNvPr id="7" name="Oval 6"/>
          <p:cNvSpPr/>
          <p:nvPr/>
        </p:nvSpPr>
        <p:spPr>
          <a:xfrm>
            <a:off x="822960" y="1810512"/>
            <a:ext cx="457200" cy="457200"/>
          </a:xfrm>
          <a:prstGeom prst="ellipse">
            <a:avLst/>
          </a:prstGeom>
          <a:solidFill>
            <a:srgbClr val="38761D"/>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2</a:t>
            </a:r>
          </a:p>
        </p:txBody>
      </p:sp>
      <p:sp>
        <p:nvSpPr>
          <p:cNvPr id="8" name="TextBox 7"/>
          <p:cNvSpPr txBox="1"/>
          <p:nvPr/>
        </p:nvSpPr>
        <p:spPr>
          <a:xfrm>
            <a:off x="1463040" y="1773936"/>
            <a:ext cx="3108960" cy="530352"/>
          </a:xfrm>
          <a:prstGeom prst="rect">
            <a:avLst/>
          </a:prstGeom>
          <a:noFill/>
        </p:spPr>
        <p:txBody>
          <a:bodyPr wrap="square" lIns="36576" rIns="36576" tIns="36576" bIns="36576" anchor="ctr"/>
          <a:lstStyle/>
          <a:p>
            <a:pPr algn="l" marL="0" indent="0">
              <a:spcAft>
                <a:spcPts val="400"/>
              </a:spcAft>
              <a:buNone/>
            </a:pPr>
            <a:r>
              <a:rPr sz="1400" b="1" i="0" lang="es-CL">
                <a:solidFill>
                  <a:srgbClr val="38761D"/>
                </a:solidFill>
                <a:latin typeface="Inter"/>
                <a:ea typeface="Inter"/>
                <a:cs typeface="Inter"/>
              </a:rPr>
              <a:t>Capa más baja posible</a:t>
            </a:r>
          </a:p>
        </p:txBody>
      </p:sp>
      <p:sp>
        <p:nvSpPr>
          <p:cNvPr id="9" name="TextBox 8"/>
          <p:cNvSpPr txBox="1"/>
          <p:nvPr/>
        </p:nvSpPr>
        <p:spPr>
          <a:xfrm>
            <a:off x="4572000" y="1773936"/>
            <a:ext cx="4114800" cy="530352"/>
          </a:xfrm>
          <a:prstGeom prst="rect">
            <a:avLst/>
          </a:prstGeom>
          <a:noFill/>
        </p:spPr>
        <p:txBody>
          <a:bodyPr wrap="square" lIns="36576" rIns="36576" tIns="36576" bIns="36576" anchor="ctr"/>
          <a:lstStyle/>
          <a:p>
            <a:pPr algn="l" marL="0" indent="0">
              <a:spcAft>
                <a:spcPts val="400"/>
              </a:spcAft>
              <a:buNone/>
            </a:pPr>
            <a:r>
              <a:rPr sz="1150" b="0" i="0" lang="es-CL">
                <a:solidFill>
                  <a:srgbClr val="1F2328"/>
                </a:solidFill>
                <a:latin typeface="Inter"/>
                <a:ea typeface="Inter"/>
                <a:cs typeface="Inter"/>
              </a:rPr>
              <a:t>Cada test vive donde detecta el defecto. Sin cupcake.</a:t>
            </a:r>
          </a:p>
        </p:txBody>
      </p:sp>
      <p:sp>
        <p:nvSpPr>
          <p:cNvPr id="10" name="Oval 9"/>
          <p:cNvSpPr/>
          <p:nvPr/>
        </p:nvSpPr>
        <p:spPr>
          <a:xfrm>
            <a:off x="822960" y="2487168"/>
            <a:ext cx="457200" cy="457200"/>
          </a:xfrm>
          <a:prstGeom prst="ellipse">
            <a:avLst/>
          </a:prstGeom>
          <a:solidFill>
            <a:srgbClr val="CC850A"/>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3</a:t>
            </a:r>
          </a:p>
        </p:txBody>
      </p:sp>
      <p:sp>
        <p:nvSpPr>
          <p:cNvPr id="11" name="TextBox 10"/>
          <p:cNvSpPr txBox="1"/>
          <p:nvPr/>
        </p:nvSpPr>
        <p:spPr>
          <a:xfrm>
            <a:off x="1463040" y="2450591"/>
            <a:ext cx="3108960" cy="530352"/>
          </a:xfrm>
          <a:prstGeom prst="rect">
            <a:avLst/>
          </a:prstGeom>
          <a:noFill/>
        </p:spPr>
        <p:txBody>
          <a:bodyPr wrap="square" lIns="36576" rIns="36576" tIns="36576" bIns="36576" anchor="ctr"/>
          <a:lstStyle/>
          <a:p>
            <a:pPr algn="l" marL="0" indent="0">
              <a:spcAft>
                <a:spcPts val="400"/>
              </a:spcAft>
              <a:buNone/>
            </a:pPr>
            <a:r>
              <a:rPr sz="1400" b="1" i="0" lang="es-CL">
                <a:solidFill>
                  <a:srgbClr val="CC850A"/>
                </a:solidFill>
                <a:latin typeface="Inter"/>
                <a:ea typeface="Inter"/>
                <a:cs typeface="Inter"/>
              </a:rPr>
              <a:t>La IA propone, tú decides</a:t>
            </a:r>
          </a:p>
        </p:txBody>
      </p:sp>
      <p:sp>
        <p:nvSpPr>
          <p:cNvPr id="12" name="TextBox 11"/>
          <p:cNvSpPr txBox="1"/>
          <p:nvPr/>
        </p:nvSpPr>
        <p:spPr>
          <a:xfrm>
            <a:off x="4572000" y="2450591"/>
            <a:ext cx="4114800" cy="530352"/>
          </a:xfrm>
          <a:prstGeom prst="rect">
            <a:avLst/>
          </a:prstGeom>
          <a:noFill/>
        </p:spPr>
        <p:txBody>
          <a:bodyPr wrap="square" lIns="36576" rIns="36576" tIns="36576" bIns="36576" anchor="ctr"/>
          <a:lstStyle/>
          <a:p>
            <a:pPr algn="l" marL="0" indent="0">
              <a:spcAft>
                <a:spcPts val="400"/>
              </a:spcAft>
              <a:buNone/>
            </a:pPr>
            <a:r>
              <a:rPr sz="1150" b="0" i="0" lang="es-CL">
                <a:solidFill>
                  <a:srgbClr val="1F2328"/>
                </a:solidFill>
                <a:latin typeface="Inter"/>
                <a:ea typeface="Inter"/>
                <a:cs typeface="Inter"/>
              </a:rPr>
              <a:t>Plan primero, un test a la vez, revisor como juez.</a:t>
            </a:r>
          </a:p>
        </p:txBody>
      </p:sp>
      <p:sp>
        <p:nvSpPr>
          <p:cNvPr id="13" name="Oval 12"/>
          <p:cNvSpPr/>
          <p:nvPr/>
        </p:nvSpPr>
        <p:spPr>
          <a:xfrm>
            <a:off x="822960" y="3163824"/>
            <a:ext cx="457200" cy="457200"/>
          </a:xfrm>
          <a:prstGeom prst="ellipse">
            <a:avLst/>
          </a:prstGeom>
          <a:solidFill>
            <a:srgbClr val="634F7D"/>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4</a:t>
            </a:r>
          </a:p>
        </p:txBody>
      </p:sp>
      <p:sp>
        <p:nvSpPr>
          <p:cNvPr id="14" name="TextBox 13"/>
          <p:cNvSpPr txBox="1"/>
          <p:nvPr/>
        </p:nvSpPr>
        <p:spPr>
          <a:xfrm>
            <a:off x="1463040" y="3127248"/>
            <a:ext cx="3108960" cy="530352"/>
          </a:xfrm>
          <a:prstGeom prst="rect">
            <a:avLst/>
          </a:prstGeom>
          <a:noFill/>
        </p:spPr>
        <p:txBody>
          <a:bodyPr wrap="square" lIns="36576" rIns="36576" tIns="36576" bIns="36576" anchor="ctr"/>
          <a:lstStyle/>
          <a:p>
            <a:pPr algn="l" marL="0" indent="0">
              <a:spcAft>
                <a:spcPts val="400"/>
              </a:spcAft>
              <a:buNone/>
            </a:pPr>
            <a:r>
              <a:rPr sz="1400" b="1" i="0" lang="es-CL">
                <a:solidFill>
                  <a:srgbClr val="634F7D"/>
                </a:solidFill>
                <a:latin typeface="Inter"/>
                <a:ea typeface="Inter"/>
                <a:cs typeface="Inter"/>
              </a:rPr>
              <a:t>Mide lo que importa</a:t>
            </a:r>
          </a:p>
        </p:txBody>
      </p:sp>
      <p:sp>
        <p:nvSpPr>
          <p:cNvPr id="15" name="TextBox 14"/>
          <p:cNvSpPr txBox="1"/>
          <p:nvPr/>
        </p:nvSpPr>
        <p:spPr>
          <a:xfrm>
            <a:off x="4572000" y="3127248"/>
            <a:ext cx="4114800" cy="530352"/>
          </a:xfrm>
          <a:prstGeom prst="rect">
            <a:avLst/>
          </a:prstGeom>
          <a:noFill/>
        </p:spPr>
        <p:txBody>
          <a:bodyPr wrap="square" lIns="36576" rIns="36576" tIns="36576" bIns="36576" anchor="ctr"/>
          <a:lstStyle/>
          <a:p>
            <a:pPr algn="l" marL="0" indent="0">
              <a:spcAft>
                <a:spcPts val="400"/>
              </a:spcAft>
              <a:buNone/>
            </a:pPr>
            <a:r>
              <a:rPr sz="1150" b="0" i="0" lang="es-CL">
                <a:solidFill>
                  <a:srgbClr val="1F2328"/>
                </a:solidFill>
                <a:latin typeface="Inter"/>
                <a:ea typeface="Inter"/>
                <a:cs typeface="Inter"/>
              </a:rPr>
              <a:t>Trazabilidad y mutación, no cantidad de tests ni cobertura.</a:t>
            </a:r>
          </a:p>
        </p:txBody>
      </p:sp>
      <p:sp>
        <p:nvSpPr>
          <p:cNvPr id="16" name="Oval 15"/>
          <p:cNvSpPr/>
          <p:nvPr/>
        </p:nvSpPr>
        <p:spPr>
          <a:xfrm>
            <a:off x="822960" y="3840480"/>
            <a:ext cx="457200" cy="457200"/>
          </a:xfrm>
          <a:prstGeom prst="ellipse">
            <a:avLst/>
          </a:prstGeom>
          <a:solidFill>
            <a:srgbClr val="980000"/>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5</a:t>
            </a:r>
          </a:p>
        </p:txBody>
      </p:sp>
      <p:sp>
        <p:nvSpPr>
          <p:cNvPr id="17" name="TextBox 16"/>
          <p:cNvSpPr txBox="1"/>
          <p:nvPr/>
        </p:nvSpPr>
        <p:spPr>
          <a:xfrm>
            <a:off x="1463040" y="3803904"/>
            <a:ext cx="3108960" cy="530352"/>
          </a:xfrm>
          <a:prstGeom prst="rect">
            <a:avLst/>
          </a:prstGeom>
          <a:noFill/>
        </p:spPr>
        <p:txBody>
          <a:bodyPr wrap="square" lIns="36576" rIns="36576" tIns="36576" bIns="36576" anchor="ctr"/>
          <a:lstStyle/>
          <a:p>
            <a:pPr algn="l" marL="0" indent="0">
              <a:spcAft>
                <a:spcPts val="400"/>
              </a:spcAft>
              <a:buNone/>
            </a:pPr>
            <a:r>
              <a:rPr sz="1400" b="1" i="0" lang="es-CL">
                <a:solidFill>
                  <a:srgbClr val="980000"/>
                </a:solidFill>
                <a:latin typeface="Inter"/>
                <a:ea typeface="Inter"/>
                <a:cs typeface="Inter"/>
              </a:rPr>
              <a:t>Seguridad y evidencia en cada PR</a:t>
            </a:r>
          </a:p>
        </p:txBody>
      </p:sp>
      <p:sp>
        <p:nvSpPr>
          <p:cNvPr id="18" name="TextBox 17"/>
          <p:cNvSpPr txBox="1"/>
          <p:nvPr/>
        </p:nvSpPr>
        <p:spPr>
          <a:xfrm>
            <a:off x="4572000" y="3803904"/>
            <a:ext cx="4114800" cy="530352"/>
          </a:xfrm>
          <a:prstGeom prst="rect">
            <a:avLst/>
          </a:prstGeom>
          <a:noFill/>
        </p:spPr>
        <p:txBody>
          <a:bodyPr wrap="square" lIns="36576" rIns="36576" tIns="36576" bIns="36576" anchor="ctr"/>
          <a:lstStyle/>
          <a:p>
            <a:pPr algn="l" marL="0" indent="0">
              <a:spcAft>
                <a:spcPts val="400"/>
              </a:spcAft>
              <a:buNone/>
            </a:pPr>
            <a:r>
              <a:rPr sz="1150" b="0" i="0" lang="es-CL">
                <a:solidFill>
                  <a:srgbClr val="1F2328"/>
                </a:solidFill>
                <a:latin typeface="Inter"/>
                <a:ea typeface="Inter"/>
                <a:cs typeface="Inter"/>
              </a:rPr>
              <a:t>DevSecOps es parte del flujo, no una etapa final.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Para discutir</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97280"/>
            <a:ext cx="4069080" cy="1508760"/>
          </a:xfrm>
          <a:prstGeom prst="roundRect">
            <a:avLst>
              <a:gd name="adj" fmla="val 6060"/>
            </a:avLst>
          </a:prstGeom>
          <a:solidFill>
            <a:srgbClr val="EDF1F3"/>
          </a:solidFill>
          <a:ln>
            <a:noFill/>
          </a:ln>
        </p:spPr>
        <p:txBody>
          <a:bodyPr rtlCol="0" anchor="ctr" wrap="square" lIns="54864" rIns="54864" tIns="54864" bIns="54864"/>
          <a:lstStyle/>
          <a:p>
            <a:pPr algn="ctr"/>
          </a:p>
        </p:txBody>
      </p:sp>
      <p:sp>
        <p:nvSpPr>
          <p:cNvPr id="5" name="TextBox 4"/>
          <p:cNvSpPr txBox="1"/>
          <p:nvPr/>
        </p:nvSpPr>
        <p:spPr>
          <a:xfrm>
            <a:off x="594360" y="1188720"/>
            <a:ext cx="548640" cy="548640"/>
          </a:xfrm>
          <a:prstGeom prst="rect">
            <a:avLst/>
          </a:prstGeom>
          <a:noFill/>
        </p:spPr>
        <p:txBody>
          <a:bodyPr wrap="square" lIns="36576" rIns="36576" tIns="36576" bIns="36576" anchor="t"/>
          <a:lstStyle/>
          <a:p>
            <a:pPr algn="l" marL="0" indent="0">
              <a:spcAft>
                <a:spcPts val="400"/>
              </a:spcAft>
              <a:buNone/>
            </a:pPr>
            <a:r>
              <a:rPr sz="2800" b="1" i="0" lang="es-CL">
                <a:solidFill>
                  <a:srgbClr val="4A86E8"/>
                </a:solidFill>
                <a:latin typeface="Bitter"/>
                <a:ea typeface="Bitter"/>
                <a:cs typeface="Bitter"/>
              </a:rPr>
              <a:t>?</a:t>
            </a:r>
          </a:p>
        </p:txBody>
      </p:sp>
      <p:sp>
        <p:nvSpPr>
          <p:cNvPr id="6" name="TextBox 5"/>
          <p:cNvSpPr txBox="1"/>
          <p:nvPr/>
        </p:nvSpPr>
        <p:spPr>
          <a:xfrm>
            <a:off x="1143000" y="1234439"/>
            <a:ext cx="3200400" cy="1234440"/>
          </a:xfrm>
          <a:prstGeom prst="rect">
            <a:avLst/>
          </a:prstGeom>
          <a:noFill/>
        </p:spPr>
        <p:txBody>
          <a:bodyPr wrap="square" lIns="36576" rIns="36576" tIns="36576" bIns="36576" anchor="ctr"/>
          <a:lstStyle/>
          <a:p>
            <a:pPr algn="l" marL="0" indent="0">
              <a:spcAft>
                <a:spcPts val="400"/>
              </a:spcAft>
              <a:buNone/>
            </a:pPr>
            <a:r>
              <a:rPr sz="1250" b="0" i="0" lang="es-CL">
                <a:solidFill>
                  <a:srgbClr val="1F2328"/>
                </a:solidFill>
                <a:latin typeface="Inter"/>
                <a:ea typeface="Inter"/>
                <a:cs typeface="Inter"/>
              </a:rPr>
              <a:t>¿Qué test de tu proyecto borrarías mañana? ¿Por qué nadie lo extrañaría?</a:t>
            </a:r>
          </a:p>
        </p:txBody>
      </p:sp>
      <p:sp>
        <p:nvSpPr>
          <p:cNvPr id="7" name="Rounded Rectangle 6"/>
          <p:cNvSpPr/>
          <p:nvPr/>
        </p:nvSpPr>
        <p:spPr>
          <a:xfrm>
            <a:off x="4617720" y="1097280"/>
            <a:ext cx="4069080" cy="1508760"/>
          </a:xfrm>
          <a:prstGeom prst="roundRect">
            <a:avLst>
              <a:gd name="adj" fmla="val 6060"/>
            </a:avLst>
          </a:prstGeom>
          <a:solidFill>
            <a:srgbClr val="EDF1F3"/>
          </a:solidFill>
          <a:ln>
            <a:noFill/>
          </a:ln>
        </p:spPr>
        <p:txBody>
          <a:bodyPr rtlCol="0" anchor="ctr" wrap="square" lIns="54864" rIns="54864" tIns="54864" bIns="54864"/>
          <a:lstStyle/>
          <a:p>
            <a:pPr algn="ctr"/>
          </a:p>
        </p:txBody>
      </p:sp>
      <p:sp>
        <p:nvSpPr>
          <p:cNvPr id="8" name="TextBox 7"/>
          <p:cNvSpPr txBox="1"/>
          <p:nvPr/>
        </p:nvSpPr>
        <p:spPr>
          <a:xfrm>
            <a:off x="4800600" y="1188720"/>
            <a:ext cx="548640" cy="548640"/>
          </a:xfrm>
          <a:prstGeom prst="rect">
            <a:avLst/>
          </a:prstGeom>
          <a:noFill/>
        </p:spPr>
        <p:txBody>
          <a:bodyPr wrap="square" lIns="36576" rIns="36576" tIns="36576" bIns="36576" anchor="t"/>
          <a:lstStyle/>
          <a:p>
            <a:pPr algn="l" marL="0" indent="0">
              <a:spcAft>
                <a:spcPts val="400"/>
              </a:spcAft>
              <a:buNone/>
            </a:pPr>
            <a:r>
              <a:rPr sz="2800" b="1" i="0" lang="es-CL">
                <a:solidFill>
                  <a:srgbClr val="4A86E8"/>
                </a:solidFill>
                <a:latin typeface="Bitter"/>
                <a:ea typeface="Bitter"/>
                <a:cs typeface="Bitter"/>
              </a:rPr>
              <a:t>?</a:t>
            </a:r>
          </a:p>
        </p:txBody>
      </p:sp>
      <p:sp>
        <p:nvSpPr>
          <p:cNvPr id="9" name="TextBox 8"/>
          <p:cNvSpPr txBox="1"/>
          <p:nvPr/>
        </p:nvSpPr>
        <p:spPr>
          <a:xfrm>
            <a:off x="5349240" y="1234439"/>
            <a:ext cx="3200400" cy="1234440"/>
          </a:xfrm>
          <a:prstGeom prst="rect">
            <a:avLst/>
          </a:prstGeom>
          <a:noFill/>
        </p:spPr>
        <p:txBody>
          <a:bodyPr wrap="square" lIns="36576" rIns="36576" tIns="36576" bIns="36576" anchor="ctr"/>
          <a:lstStyle/>
          <a:p>
            <a:pPr algn="l" marL="0" indent="0">
              <a:spcAft>
                <a:spcPts val="400"/>
              </a:spcAft>
              <a:buNone/>
            </a:pPr>
            <a:r>
              <a:rPr sz="1250" b="0" i="0" lang="es-CL">
                <a:solidFill>
                  <a:srgbClr val="1F2328"/>
                </a:solidFill>
                <a:latin typeface="Inter"/>
                <a:ea typeface="Inter"/>
                <a:cs typeface="Inter"/>
              </a:rPr>
              <a:t>Si un agente te entrega 50 tests en un PR, ¿con qué criterio aceptas cada uno?</a:t>
            </a:r>
          </a:p>
        </p:txBody>
      </p:sp>
      <p:sp>
        <p:nvSpPr>
          <p:cNvPr id="10" name="Rounded Rectangle 9"/>
          <p:cNvSpPr/>
          <p:nvPr/>
        </p:nvSpPr>
        <p:spPr>
          <a:xfrm>
            <a:off x="411480" y="2788920"/>
            <a:ext cx="4069080" cy="1508760"/>
          </a:xfrm>
          <a:prstGeom prst="roundRect">
            <a:avLst>
              <a:gd name="adj" fmla="val 6060"/>
            </a:avLst>
          </a:prstGeom>
          <a:solidFill>
            <a:srgbClr val="EDF1F3"/>
          </a:solidFill>
          <a:ln>
            <a:noFill/>
          </a:ln>
        </p:spPr>
        <p:txBody>
          <a:bodyPr rtlCol="0" anchor="ctr" wrap="square" lIns="54864" rIns="54864" tIns="54864" bIns="54864"/>
          <a:lstStyle/>
          <a:p>
            <a:pPr algn="ctr"/>
          </a:p>
        </p:txBody>
      </p:sp>
      <p:sp>
        <p:nvSpPr>
          <p:cNvPr id="11" name="TextBox 10"/>
          <p:cNvSpPr txBox="1"/>
          <p:nvPr/>
        </p:nvSpPr>
        <p:spPr>
          <a:xfrm>
            <a:off x="594360" y="2880360"/>
            <a:ext cx="548640" cy="548640"/>
          </a:xfrm>
          <a:prstGeom prst="rect">
            <a:avLst/>
          </a:prstGeom>
          <a:noFill/>
        </p:spPr>
        <p:txBody>
          <a:bodyPr wrap="square" lIns="36576" rIns="36576" tIns="36576" bIns="36576" anchor="t"/>
          <a:lstStyle/>
          <a:p>
            <a:pPr algn="l" marL="0" indent="0">
              <a:spcAft>
                <a:spcPts val="400"/>
              </a:spcAft>
              <a:buNone/>
            </a:pPr>
            <a:r>
              <a:rPr sz="2800" b="1" i="0" lang="es-CL">
                <a:solidFill>
                  <a:srgbClr val="4A86E8"/>
                </a:solidFill>
                <a:latin typeface="Bitter"/>
                <a:ea typeface="Bitter"/>
                <a:cs typeface="Bitter"/>
              </a:rPr>
              <a:t>?</a:t>
            </a:r>
          </a:p>
        </p:txBody>
      </p:sp>
      <p:sp>
        <p:nvSpPr>
          <p:cNvPr id="12" name="TextBox 11"/>
          <p:cNvSpPr txBox="1"/>
          <p:nvPr/>
        </p:nvSpPr>
        <p:spPr>
          <a:xfrm>
            <a:off x="1143000" y="2926079"/>
            <a:ext cx="3200400" cy="1234440"/>
          </a:xfrm>
          <a:prstGeom prst="rect">
            <a:avLst/>
          </a:prstGeom>
          <a:noFill/>
        </p:spPr>
        <p:txBody>
          <a:bodyPr wrap="square" lIns="36576" rIns="36576" tIns="36576" bIns="36576" anchor="ctr"/>
          <a:lstStyle/>
          <a:p>
            <a:pPr algn="l" marL="0" indent="0">
              <a:spcAft>
                <a:spcPts val="400"/>
              </a:spcAft>
              <a:buNone/>
            </a:pPr>
            <a:r>
              <a:rPr sz="1250" b="0" i="0" lang="es-CL">
                <a:solidFill>
                  <a:srgbClr val="1F2328"/>
                </a:solidFill>
                <a:latin typeface="Inter"/>
                <a:ea typeface="Inter"/>
                <a:cs typeface="Inter"/>
              </a:rPr>
              <a:t>Si el pipeline tuviera que tardar 5 minutos, ¿qué etapas moverías a nightly?</a:t>
            </a:r>
          </a:p>
        </p:txBody>
      </p:sp>
      <p:sp>
        <p:nvSpPr>
          <p:cNvPr id="13" name="Rounded Rectangle 12"/>
          <p:cNvSpPr/>
          <p:nvPr/>
        </p:nvSpPr>
        <p:spPr>
          <a:xfrm>
            <a:off x="4617720" y="2788920"/>
            <a:ext cx="4069080" cy="1508760"/>
          </a:xfrm>
          <a:prstGeom prst="roundRect">
            <a:avLst>
              <a:gd name="adj" fmla="val 6060"/>
            </a:avLst>
          </a:prstGeom>
          <a:solidFill>
            <a:srgbClr val="EDF1F3"/>
          </a:solidFill>
          <a:ln>
            <a:noFill/>
          </a:ln>
        </p:spPr>
        <p:txBody>
          <a:bodyPr rtlCol="0" anchor="ctr" wrap="square" lIns="54864" rIns="54864" tIns="54864" bIns="54864"/>
          <a:lstStyle/>
          <a:p>
            <a:pPr algn="ctr"/>
          </a:p>
        </p:txBody>
      </p:sp>
      <p:sp>
        <p:nvSpPr>
          <p:cNvPr id="14" name="TextBox 13"/>
          <p:cNvSpPr txBox="1"/>
          <p:nvPr/>
        </p:nvSpPr>
        <p:spPr>
          <a:xfrm>
            <a:off x="4800600" y="2880360"/>
            <a:ext cx="548640" cy="548640"/>
          </a:xfrm>
          <a:prstGeom prst="rect">
            <a:avLst/>
          </a:prstGeom>
          <a:noFill/>
        </p:spPr>
        <p:txBody>
          <a:bodyPr wrap="square" lIns="36576" rIns="36576" tIns="36576" bIns="36576" anchor="t"/>
          <a:lstStyle/>
          <a:p>
            <a:pPr algn="l" marL="0" indent="0">
              <a:spcAft>
                <a:spcPts val="400"/>
              </a:spcAft>
              <a:buNone/>
            </a:pPr>
            <a:r>
              <a:rPr sz="2800" b="1" i="0" lang="es-CL">
                <a:solidFill>
                  <a:srgbClr val="4A86E8"/>
                </a:solidFill>
                <a:latin typeface="Bitter"/>
                <a:ea typeface="Bitter"/>
                <a:cs typeface="Bitter"/>
              </a:rPr>
              <a:t>?</a:t>
            </a:r>
          </a:p>
        </p:txBody>
      </p:sp>
      <p:sp>
        <p:nvSpPr>
          <p:cNvPr id="15" name="TextBox 14"/>
          <p:cNvSpPr txBox="1"/>
          <p:nvPr/>
        </p:nvSpPr>
        <p:spPr>
          <a:xfrm>
            <a:off x="5349240" y="2926079"/>
            <a:ext cx="3200400" cy="1234440"/>
          </a:xfrm>
          <a:prstGeom prst="rect">
            <a:avLst/>
          </a:prstGeom>
          <a:noFill/>
        </p:spPr>
        <p:txBody>
          <a:bodyPr wrap="square" lIns="36576" rIns="36576" tIns="36576" bIns="36576" anchor="ctr"/>
          <a:lstStyle/>
          <a:p>
            <a:pPr algn="l" marL="0" indent="0">
              <a:spcAft>
                <a:spcPts val="400"/>
              </a:spcAft>
              <a:buNone/>
            </a:pPr>
            <a:r>
              <a:rPr sz="1250" b="0" i="0" lang="es-CL">
                <a:solidFill>
                  <a:srgbClr val="1F2328"/>
                </a:solidFill>
                <a:latin typeface="Inter"/>
                <a:ea typeface="Inter"/>
                <a:cs typeface="Inter"/>
              </a:rPr>
              <a:t>¿Git Flow o trunk based para el proyecto del curso? Argumenta con métricas DORA.</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Referencias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TextBox 3"/>
          <p:cNvSpPr txBox="1"/>
          <p:nvPr/>
        </p:nvSpPr>
        <p:spPr>
          <a:xfrm>
            <a:off x="411480" y="1051560"/>
            <a:ext cx="4114800" cy="3108960"/>
          </a:xfrm>
          <a:prstGeom prst="rect">
            <a:avLst/>
          </a:prstGeom>
          <a:noFill/>
        </p:spPr>
        <p:txBody>
          <a:bodyPr wrap="square" lIns="36576" rIns="36576" tIns="36576" bIns="36576" anchor="t"/>
          <a:lstStyle/>
          <a:p>
            <a:pPr algn="l" marL="182880" indent="-164592">
              <a:spcAft>
                <a:spcPts val="500"/>
              </a:spcAft>
              <a:buClr>
                <a:srgbClr val="F2617A"/>
              </a:buClr>
              <a:buSzPct val="100000"/>
              <a:buFont typeface="Arial"/>
              <a:buChar char="●"/>
            </a:pPr>
            <a:r>
              <a:rPr sz="950" b="1" i="0" lang="es-CL">
                <a:solidFill>
                  <a:srgbClr val="1F2328"/>
                </a:solidFill>
                <a:latin typeface="Inter"/>
                <a:ea typeface="Inter"/>
                <a:cs typeface="Inter"/>
              </a:rPr>
              <a:t>Libro base.</a:t>
            </a:r>
            <a:r>
              <a:rPr sz="950" b="0" i="0" lang="es-CL">
                <a:solidFill>
                  <a:srgbClr val="1F2328"/>
                </a:solidFill>
                <a:latin typeface="Inter"/>
                <a:ea typeface="Inter"/>
                <a:cs typeface="Inter"/>
              </a:rPr>
              <a:t> G. Mohan, Full Stack Testing, 2.ª ed., O'Reilly, 2026. Caps. 1 a 10.</a:t>
            </a:r>
          </a:p>
          <a:p>
            <a:pPr algn="l" marL="182880" indent="-164592">
              <a:spcAft>
                <a:spcPts val="500"/>
              </a:spcAft>
              <a:buClr>
                <a:srgbClr val="F2617A"/>
              </a:buClr>
              <a:buSzPct val="100000"/>
              <a:buFont typeface="Arial"/>
              <a:buChar char="●"/>
            </a:pPr>
            <a:r>
              <a:rPr sz="950" b="1" i="0" lang="es-CL">
                <a:solidFill>
                  <a:srgbClr val="1F2328"/>
                </a:solidFill>
                <a:latin typeface="Inter"/>
                <a:ea typeface="Inter"/>
                <a:cs typeface="Inter"/>
              </a:rPr>
              <a:t>DORA.</a:t>
            </a:r>
            <a:r>
              <a:rPr sz="950" b="0" i="0" lang="es-CL">
                <a:solidFill>
                  <a:srgbClr val="1F2328"/>
                </a:solidFill>
                <a:latin typeface="Inter"/>
                <a:ea typeface="Inter"/>
                <a:cs typeface="Inter"/>
              </a:rPr>
              <a:t> State of AI-assisted Software Development, 2025.</a:t>
            </a:r>
          </a:p>
          <a:p>
            <a:pPr algn="l" marL="182880" indent="-164592">
              <a:spcAft>
                <a:spcPts val="500"/>
              </a:spcAft>
              <a:buClr>
                <a:srgbClr val="F2617A"/>
              </a:buClr>
              <a:buSzPct val="100000"/>
              <a:buFont typeface="Arial"/>
              <a:buChar char="●"/>
            </a:pPr>
            <a:r>
              <a:rPr sz="950" b="1" i="0" lang="es-CL">
                <a:solidFill>
                  <a:srgbClr val="1F2328"/>
                </a:solidFill>
                <a:latin typeface="Inter"/>
                <a:ea typeface="Inter"/>
                <a:cs typeface="Inter"/>
              </a:rPr>
              <a:t>Meta.</a:t>
            </a:r>
            <a:r>
              <a:rPr sz="950" b="0" i="0" lang="es-CL">
                <a:solidFill>
                  <a:srgbClr val="1F2328"/>
                </a:solidFill>
                <a:latin typeface="Inter"/>
                <a:ea typeface="Inter"/>
                <a:cs typeface="Inter"/>
              </a:rPr>
              <a:t> Alshahwan et al., Automated Unit Test Improvement using Large Language Models at Meta, FSE 2024.</a:t>
            </a:r>
          </a:p>
          <a:p>
            <a:pPr algn="l" marL="182880" indent="-164592">
              <a:spcAft>
                <a:spcPts val="500"/>
              </a:spcAft>
              <a:buClr>
                <a:srgbClr val="F2617A"/>
              </a:buClr>
              <a:buSzPct val="100000"/>
              <a:buFont typeface="Arial"/>
              <a:buChar char="●"/>
            </a:pPr>
            <a:r>
              <a:rPr sz="950" b="1" i="0" lang="es-CL">
                <a:solidFill>
                  <a:srgbClr val="1F2328"/>
                </a:solidFill>
                <a:latin typeface="Inter"/>
                <a:ea typeface="Inter"/>
                <a:cs typeface="Inter"/>
              </a:rPr>
              <a:t>Meta.</a:t>
            </a:r>
            <a:r>
              <a:rPr sz="950" b="0" i="0" lang="es-CL">
                <a:solidFill>
                  <a:srgbClr val="1F2328"/>
                </a:solidFill>
                <a:latin typeface="Inter"/>
                <a:ea typeface="Inter"/>
                <a:cs typeface="Inter"/>
              </a:rPr>
              <a:t> Mutation-Guided LLM-based Test Generation at Meta (ACH), 2025.</a:t>
            </a:r>
          </a:p>
          <a:p>
            <a:pPr algn="l" marL="182880" indent="-164592">
              <a:spcAft>
                <a:spcPts val="500"/>
              </a:spcAft>
              <a:buClr>
                <a:srgbClr val="F2617A"/>
              </a:buClr>
              <a:buSzPct val="100000"/>
              <a:buFont typeface="Arial"/>
              <a:buChar char="●"/>
            </a:pPr>
            <a:r>
              <a:rPr sz="950" b="1" i="0" lang="es-CL">
                <a:solidFill>
                  <a:srgbClr val="1F2328"/>
                </a:solidFill>
                <a:latin typeface="Inter"/>
                <a:ea typeface="Inter"/>
                <a:cs typeface="Inter"/>
              </a:rPr>
              <a:t>Google.</a:t>
            </a:r>
            <a:r>
              <a:rPr sz="950" b="0" i="0" lang="es-CL">
                <a:solidFill>
                  <a:srgbClr val="1F2328"/>
                </a:solidFill>
                <a:latin typeface="Inter"/>
                <a:ea typeface="Inter"/>
                <a:cs typeface="Inter"/>
              </a:rPr>
              <a:t> State of Mutation Testing at Google, ICSE SEIP 2018. Petrović et al., Practical Mutation Testing at Scale.</a:t>
            </a:r>
          </a:p>
          <a:p>
            <a:pPr algn="l" marL="182880" indent="-164592">
              <a:spcAft>
                <a:spcPts val="500"/>
              </a:spcAft>
              <a:buClr>
                <a:srgbClr val="F2617A"/>
              </a:buClr>
              <a:buSzPct val="100000"/>
              <a:buFont typeface="Arial"/>
              <a:buChar char="●"/>
            </a:pPr>
            <a:r>
              <a:rPr sz="950" b="1" i="0" lang="es-CL">
                <a:solidFill>
                  <a:srgbClr val="1F2328"/>
                </a:solidFill>
                <a:latin typeface="Inter"/>
                <a:ea typeface="Inter"/>
                <a:cs typeface="Inter"/>
              </a:rPr>
              <a:t>Google Research.</a:t>
            </a:r>
            <a:r>
              <a:rPr sz="950" b="0" i="0" lang="es-CL">
                <a:solidFill>
                  <a:srgbClr val="1F2328"/>
                </a:solidFill>
                <a:latin typeface="Inter"/>
                <a:ea typeface="Inter"/>
                <a:cs typeface="Inter"/>
              </a:rPr>
              <a:t> Resolving code review comments with ML, 2023.</a:t>
            </a:r>
          </a:p>
        </p:txBody>
      </p:sp>
      <p:sp>
        <p:nvSpPr>
          <p:cNvPr id="5" name="TextBox 4"/>
          <p:cNvSpPr txBox="1"/>
          <p:nvPr/>
        </p:nvSpPr>
        <p:spPr>
          <a:xfrm>
            <a:off x="4709160" y="1051560"/>
            <a:ext cx="4023360" cy="3108960"/>
          </a:xfrm>
          <a:prstGeom prst="rect">
            <a:avLst/>
          </a:prstGeom>
          <a:noFill/>
        </p:spPr>
        <p:txBody>
          <a:bodyPr wrap="square" lIns="36576" rIns="36576" tIns="36576" bIns="36576" anchor="t"/>
          <a:lstStyle/>
          <a:p>
            <a:pPr algn="l" marL="182880" indent="-164592">
              <a:spcAft>
                <a:spcPts val="500"/>
              </a:spcAft>
              <a:buClr>
                <a:srgbClr val="F2617A"/>
              </a:buClr>
              <a:buSzPct val="100000"/>
              <a:buFont typeface="Arial"/>
              <a:buChar char="●"/>
            </a:pPr>
            <a:r>
              <a:rPr sz="950" b="1" i="0" lang="es-CL">
                <a:solidFill>
                  <a:srgbClr val="1F2328"/>
                </a:solidFill>
                <a:latin typeface="Inter"/>
                <a:ea typeface="Inter"/>
                <a:cs typeface="Inter"/>
              </a:rPr>
              <a:t>SDD.</a:t>
            </a:r>
            <a:r>
              <a:rPr sz="950" b="0" i="0" lang="es-CL">
                <a:solidFill>
                  <a:srgbClr val="1F2328"/>
                </a:solidFill>
                <a:latin typeface="Inter"/>
                <a:ea typeface="Inter"/>
                <a:cs typeface="Inter"/>
              </a:rPr>
              <a:t> GitHub Spec Kit, AWS Kiro, Tessl.</a:t>
            </a:r>
          </a:p>
          <a:p>
            <a:pPr algn="l" marL="182880" indent="-164592">
              <a:spcAft>
                <a:spcPts val="500"/>
              </a:spcAft>
              <a:buClr>
                <a:srgbClr val="F2617A"/>
              </a:buClr>
              <a:buSzPct val="100000"/>
              <a:buFont typeface="Arial"/>
              <a:buChar char="●"/>
            </a:pPr>
            <a:r>
              <a:rPr sz="950" b="1" i="0" lang="es-CL">
                <a:solidFill>
                  <a:srgbClr val="1F2328"/>
                </a:solidFill>
                <a:latin typeface="Inter"/>
                <a:ea typeface="Inter"/>
                <a:cs typeface="Inter"/>
              </a:rPr>
              <a:t>Contrato.</a:t>
            </a:r>
            <a:r>
              <a:rPr sz="950" b="0" i="0" lang="es-CL">
                <a:solidFill>
                  <a:srgbClr val="1F2328"/>
                </a:solidFill>
                <a:latin typeface="Inter"/>
                <a:ea typeface="Inter"/>
                <a:cs typeface="Inter"/>
              </a:rPr>
              <a:t> OpenAPI 3.1, Spectral, oasdiff, openapi-typescript, Schemathesis, Pact.</a:t>
            </a:r>
          </a:p>
          <a:p>
            <a:pPr algn="l" marL="182880" indent="-164592">
              <a:spcAft>
                <a:spcPts val="500"/>
              </a:spcAft>
              <a:buClr>
                <a:srgbClr val="F2617A"/>
              </a:buClr>
              <a:buSzPct val="100000"/>
              <a:buFont typeface="Arial"/>
              <a:buChar char="●"/>
            </a:pPr>
            <a:r>
              <a:rPr sz="950" b="1" i="0" lang="es-CL">
                <a:solidFill>
                  <a:srgbClr val="1F2328"/>
                </a:solidFill>
                <a:latin typeface="Inter"/>
                <a:ea typeface="Inter"/>
                <a:cs typeface="Inter"/>
              </a:rPr>
              <a:t>Pruebas.</a:t>
            </a:r>
            <a:r>
              <a:rPr sz="950" b="0" i="0" lang="es-CL">
                <a:solidFill>
                  <a:srgbClr val="1F2328"/>
                </a:solidFill>
                <a:latin typeface="Inter"/>
                <a:ea typeface="Inter"/>
                <a:cs typeface="Inter"/>
              </a:rPr>
              <a:t> Jest, Vitest, Testing Library, MSW, Playwright, playwright-bdd, Testcontainers, supertest, axe-core, Lighthouse, k6, Stryker, dependency-cruiser.</a:t>
            </a:r>
          </a:p>
          <a:p>
            <a:pPr algn="l" marL="182880" indent="-164592">
              <a:spcAft>
                <a:spcPts val="500"/>
              </a:spcAft>
              <a:buClr>
                <a:srgbClr val="F2617A"/>
              </a:buClr>
              <a:buSzPct val="100000"/>
              <a:buFont typeface="Arial"/>
              <a:buChar char="●"/>
            </a:pPr>
            <a:r>
              <a:rPr sz="950" b="1" i="0" lang="es-CL">
                <a:solidFill>
                  <a:srgbClr val="1F2328"/>
                </a:solidFill>
                <a:latin typeface="Inter"/>
                <a:ea typeface="Inter"/>
                <a:cs typeface="Inter"/>
              </a:rPr>
              <a:t>Seguridad.</a:t>
            </a:r>
            <a:r>
              <a:rPr sz="950" b="0" i="0" lang="es-CL">
                <a:solidFill>
                  <a:srgbClr val="1F2328"/>
                </a:solidFill>
                <a:latin typeface="Inter"/>
                <a:ea typeface="Inter"/>
                <a:cs typeface="Inter"/>
              </a:rPr>
              <a:t> gitleaks, Semgrep, CodeQL, Trivy, hadolint, OWASP ZAP, CycloneDX.</a:t>
            </a:r>
          </a:p>
        </p:txBody>
      </p:sp>
      <p:sp>
        <p:nvSpPr>
          <p:cNvPr id="6" name="TextBox 5"/>
          <p:cNvSpPr txBox="1"/>
          <p:nvPr/>
        </p:nvSpPr>
        <p:spPr>
          <a:xfrm>
            <a:off x="411480" y="3977639"/>
            <a:ext cx="8321040" cy="274320"/>
          </a:xfrm>
          <a:prstGeom prst="rect">
            <a:avLst/>
          </a:prstGeom>
          <a:noFill/>
        </p:spPr>
        <p:txBody>
          <a:bodyPr wrap="square" lIns="36576" rIns="36576" tIns="36576" bIns="36576" anchor="t"/>
          <a:lstStyle/>
          <a:p>
            <a:pPr algn="ctr" marL="0" indent="0">
              <a:spcAft>
                <a:spcPts val="400"/>
              </a:spcAft>
              <a:buNone/>
            </a:pPr>
            <a:r>
              <a:rPr sz="1000" b="1" i="0" lang="es-CL">
                <a:solidFill>
                  <a:srgbClr val="003D4F"/>
                </a:solidFill>
                <a:latin typeface="Inter"/>
                <a:ea typeface="Inter"/>
                <a:cs typeface="Inter"/>
              </a:rPr>
              <a:t>Repo: github.com/UC-IIC-3143-Software-Development/full_stack_testing</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Thoughtworks Master ">
  <a:themeElements>
    <a:clrScheme name="Simple Light">
      <a:dk1>
        <a:srgbClr val="000000"/>
      </a:dk1>
      <a:lt1>
        <a:srgbClr val="FFFFFF"/>
      </a:lt1>
      <a:dk2>
        <a:srgbClr val="666666"/>
      </a:dk2>
      <a:lt2>
        <a:srgbClr val="EDF1F3"/>
      </a:lt2>
      <a:accent1>
        <a:srgbClr val="003D4F"/>
      </a:accent1>
      <a:accent2>
        <a:srgbClr val="F2617A"/>
      </a:accent2>
      <a:accent3>
        <a:srgbClr val="CC850A"/>
      </a:accent3>
      <a:accent4>
        <a:srgbClr val="6B9E78"/>
      </a:accent4>
      <a:accent5>
        <a:srgbClr val="47A1AD"/>
      </a:accent5>
      <a:accent6>
        <a:srgbClr val="634F7D"/>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xmlns:r="http://schemas.openxmlformats.org/officeDocument/2006/relationships" name="Industrial Processes Class for College by Slidesgo">
  <a:themeElements>
    <a:clrScheme name="Simple Light">
      <a:dk1>
        <a:srgbClr val="3F232A"/>
      </a:dk1>
      <a:lt1>
        <a:srgbClr val="FFF4E9"/>
      </a:lt1>
      <a:dk2>
        <a:srgbClr val="FFDFD0"/>
      </a:dk2>
      <a:lt2>
        <a:srgbClr val="FFA386"/>
      </a:lt2>
      <a:accent1>
        <a:srgbClr val="FF973C"/>
      </a:accent1>
      <a:accent2>
        <a:srgbClr val="C9E8FF"/>
      </a:accent2>
      <a:accent3>
        <a:srgbClr val="7575D3"/>
      </a:accent3>
      <a:accent4>
        <a:srgbClr val="8AD280"/>
      </a:accent4>
      <a:accent5>
        <a:srgbClr val="97CFF9"/>
      </a:accent5>
      <a:accent6>
        <a:srgbClr val="131353"/>
      </a:accent6>
      <a:hlink>
        <a:srgbClr val="13135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Full Stack Testing moderno con IA y DevSecOps</dc:title>
  <cp:lastModifiedBy>python-pptx</cp:lastModifiedBy>
  <cp:revision>1</cp:revision>
  <dcterms:modified xsi:type="dcterms:W3CDTF">2026-10-26T05:24:59Z</dcterms:modified>
  <dc:creator>IIC3143 Desarrollo de Software</dc:creator>
  <dc:language>es-CL</dc:language>
</cp:coreProperties>
</file>